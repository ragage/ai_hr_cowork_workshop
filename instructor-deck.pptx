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50AD3005-AE50-49C8-8F48-38D971A6181B}">
          <p14:sldIdLst>
            <p14:sldId id="256"/>
            <p14:sldId id="257"/>
            <p14:sldId id="258"/>
            <p14:sldId id="259"/>
            <p14:sldId id="260"/>
            <p14:sldId id="261"/>
            <p14:sldId id="262"/>
            <p14:sldId id="263"/>
            <p14:sldId id="264"/>
            <p14:sldId id="265"/>
            <p14:sldId id="266"/>
            <p14:sldId id="267"/>
            <p14:sldId id="268"/>
          </p14:sldIdLst>
        </p14:section>
        <p14:section name="Ex 1 · Executive Command Center" id="{CE193207-4F29-4892-AC92-968B401598F0}">
          <p14:sldIdLst>
            <p14:sldId id="269"/>
            <p14:sldId id="270"/>
            <p14:sldId id="271"/>
            <p14:sldId id="272"/>
            <p14:sldId id="273"/>
            <p14:sldId id="274"/>
          </p14:sldIdLst>
        </p14:section>
        <p14:section name="Ex 2 · Deep Research" id="{6D3E92B6-3B9F-4F61-82FC-CE2348D03273}">
          <p14:sldIdLst>
            <p14:sldId id="275"/>
            <p14:sldId id="276"/>
            <p14:sldId id="277"/>
            <p14:sldId id="278"/>
            <p14:sldId id="279"/>
          </p14:sldIdLst>
        </p14:section>
        <p14:section name="Ex 3 · Navigate websites" id="{786F9B20-68E4-498B-9C44-40DAC50A6617}">
          <p14:sldIdLst>
            <p14:sldId id="280"/>
            <p14:sldId id="281"/>
            <p14:sldId id="282"/>
            <p14:sldId id="283"/>
          </p14:sldIdLst>
        </p14:section>
        <p14:section name="Ex 4 · Custom skill" id="{51F96BA0-BE92-4301-B8E1-44FA60ADA06F}">
          <p14:sldIdLst>
            <p14:sldId id="284"/>
            <p14:sldId id="285"/>
            <p14:sldId id="286"/>
            <p14:sldId id="287"/>
          </p14:sldIdLst>
        </p14:section>
        <p14:section name="Ex 5 · Recruiting + reporting" id="{A80C6429-25A3-456B-952F-9F677C802FB7}">
          <p14:sldIdLst>
            <p14:sldId id="288"/>
            <p14:sldId id="289"/>
            <p14:sldId id="290"/>
            <p14:sldId id="291"/>
            <p14:sldId id="292"/>
          </p14:sldIdLst>
        </p14:section>
        <p14:section name="Ex 6 · Onboarding pack" id="{91653475-E629-43E5-9DB9-42911AFB8C65}">
          <p14:sldIdLst>
            <p14:sldId id="293"/>
            <p14:sldId id="294"/>
            <p14:sldId id="295"/>
            <p14:sldId id="296"/>
          </p14:sldIdLst>
        </p14:section>
        <p14:section name="Ex 7 · Automate &amp; share" id="{6920216B-555C-43A4-B06A-F54D1310632F}">
          <p14:sldIdLst>
            <p14:sldId id="297"/>
            <p14:sldId id="298"/>
            <p14:sldId id="299"/>
            <p14:sldId id="300"/>
          </p14:sldIdLst>
        </p14:section>
        <p14:section name="Spotlight · HR plugins" id="{2A114679-2623-45C0-968C-CC1CC5E6F5DD}">
          <p14:sldIdLst>
            <p14:sldId id="301"/>
          </p14:sldIdLst>
        </p14:section>
        <p14:section name="Ex 8 · HR Policy Agent" id="{BC3C8CBD-5658-4879-A5A9-0B28C4BA3E2B}">
          <p14:sldIdLst>
            <p14:sldId id="302"/>
            <p14:sldId id="303"/>
            <p14:sldId id="304"/>
            <p14:sldId id="305"/>
          </p14:sldIdLst>
        </p14:section>
        <p14:section name="Close" id="{1F46C7E6-8EC9-4CF2-8843-46B7E988E813}">
          <p14:sldIdLst>
            <p14:sldId id="306"/>
            <p14:sldId id="307"/>
            <p14:sldId id="308"/>
            <p14:sldId id="309"/>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share one tenant;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and upload the six Word and Excel files to their own OneDrive. Show how to attach a file: + -&gt; Attach cloud files, or type /. EDGE PROFILE CHECK: the browser task in Ex 3 runs in the Edge profile signed in with the workshop account; anyone in their own corporate profile adds a new Edge profile now (not InPrivate). Attendees share ONE tenant; YOU are on a SEPARATE tenant. Proctors triage; anyone blocked follows your demo. readiness-checklist.md has the triage, and seed-content.md has the seed data for Exercises 1 and 2.</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in the shared tenant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Fictional Zava data only; no real PII;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(e.g., Documents/ai_hr_cowork_workshop) and [time] (e.g., 8:00 AM), then start your demo. WATCH FOR: Work IQ gathering; the HTML file in the Output folder; the Thursday conflict and T-2008 from the seed data. Light results on fresh accounts are expected; show your richer demo. SLOW DOWN at step 3: the next slide walks the Output folder. CLEANUP: skill stays 'Only you'; pause or delete the weekday schedule after class. NEXT: Output folder slide, then the /cost slide, then Deep Research.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SAY: 'Cowork is usage-billed, so let's see what that dashboard cost.' DO: in your Ex 1 task type /cost and send it; point to the three numbers: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The weekday schedule uses credits on every run, so pause it after class. Source: Microsoft Learn, 'Credit usage for Microsoft Copilot Cowork tasks'.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 workshop account, InPrivate, the Edge setting is off, or the admin hasn't allowed browser access (reference/10-cowork-browser.md). They follow your demo. TIME CHECK: at 1:55 skip 3b and demo it. NEXT: 'You've used built-in skills and the browser. Now build your own skill.'</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 SAY: 'This last exercise is NOT Cowork. We switch to Copilot Agent Builder: Microsoft 365 Copilot -&gt; Create agent.' Ask everyone to leave their Cowork task.</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pick your recording; on Playback set Start: When Clicked On; use Trim Video to cut long waits. Record it in your facilitator tenant with the same prompt. NO VIDEO? Run the demo live from your tenant, then move to the hands-on slide.</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sparse data in new accounts (Ex 1, fixed by seed-content.md). Attendees share one tenant; you're on a separate one.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Fictional data,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Use the workshop account you were given</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the </a:t>
            </a:r>
            <a:r>
              <a:rPr sz="1400" b="1" i="0">
                <a:solidFill>
                  <a:srgbClr val="242424"/>
                </a:solidFill>
                <a:latin typeface="Segoe UI"/>
              </a:rPr>
              <a:t>workshop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t>
            </a:r>
            <a:r>
              <a:rPr sz="1400" b="1" i="0">
                <a:solidFill>
                  <a:srgbClr val="242424"/>
                </a:solidFill>
                <a:latin typeface="Segoe UI"/>
              </a:rPr>
              <a:t>zava-sample-knowledge.zip</a:t>
            </a:r>
            <a:r>
              <a:rPr sz="1400" b="0" i="0">
                <a:solidFill>
                  <a:srgbClr val="242424"/>
                </a:solidFill>
                <a:latin typeface="Segoe UI"/>
              </a:rPr>
              <a:t> from the shared Teams/SharePoint folder</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create folder </a:t>
            </a:r>
            <a:r>
              <a:rPr sz="1400" b="1" i="0">
                <a:solidFill>
                  <a:srgbClr val="242424"/>
                </a:solidFill>
                <a:latin typeface="Segoe UI"/>
              </a:rPr>
              <a:t>ai_hr_cowork_workshop</a:t>
            </a:r>
            <a:r>
              <a:rPr sz="1400" b="0" i="0">
                <a:solidFill>
                  <a:srgbClr val="242424"/>
                </a:solidFill>
                <a:latin typeface="Segoe UI"/>
              </a:rPr>
              <a:t>; upload the six files</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Fictional Zava data only — no real PII</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Attendees share one tenant</a:t>
            </a:r>
            <a:r>
              <a:rPr sz="1400" b="0" i="0">
                <a:solidFill>
                  <a:srgbClr val="FFFFFF"/>
                </a:solidFill>
                <a:latin typeface="Segoe UI"/>
              </a:rPr>
              <a:t>, so your screens match each other and org search is consistent.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Use only the Zava sample files in my OneDrive folder Documents/ai_hr_cowork_workshop, and never include real employee personal data.</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Use fictional data today</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All sample files are the fictional Zava. No real PII.</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calendar, recent emails, Teams conversations, meeting transcripts, and priority documents from [Priority Folder]. 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1</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(25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(your OneDrive folder with the Zava files)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a:p>
            <a:pPr algn="l" marL="237744" indent="-237744">
              <a:lnSpc>
                <a:spcPct val="105000"/>
              </a:lnSpc>
              <a:spcAft>
                <a:spcPts val="900"/>
              </a:spcAft>
              <a:buFont typeface="+mj-lt"/>
              <a:buAutoNum type="arabicPeriod"/>
            </a:pPr>
            <a:r>
              <a:rPr sz="1500" b="0" i="0">
                <a:solidFill>
                  <a:srgbClr val="323139"/>
                </a:solidFill>
                <a:latin typeface="Segoe UI"/>
              </a:rPr>
              <a:t>Type </a:t>
            </a:r>
            <a:r>
              <a:rPr sz="1500" b="1" i="0">
                <a:solidFill>
                  <a:srgbClr val="323139"/>
                </a:solidFill>
                <a:latin typeface="Segoe UI"/>
              </a:rPr>
              <a:t>/cost</a:t>
            </a:r>
            <a:r>
              <a:rPr sz="1500" b="0" i="0">
                <a:solidFill>
                  <a:srgbClr val="323139"/>
                </a:solidFill>
                <a:latin typeface="Segoe UI"/>
              </a:rPr>
              <a:t> in the task to see what it cost (last slide of this exercise).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Light data in new accounts is expected</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Last step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Do it now</a:t>
            </a:r>
          </a:p>
        </p:txBody>
      </p:sp>
      <p:sp>
        <p:nvSpPr>
          <p:cNvPr id="54" name="TextBox 53"/>
          <p:cNvSpPr txBox="1"/>
          <p:nvPr/>
        </p:nvSpPr>
        <p:spPr>
          <a:xfrm>
            <a:off x="777240" y="1572768"/>
            <a:ext cx="6035040" cy="3566160"/>
          </a:xfrm>
          <a:prstGeom prst="rect">
            <a:avLst/>
          </a:prstGeom>
          <a:noFill/>
        </p:spPr>
        <p:txBody>
          <a:bodyPr wrap="square" anchor="t" lIns="0" rIns="0" tIns="0" bIns="0">
            <a:spAutoFit/>
          </a:bodyPr>
          <a:lstStyle/>
          <a:p>
            <a:pPr algn="l" marL="237744" indent="-237744">
              <a:lnSpc>
                <a:spcPct val="105000"/>
              </a:lnSpc>
              <a:spcAft>
                <a:spcPts val="1200"/>
              </a:spcAft>
              <a:buFont typeface="+mj-lt"/>
              <a:buAutoNum type="arabicPeriod"/>
            </a:pPr>
            <a:r>
              <a:rPr sz="1500" b="0" i="0">
                <a:solidFill>
                  <a:srgbClr val="323139"/>
                </a:solidFill>
                <a:latin typeface="Segoe UI"/>
              </a:rPr>
              <a:t>Stay in your </a:t>
            </a:r>
            <a:r>
              <a:rPr sz="1500" b="1" i="0">
                <a:solidFill>
                  <a:srgbClr val="323139"/>
                </a:solidFill>
                <a:latin typeface="Segoe UI"/>
              </a:rPr>
              <a:t>Executive Command Center</a:t>
            </a:r>
            <a:r>
              <a:rPr sz="1500" b="0" i="0">
                <a:solidFill>
                  <a:srgbClr val="323139"/>
                </a:solidFill>
                <a:latin typeface="Segoe UI"/>
              </a:rPr>
              <a:t> task.</a:t>
            </a:r>
          </a:p>
          <a:p>
            <a:pPr algn="l" marL="237744" indent="-237744">
              <a:lnSpc>
                <a:spcPct val="105000"/>
              </a:lnSpc>
              <a:spcAft>
                <a:spcPts val="1200"/>
              </a:spcAft>
              <a:buFont typeface="+mj-lt"/>
              <a:buAutoNum type="arabicPeriod"/>
            </a:pPr>
            <a:r>
              <a:rPr sz="1500" b="0" i="0">
                <a:solidFill>
                  <a:srgbClr val="323139"/>
                </a:solidFill>
                <a:latin typeface="Segoe UI"/>
              </a:rPr>
              <a:t>Type </a:t>
            </a:r>
            <a:r>
              <a:rPr sz="1500" b="1" i="0">
                <a:solidFill>
                  <a:srgbClr val="323139"/>
                </a:solidFill>
                <a:latin typeface="Segoe UI"/>
              </a:rPr>
              <a:t>/cost</a:t>
            </a:r>
            <a:r>
              <a:rPr sz="1500" b="0" i="0">
                <a:solidFill>
                  <a:srgbClr val="323139"/>
                </a:solidFill>
                <a:latin typeface="Segoe UI"/>
              </a:rPr>
              <a:t> and send it. It’s free: /cost doesn’t use any credits.</a:t>
            </a:r>
          </a:p>
          <a:p>
            <a:pPr algn="l" marL="237744" indent="-237744">
              <a:lnSpc>
                <a:spcPct val="105000"/>
              </a:lnSpc>
              <a:spcAft>
                <a:spcPts val="1200"/>
              </a:spcAft>
              <a:buFont typeface="+mj-lt"/>
              <a:buAutoNum type="arabicPeriod"/>
            </a:pPr>
            <a:r>
              <a:rPr sz="1500" b="0" i="0">
                <a:solidFill>
                  <a:srgbClr val="323139"/>
                </a:solidFill>
                <a:latin typeface="Segoe UI"/>
              </a:rPr>
              <a:t>Read the three numbers (right): this task, this month, and what’s left.</a:t>
            </a:r>
          </a:p>
          <a:p>
            <a:pPr algn="l" marL="237744" indent="-237744">
              <a:lnSpc>
                <a:spcPct val="105000"/>
              </a:lnSpc>
              <a:spcAft>
                <a:spcPts val="1200"/>
              </a:spcAft>
              <a:buFont typeface="+mj-lt"/>
              <a:buAutoNum type="arabicPeriod"/>
            </a:pPr>
            <a:r>
              <a:rPr sz="1500" b="0" i="0">
                <a:solidFill>
                  <a:srgbClr val="323139"/>
                </a:solidFill>
                <a:latin typeface="Segoe UI"/>
              </a:rPr>
              <a:t>Any time later: open a task from </a:t>
            </a:r>
            <a:r>
              <a:rPr sz="1500" b="1" i="0">
                <a:solidFill>
                  <a:srgbClr val="323139"/>
                </a:solidFill>
                <a:latin typeface="Segoe UI"/>
              </a:rPr>
              <a:t>My tasks</a:t>
            </a:r>
            <a:r>
              <a:rPr sz="1500" b="0" i="0">
                <a:solidFill>
                  <a:srgbClr val="323139"/>
                </a:solidFill>
                <a:latin typeface="Segoe UI"/>
              </a:rPr>
              <a:t> and type </a:t>
            </a:r>
            <a:r>
              <a:rPr sz="1500" b="1" i="0">
                <a:solidFill>
                  <a:srgbClr val="323139"/>
                </a:solidFill>
                <a:latin typeface="Segoe UI"/>
              </a:rPr>
              <a:t>/cost</a:t>
            </a:r>
            <a:r>
              <a:rPr sz="1500" b="0" i="0">
                <a:solidFill>
                  <a:srgbClr val="323139"/>
                </a:solidFill>
                <a:latin typeface="Segoe UI"/>
              </a:rPr>
              <a:t> to see what it used.</a:t>
            </a:r>
          </a:p>
        </p:txBody>
      </p:sp>
      <p:sp>
        <p:nvSpPr>
          <p:cNvPr id="55" name="Rounded Rectangle 54">
            <a:extLst>
              <a:ext uri="{C183D7F6-B498-43B3-948B-1728B52AA6E4}">
                <ns3:decorative xmlns:ns3="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Your weekday schedule uses credits on every run. </a:t>
            </a:r>
            <a:r>
              <a:rPr sz="1250" b="0" i="0">
                <a:solidFill>
                  <a:srgbClr val="FFFFFF"/>
                </a:solidFill>
                <a:latin typeface="Segoe Sans Display"/>
              </a:rPr>
              <a:t>Pause it after class: Automations → Manage schedules.</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/cost shows</a:t>
            </a:r>
          </a:p>
        </p:txBody>
      </p:sp>
      <p:sp>
        <p:nvSpPr>
          <p:cNvPr id="59" name="Rounded Rectangle 58">
            <a:extLst>
              <a:ext uri="{C183D7F6-B498-43B3-948B-1728B52AA6E4}">
                <ns5:decorative xmlns:ns5="http://schemas.microsoft.com/office/drawing/2017/decorative" val="1"/>
              </a:ext>
            </a:extLst>
          </p:cNvPr>
          <p:cNvSpPr/>
          <p:nvPr/>
        </p:nvSpPr>
        <p:spPr>
          <a:xfrm>
            <a:off x="7726679" y="169164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a:extLst>
              <a:ext uri="{C183D7F6-B498-43B3-948B-1728B52AA6E4}">
                <ns6:decorative xmlns:ns6="http://schemas.microsoft.com/office/drawing/2017/decorative" val="1"/>
              </a:ext>
            </a:extLst>
          </p:cNvPr>
          <p:cNvSpPr/>
          <p:nvPr/>
        </p:nvSpPr>
        <p:spPr>
          <a:xfrm>
            <a:off x="7726679" y="1801368"/>
            <a:ext cx="54864" cy="493776"/>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7909559" y="1746504"/>
            <a:ext cx="3749040" cy="274320"/>
          </a:xfrm>
          <a:prstGeom prst="rect">
            <a:avLst/>
          </a:prstGeom>
          <a:noFill/>
        </p:spPr>
        <p:txBody>
          <a:bodyPr wrap="square" anchor="t" lIns="0" rIns="0" tIns="0" bIns="0">
            <a:spAutoFit/>
          </a:bodyPr>
          <a:lstStyle/>
          <a:p>
            <a:pPr algn="l">
              <a:spcAft>
                <a:spcPts val="400"/>
              </a:spcAft>
            </a:pPr>
            <a:r>
              <a:rPr sz="1300" b="1" i="0">
                <a:solidFill>
                  <a:srgbClr val="0F6CBD"/>
                </a:solidFill>
                <a:latin typeface="Segoe UI"/>
              </a:rPr>
              <a:t>This task</a:t>
            </a:r>
          </a:p>
        </p:txBody>
      </p:sp>
      <p:sp>
        <p:nvSpPr>
          <p:cNvPr id="62" name="TextBox 61"/>
          <p:cNvSpPr txBox="1"/>
          <p:nvPr/>
        </p:nvSpPr>
        <p:spPr>
          <a:xfrm>
            <a:off x="7909559" y="203911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Approximate credits used so far, all actions combined</a:t>
            </a:r>
          </a:p>
        </p:txBody>
      </p:sp>
      <p:sp>
        <p:nvSpPr>
          <p:cNvPr id="63" name="Rounded Rectangle 62">
            <a:extLst>
              <a:ext uri="{C183D7F6-B498-43B3-948B-1728B52AA6E4}">
                <ns7:decorative xmlns:ns7="http://schemas.microsoft.com/office/drawing/2017/decorative" val="1"/>
              </a:ext>
            </a:extLst>
          </p:cNvPr>
          <p:cNvSpPr/>
          <p:nvPr/>
        </p:nvSpPr>
        <p:spPr>
          <a:xfrm>
            <a:off x="7726679" y="251460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a:extLst>
              <a:ext uri="{C183D7F6-B498-43B3-948B-1728B52AA6E4}">
                <ns8:decorative xmlns:ns8="http://schemas.microsoft.com/office/drawing/2017/decorative" val="1"/>
              </a:ext>
            </a:extLst>
          </p:cNvPr>
          <p:cNvSpPr/>
          <p:nvPr/>
        </p:nvSpPr>
        <p:spPr>
          <a:xfrm>
            <a:off x="7726679" y="2624328"/>
            <a:ext cx="54864" cy="493776"/>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909559" y="2569464"/>
            <a:ext cx="3749040" cy="274320"/>
          </a:xfrm>
          <a:prstGeom prst="rect">
            <a:avLst/>
          </a:prstGeom>
          <a:noFill/>
        </p:spPr>
        <p:txBody>
          <a:bodyPr wrap="square" anchor="t" lIns="0" rIns="0" tIns="0" bIns="0">
            <a:spAutoFit/>
          </a:bodyPr>
          <a:lstStyle/>
          <a:p>
            <a:pPr algn="l">
              <a:spcAft>
                <a:spcPts val="400"/>
              </a:spcAft>
            </a:pPr>
            <a:r>
              <a:rPr sz="1300" b="1" i="0">
                <a:solidFill>
                  <a:srgbClr val="8064A2"/>
                </a:solidFill>
                <a:latin typeface="Segoe UI"/>
              </a:rPr>
              <a:t>This month</a:t>
            </a:r>
          </a:p>
        </p:txBody>
      </p:sp>
      <p:sp>
        <p:nvSpPr>
          <p:cNvPr id="66" name="TextBox 65"/>
          <p:cNvSpPr txBox="1"/>
          <p:nvPr/>
        </p:nvSpPr>
        <p:spPr>
          <a:xfrm>
            <a:off x="7909559" y="286207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Credits you’ve used in your monthly limit</a:t>
            </a:r>
          </a:p>
        </p:txBody>
      </p:sp>
      <p:sp>
        <p:nvSpPr>
          <p:cNvPr id="67" name="Rounded Rectangle 66">
            <a:extLst>
              <a:ext uri="{C183D7F6-B498-43B3-948B-1728B52AA6E4}">
                <ns9:decorative xmlns:ns9="http://schemas.microsoft.com/office/drawing/2017/decorative" val="1"/>
              </a:ext>
            </a:extLst>
          </p:cNvPr>
          <p:cNvSpPr/>
          <p:nvPr/>
        </p:nvSpPr>
        <p:spPr>
          <a:xfrm>
            <a:off x="7726679" y="3337560"/>
            <a:ext cx="4023360" cy="713232"/>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a:extLst>
              <a:ext uri="{C183D7F6-B498-43B3-948B-1728B52AA6E4}">
                <ns10:decorative xmlns:ns10="http://schemas.microsoft.com/office/drawing/2017/decorative" val="1"/>
              </a:ext>
            </a:extLst>
          </p:cNvPr>
          <p:cNvSpPr/>
          <p:nvPr/>
        </p:nvSpPr>
        <p:spPr>
          <a:xfrm>
            <a:off x="7726679" y="3447288"/>
            <a:ext cx="54864" cy="493776"/>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09559" y="3392424"/>
            <a:ext cx="3749040" cy="274320"/>
          </a:xfrm>
          <a:prstGeom prst="rect">
            <a:avLst/>
          </a:prstGeom>
          <a:noFill/>
        </p:spPr>
        <p:txBody>
          <a:bodyPr wrap="square" anchor="t" lIns="0" rIns="0" tIns="0" bIns="0">
            <a:spAutoFit/>
          </a:bodyPr>
          <a:lstStyle/>
          <a:p>
            <a:pPr algn="l">
              <a:spcAft>
                <a:spcPts val="400"/>
              </a:spcAft>
            </a:pPr>
            <a:r>
              <a:rPr sz="1300" b="1" i="0">
                <a:solidFill>
                  <a:srgbClr val="107C10"/>
                </a:solidFill>
                <a:latin typeface="Segoe UI"/>
              </a:rPr>
              <a:t>Remaining</a:t>
            </a:r>
          </a:p>
        </p:txBody>
      </p:sp>
      <p:sp>
        <p:nvSpPr>
          <p:cNvPr id="70" name="TextBox 69"/>
          <p:cNvSpPr txBox="1"/>
          <p:nvPr/>
        </p:nvSpPr>
        <p:spPr>
          <a:xfrm>
            <a:off x="7909559" y="3685032"/>
            <a:ext cx="3749040" cy="292608"/>
          </a:xfrm>
          <a:prstGeom prst="rect">
            <a:avLst/>
          </a:prstGeom>
          <a:noFill/>
        </p:spPr>
        <p:txBody>
          <a:bodyPr wrap="square" anchor="t" lIns="0" rIns="0" tIns="0" bIns="0">
            <a:spAutoFit/>
          </a:bodyPr>
          <a:lstStyle/>
          <a:p>
            <a:pPr algn="l">
              <a:spcAft>
                <a:spcPts val="400"/>
              </a:spcAft>
            </a:pPr>
            <a:r>
              <a:rPr sz="1050" b="0" i="0">
                <a:solidFill>
                  <a:srgbClr val="242424"/>
                </a:solidFill>
                <a:latin typeface="Segoe UI"/>
              </a:rPr>
              <a:t>What’s left until the limit resets</a:t>
            </a:r>
          </a:p>
        </p:txBody>
      </p:sp>
      <p:sp>
        <p:nvSpPr>
          <p:cNvPr id="71" name="TextBox 70"/>
          <p:cNvSpPr txBox="1"/>
          <p:nvPr/>
        </p:nvSpPr>
        <p:spPr>
          <a:xfrm>
            <a:off x="7726679" y="4206240"/>
            <a:ext cx="4023360" cy="27432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Good to know</a:t>
            </a:r>
          </a:p>
        </p:txBody>
      </p:sp>
      <p:sp>
        <p:nvSpPr>
          <p:cNvPr id="72" name="TextBox 71"/>
          <p:cNvSpPr txBox="1"/>
          <p:nvPr/>
        </p:nvSpPr>
        <p:spPr>
          <a:xfrm>
            <a:off x="7726679" y="4526280"/>
            <a:ext cx="4023360" cy="1463040"/>
          </a:xfrm>
          <a:prstGeom prst="rect">
            <a:avLst/>
          </a:prstGeom>
          <a:noFill/>
        </p:spPr>
        <p:txBody>
          <a:bodyPr wrap="square" anchor="t" lIns="0" rIns="0" tIns="0" bIns="0">
            <a:spAutoFit/>
          </a:bodyPr>
          <a:lstStyle/>
          <a:p>
            <a:pPr algn="l" marL="182880" indent="-182880">
              <a:spcAft>
                <a:spcPts val="400"/>
              </a:spcAft>
              <a:buFont typeface="Arial"/>
              <a:buChar char="•"/>
            </a:pPr>
            <a:r>
              <a:rPr sz="1100" b="0" i="0">
                <a:solidFill>
                  <a:srgbClr val="323139"/>
                </a:solidFill>
                <a:latin typeface="Segoe UI"/>
              </a:rPr>
              <a:t>An </a:t>
            </a:r>
            <a:r>
              <a:rPr sz="1100" b="1" i="0">
                <a:solidFill>
                  <a:srgbClr val="323139"/>
                </a:solidFill>
                <a:latin typeface="Segoe UI"/>
              </a:rPr>
              <a:t>estimate, not a bill</a:t>
            </a:r>
            <a:r>
              <a:rPr sz="1100" b="0" i="0">
                <a:solidFill>
                  <a:srgbClr val="323139"/>
                </a:solidFill>
                <a:latin typeface="Segoe UI"/>
              </a:rPr>
              <a:t>; may lag a few minutes</a:t>
            </a:r>
          </a:p>
          <a:p>
            <a:pPr algn="l" marL="182880" indent="-182880">
              <a:spcAft>
                <a:spcPts val="400"/>
              </a:spcAft>
              <a:buFont typeface="Arial"/>
              <a:buChar char="•"/>
            </a:pPr>
            <a:r>
              <a:rPr sz="1100" b="0" i="0">
                <a:solidFill>
                  <a:srgbClr val="323139"/>
                </a:solidFill>
                <a:latin typeface="Segoe UI"/>
              </a:rPr>
              <a:t>No preview: you see the cost only </a:t>
            </a:r>
            <a:r>
              <a:rPr sz="1100" b="1" i="0">
                <a:solidFill>
                  <a:srgbClr val="323139"/>
                </a:solidFill>
                <a:latin typeface="Segoe UI"/>
              </a:rPr>
              <a:t>after</a:t>
            </a:r>
            <a:r>
              <a:rPr sz="1100" b="0" i="0">
                <a:solidFill>
                  <a:srgbClr val="323139"/>
                </a:solidFill>
                <a:latin typeface="Segoe UI"/>
              </a:rPr>
              <a:t> a task runs</a:t>
            </a:r>
          </a:p>
          <a:p>
            <a:pPr algn="l" marL="182880" indent="-182880">
              <a:spcAft>
                <a:spcPts val="400"/>
              </a:spcAft>
              <a:buFont typeface="Arial"/>
              <a:buChar char="•"/>
            </a:pPr>
            <a:r>
              <a:rPr sz="1100" b="0" i="0">
                <a:solidFill>
                  <a:srgbClr val="323139"/>
                </a:solidFill>
                <a:latin typeface="Segoe UI"/>
              </a:rPr>
              <a:t>Limits are set by your org, reset monthly (00:00 UTC), and may be shared by a group</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Deep Research to summarize current best practices for structured behavioral interviews from multiple reputable sources. 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Now compare these best practices to our HR Coordinator interview needs in job-description-sample.docx, 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Turn this into an interviewer scorecard 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2</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Go to https://www.dol.gov and use the site’s search box to find the Wage and Hour Division’s overtime pay fact sheet (Fact Sheet #23). 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Go to https://lni.wa.gov and use the site’s menu or search to find Washington State’s overtime page. 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Compare both with the overtime rule in employee-handbook-excerpt.docx. 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Turn this into a one-page Word brief for our payroll team about ticket T-2008: what the rules say, what our handbook says, and the recommended next step. 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3</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Word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(25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workshop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 Ground answers in employee-handbook-excerpt.docx and benefits-summary.docx in my OneDrive folder Documents/ai_hr_cowork_workshop; if the answer isn’t in them,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4</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(30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hr-tickets-sample.xlsx, summarize open vs. closed tickets by category and priority, and list the high-priority open items I should follow up on today. 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5</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onboarding-checklist.docx, employee-handbook-excerpt.docx, and benefits-summary.docx, build a short onboarding orientation PowerPoint (6–8 slides) covering first-day logistics, PTO, remote/hybrid work, and benefits basics. Keep it clean and friendly.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Schedule a 30-minute onboarding kickoff for Sofia Alvarez’s first day, next Monday at 9:30 AM, add a Teams meeting link, 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 using onboarding-checklist.docx. Save it as an Outlook email draft addressed to me; 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6</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30-min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Team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No real invitees in the shared tenant</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Every Monday at 8:00 AM, read hr-tickets-sample.xlsx in my OneDrive folder Documents/ai_hr_cowork_workshop, summarize open tickets by category and priority, list high-priority open tickets first, and put it in a short report. 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Give me a Daily Briefing focused on my HR tasks and meetings for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7</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 — in a warm, professional tone. Always cite the source document and remind the reader that HR should confirm. 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63256" y="5532120"/>
            <a:ext cx="4224528" cy="685800"/>
          </a:xfrm>
          <a:prstGeom prst="roundRect">
            <a:avLst>
              <a:gd name="adj" fmla="val 2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946136" y="5532120"/>
            <a:ext cx="3858768" cy="6858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of Exercise 8</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DECEA"/>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Semibold"/>
              </a:rPr>
              <a:t>Next: </a:t>
            </a:r>
            <a:r>
              <a:rPr sz="1200" b="0" i="0">
                <a:solidFill>
                  <a:srgbClr val="323139"/>
                </a:solidFill>
                <a:latin typeface="Segoe Sans Display"/>
              </a:rPr>
              <a:t>your turn on the hands-on slide (20 min). Open Microsoft 365 Copilot → Create agent, not Cowork.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Load </a:t>
            </a:r>
            <a:r>
              <a:rPr sz="1400" b="1" i="0">
                <a:solidFill>
                  <a:srgbClr val="242424"/>
                </a:solidFill>
                <a:latin typeface="Segoe UI"/>
              </a:rPr>
              <a:t>seed-content.md</a:t>
            </a:r>
            <a:r>
              <a:rPr sz="1400" b="0" i="0">
                <a:solidFill>
                  <a:srgbClr val="242424"/>
                </a:solidFill>
                <a:latin typeface="Segoe UI"/>
              </a:rPr>
              <a:t> within 24 h of the session</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Empty dashboard → expected; show your demo</a:t>
            </a:r>
          </a:p>
          <a:p>
            <a:pPr algn="l" marL="182880" indent="-182880">
              <a:spcAft>
                <a:spcPts val="500"/>
              </a:spcAft>
              <a:buFont typeface="Arial"/>
              <a:buChar char="•"/>
            </a:pPr>
            <a:r>
              <a:rPr sz="1400" b="0" i="0">
                <a:solidFill>
                  <a:srgbClr val="242424"/>
                </a:solidFill>
                <a:latin typeface="Segoe UI"/>
              </a:rPr>
              <a:t>No browser task → Edge, signed in as the workshop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stretch prompts, then explore the kit’s README.</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