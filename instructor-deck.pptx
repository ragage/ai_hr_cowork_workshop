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media/image2.svg" ContentType="image/svg+xml"/>
  <Override PartName="/ppt/notesMasters/notesMaster1.xml" ContentType="application/vnd.openxmlformats-officedocument.presentationml.notesMaster+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Override10.xml" ContentType="application/vnd.openxmlformats-officedocument.themeOverride+xml"/>
  <Override PartName="/ppt/theme/themeOverride11.xml" ContentType="application/vnd.openxmlformats-officedocument.themeOverride+xml"/>
  <Override PartName="/ppt/theme/themeOverride12.xml" ContentType="application/vnd.openxmlformats-officedocument.themeOverride+xml"/>
  <Override PartName="/ppt/theme/themeOverride13.xml" ContentType="application/vnd.openxmlformats-officedocument.themeOverride+xml"/>
  <Override PartName="/ppt/theme/themeOverride14.xml" ContentType="application/vnd.openxmlformats-officedocument.themeOverride+xml"/>
  <Override PartName="/ppt/theme/themeOverride15.xml" ContentType="application/vnd.openxmlformats-officedocument.themeOverride+xml"/>
  <Override PartName="/ppt/theme/themeOverride16.xml" ContentType="application/vnd.openxmlformats-officedocument.themeOverride+xml"/>
  <Override PartName="/ppt/theme/themeOverride17.xml" ContentType="application/vnd.openxmlformats-officedocument.themeOverride+xml"/>
  <Override PartName="/ppt/theme/themeOverride18.xml" ContentType="application/vnd.openxmlformats-officedocument.themeOverride+xml"/>
  <Override PartName="/ppt/theme/themeOverride19.xml" ContentType="application/vnd.openxmlformats-officedocument.themeOverride+xml"/>
  <Override PartName="/ppt/theme/themeOverride20.xml" ContentType="application/vnd.openxmlformats-officedocument.themeOverride+xml"/>
  <Override PartName="/ppt/theme/themeOverride21.xml" ContentType="application/vnd.openxmlformats-officedocument.themeOverride+xml"/>
  <Override PartName="/ppt/theme/themeOverride22.xml" ContentType="application/vnd.openxmlformats-officedocument.themeOverride+xml"/>
  <Override PartName="/ppt/theme/themeOverride23.xml" ContentType="application/vnd.openxmlformats-officedocument.themeOverride+xml"/>
  <Override PartName="/ppt/theme/themeOverride24.xml" ContentType="application/vnd.openxmlformats-officedocument.themeOverride+xml"/>
  <Override PartName="/ppt/theme/themeOverride25.xml" ContentType="application/vnd.openxmlformats-officedocument.themeOverride+xml"/>
  <Override PartName="/ppt/theme/themeOverride26.xml" ContentType="application/vnd.openxmlformats-officedocument.themeOverride+xml"/>
  <Override PartName="/ppt/theme/themeOverride27.xml" ContentType="application/vnd.openxmlformats-officedocument.themeOverride+xml"/>
  <Override PartName="/ppt/theme/themeOverride28.xml" ContentType="application/vnd.openxmlformats-officedocument.themeOverride+xml"/>
  <Override PartName="/ppt/theme/themeOverride29.xml" ContentType="application/vnd.openxmlformats-officedocument.themeOverride+xml"/>
  <Override PartName="/ppt/theme/themeOverride30.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4"/>
    <p:sldMasterId id="2147483695" r:id="rId5"/>
    <p:sldMasterId id="2147483710" r:id="rId6"/>
    <p:sldMasterId id="2147483725" r:id="rId7"/>
  </p:sldMasterIdLst>
  <p:notesMasterIdLst>
    <p:notesMasterId r:id="rId25"/>
  </p:notesMasterIdLst>
  <p:sldIdLst>
    <p:sldId id="256" r:id="rId31"/>
    <p:sldId id="257" r:id="rId32"/>
    <p:sldId id="258" r:id="rId33"/>
    <p:sldId id="259" r:id="rId34"/>
    <p:sldId id="260" r:id="rId35"/>
    <p:sldId id="261" r:id="rId36"/>
    <p:sldId id="262" r:id="rId37"/>
    <p:sldId id="263" r:id="rId38"/>
    <p:sldId id="264" r:id="rId39"/>
    <p:sldId id="265" r:id="rId40"/>
    <p:sldId id="266" r:id="rId41"/>
    <p:sldId id="267" r:id="rId42"/>
    <p:sldId id="268" r:id="rId43"/>
    <p:sldId id="269" r:id="rId44"/>
    <p:sldId id="270" r:id="rId45"/>
    <p:sldId id="271" r:id="rId46"/>
    <p:sldId id="272" r:id="rId47"/>
    <p:sldId id="273" r:id="rId48"/>
    <p:sldId id="274" r:id="rId49"/>
    <p:sldId id="275" r:id="rId50"/>
    <p:sldId id="276" r:id="rId51"/>
    <p:sldId id="277" r:id="rId52"/>
    <p:sldId id="278" r:id="rId53"/>
    <p:sldId id="279" r:id="rId54"/>
    <p:sldId id="280" r:id="rId55"/>
    <p:sldId id="281" r:id="rId56"/>
    <p:sldId id="282" r:id="rId57"/>
    <p:sldId id="283" r:id="rId58"/>
    <p:sldId id="284" r:id="rId59"/>
    <p:sldId id="285" r:id="rId60"/>
    <p:sldId id="286" r:id="rId61"/>
    <p:sldId id="287" r:id="rId62"/>
    <p:sldId id="288" r:id="rId63"/>
    <p:sldId id="289" r:id="rId64"/>
    <p:sldId id="290" r:id="rId65"/>
    <p:sldId id="291" r:id="rId66"/>
    <p:sldId id="292" r:id="rId6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amp; orientation" id="{C771FDF2-AB20-4288-8558-A2F25D0E20C0}">
          <p14:sldIdLst>
            <p14:sldId id="256"/>
            <p14:sldId id="257"/>
            <p14:sldId id="258"/>
            <p14:sldId id="259"/>
            <p14:sldId id="260"/>
            <p14:sldId id="261"/>
            <p14:sldId id="262"/>
            <p14:sldId id="263"/>
            <p14:sldId id="264"/>
            <p14:sldId id="265"/>
            <p14:sldId id="266"/>
            <p14:sldId id="267"/>
            <p14:sldId id="268"/>
          </p14:sldIdLst>
        </p14:section>
        <p14:section name="Part 1 · Exercises 1–2" id="{20129239-86FA-4B13-BEBA-877116AF4A1D}">
          <p14:sldIdLst>
            <p14:sldId id="269"/>
            <p14:sldId id="270"/>
            <p14:sldId id="271"/>
            <p14:sldId id="272"/>
            <p14:sldId id="273"/>
            <p14:sldId id="274"/>
          </p14:sldIdLst>
        </p14:section>
        <p14:section name="Part 2 · Exercises 3–5" id="{E73A8667-5774-474F-8758-662936B7126D}">
          <p14:sldIdLst>
            <p14:sldId id="275"/>
            <p14:sldId id="276"/>
            <p14:sldId id="277"/>
            <p14:sldId id="278"/>
            <p14:sldId id="279"/>
            <p14:sldId id="280"/>
            <p14:sldId id="281"/>
          </p14:sldIdLst>
        </p14:section>
        <p14:section name="Part 3 · Exercises 6–8" id="{3483DBD8-3481-4C24-8152-7E62821161FE}">
          <p14:sldIdLst>
            <p14:sldId id="282"/>
            <p14:sldId id="283"/>
            <p14:sldId id="284"/>
            <p14:sldId id="285"/>
            <p14:sldId id="286"/>
            <p14:sldId id="287"/>
            <p14:sldId id="288"/>
          </p14:sldIdLst>
        </p14:section>
        <p14:section name="Close" id="{A0124027-3EFF-4434-8084-A980067ED24D}">
          <p14:sldIdLst>
            <p14:sldId id="289"/>
            <p14:sldId id="290"/>
            <p14:sldId id="291"/>
            <p14:sldId id="292"/>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F9C0429-A27D-191E-02F6-1A5EA1ADAF1C}" name="Rodrigo De la Garza" initials="" userId="S::rodela@microsoft.com::aea35d9c-2d89-4bc1-8b94-6f0d54120eda" providerId="AD"/>
  <p188:author id="{4392619F-7B75-E4F8-5D55-40619472227E}" name="Ellie Ferguson" initials="EF" userId="S::elferguson@microsoft.com::55c21014-b655-49ad-a317-db34b175183a" providerId="AD"/>
  <p188:author id="{7F558DBD-3EBD-5EEC-0EC6-1FE8EAD99B4B}" name="Traníssa Cremé Calella" initials="TC" userId="S::trcreme@microsoft.com::da230c5a-0394-4c9f-a6c7-bcd14a74aca4" providerId="AD"/>
  <p188:author id="{EA2BB1CC-CCBC-CFD1-E586-B3F5D4B2902B}" name="Gina Eisele" initials="" userId="S::ginah@microsoft.com::4b775c3a-ed81-4f52-b83b-472130d98b00" providerId="AD"/>
  <p188:author id="{9F6174CF-D48A-DD27-940C-47BFC88AAFD6}" name="Andrea Lum" initials="AL" userId="S::anlum@microsoft.com::89002afe-ac3a-4767-b9c9-147d574dba1b" providerId="AD"/>
  <p188:author id="{251871E8-1052-0574-57C0-60020D8857D0}" name="Saulo Machado" initials="SM" userId="S::samachad@microsoft.com::27113bbf-fdf8-43dc-8297-892970210243"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63" d="100"/>
          <a:sy n="163" d="100"/>
        </p:scale>
        <p:origin x="2406"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microsoft.com/office/2018/10/relationships/authors" Target="authors.xml"/><Relationship Id="rId31" Type="http://schemas.openxmlformats.org/officeDocument/2006/relationships/slide" Target="slides/slide18.xml"/><Relationship Id="rId32" Type="http://schemas.openxmlformats.org/officeDocument/2006/relationships/slide" Target="slides/slide19.xml"/><Relationship Id="rId33" Type="http://schemas.openxmlformats.org/officeDocument/2006/relationships/slide" Target="slides/slide20.xml"/><Relationship Id="rId34" Type="http://schemas.openxmlformats.org/officeDocument/2006/relationships/slide" Target="slides/slide21.xml"/><Relationship Id="rId35" Type="http://schemas.openxmlformats.org/officeDocument/2006/relationships/slide" Target="slides/slide22.xml"/><Relationship Id="rId36" Type="http://schemas.openxmlformats.org/officeDocument/2006/relationships/slide" Target="slides/slide23.xml"/><Relationship Id="rId37" Type="http://schemas.openxmlformats.org/officeDocument/2006/relationships/slide" Target="slides/slide24.xml"/><Relationship Id="rId38" Type="http://schemas.openxmlformats.org/officeDocument/2006/relationships/slide" Target="slides/slide25.xml"/><Relationship Id="rId39" Type="http://schemas.openxmlformats.org/officeDocument/2006/relationships/slide" Target="slides/slide26.xml"/><Relationship Id="rId40" Type="http://schemas.openxmlformats.org/officeDocument/2006/relationships/slide" Target="slides/slide27.xml"/><Relationship Id="rId41" Type="http://schemas.openxmlformats.org/officeDocument/2006/relationships/slide" Target="slides/slide28.xml"/><Relationship Id="rId42" Type="http://schemas.openxmlformats.org/officeDocument/2006/relationships/slide" Target="slides/slide29.xml"/><Relationship Id="rId43" Type="http://schemas.openxmlformats.org/officeDocument/2006/relationships/slide" Target="slides/slide30.xml"/><Relationship Id="rId44" Type="http://schemas.openxmlformats.org/officeDocument/2006/relationships/slide" Target="slides/slide31.xml"/><Relationship Id="rId45" Type="http://schemas.openxmlformats.org/officeDocument/2006/relationships/slide" Target="slides/slide32.xml"/><Relationship Id="rId46" Type="http://schemas.openxmlformats.org/officeDocument/2006/relationships/slide" Target="slides/slide33.xml"/><Relationship Id="rId47" Type="http://schemas.openxmlformats.org/officeDocument/2006/relationships/slide" Target="slides/slide34.xml"/><Relationship Id="rId48" Type="http://schemas.openxmlformats.org/officeDocument/2006/relationships/slide" Target="slides/slide35.xml"/><Relationship Id="rId49" Type="http://schemas.openxmlformats.org/officeDocument/2006/relationships/slide" Target="slides/slide36.xml"/><Relationship Id="rId50" Type="http://schemas.openxmlformats.org/officeDocument/2006/relationships/slide" Target="slides/slide37.xml"/><Relationship Id="rId51" Type="http://schemas.openxmlformats.org/officeDocument/2006/relationships/slide" Target="slides/slide38.xml"/><Relationship Id="rId52" Type="http://schemas.openxmlformats.org/officeDocument/2006/relationships/slide" Target="slides/slide39.xml"/><Relationship Id="rId53" Type="http://schemas.openxmlformats.org/officeDocument/2006/relationships/slide" Target="slides/slide40.xml"/><Relationship Id="rId54" Type="http://schemas.openxmlformats.org/officeDocument/2006/relationships/slide" Target="slides/slide41.xml"/><Relationship Id="rId55" Type="http://schemas.openxmlformats.org/officeDocument/2006/relationships/slide" Target="slides/slide42.xml"/><Relationship Id="rId56" Type="http://schemas.openxmlformats.org/officeDocument/2006/relationships/slide" Target="slides/slide43.xml"/><Relationship Id="rId57" Type="http://schemas.openxmlformats.org/officeDocument/2006/relationships/slide" Target="slides/slide44.xml"/><Relationship Id="rId58" Type="http://schemas.openxmlformats.org/officeDocument/2006/relationships/slide" Target="slides/slide45.xml"/><Relationship Id="rId59" Type="http://schemas.openxmlformats.org/officeDocument/2006/relationships/slide" Target="slides/slide46.xml"/><Relationship Id="rId60" Type="http://schemas.openxmlformats.org/officeDocument/2006/relationships/slide" Target="slides/slide47.xml"/><Relationship Id="rId61" Type="http://schemas.openxmlformats.org/officeDocument/2006/relationships/slide" Target="slides/slide48.xml"/><Relationship Id="rId62" Type="http://schemas.openxmlformats.org/officeDocument/2006/relationships/slide" Target="slides/slide49.xml"/><Relationship Id="rId63" Type="http://schemas.openxmlformats.org/officeDocument/2006/relationships/slide" Target="slides/slide50.xml"/><Relationship Id="rId64" Type="http://schemas.openxmlformats.org/officeDocument/2006/relationships/slide" Target="slides/slide51.xml"/><Relationship Id="rId65" Type="http://schemas.openxmlformats.org/officeDocument/2006/relationships/slide" Target="slides/slide52.xml"/><Relationship Id="rId66" Type="http://schemas.openxmlformats.org/officeDocument/2006/relationships/slide" Target="slides/slide53.xml"/><Relationship Id="rId67"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923693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WELCOME (0:00-0:10). Introduce yourself and the goal: by the end, every attendee knows when to use Copilot Chat vs. Cowork and has built an executive command center, researched the web, had Cowork navigate websites in its browser, built a custom skill, an onboarding pack and an automation, and finished with a no-code AGENT. 4 hours, two breaks. Tenant note: ATTENDEES share one tenant; YOU demo from a SEPARATE tenant, so your screen may differ. Golden rule all day: every Cowork output is a DRAFT; Cowork pauses at checkpoints.</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AGENDA. Framing (what/why + Copilot vs Cowork), a UI tour + setup, then EIGHT exercises with two breaks. Each exercise opens with a Nifty Fifty-style scenario card, then a hands-on slide with steps and a checkpoint. Ex 1 is the Nifty Fifty 'Exec 01' Executive Command Center; Ex 3 has Cowork drive a browser; Ex 4 (custom skill) is the centerpiece; Ex 8 steps OUTSIDE Cowork into Agent Builder.</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LEARNING OBJECTIVES (part of Welcome, 0:00-0:10). Read the six out loud and tell the room you'll come back to them at wrap-up with a quick knowledge check. They mirror the README and workbook.</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COPILOT vs COWORK (0:10-0:20). Copilot (Chat) = assistant: you ask, it answers, you drive. Cowork = coworker: you describe an outcome, it does the multi-step work and returns a deliverable, pausing for approval. Give one HR example of each and land the rule of thumb. Cowork isn't a replacement for Chat — it's the 'do it for me' mode of the same Copilot family. Detail: reference/00-copilot-vs-cowork.md.</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WHAT IS COWORK. Describe the OUTCOME, not the steps. Cowork plans -&gt; picks skills -&gt; pauses for approval -&gt; returns artifacts, grounded via Work IQ (permission-aware). Hammer the checkpoint model; attendees meet approval dialogs from Exercise 1 on.</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COWORK UI WALKTHROUGH (part of 0:20-0:40). The screenshot is the NEW TASK home ('What can I do for you?'): Start a task box, model picker, reasoning effort, attach, dictate, 'Try these next'. Then MY TASKS (resume past work), AUTOMATIONS (Runs / Manage schedules), CUSTOMIZE (instructions, skills, plugins). Point out the session side panel — you'll refer to it all day. Detail: reference/07-cowork-ui-walkthrough.md.</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HOW APPROVALS WORK (end of the UI walkthrough, before Exercise 1). Show a real approval dialog on screen. Name each option: the action button, Cancel, Show parameters, and the two to avoid today: Approve All (n) and More options -&gt; Always allow / Approve &amp; don't ask again. Say it plainly: 'One at a time. No Approve All.' Show where to revoke: side panel -&gt; Permissions. Source: Microsoft Learn, 'Use Copilot Cowork -&gt; Approve actions'. Detail: reference/07-cowork-ui-walkthrough.md.</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SETUP (part of 0:20-0:40). Whole room: sign in + smoke test, then download zava-sample-knowledge.zip, extract, and upload the six Word and Excel files to their own OneDrive. Show how to attach a file: + -&gt; Attach cloud files, or type /. EDGE PROFILE CHECK: the browser task in Ex 3 runs in the Edge profile signed in with the workshop account; anyone in their own corporate profile adds a new Edge profile now (not InPrivate). Attendees share ONE tenant; YOU are on a SEPARATE tenant. Proctors triage; anyone blocked follows your demo. readiness-checklist.md has the triage, and seed-content.md has the seed data for Exercises 1 and 2.</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CUSTOM INSTRUCTIONS (part of 0:20-0:40, about 3 min). Show it live: Customize -&gt; Preferences -&gt; 'Customize instructions for Cowork'. Explain: guidance Cowork automatically adds to the START of every task, so tone, format, and rules don't have to be repeated in each prompt. Everyone pastes the workbook text (Setup step D), saves, then tests in a new task: 'Draft a two-sentence reminder to employees that open enrollment is in November.' The reply should use the tone and end with the confirm-with-HR note. Instructions are personal (neighbors in the shared tenant don't see them), support rich text and / references, up to about 20 KB; keep them short because they're included in every task. Source: Microsoft Learn, 'Customize Copilot Cowork -&gt; Custom instructions in Cowork'. MORE SAMPLES: workbook step D has role-based samples to paste back at work (HR business partner, recruiter, HR operations, employee comms); the full set is in reference/02-settings-and-models.md. Tell people to pick ONE, not stack them.</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SETTINGS &amp; MODELS. Model picker ('let Cowork decide' is a fine default; Anthropic models may appear as a subprocessor depending on tenant) and reasoning effort (quality vs speed vs cost). Set one custom instruction as a class in Customize. Detail: reference/02-settings-and-models.md.</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SKILLS. You don't invoke skills manually — Cowork activates them and shows chips. Ex 1 gathers mail, calendar, and chats through Work IQ; Ex 2 Deep Research + Word/Excel; Ex 3 is browser use (no skill chip); Ex 5 Word/Excel; Ex 6 PowerPoint, Scheduling, Communications; Ex 7 Daily Briefing. Full list: reference/03-skills-catalog.md.</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RESPONSIBLE USE. Draft -&gt; review -&gt; approve. Fictional Zava data only; no real PII; never send to real people (send only to yourself). Cite sources + 'confirm with HR'. Exercise 1's prompt also keeps recommendations on workstreams, not on evaluating individuals. Detail: reference/06-responsible-use.md.</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HOW TO READ A CARD. Every exercise is introduced in the Copilot Cowork 'Nifty Fifty' scenario format. Walk it top-left to bottom-right: Goal, Output, Why Cowork?, Prompt, Workflow, Data sources; the Function tag names the business area. Each card is followed by a hands-on slide with numbered steps, what to watch for, a checkpoint, and a stretch.</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EXERCISE 1 CARD (0:40-1:05, 25 min). SAY: 'This is a real Microsoft scenario, the Nifty Fifty Exec 01, word for word. Watch one prompt gather signals, build a dashboard, save itself as a skill, and schedule itself.' APPROVALS FIRST: this is the first exercise where Cowork asks permission (saving the skill, creating the schedule). Point back to the approvals slide: one at a time, no Approve All. It previews Ex 4 (skills) and Ex 7 (Automations). Read the guardrail in the prompt aloud: workstreams, not people.</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EXERCISE 1 HANDS-ON. DO: show how to fill [Priority Folder] (e.g., Documents/Cowork) and [time] (e.g., 8:00 AM), then start your demo. WATCH FOR: Work IQ gathering; the HTML file in the Output folder; the Thursday conflict and T-2008 from the seed data. Light results on fresh accounts are expected; show your richer demo. SLOW DOWN at step 3: the next slide walks the Output folder. CLEANUP: skill stays 'Only you'; pause or delete the weekday schedule after class. NEXT: Output folder slide, then Deep Research.</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FIND YOUR OUTPUTS (Ex 1, ~3 min). Take your time here; every later exercise relies on it. On your screen: open the side panel with the side panel toggle; point out Input folder (what you attached) vs Output folder (what Cowork created, each file with Preview and Download); Preview the HTML dashboard (split view, full-screen toggle, Open in native app); show Download and Download All (zip); open OneDrive -&gt; Cowork in a new tab to show the same file. Then have EVERY attendee do it before moving on; proctors help anyone who can't find the toggle. The panel on the right is an illustration of the side panel's sections (per Microsoft Learn), not a screenshot.</a:t>
            </a:r>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EXERCISE 2 CARD (1:05-1:25, 20 min). SAY: 'Deep Research reads many web sources and cites them, then we make it useful by grounding it in our own job description and turning it into documents.' Point out the three stages on the card: research, ground, build (Word + Excel). Next exercise shows the OTHER way Cowork uses the web: driving a browser.</a:t>
            </a:r>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EXERCISE 2 HANDS-ON. DO: start Deep Research on your screen first (it takes a few minutes), then the room starts theirs. Use the wait: 'When is web research better than our own content, and when is it riskier?' WATCH FOR: the Deep Research chip; citations that open; Word and Excel chips for the scorecard. IF STUCK: blank scales -&gt; reply 'Fill in the 1, 3, and 5 anchors for every competency.' Only one file -&gt; 'Also create the Excel version.' TIME CHECK: at 1:20, demo the scorecard follow-up on your screen if most are still researching. NEXT: break, then the browser.</a:t>
            </a:r>
          </a:p>
        </p:txBody>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BREAK (10 min). Sweep the room for blockers. Next: Cowork drives a web browser, then the centerpiece custom-skill build. Proctors: check Edge profiles and the Edge Cowork setting now.</a:t>
            </a:r>
          </a:p>
        </p:txBody>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EXERCISE 3 CARD (1:35-2:00, 25 min). SAY: 'This is Cowork driving a real browser, like a person or a test tool such as Playwright: it types in a site's search box, clicks links and menus, and moves to another site. There's no browser skill to pick and no skill chip; ask for something that needs a website and Cowork opens a hidden tab in your own Edge, with your sign-ins and your company's policies.' Contrast with Deep Research (reads and cites) from Ex 2.</a:t>
            </a:r>
          </a:p>
        </p:txBody>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EXERCISE 3 HANDS-ON. DO: demo first. Show the consent notice (I understand), the progress chips, and Switch to tab so the room sees Edge typing in the DOL search box and clicking through to Fact Sheet #23, then lni.wa.gov. WATCH FOR: a table showing Zava's 1.5x over 40 hours matches federal and Washington rules; DOL adds the regular-payday rule; Washington adds no waiver and no daily overtime; links to both pages. IF STUCK: 'Browser tasks run in Microsoft Edge' -&gt; wrong browser; no browser at all -&gt; Edge profile isn't the workshop account, InPrivate, the Edge setting is off, or the admin hasn't allowed browser access (reference/10-cowork-browser.md). They follow your demo. TIME CHECK: at 1:55 skip 3b and demo it. NEXT: 'You've used built-in skills and the browser. Now build your own skill.'</a:t>
            </a:r>
          </a:p>
        </p:txBody>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EXERCISE 4 CARD (2:00-2:30, 30 min) - CENTERPIECE. SAY: 'In Ex 1 a skill was saved for you from a prompt. Now you build one on purpose and Cowork grades it.' Explain why a skill beats re-typing instructions: same format, sources, and guardrails every time. Scoring bands: Excellent 85+, Good 70-84, Needs work 50-69, Poor &lt;50.</a:t>
            </a:r>
          </a:p>
        </p:txBody>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EXERCISE 4 HANDS-ON. DO: build it live from Customize -&gt; Skills -&gt; Add -&gt; Create new; paste the instructions; read the evaluation ALOUD and name the four dimensions (trigger clarity, instruction specificity, scope boundaries, robustness). Then test both questions. WATCH FOR: the skill triggering WITHOUT being named; Answer -&gt; Details -&gt; Source -&gt; confirm-with-HR; the salary question declined. IF STUCK: 'Needs work' -&gt; tighten trigger wording and the out-of-scope list; wrong facts -&gt; check the two file names in the instructions match their OneDrive. Keep skills 'Only you'. Answer key: facilitator-answer-key.md and skills/hr-policy-answer/SKILL.md. NEXT: 'This skill helps YOU. In Ex 8 we build an agent that helps OTHERS.'</a:t>
            </a:r>
          </a:p>
        </p:txBody>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EXERCISE 5 CARD (2:30-2:45, 15 min). SAY: 'Two quick wins. In Ex 2 we prepared to interview for the HR Coordinator role; now we write the posting that attracts the right candidates. Then we get on top of the ticket queue.' Point out that Cowork picks Word for writing and Excel for analysis on its own.</a:t>
            </a:r>
          </a:p>
        </p:txBody>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EXERCISE 5 HANDS-ON. DO: run 5a and 5b back to back; attendees can start 5b while 5a is still working. WATCH FOR: 5a -&gt; a posting under 350 words with the hybrid schedule, plus a wording-review table (e.g., degree requirement, years of experience framed as must-haves); discuss whether every flag is fair. 5b -&gt; 6 open / 14 closed, T-2008 as the ONLY high-priority open ticket. TRAP: T-2003 and T-2013 are High but Closed; listing them means Status was ignored. IF STUCK: wrong counts -&gt; ask Cowork to show the table it counted from. NEXT: break, then they automate this report in Ex 7.</a:t>
            </a:r>
          </a:p>
        </p:txBody>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BREAK (10 min). Sweep the room for blockers. Check everyone's Exercise 4 skill saved — Exercise 7 shares it.</a:t>
            </a:r>
          </a:p>
        </p:txBody>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EXERCISE 6 CARD (2:55-3:15, 20 min). SAY: 'Sofia Alvarez accepted the HR Coordinator role and starts next Monday. Let's get her first day ready.' This is the story arc from Ex 2 (interview) and Ex 5 (posting). Several built-in skills chain together: PowerPoint, Scheduling, Communications. Call out each new skill chip.</a:t>
            </a:r>
          </a:p>
        </p:txBody>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EXERCISE 6 HANDS-ON. DO: 6a first (the deck takes longest), then 6b and 6c while it builds. WATCH FOR: PowerPoint, Scheduling/Calendar, and Communications chips; an approval dialog before the invite is sent; the announcement saved as a draft, not sent. SAFETY: invite yourself only; Sofia is fictional and has no account. IF STUCK: no Teams link -&gt; ask Cowork to add one before approving. TIME CHECK: short on time, do 6a + 6c and watch 6b as a demo. NEXT: 'Now let's stop re-asking for the same work.'</a:t>
            </a:r>
          </a:p>
        </p:txBody>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EXERCISE 7 CARD (3:15-3:30, 15 min). SAY: 'You built a skill and a report. Now put recurring work on a schedule and share what you built.' They already created one schedule in Ex 1; now they see where schedules live and how to control them.</a:t>
            </a:r>
          </a:p>
        </p:txBody>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EXERCISE 7 HANDS-ON. DO: create the Automation live; choose 'Activate and run now'; show Runs vs Manage schedules (edit, pause, resume, delete). Demo a Daily Briefing, then Share / Re-share on the Ex 4 skill. WATCH FOR: an Active schedule and a completed run naming T-2008. IF STUCK: run can't find the file -&gt; the prompt must name the exact file and folder. Sharing stays inside the attendee tenant: 'Only you' or initialed names. TIME CHECK: 7a is the must-do; 7b and 7c can be demo-only. NEXT: the plugins spotlight.</a:t>
            </a:r>
          </a:p>
        </p:txBody>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SPOTLIGHT — HR PLUGINS (3:30-3:35). TALK ONLY, no hands-on. Show Customize → Plugins: Installed (toggles), a plugin's detail page (its skills and connectors), Discover, and Upload plugin. A plugin bundles skills and connectors; connectors can be MCP servers, so Cowork can read and act in systems like payroll, ATS or your HRIS. Example (illustrative): with a payroll plugin such as Gusto, ticket T-2008 (Owen Wright's payroll question) could be answered from the real pay record, with Cowork asking approval before any change. Each user signs in to a connector once; admins can deploy plugins ('Managed by your organization') and activity is in Purview audit logs. Do NOT install plugins in the shared attendee tenant — demo from the facilitator tenant if you have one installed. Details: reference/09-plugins.md.</a:t>
            </a:r>
          </a:p>
        </p:txBody>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EXERCISE 8 CARD (3:35-3:55, 20 min) - NON-COWORK CAPSTONE. SAY: 'Everything so far helped YOU. Now we build something OTHER people can use: an agent, in Microsoft 365 Copilot's Agent Builder.' Same no-code spirit, different tool: a persistent, shareable agent grounded in the same Zava files.</a:t>
            </a:r>
          </a:p>
        </p:txBody>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EXERCISE 8 HANDS-ON. DO: build live via Describe -&gt; Configure -&gt; Try it; add the two Zava Word files as KNOWLEDGE; test the open-enrollment question (sourced answer) and the salary question (declines). WATCH FOR: files showing 'Preparing' for a few minutes; .md or .csv files are rejected. IF STUCK: answers ignore the files -&gt; wait, or refresh Knowledge in Configure; no Create agent -&gt; desktop/web Microsoft 365 Copilot with a license. External ACTIONS need Copilot Studio (out of scope). TIME CHECK: if behind, run it as a demo and have attendees build it after class. Detail: reference/08-agent-builder-policy-agent.md. NEXT: wrap-up.</a:t>
            </a:r>
          </a:p>
        </p:txBody>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FACILITATION. Biggest risks with ~25 people: pace variance, account readiness, and sparse data in new accounts (Ex 1, fixed by seed-content.md). Attendees share one tenant; you're on a separate one. Mirrors facilitator-guide.md, facilitator-answer-key.md, and readiness-checklist.md (timeline, cost planning, Plan B). Time checks: 0:40 Ex 1, 1:25 break, 2:00 Ex 4, 2:45 break, 3:15 Ex 7, 3:35 Ex 8; cut in that order (shorter breaks, demo the Ex 3 scorecard, 6a + 6c only, 7a only, Ex 8 as a demo). Never cut Ex 4.</a:t>
            </a:r>
          </a:p>
        </p:txBody>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KNOWLEDGE CHECK (start of wrap-up). Read each question, take a show of hands, THEN reveal the answer (the right column; consider covering it or using an animation). Then return to the six learning objectives. The full 8-question check, feedback survey, and 30-day adoption plan are in after-the-workshop.md; send it the next day.</a:t>
            </a:r>
          </a:p>
        </p:txBody>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WRAP-UP (3:55-4:00). Recap the THREE tools and everything they built. Reinforce the golden rules. Ask each person to name ONE task for next week. Remind them to pause/delete the Ex 1 and Ex 7 schedules.</a:t>
            </a:r>
          </a:p>
        </p:txBody>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CLOSE. Thank the group and take questions. Point to README.md, the prompt library, and the custom-skill and Agent Builder guides.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jpeg"/><Relationship Id="rId3" Type="http://schemas.openxmlformats.org/officeDocument/2006/relationships/image" Target="../media/image11.png"/><Relationship Id="rId4" Type="http://schemas.openxmlformats.org/officeDocument/2006/relationships/image" Target="../media/image12.emf"/></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2_Title Slide 2">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25091A6-E739-2F7E-07AB-39433EF1C57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0724" y="123128"/>
            <a:ext cx="2137349" cy="1223612"/>
          </a:xfrm>
          <a:prstGeom prst="rect">
            <a:avLst/>
          </a:prstGeom>
        </p:spPr>
      </p:pic>
      <p:sp>
        <p:nvSpPr>
          <p:cNvPr id="9" name="Title 1"/>
          <p:cNvSpPr>
            <a:spLocks noGrp="1"/>
          </p:cNvSpPr>
          <p:nvPr>
            <p:ph type="title" hasCustomPrompt="1"/>
          </p:nvPr>
        </p:nvSpPr>
        <p:spPr>
          <a:xfrm>
            <a:off x="584200" y="1871784"/>
            <a:ext cx="9144000" cy="1661993"/>
          </a:xfrm>
          <a:noFill/>
        </p:spPr>
        <p:txBody>
          <a:bodyPr wrap="square" lIns="0" tIns="0" rIns="0" bIns="0" anchor="b" anchorCtr="0">
            <a:spAutoFit/>
          </a:bodyPr>
          <a:lstStyle>
            <a:lvl1pPr>
              <a:lnSpc>
                <a:spcPct val="90000"/>
              </a:lnSpc>
              <a:defRPr sz="6000" spc="-50" baseline="0">
                <a:solidFill>
                  <a:schemeClr val="tx1"/>
                </a:solidFill>
                <a:latin typeface="+mj-lt"/>
                <a:cs typeface="Segoe Sans Display" pitchFamily="2" charset="0"/>
              </a:defRPr>
            </a:lvl1pPr>
          </a:lstStyle>
          <a:p>
            <a:r>
              <a:rPr lang="en-US"/>
              <a:t>Event name or </a:t>
            </a:r>
            <a:br>
              <a:rPr lang="en-US"/>
            </a:br>
            <a:r>
              <a:rPr lang="en-US"/>
              <a:t>presentation title </a:t>
            </a:r>
          </a:p>
        </p:txBody>
      </p:sp>
      <p:sp>
        <p:nvSpPr>
          <p:cNvPr id="5" name="Text Placeholder 4"/>
          <p:cNvSpPr>
            <a:spLocks noGrp="1"/>
          </p:cNvSpPr>
          <p:nvPr>
            <p:ph type="body" sz="quarter" idx="12" hasCustomPrompt="1"/>
          </p:nvPr>
        </p:nvSpPr>
        <p:spPr>
          <a:xfrm>
            <a:off x="584200" y="3962400"/>
            <a:ext cx="91440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11" name="Picture 10">
            <a:extLst>
              <a:ext uri="{FF2B5EF4-FFF2-40B4-BE49-F238E27FC236}">
                <a16:creationId xmlns:a16="http://schemas.microsoft.com/office/drawing/2014/main" id="{CA63402F-4347-87B8-3138-7514EE38EDA5}"/>
              </a:ext>
              <a:ext uri="{C183D7F6-B498-43B3-948B-1728B52AA6E4}">
                <adec:decorative xmlns:adec="http://schemas.microsoft.com/office/drawing/2017/decorative" val="1"/>
              </a:ext>
            </a:extLst>
          </p:cNvPr>
          <p:cNvPicPr>
            <a:picLocks noChangeAspect="1"/>
          </p:cNvPicPr>
          <p:nvPr userDrawn="1"/>
        </p:nvPicPr>
        <p:blipFill>
          <a:blip r:embed="rId4" cstate="email">
            <a:extLst>
              <a:ext uri="{28A0092B-C50C-407E-A947-70E740481C1C}">
                <a14:useLocalDpi xmlns:a14="http://schemas.microsoft.com/office/drawing/2010/main"/>
              </a:ext>
            </a:extLst>
          </a:blip>
          <a:srcRect b="54898"/>
          <a:stretch>
            <a:fillRect/>
          </a:stretch>
        </p:blipFill>
        <p:spPr>
          <a:xfrm>
            <a:off x="4052712" y="6302757"/>
            <a:ext cx="6046442" cy="555244"/>
          </a:xfrm>
          <a:prstGeom prst="rect">
            <a:avLst/>
          </a:prstGeom>
        </p:spPr>
      </p:pic>
      <p:pic>
        <p:nvPicPr>
          <p:cNvPr id="3" name="Picture 2">
            <a:extLst>
              <a:ext uri="{FF2B5EF4-FFF2-40B4-BE49-F238E27FC236}">
                <a16:creationId xmlns:a16="http://schemas.microsoft.com/office/drawing/2014/main" id="{604D7A63-E9F0-5EBC-B7BB-E070AABDA45F}"/>
              </a:ext>
              <a:ext uri="{C183D7F6-B498-43B3-948B-1728B52AA6E4}">
                <adec:decorative xmlns:adec="http://schemas.microsoft.com/office/drawing/2017/decorative" val="1"/>
              </a:ext>
            </a:extLst>
          </p:cNvPr>
          <p:cNvPicPr>
            <a:picLocks noChangeAspect="1"/>
          </p:cNvPicPr>
          <p:nvPr userDrawn="1"/>
        </p:nvPicPr>
        <p:blipFill>
          <a:blip r:embed="rId5"/>
          <a:stretch>
            <a:fillRect/>
          </a:stretch>
        </p:blipFill>
        <p:spPr>
          <a:xfrm>
            <a:off x="6805914" y="0"/>
            <a:ext cx="5386086" cy="895109"/>
          </a:xfrm>
          <a:prstGeom prst="rect">
            <a:avLst/>
          </a:prstGeom>
        </p:spPr>
      </p:pic>
    </p:spTree>
    <p:extLst>
      <p:ext uri="{BB962C8B-B14F-4D97-AF65-F5344CB8AC3E}">
        <p14:creationId xmlns:p14="http://schemas.microsoft.com/office/powerpoint/2010/main" val="150217370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itle slide white">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429545" y="3029995"/>
            <a:ext cx="9401560" cy="1793104"/>
          </a:xfrm>
          <a:noFill/>
        </p:spPr>
        <p:txBody>
          <a:bodyPr lIns="0" tIns="0" rIns="0" bIns="182880" anchor="b" anchorCtr="0"/>
          <a:lstStyle>
            <a:lvl1pPr>
              <a:defRPr sz="5294" strike="noStrike" spc="-147" baseline="0">
                <a:solidFill>
                  <a:srgbClr val="000000"/>
                </a:solidFill>
              </a:defRPr>
            </a:lvl1pPr>
          </a:lstStyle>
          <a:p>
            <a:r>
              <a:rPr lang="en-US"/>
              <a:t>Microsoft 365</a:t>
            </a:r>
            <a:br>
              <a:rPr lang="en-US"/>
            </a:br>
            <a:r>
              <a:rPr lang="en-US"/>
              <a:t>title or event name</a:t>
            </a:r>
          </a:p>
        </p:txBody>
      </p:sp>
      <p:sp>
        <p:nvSpPr>
          <p:cNvPr id="5" name="Text Placeholder 4"/>
          <p:cNvSpPr>
            <a:spLocks noGrp="1"/>
          </p:cNvSpPr>
          <p:nvPr>
            <p:ph type="body" sz="quarter" idx="12" hasCustomPrompt="1"/>
          </p:nvPr>
        </p:nvSpPr>
        <p:spPr>
          <a:xfrm>
            <a:off x="426427" y="4838790"/>
            <a:ext cx="9401560" cy="945435"/>
          </a:xfrm>
          <a:noFill/>
        </p:spPr>
        <p:txBody>
          <a:bodyPr lIns="0" tIns="0" rIns="0" bIns="0">
            <a:noAutofit/>
          </a:bodyPr>
          <a:lstStyle>
            <a:lvl1pPr marL="0" indent="0">
              <a:lnSpc>
                <a:spcPct val="100000"/>
              </a:lnSpc>
              <a:spcBef>
                <a:spcPts val="0"/>
              </a:spcBef>
              <a:buNone/>
              <a:defRPr sz="1568" spc="0" baseline="0">
                <a:solidFill>
                  <a:srgbClr val="000000"/>
                </a:solidFill>
                <a:latin typeface="+mn-lt"/>
              </a:defRPr>
            </a:lvl1pPr>
          </a:lstStyle>
          <a:p>
            <a:pPr lvl="0"/>
            <a:r>
              <a:rPr lang="en-US"/>
              <a:t>Author name</a:t>
            </a:r>
          </a:p>
          <a:p>
            <a:pPr lvl="0"/>
            <a:r>
              <a:rPr lang="en-US"/>
              <a:t>Date</a:t>
            </a:r>
          </a:p>
        </p:txBody>
      </p:sp>
      <p:pic>
        <p:nvPicPr>
          <p:cNvPr id="18" name="Picture 17">
            <a:extLst>
              <a:ext uri="{FF2B5EF4-FFF2-40B4-BE49-F238E27FC236}">
                <a16:creationId xmlns:a16="http://schemas.microsoft.com/office/drawing/2014/main" id="{9F4A718E-6F7C-414B-B5B4-AA6809C7682F}"/>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429544" y="437139"/>
            <a:ext cx="896425" cy="190218"/>
          </a:xfrm>
          <a:prstGeom prst="rect">
            <a:avLst/>
          </a:prstGeom>
        </p:spPr>
      </p:pic>
    </p:spTree>
    <p:extLst>
      <p:ext uri="{BB962C8B-B14F-4D97-AF65-F5344CB8AC3E}">
        <p14:creationId xmlns:p14="http://schemas.microsoft.com/office/powerpoint/2010/main" val="351860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mp; body slide">
    <p:spTree>
      <p:nvGrpSpPr>
        <p:cNvPr id="1" name=""/>
        <p:cNvGrpSpPr/>
        <p:nvPr/>
      </p:nvGrpSpPr>
      <p:grpSpPr>
        <a:xfrm>
          <a:off x="0" y="0"/>
          <a:ext cx="0" cy="0"/>
          <a:chOff x="0" y="0"/>
          <a:chExt cx="0" cy="0"/>
        </a:xfrm>
      </p:grpSpPr>
      <p:sp>
        <p:nvSpPr>
          <p:cNvPr id="10" name="Text Placeholder 3">
            <a:extLst>
              <a:ext uri="{FF2B5EF4-FFF2-40B4-BE49-F238E27FC236}">
                <a16:creationId xmlns:a16="http://schemas.microsoft.com/office/drawing/2014/main" id="{0A83EF54-F800-4521-AA68-2B27B0B561A2}"/>
              </a:ext>
            </a:extLst>
          </p:cNvPr>
          <p:cNvSpPr>
            <a:spLocks noGrp="1"/>
          </p:cNvSpPr>
          <p:nvPr>
            <p:ph type="body" sz="quarter" idx="10" hasCustomPrompt="1"/>
          </p:nvPr>
        </p:nvSpPr>
        <p:spPr>
          <a:xfrm>
            <a:off x="437318" y="2139702"/>
            <a:ext cx="11339774" cy="1223171"/>
          </a:xfrm>
        </p:spPr>
        <p:txBody>
          <a:bodyPr wrap="square" lIns="0" tIns="0" rIns="0" bIns="0">
            <a:spAutoFit/>
          </a:bodyPr>
          <a:lstStyle>
            <a:lvl1pPr marL="0" indent="0">
              <a:lnSpc>
                <a:spcPct val="90000"/>
              </a:lnSpc>
              <a:spcBef>
                <a:spcPts val="0"/>
              </a:spcBef>
              <a:spcAft>
                <a:spcPts val="1274"/>
              </a:spcAft>
              <a:buNone/>
              <a:defRPr sz="2549" b="0" i="0">
                <a:solidFill>
                  <a:srgbClr val="000000"/>
                </a:solidFill>
                <a:latin typeface="+mn-lt"/>
              </a:defRPr>
            </a:lvl1pPr>
            <a:lvl2pPr marL="224097" indent="0">
              <a:lnSpc>
                <a:spcPct val="90000"/>
              </a:lnSpc>
              <a:spcBef>
                <a:spcPts val="0"/>
              </a:spcBef>
              <a:spcAft>
                <a:spcPts val="1274"/>
              </a:spcAft>
              <a:buNone/>
              <a:defRPr sz="1961">
                <a:solidFill>
                  <a:srgbClr val="000000"/>
                </a:solidFill>
              </a:defRPr>
            </a:lvl2pPr>
            <a:lvl3pPr marL="448193" indent="0">
              <a:spcBef>
                <a:spcPts val="0"/>
              </a:spcBef>
              <a:spcAft>
                <a:spcPts val="1274"/>
              </a:spcAft>
              <a:buNone/>
              <a:defRPr sz="1961">
                <a:solidFill>
                  <a:srgbClr val="000000"/>
                </a:solidFill>
              </a:defRPr>
            </a:lvl3pPr>
            <a:lvl4pPr marL="672290" indent="0">
              <a:spcBef>
                <a:spcPts val="0"/>
              </a:spcBef>
              <a:spcAft>
                <a:spcPts val="1274"/>
              </a:spcAft>
              <a:buNone/>
              <a:defRPr sz="1961"/>
            </a:lvl4pPr>
            <a:lvl5pPr marL="896386" indent="0">
              <a:buNone/>
              <a:defRPr/>
            </a:lvl5pPr>
          </a:lstStyle>
          <a:p>
            <a:pPr lvl="0"/>
            <a:r>
              <a:rPr lang="en-US"/>
              <a:t>First level Segoe UI 26pt</a:t>
            </a:r>
          </a:p>
          <a:p>
            <a:pPr lvl="1"/>
            <a:r>
              <a:rPr lang="en-US"/>
              <a:t>Second level Segoe UI 20pt</a:t>
            </a:r>
          </a:p>
          <a:p>
            <a:pPr lvl="2"/>
            <a:r>
              <a:rPr lang="en-US"/>
              <a:t>Third level Segoe UI 20pt</a:t>
            </a:r>
          </a:p>
        </p:txBody>
      </p:sp>
      <p:sp>
        <p:nvSpPr>
          <p:cNvPr id="14" name="Title Placeholder 1">
            <a:extLst>
              <a:ext uri="{FF2B5EF4-FFF2-40B4-BE49-F238E27FC236}">
                <a16:creationId xmlns:a16="http://schemas.microsoft.com/office/drawing/2014/main" id="{AE6F3ED0-7F59-40C0-BDE3-5E04439997A5}"/>
              </a:ext>
            </a:extLst>
          </p:cNvPr>
          <p:cNvSpPr>
            <a:spLocks noGrp="1"/>
          </p:cNvSpPr>
          <p:nvPr>
            <p:ph type="title" hasCustomPrompt="1"/>
          </p:nvPr>
        </p:nvSpPr>
        <p:spPr>
          <a:xfrm>
            <a:off x="426424" y="440495"/>
            <a:ext cx="11336039" cy="739343"/>
          </a:xfrm>
          <a:prstGeom prst="rect">
            <a:avLst/>
          </a:prstGeom>
        </p:spPr>
        <p:txBody>
          <a:bodyPr vert="horz" wrap="square" lIns="0" tIns="164592" rIns="0" bIns="0" rtlCol="0" anchor="t">
            <a:noAutofit/>
          </a:bodyPr>
          <a:lstStyle>
            <a:lvl1pPr>
              <a:defRPr>
                <a:solidFill>
                  <a:srgbClr val="000000"/>
                </a:solidFill>
              </a:defRPr>
            </a:lvl1pPr>
          </a:lstStyle>
          <a:p>
            <a:r>
              <a:rPr lang="en-US"/>
              <a:t>Heading Segoe UI </a:t>
            </a:r>
            <a:r>
              <a:rPr lang="en-US" err="1"/>
              <a:t>Semibold</a:t>
            </a:r>
            <a:r>
              <a:rPr lang="en-US"/>
              <a:t> 32pt</a:t>
            </a:r>
          </a:p>
        </p:txBody>
      </p:sp>
    </p:spTree>
    <p:extLst>
      <p:ext uri="{BB962C8B-B14F-4D97-AF65-F5344CB8AC3E}">
        <p14:creationId xmlns:p14="http://schemas.microsoft.com/office/powerpoint/2010/main" val="2172191069"/>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mp; body slide (with bullets)">
    <p:spTree>
      <p:nvGrpSpPr>
        <p:cNvPr id="1" name=""/>
        <p:cNvGrpSpPr/>
        <p:nvPr/>
      </p:nvGrpSpPr>
      <p:grpSpPr>
        <a:xfrm>
          <a:off x="0" y="0"/>
          <a:ext cx="0" cy="0"/>
          <a:chOff x="0" y="0"/>
          <a:chExt cx="0" cy="0"/>
        </a:xfrm>
      </p:grpSpPr>
      <p:sp>
        <p:nvSpPr>
          <p:cNvPr id="10" name="Text Placeholder 3">
            <a:extLst>
              <a:ext uri="{FF2B5EF4-FFF2-40B4-BE49-F238E27FC236}">
                <a16:creationId xmlns:a16="http://schemas.microsoft.com/office/drawing/2014/main" id="{0A83EF54-F800-4521-AA68-2B27B0B561A2}"/>
              </a:ext>
            </a:extLst>
          </p:cNvPr>
          <p:cNvSpPr>
            <a:spLocks noGrp="1"/>
          </p:cNvSpPr>
          <p:nvPr>
            <p:ph type="body" sz="quarter" idx="10" hasCustomPrompt="1"/>
          </p:nvPr>
        </p:nvSpPr>
        <p:spPr>
          <a:xfrm>
            <a:off x="437319" y="2141394"/>
            <a:ext cx="11339774" cy="1223171"/>
          </a:xfrm>
        </p:spPr>
        <p:txBody>
          <a:bodyPr wrap="square" lIns="0" tIns="0" rIns="0" bIns="0">
            <a:spAutoFit/>
          </a:bodyPr>
          <a:lstStyle>
            <a:lvl1pPr marL="268916" indent="-268916">
              <a:lnSpc>
                <a:spcPct val="90000"/>
              </a:lnSpc>
              <a:spcBef>
                <a:spcPts val="0"/>
              </a:spcBef>
              <a:spcAft>
                <a:spcPts val="1274"/>
              </a:spcAft>
              <a:buClr>
                <a:srgbClr val="000000"/>
              </a:buClr>
              <a:buSzPct val="77000"/>
              <a:buFont typeface="Arial" panose="020B0604020202020204" pitchFamily="34" charset="0"/>
              <a:buChar char="•"/>
              <a:defRPr sz="2549" b="0" i="0">
                <a:solidFill>
                  <a:srgbClr val="000000"/>
                </a:solidFill>
                <a:latin typeface="+mn-lt"/>
              </a:defRPr>
            </a:lvl1pPr>
            <a:lvl2pPr marL="537832" indent="-224097">
              <a:lnSpc>
                <a:spcPct val="90000"/>
              </a:lnSpc>
              <a:spcBef>
                <a:spcPts val="0"/>
              </a:spcBef>
              <a:spcAft>
                <a:spcPts val="1274"/>
              </a:spcAft>
              <a:buClr>
                <a:srgbClr val="000000"/>
              </a:buClr>
              <a:buSzPct val="77000"/>
              <a:buFont typeface="Arial" panose="020B0604020202020204" pitchFamily="34" charset="0"/>
              <a:buChar char="•"/>
              <a:defRPr sz="1961">
                <a:solidFill>
                  <a:srgbClr val="000000"/>
                </a:solidFill>
              </a:defRPr>
            </a:lvl2pPr>
            <a:lvl3pPr marL="806748" indent="-224097">
              <a:spcBef>
                <a:spcPts val="0"/>
              </a:spcBef>
              <a:spcAft>
                <a:spcPts val="1274"/>
              </a:spcAft>
              <a:buClr>
                <a:srgbClr val="000000"/>
              </a:buClr>
              <a:buSzPct val="77000"/>
              <a:buFont typeface="Arial" panose="020B0604020202020204" pitchFamily="34" charset="0"/>
              <a:buChar char="•"/>
              <a:defRPr sz="1961">
                <a:solidFill>
                  <a:srgbClr val="000000"/>
                </a:solidFill>
              </a:defRPr>
            </a:lvl3pPr>
            <a:lvl4pPr marL="672290" indent="0">
              <a:spcBef>
                <a:spcPts val="0"/>
              </a:spcBef>
              <a:spcAft>
                <a:spcPts val="1274"/>
              </a:spcAft>
              <a:buNone/>
              <a:defRPr sz="1961"/>
            </a:lvl4pPr>
            <a:lvl5pPr marL="896386" indent="0">
              <a:buNone/>
              <a:defRPr/>
            </a:lvl5pPr>
          </a:lstStyle>
          <a:p>
            <a:pPr lvl="0"/>
            <a:r>
              <a:rPr lang="en-US"/>
              <a:t>First level Segoe UI 26pt</a:t>
            </a:r>
          </a:p>
          <a:p>
            <a:pPr lvl="1"/>
            <a:r>
              <a:rPr lang="en-US"/>
              <a:t>Second level Segoe UI 20pt</a:t>
            </a:r>
          </a:p>
          <a:p>
            <a:pPr lvl="2"/>
            <a:r>
              <a:rPr lang="en-US"/>
              <a:t>Third level Segoe UI 20pt</a:t>
            </a:r>
          </a:p>
        </p:txBody>
      </p:sp>
      <p:sp>
        <p:nvSpPr>
          <p:cNvPr id="14" name="Title Placeholder 1">
            <a:extLst>
              <a:ext uri="{FF2B5EF4-FFF2-40B4-BE49-F238E27FC236}">
                <a16:creationId xmlns:a16="http://schemas.microsoft.com/office/drawing/2014/main" id="{AE6F3ED0-7F59-40C0-BDE3-5E04439997A5}"/>
              </a:ext>
            </a:extLst>
          </p:cNvPr>
          <p:cNvSpPr>
            <a:spLocks noGrp="1"/>
          </p:cNvSpPr>
          <p:nvPr>
            <p:ph type="title" hasCustomPrompt="1"/>
          </p:nvPr>
        </p:nvSpPr>
        <p:spPr>
          <a:xfrm>
            <a:off x="426424" y="440495"/>
            <a:ext cx="11336039" cy="758022"/>
          </a:xfrm>
          <a:prstGeom prst="rect">
            <a:avLst/>
          </a:prstGeom>
        </p:spPr>
        <p:txBody>
          <a:bodyPr vert="horz" wrap="square" lIns="0" tIns="164592" rIns="0" bIns="0" rtlCol="0" anchor="t">
            <a:noAutofit/>
          </a:bodyPr>
          <a:lstStyle>
            <a:lvl1pPr>
              <a:defRPr>
                <a:solidFill>
                  <a:srgbClr val="000000"/>
                </a:solidFill>
              </a:defRPr>
            </a:lvl1pPr>
          </a:lstStyle>
          <a:p>
            <a:r>
              <a:rPr lang="en-US"/>
              <a:t>Heading Segoe UI </a:t>
            </a:r>
            <a:r>
              <a:rPr lang="en-US" err="1"/>
              <a:t>Semibold</a:t>
            </a:r>
            <a:r>
              <a:rPr lang="en-US"/>
              <a:t> 32pt</a:t>
            </a:r>
          </a:p>
        </p:txBody>
      </p:sp>
      <p:sp>
        <p:nvSpPr>
          <p:cNvPr id="5" name="Text Placeholder 3">
            <a:extLst>
              <a:ext uri="{FF2B5EF4-FFF2-40B4-BE49-F238E27FC236}">
                <a16:creationId xmlns:a16="http://schemas.microsoft.com/office/drawing/2014/main" id="{BF94EA65-2CBF-4A04-9D22-169D8572F347}"/>
              </a:ext>
            </a:extLst>
          </p:cNvPr>
          <p:cNvSpPr>
            <a:spLocks noGrp="1"/>
          </p:cNvSpPr>
          <p:nvPr>
            <p:ph type="body" sz="quarter" idx="12" hasCustomPrompt="1"/>
          </p:nvPr>
        </p:nvSpPr>
        <p:spPr>
          <a:xfrm>
            <a:off x="426423" y="1083831"/>
            <a:ext cx="11339774" cy="353070"/>
          </a:xfrm>
        </p:spPr>
        <p:txBody>
          <a:bodyPr wrap="square" lIns="0" tIns="0" rIns="0" bIns="0">
            <a:spAutoFit/>
          </a:bodyPr>
          <a:lstStyle>
            <a:lvl1pPr marL="0" indent="0">
              <a:lnSpc>
                <a:spcPct val="90000"/>
              </a:lnSpc>
              <a:spcBef>
                <a:spcPts val="0"/>
              </a:spcBef>
              <a:spcAft>
                <a:spcPts val="1274"/>
              </a:spcAft>
              <a:buNone/>
              <a:defRPr sz="2549" b="0" i="0">
                <a:solidFill>
                  <a:srgbClr val="000000"/>
                </a:solidFill>
                <a:latin typeface="+mn-lt"/>
              </a:defRPr>
            </a:lvl1pPr>
            <a:lvl2pPr marL="224097" indent="0">
              <a:lnSpc>
                <a:spcPct val="90000"/>
              </a:lnSpc>
              <a:spcBef>
                <a:spcPts val="0"/>
              </a:spcBef>
              <a:spcAft>
                <a:spcPts val="1274"/>
              </a:spcAft>
              <a:buNone/>
              <a:defRPr sz="1961">
                <a:solidFill>
                  <a:schemeClr val="tx2"/>
                </a:solidFill>
              </a:defRPr>
            </a:lvl2pPr>
            <a:lvl3pPr marL="448193" indent="0">
              <a:spcBef>
                <a:spcPts val="0"/>
              </a:spcBef>
              <a:spcAft>
                <a:spcPts val="1274"/>
              </a:spcAft>
              <a:buNone/>
              <a:defRPr sz="1961"/>
            </a:lvl3pPr>
            <a:lvl4pPr marL="672290" indent="0">
              <a:spcBef>
                <a:spcPts val="0"/>
              </a:spcBef>
              <a:spcAft>
                <a:spcPts val="1274"/>
              </a:spcAft>
              <a:buNone/>
              <a:defRPr sz="1961"/>
            </a:lvl4pPr>
            <a:lvl5pPr marL="896386" indent="0">
              <a:buNone/>
              <a:defRPr/>
            </a:lvl5pPr>
          </a:lstStyle>
          <a:p>
            <a:pPr lvl="0"/>
            <a:r>
              <a:rPr lang="en-US"/>
              <a:t>Subtitle Segoe UI 26pt</a:t>
            </a:r>
          </a:p>
        </p:txBody>
      </p:sp>
    </p:spTree>
    <p:extLst>
      <p:ext uri="{BB962C8B-B14F-4D97-AF65-F5344CB8AC3E}">
        <p14:creationId xmlns:p14="http://schemas.microsoft.com/office/powerpoint/2010/main" val="1493638809"/>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03F3274D-8F90-4F75-B990-F6B7A291DE2C}"/>
              </a:ext>
            </a:extLst>
          </p:cNvPr>
          <p:cNvSpPr>
            <a:spLocks noGrp="1"/>
          </p:cNvSpPr>
          <p:nvPr>
            <p:ph type="title" hasCustomPrompt="1"/>
          </p:nvPr>
        </p:nvSpPr>
        <p:spPr>
          <a:xfrm>
            <a:off x="429383" y="437538"/>
            <a:ext cx="11333080" cy="742300"/>
          </a:xfrm>
          <a:prstGeom prst="rect">
            <a:avLst/>
          </a:prstGeom>
        </p:spPr>
        <p:txBody>
          <a:bodyPr vert="horz" wrap="square" lIns="0" tIns="164592" rIns="0" bIns="0" rtlCol="0" anchor="t">
            <a:noAutofit/>
          </a:bodyPr>
          <a:lstStyle>
            <a:lvl1pPr>
              <a:defRPr>
                <a:solidFill>
                  <a:srgbClr val="000000"/>
                </a:solidFill>
              </a:defRPr>
            </a:lvl1pPr>
          </a:lstStyle>
          <a:p>
            <a:r>
              <a:rPr lang="en-US"/>
              <a:t>Title</a:t>
            </a:r>
          </a:p>
        </p:txBody>
      </p:sp>
    </p:spTree>
    <p:extLst>
      <p:ext uri="{BB962C8B-B14F-4D97-AF65-F5344CB8AC3E}">
        <p14:creationId xmlns:p14="http://schemas.microsoft.com/office/powerpoint/2010/main" val="3329896676"/>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evice layout">
    <p:spTree>
      <p:nvGrpSpPr>
        <p:cNvPr id="1" name=""/>
        <p:cNvGrpSpPr/>
        <p:nvPr/>
      </p:nvGrpSpPr>
      <p:grpSpPr>
        <a:xfrm>
          <a:off x="0" y="0"/>
          <a:ext cx="0" cy="0"/>
          <a:chOff x="0" y="0"/>
          <a:chExt cx="0" cy="0"/>
        </a:xfrm>
      </p:grpSpPr>
      <p:sp>
        <p:nvSpPr>
          <p:cNvPr id="3" name="Online Image Placeholder 2">
            <a:extLst>
              <a:ext uri="{FF2B5EF4-FFF2-40B4-BE49-F238E27FC236}">
                <a16:creationId xmlns:a16="http://schemas.microsoft.com/office/drawing/2014/main" id="{562D5679-B66F-A244-9E94-0FFE5F1B6168}"/>
              </a:ext>
            </a:extLst>
          </p:cNvPr>
          <p:cNvSpPr>
            <a:spLocks noGrp="1"/>
          </p:cNvSpPr>
          <p:nvPr>
            <p:ph type="clipArt" sz="quarter" idx="11" hasCustomPrompt="1"/>
          </p:nvPr>
        </p:nvSpPr>
        <p:spPr>
          <a:xfrm>
            <a:off x="5982391" y="2145841"/>
            <a:ext cx="5780073" cy="3756460"/>
          </a:xfrm>
        </p:spPr>
        <p:txBody>
          <a:bodyPr anchor="ctr">
            <a:noAutofit/>
          </a:bodyPr>
          <a:lstStyle>
            <a:lvl1pPr algn="ctr">
              <a:defRPr sz="1961">
                <a:latin typeface="+mj-lt"/>
              </a:defRPr>
            </a:lvl1pPr>
          </a:lstStyle>
          <a:p>
            <a:r>
              <a:rPr lang="en-US"/>
              <a:t>Drop photo here</a:t>
            </a:r>
          </a:p>
        </p:txBody>
      </p:sp>
      <p:sp>
        <p:nvSpPr>
          <p:cNvPr id="4" name="Text Placeholder 3"/>
          <p:cNvSpPr>
            <a:spLocks noGrp="1"/>
          </p:cNvSpPr>
          <p:nvPr>
            <p:ph type="body" sz="quarter" idx="10" hasCustomPrompt="1"/>
          </p:nvPr>
        </p:nvSpPr>
        <p:spPr>
          <a:xfrm>
            <a:off x="426424" y="2145841"/>
            <a:ext cx="5138175" cy="2573509"/>
          </a:xfrm>
        </p:spPr>
        <p:txBody>
          <a:bodyPr wrap="square" lIns="0" tIns="0" rIns="0" bIns="0">
            <a:noAutofit/>
          </a:bodyPr>
          <a:lstStyle>
            <a:lvl1pPr marL="0" marR="0" indent="0" algn="l" defTabSz="914367" rtl="0" eaLnBrk="1" fontAlgn="auto" latinLnBrk="0" hangingPunct="1">
              <a:lnSpc>
                <a:spcPct val="90000"/>
              </a:lnSpc>
              <a:spcBef>
                <a:spcPts val="0"/>
              </a:spcBef>
              <a:spcAft>
                <a:spcPts val="2549"/>
              </a:spcAft>
              <a:buClrTx/>
              <a:buSzPct val="90000"/>
              <a:buFont typeface="Wingdings" panose="05000000000000000000" pitchFamily="2" charset="2"/>
              <a:buNone/>
              <a:tabLst/>
              <a:defRPr sz="2549" b="0" i="0">
                <a:solidFill>
                  <a:srgbClr val="000000"/>
                </a:solidFill>
                <a:latin typeface="+mn-lt"/>
              </a:defRPr>
            </a:lvl1pPr>
            <a:lvl2pPr marL="224097" marR="0" indent="0" algn="l" defTabSz="914367" rtl="0" eaLnBrk="1" fontAlgn="auto" latinLnBrk="0" hangingPunct="1">
              <a:lnSpc>
                <a:spcPct val="90000"/>
              </a:lnSpc>
              <a:spcBef>
                <a:spcPct val="20000"/>
              </a:spcBef>
              <a:spcAft>
                <a:spcPts val="0"/>
              </a:spcAft>
              <a:buClrTx/>
              <a:buSzPct val="90000"/>
              <a:buFont typeface="Wingdings" panose="05000000000000000000" pitchFamily="2" charset="2"/>
              <a:buNone/>
              <a:tabLst/>
              <a:defRPr/>
            </a:lvl2pPr>
            <a:lvl3pPr marL="448193" indent="0">
              <a:buNone/>
              <a:defRPr/>
            </a:lvl3pPr>
            <a:lvl4pPr marL="672290" indent="0">
              <a:buNone/>
              <a:defRPr/>
            </a:lvl4pPr>
            <a:lvl5pPr marL="896386" indent="0">
              <a:buNone/>
              <a:defRPr/>
            </a:lvl5pPr>
          </a:lstStyle>
          <a:p>
            <a:pPr lvl="0"/>
            <a:r>
              <a:rPr lang="pt-BR"/>
              <a:t>Subhead Segoe UI 26pt</a:t>
            </a:r>
          </a:p>
          <a:p>
            <a:pPr lvl="0"/>
            <a:r>
              <a:rPr lang="pt-BR"/>
              <a:t>Subhead Segoe UI 26pt</a:t>
            </a:r>
          </a:p>
          <a:p>
            <a:pPr lvl="0"/>
            <a:r>
              <a:rPr lang="pt-BR"/>
              <a:t>Subhead Segoe UI 26pt</a:t>
            </a:r>
          </a:p>
        </p:txBody>
      </p:sp>
      <p:sp>
        <p:nvSpPr>
          <p:cNvPr id="6" name="Title Placeholder 1">
            <a:extLst>
              <a:ext uri="{FF2B5EF4-FFF2-40B4-BE49-F238E27FC236}">
                <a16:creationId xmlns:a16="http://schemas.microsoft.com/office/drawing/2014/main" id="{E60CBD1C-0AFE-4EB9-94D7-943981FE05EE}"/>
              </a:ext>
            </a:extLst>
          </p:cNvPr>
          <p:cNvSpPr>
            <a:spLocks noGrp="1"/>
          </p:cNvSpPr>
          <p:nvPr>
            <p:ph type="title" hasCustomPrompt="1"/>
          </p:nvPr>
        </p:nvSpPr>
        <p:spPr>
          <a:xfrm>
            <a:off x="426424" y="440495"/>
            <a:ext cx="11336039" cy="739343"/>
          </a:xfrm>
          <a:prstGeom prst="rect">
            <a:avLst/>
          </a:prstGeom>
        </p:spPr>
        <p:txBody>
          <a:bodyPr vert="horz" wrap="square" lIns="0" tIns="164592" rIns="0" bIns="0" rtlCol="0" anchor="t">
            <a:noAutofit/>
          </a:bodyPr>
          <a:lstStyle>
            <a:lvl1pPr>
              <a:defRPr>
                <a:solidFill>
                  <a:srgbClr val="000000"/>
                </a:solidFill>
              </a:defRPr>
            </a:lvl1pPr>
          </a:lstStyle>
          <a:p>
            <a:r>
              <a:rPr lang="en-US"/>
              <a:t>Device layout</a:t>
            </a:r>
          </a:p>
        </p:txBody>
      </p:sp>
    </p:spTree>
    <p:extLst>
      <p:ext uri="{BB962C8B-B14F-4D97-AF65-F5344CB8AC3E}">
        <p14:creationId xmlns:p14="http://schemas.microsoft.com/office/powerpoint/2010/main" val="318052873"/>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Graphic layout: three columns graphic and text">
    <p:spTree>
      <p:nvGrpSpPr>
        <p:cNvPr id="1" name=""/>
        <p:cNvGrpSpPr/>
        <p:nvPr/>
      </p:nvGrpSpPr>
      <p:grpSpPr>
        <a:xfrm>
          <a:off x="0" y="0"/>
          <a:ext cx="0" cy="0"/>
          <a:chOff x="0" y="0"/>
          <a:chExt cx="0" cy="0"/>
        </a:xfrm>
      </p:grpSpPr>
      <p:sp>
        <p:nvSpPr>
          <p:cNvPr id="3" name="Rectangle 2"/>
          <p:cNvSpPr/>
          <p:nvPr userDrawn="1"/>
        </p:nvSpPr>
        <p:spPr bwMode="auto">
          <a:xfrm>
            <a:off x="426425" y="1599723"/>
            <a:ext cx="3632388" cy="3128966"/>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a:gradFill>
                <a:gsLst>
                  <a:gs pos="0">
                    <a:srgbClr val="FFFFFF"/>
                  </a:gs>
                  <a:gs pos="100000">
                    <a:srgbClr val="FFFFFF"/>
                  </a:gs>
                </a:gsLst>
                <a:lin ang="5400000" scaled="0"/>
              </a:gradFill>
              <a:ea typeface="Segoe UI" pitchFamily="34" charset="0"/>
              <a:cs typeface="Segoe UI" pitchFamily="34" charset="0"/>
            </a:endParaRPr>
          </a:p>
        </p:txBody>
      </p:sp>
      <p:sp>
        <p:nvSpPr>
          <p:cNvPr id="16" name="Content Placeholder 15"/>
          <p:cNvSpPr>
            <a:spLocks noGrp="1"/>
          </p:cNvSpPr>
          <p:nvPr>
            <p:ph sz="quarter" idx="17" hasCustomPrompt="1"/>
          </p:nvPr>
        </p:nvSpPr>
        <p:spPr>
          <a:xfrm>
            <a:off x="897219" y="1958468"/>
            <a:ext cx="2698612" cy="2411476"/>
          </a:xfrm>
        </p:spPr>
        <p:txBody>
          <a:bodyPr anchor="ctr">
            <a:noAutofit/>
          </a:bodyPr>
          <a:lstStyle>
            <a:lvl1pPr marL="0" indent="0" algn="ctr">
              <a:buNone/>
              <a:defRPr sz="1961">
                <a:solidFill>
                  <a:schemeClr val="tx2"/>
                </a:solidFill>
                <a:latin typeface="+mj-lt"/>
              </a:defRPr>
            </a:lvl1pPr>
          </a:lstStyle>
          <a:p>
            <a:pPr lvl="0"/>
            <a:r>
              <a:rPr lang="en-US"/>
              <a:t> </a:t>
            </a:r>
          </a:p>
        </p:txBody>
      </p:sp>
      <p:sp>
        <p:nvSpPr>
          <p:cNvPr id="6" name="Rectangle 5"/>
          <p:cNvSpPr/>
          <p:nvPr userDrawn="1"/>
        </p:nvSpPr>
        <p:spPr bwMode="auto">
          <a:xfrm>
            <a:off x="4281363" y="1599723"/>
            <a:ext cx="3623052" cy="3128966"/>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7"/>
          <p:cNvSpPr/>
          <p:nvPr userDrawn="1"/>
        </p:nvSpPr>
        <p:spPr bwMode="auto">
          <a:xfrm>
            <a:off x="8126965" y="1599723"/>
            <a:ext cx="3635499" cy="3128966"/>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a:gradFill>
                <a:gsLst>
                  <a:gs pos="0">
                    <a:srgbClr val="FFFFFF"/>
                  </a:gs>
                  <a:gs pos="100000">
                    <a:srgbClr val="FFFFFF"/>
                  </a:gs>
                </a:gsLst>
                <a:lin ang="5400000" scaled="0"/>
              </a:gradFill>
              <a:ea typeface="Segoe UI" pitchFamily="34" charset="0"/>
              <a:cs typeface="Segoe UI" pitchFamily="34" charset="0"/>
            </a:endParaRPr>
          </a:p>
        </p:txBody>
      </p:sp>
      <p:sp>
        <p:nvSpPr>
          <p:cNvPr id="17" name="Content Placeholder 15"/>
          <p:cNvSpPr>
            <a:spLocks noGrp="1"/>
          </p:cNvSpPr>
          <p:nvPr userDrawn="1">
            <p:ph sz="quarter" idx="18" hasCustomPrompt="1"/>
          </p:nvPr>
        </p:nvSpPr>
        <p:spPr>
          <a:xfrm>
            <a:off x="4746694" y="1958468"/>
            <a:ext cx="2698612" cy="2411476"/>
          </a:xfrm>
        </p:spPr>
        <p:txBody>
          <a:bodyPr anchor="ctr">
            <a:noAutofit/>
          </a:bodyPr>
          <a:lstStyle>
            <a:lvl1pPr marL="0" indent="0" algn="ctr">
              <a:buNone/>
              <a:defRPr sz="1961">
                <a:solidFill>
                  <a:schemeClr val="tx2"/>
                </a:solidFill>
                <a:latin typeface="+mj-lt"/>
              </a:defRPr>
            </a:lvl1pPr>
          </a:lstStyle>
          <a:p>
            <a:pPr lvl="0"/>
            <a:r>
              <a:rPr lang="en-US"/>
              <a:t> </a:t>
            </a:r>
          </a:p>
        </p:txBody>
      </p:sp>
      <p:sp>
        <p:nvSpPr>
          <p:cNvPr id="18" name="Content Placeholder 15"/>
          <p:cNvSpPr>
            <a:spLocks noGrp="1"/>
          </p:cNvSpPr>
          <p:nvPr userDrawn="1">
            <p:ph sz="quarter" idx="19" hasCustomPrompt="1"/>
          </p:nvPr>
        </p:nvSpPr>
        <p:spPr>
          <a:xfrm>
            <a:off x="8598490" y="1958468"/>
            <a:ext cx="2698612" cy="2411476"/>
          </a:xfrm>
        </p:spPr>
        <p:txBody>
          <a:bodyPr anchor="ctr">
            <a:noAutofit/>
          </a:bodyPr>
          <a:lstStyle>
            <a:lvl1pPr marL="0" indent="0" algn="ctr">
              <a:buNone/>
              <a:defRPr sz="1961">
                <a:solidFill>
                  <a:schemeClr val="tx2"/>
                </a:solidFill>
                <a:latin typeface="+mj-lt"/>
              </a:defRPr>
            </a:lvl1pPr>
          </a:lstStyle>
          <a:p>
            <a:pPr lvl="0"/>
            <a:r>
              <a:rPr lang="en-US"/>
              <a:t> </a:t>
            </a:r>
          </a:p>
        </p:txBody>
      </p:sp>
      <p:sp>
        <p:nvSpPr>
          <p:cNvPr id="12" name="Title Placeholder 1">
            <a:extLst>
              <a:ext uri="{FF2B5EF4-FFF2-40B4-BE49-F238E27FC236}">
                <a16:creationId xmlns:a16="http://schemas.microsoft.com/office/drawing/2014/main" id="{FC74E6E5-9DAD-4A14-9C20-D9F9150874FE}"/>
              </a:ext>
            </a:extLst>
          </p:cNvPr>
          <p:cNvSpPr>
            <a:spLocks noGrp="1"/>
          </p:cNvSpPr>
          <p:nvPr userDrawn="1">
            <p:ph type="title" hasCustomPrompt="1"/>
          </p:nvPr>
        </p:nvSpPr>
        <p:spPr>
          <a:xfrm>
            <a:off x="426424" y="440495"/>
            <a:ext cx="11336039" cy="739343"/>
          </a:xfrm>
          <a:prstGeom prst="rect">
            <a:avLst/>
          </a:prstGeom>
        </p:spPr>
        <p:txBody>
          <a:bodyPr vert="horz" wrap="square" lIns="0" tIns="164592" rIns="0" bIns="0" rtlCol="0" anchor="t">
            <a:noAutofit/>
          </a:bodyPr>
          <a:lstStyle>
            <a:lvl1pPr>
              <a:defRPr>
                <a:solidFill>
                  <a:srgbClr val="000000"/>
                </a:solidFill>
              </a:defRPr>
            </a:lvl1pPr>
          </a:lstStyle>
          <a:p>
            <a:r>
              <a:rPr lang="en-US"/>
              <a:t>Graphic layout: three columns graphic and text</a:t>
            </a:r>
          </a:p>
        </p:txBody>
      </p:sp>
      <p:sp>
        <p:nvSpPr>
          <p:cNvPr id="13" name="Text Placeholder 4">
            <a:extLst>
              <a:ext uri="{FF2B5EF4-FFF2-40B4-BE49-F238E27FC236}">
                <a16:creationId xmlns:a16="http://schemas.microsoft.com/office/drawing/2014/main" id="{FB052D15-67DF-4845-863F-FEC853640A9E}"/>
              </a:ext>
            </a:extLst>
          </p:cNvPr>
          <p:cNvSpPr>
            <a:spLocks noGrp="1"/>
          </p:cNvSpPr>
          <p:nvPr userDrawn="1">
            <p:ph type="body" sz="quarter" idx="11" hasCustomPrompt="1"/>
          </p:nvPr>
        </p:nvSpPr>
        <p:spPr>
          <a:xfrm>
            <a:off x="426425" y="4927922"/>
            <a:ext cx="3627659" cy="1307666"/>
          </a:xfrm>
        </p:spPr>
        <p:txBody>
          <a:bodyPr lIns="0" tIns="0" rIns="0" bIns="0"/>
          <a:lstStyle>
            <a:lvl1pPr marL="0" indent="0">
              <a:lnSpc>
                <a:spcPct val="100000"/>
              </a:lnSpc>
              <a:spcBef>
                <a:spcPts val="0"/>
              </a:spcBef>
              <a:spcAft>
                <a:spcPts val="784"/>
              </a:spcAft>
              <a:buNone/>
              <a:defRPr sz="1568" b="1">
                <a:solidFill>
                  <a:schemeClr val="accent1"/>
                </a:solidFill>
                <a:latin typeface="+mj-lt"/>
              </a:defRPr>
            </a:lvl1pPr>
            <a:lvl2pPr marL="0" marR="0" indent="0" algn="l" defTabSz="914367" rtl="0" eaLnBrk="1" fontAlgn="auto" latinLnBrk="0" hangingPunct="1">
              <a:lnSpc>
                <a:spcPct val="100000"/>
              </a:lnSpc>
              <a:spcBef>
                <a:spcPts val="0"/>
              </a:spcBef>
              <a:spcAft>
                <a:spcPts val="784"/>
              </a:spcAft>
              <a:buClrTx/>
              <a:buSzPct val="90000"/>
              <a:buFont typeface="Arial" panose="020B0604020202020204" pitchFamily="34" charset="0"/>
              <a:buNone/>
              <a:tabLst/>
              <a:defRPr sz="1568">
                <a:solidFill>
                  <a:srgbClr val="000000"/>
                </a:solidFill>
              </a:defRPr>
            </a:lvl2pPr>
            <a:lvl3pPr marL="448193" indent="0">
              <a:buNone/>
              <a:defRPr/>
            </a:lvl3pPr>
            <a:lvl4pPr marL="672290" indent="0">
              <a:buNone/>
              <a:defRPr/>
            </a:lvl4pPr>
            <a:lvl5pPr marL="896386" indent="0">
              <a:buNone/>
              <a:defRPr/>
            </a:lvl5pPr>
          </a:lstStyle>
          <a:p>
            <a:pPr lvl="0"/>
            <a:r>
              <a:rPr lang="en-US"/>
              <a:t>Paragraph title Segoe UI </a:t>
            </a:r>
            <a:r>
              <a:rPr lang="en-US" err="1"/>
              <a:t>Semibold</a:t>
            </a:r>
            <a:r>
              <a:rPr lang="en-US"/>
              <a:t> 16</a:t>
            </a:r>
          </a:p>
          <a:p>
            <a:pPr lvl="1"/>
            <a:r>
              <a:rPr lang="en-US"/>
              <a:t>Body copy Segoe Regular 16.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a:t>
            </a:r>
            <a:r>
              <a:rPr lang="en-US"/>
              <a:t>, </a:t>
            </a:r>
            <a:r>
              <a:rPr lang="en-US" err="1"/>
              <a:t>omnimusdae</a:t>
            </a:r>
            <a:r>
              <a:rPr lang="en-US"/>
              <a:t>. </a:t>
            </a:r>
            <a:r>
              <a:rPr lang="en-US" err="1"/>
              <a:t>Boribus</a:t>
            </a:r>
            <a:r>
              <a:rPr lang="en-US"/>
              <a:t> </a:t>
            </a:r>
            <a:r>
              <a:rPr lang="en-US" err="1"/>
              <a:t>sinctius</a:t>
            </a:r>
            <a:r>
              <a:rPr lang="en-US"/>
              <a:t> </a:t>
            </a:r>
            <a:r>
              <a:rPr lang="en-US" err="1"/>
              <a:t>nimaxime</a:t>
            </a:r>
            <a:r>
              <a:rPr lang="en-US"/>
              <a:t> sit et </a:t>
            </a:r>
            <a:r>
              <a:rPr lang="en-US" err="1"/>
              <a:t>nonsequibus</a:t>
            </a:r>
            <a:r>
              <a:rPr lang="en-US"/>
              <a:t> </a:t>
            </a:r>
            <a:r>
              <a:rPr lang="en-US" err="1"/>
              <a:t>dollendis</a:t>
            </a:r>
            <a:r>
              <a:rPr lang="en-US"/>
              <a:t> as </a:t>
            </a:r>
            <a:r>
              <a:rPr lang="en-US" err="1"/>
              <a:t>autestiat</a:t>
            </a:r>
            <a:r>
              <a:rPr lang="en-US"/>
              <a:t>.</a:t>
            </a:r>
          </a:p>
        </p:txBody>
      </p:sp>
      <p:sp>
        <p:nvSpPr>
          <p:cNvPr id="14" name="Text Placeholder 4">
            <a:extLst>
              <a:ext uri="{FF2B5EF4-FFF2-40B4-BE49-F238E27FC236}">
                <a16:creationId xmlns:a16="http://schemas.microsoft.com/office/drawing/2014/main" id="{A5ECD4C7-D870-4003-9FA8-85EBBED87940}"/>
              </a:ext>
            </a:extLst>
          </p:cNvPr>
          <p:cNvSpPr>
            <a:spLocks noGrp="1"/>
          </p:cNvSpPr>
          <p:nvPr userDrawn="1">
            <p:ph type="body" sz="quarter" idx="12" hasCustomPrompt="1"/>
          </p:nvPr>
        </p:nvSpPr>
        <p:spPr>
          <a:xfrm>
            <a:off x="4281362" y="4927922"/>
            <a:ext cx="3623051" cy="1307666"/>
          </a:xfrm>
        </p:spPr>
        <p:txBody>
          <a:bodyPr lIns="0" tIns="0" rIns="0" bIns="0"/>
          <a:lstStyle>
            <a:lvl1pPr marL="0" indent="0">
              <a:lnSpc>
                <a:spcPct val="100000"/>
              </a:lnSpc>
              <a:spcBef>
                <a:spcPts val="0"/>
              </a:spcBef>
              <a:spcAft>
                <a:spcPts val="784"/>
              </a:spcAft>
              <a:buNone/>
              <a:defRPr sz="1568">
                <a:solidFill>
                  <a:schemeClr val="accent1"/>
                </a:solidFill>
                <a:latin typeface="+mj-lt"/>
              </a:defRPr>
            </a:lvl1pPr>
            <a:lvl2pPr marL="0" marR="0" indent="0" algn="l" defTabSz="914367" rtl="0" eaLnBrk="1" fontAlgn="auto" latinLnBrk="0" hangingPunct="1">
              <a:lnSpc>
                <a:spcPct val="100000"/>
              </a:lnSpc>
              <a:spcBef>
                <a:spcPts val="0"/>
              </a:spcBef>
              <a:spcAft>
                <a:spcPts val="784"/>
              </a:spcAft>
              <a:buClrTx/>
              <a:buSzPct val="90000"/>
              <a:buFont typeface="Arial" panose="020B0604020202020204" pitchFamily="34" charset="0"/>
              <a:buNone/>
              <a:tabLst/>
              <a:defRPr sz="1568">
                <a:solidFill>
                  <a:srgbClr val="000000"/>
                </a:solidFill>
              </a:defRPr>
            </a:lvl2pPr>
            <a:lvl3pPr marL="448193" indent="0">
              <a:buNone/>
              <a:defRPr/>
            </a:lvl3pPr>
            <a:lvl4pPr marL="672290" indent="0">
              <a:buNone/>
              <a:defRPr/>
            </a:lvl4pPr>
            <a:lvl5pPr marL="896386" indent="0">
              <a:buNone/>
              <a:defRPr/>
            </a:lvl5pPr>
          </a:lstStyle>
          <a:p>
            <a:pPr lvl="0"/>
            <a:r>
              <a:rPr lang="en-US"/>
              <a:t>Paragraph title Segoe UI </a:t>
            </a:r>
            <a:r>
              <a:rPr lang="en-US" err="1"/>
              <a:t>Semibold</a:t>
            </a:r>
            <a:r>
              <a:rPr lang="en-US"/>
              <a:t> 16</a:t>
            </a:r>
          </a:p>
          <a:p>
            <a:pPr lvl="1"/>
            <a:r>
              <a:rPr lang="en-US"/>
              <a:t>Body copy Segoe Regular 16.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a:t>
            </a:r>
            <a:r>
              <a:rPr lang="en-US"/>
              <a:t>, </a:t>
            </a:r>
            <a:r>
              <a:rPr lang="en-US" err="1"/>
              <a:t>omnimusdae</a:t>
            </a:r>
            <a:r>
              <a:rPr lang="en-US"/>
              <a:t>. </a:t>
            </a:r>
            <a:r>
              <a:rPr lang="en-US" err="1"/>
              <a:t>Boribus</a:t>
            </a:r>
            <a:r>
              <a:rPr lang="en-US"/>
              <a:t> </a:t>
            </a:r>
            <a:r>
              <a:rPr lang="en-US" err="1"/>
              <a:t>sinctius</a:t>
            </a:r>
            <a:r>
              <a:rPr lang="en-US"/>
              <a:t> </a:t>
            </a:r>
            <a:r>
              <a:rPr lang="en-US" err="1"/>
              <a:t>nimaxime</a:t>
            </a:r>
            <a:r>
              <a:rPr lang="en-US"/>
              <a:t> sit et </a:t>
            </a:r>
            <a:r>
              <a:rPr lang="en-US" err="1"/>
              <a:t>nonsequibus</a:t>
            </a:r>
            <a:r>
              <a:rPr lang="en-US"/>
              <a:t> </a:t>
            </a:r>
            <a:r>
              <a:rPr lang="en-US" err="1"/>
              <a:t>dollendis</a:t>
            </a:r>
            <a:r>
              <a:rPr lang="en-US"/>
              <a:t> as </a:t>
            </a:r>
            <a:r>
              <a:rPr lang="en-US" err="1"/>
              <a:t>autestiat</a:t>
            </a:r>
            <a:r>
              <a:rPr lang="en-US"/>
              <a:t>.</a:t>
            </a:r>
          </a:p>
        </p:txBody>
      </p:sp>
      <p:sp>
        <p:nvSpPr>
          <p:cNvPr id="15" name="Text Placeholder 4">
            <a:extLst>
              <a:ext uri="{FF2B5EF4-FFF2-40B4-BE49-F238E27FC236}">
                <a16:creationId xmlns:a16="http://schemas.microsoft.com/office/drawing/2014/main" id="{AA9BECBA-B2CC-4EE6-B54E-9ADB03EB2595}"/>
              </a:ext>
            </a:extLst>
          </p:cNvPr>
          <p:cNvSpPr>
            <a:spLocks noGrp="1"/>
          </p:cNvSpPr>
          <p:nvPr userDrawn="1">
            <p:ph type="body" sz="quarter" idx="13" hasCustomPrompt="1"/>
          </p:nvPr>
        </p:nvSpPr>
        <p:spPr>
          <a:xfrm>
            <a:off x="8126963" y="4927922"/>
            <a:ext cx="3635502" cy="1307666"/>
          </a:xfrm>
        </p:spPr>
        <p:txBody>
          <a:bodyPr lIns="0" tIns="0" rIns="0" bIns="0"/>
          <a:lstStyle>
            <a:lvl1pPr marL="0" indent="0">
              <a:lnSpc>
                <a:spcPct val="100000"/>
              </a:lnSpc>
              <a:spcBef>
                <a:spcPts val="0"/>
              </a:spcBef>
              <a:spcAft>
                <a:spcPts val="784"/>
              </a:spcAft>
              <a:buNone/>
              <a:defRPr sz="1568">
                <a:solidFill>
                  <a:schemeClr val="accent1"/>
                </a:solidFill>
                <a:latin typeface="+mj-lt"/>
              </a:defRPr>
            </a:lvl1pPr>
            <a:lvl2pPr marL="0" marR="0" indent="0" algn="l" defTabSz="914367" rtl="0" eaLnBrk="1" fontAlgn="auto" latinLnBrk="0" hangingPunct="1">
              <a:lnSpc>
                <a:spcPct val="100000"/>
              </a:lnSpc>
              <a:spcBef>
                <a:spcPts val="0"/>
              </a:spcBef>
              <a:spcAft>
                <a:spcPts val="784"/>
              </a:spcAft>
              <a:buClrTx/>
              <a:buSzPct val="90000"/>
              <a:buFont typeface="Arial" panose="020B0604020202020204" pitchFamily="34" charset="0"/>
              <a:buNone/>
              <a:tabLst/>
              <a:defRPr sz="1568">
                <a:solidFill>
                  <a:srgbClr val="000000"/>
                </a:solidFill>
              </a:defRPr>
            </a:lvl2pPr>
            <a:lvl3pPr marL="448193" indent="0">
              <a:buNone/>
              <a:defRPr/>
            </a:lvl3pPr>
            <a:lvl4pPr marL="672290" indent="0">
              <a:buNone/>
              <a:defRPr/>
            </a:lvl4pPr>
            <a:lvl5pPr marL="896386" indent="0">
              <a:buNone/>
              <a:defRPr/>
            </a:lvl5pPr>
          </a:lstStyle>
          <a:p>
            <a:pPr lvl="0"/>
            <a:r>
              <a:rPr lang="en-US"/>
              <a:t>Paragraph title Segoe UI bold 16</a:t>
            </a:r>
          </a:p>
          <a:p>
            <a:pPr lvl="1"/>
            <a:r>
              <a:rPr lang="en-US"/>
              <a:t>Body copy Segoe Regular 16.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a:t>
            </a:r>
            <a:r>
              <a:rPr lang="en-US"/>
              <a:t>, </a:t>
            </a:r>
            <a:r>
              <a:rPr lang="en-US" err="1"/>
              <a:t>omnimusdae</a:t>
            </a:r>
            <a:r>
              <a:rPr lang="en-US"/>
              <a:t>. </a:t>
            </a:r>
            <a:r>
              <a:rPr lang="en-US" err="1"/>
              <a:t>Boribus</a:t>
            </a:r>
            <a:r>
              <a:rPr lang="en-US"/>
              <a:t> </a:t>
            </a:r>
            <a:r>
              <a:rPr lang="en-US" err="1"/>
              <a:t>sinctius</a:t>
            </a:r>
            <a:r>
              <a:rPr lang="en-US"/>
              <a:t> </a:t>
            </a:r>
            <a:r>
              <a:rPr lang="en-US" err="1"/>
              <a:t>nimaxime</a:t>
            </a:r>
            <a:r>
              <a:rPr lang="en-US"/>
              <a:t> sit et </a:t>
            </a:r>
            <a:r>
              <a:rPr lang="en-US" err="1"/>
              <a:t>nonsequibus</a:t>
            </a:r>
            <a:r>
              <a:rPr lang="en-US"/>
              <a:t> </a:t>
            </a:r>
            <a:r>
              <a:rPr lang="en-US" err="1"/>
              <a:t>dollendis</a:t>
            </a:r>
            <a:r>
              <a:rPr lang="en-US"/>
              <a:t> as </a:t>
            </a:r>
            <a:r>
              <a:rPr lang="en-US" err="1"/>
              <a:t>autestiat</a:t>
            </a:r>
            <a:r>
              <a:rPr lang="en-US"/>
              <a:t>.</a:t>
            </a:r>
          </a:p>
        </p:txBody>
      </p:sp>
    </p:spTree>
    <p:extLst>
      <p:ext uri="{BB962C8B-B14F-4D97-AF65-F5344CB8AC3E}">
        <p14:creationId xmlns:p14="http://schemas.microsoft.com/office/powerpoint/2010/main" val="3033357484"/>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Graphic layout: four columns graphic and text">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9594C393-E06E-3A4C-A658-2526A14DA5A1}"/>
              </a:ext>
            </a:extLst>
          </p:cNvPr>
          <p:cNvSpPr/>
          <p:nvPr userDrawn="1"/>
        </p:nvSpPr>
        <p:spPr bwMode="auto">
          <a:xfrm>
            <a:off x="9109046" y="1590385"/>
            <a:ext cx="2653417" cy="3128965"/>
          </a:xfrm>
          <a:prstGeom prst="rect">
            <a:avLst/>
          </a:prstGeom>
          <a:solidFill>
            <a:schemeClr val="bg2"/>
          </a:solidFill>
          <a:ln>
            <a:noFill/>
            <a:headEnd type="none" w="med" len="med"/>
            <a:tailEnd type="none" w="med" len="med"/>
          </a:ln>
          <a:effectLst>
            <a:outerShdw blurRad="76200" algn="ctr" rotWithShape="0">
              <a:schemeClr val="bg2">
                <a:lumMod val="50000"/>
                <a:alpha val="8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a:gradFill>
                <a:gsLst>
                  <a:gs pos="0">
                    <a:srgbClr val="FFFFFF"/>
                  </a:gs>
                  <a:gs pos="100000">
                    <a:srgbClr val="FFFFFF"/>
                  </a:gs>
                </a:gsLst>
                <a:lin ang="5400000" scaled="0"/>
              </a:gradFill>
              <a:ea typeface="Segoe UI" pitchFamily="34" charset="0"/>
              <a:cs typeface="Segoe UI" pitchFamily="34" charset="0"/>
            </a:endParaRPr>
          </a:p>
        </p:txBody>
      </p:sp>
      <p:sp>
        <p:nvSpPr>
          <p:cNvPr id="19" name="Rectangle 18">
            <a:extLst>
              <a:ext uri="{FF2B5EF4-FFF2-40B4-BE49-F238E27FC236}">
                <a16:creationId xmlns:a16="http://schemas.microsoft.com/office/drawing/2014/main" id="{A011C51E-94BA-C44D-ABF4-E87C4124DAF0}"/>
              </a:ext>
            </a:extLst>
          </p:cNvPr>
          <p:cNvSpPr/>
          <p:nvPr userDrawn="1"/>
        </p:nvSpPr>
        <p:spPr bwMode="auto">
          <a:xfrm>
            <a:off x="6214840" y="1590385"/>
            <a:ext cx="2653417" cy="3128965"/>
          </a:xfrm>
          <a:prstGeom prst="rect">
            <a:avLst/>
          </a:prstGeom>
          <a:solidFill>
            <a:schemeClr val="bg2"/>
          </a:solidFill>
          <a:ln>
            <a:noFill/>
            <a:headEnd type="none" w="med" len="med"/>
            <a:tailEnd type="none" w="med" len="med"/>
          </a:ln>
          <a:effectLst>
            <a:outerShdw blurRad="76200" algn="ctr" rotWithShape="0">
              <a:schemeClr val="bg2">
                <a:lumMod val="50000"/>
                <a:alpha val="8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a:gradFill>
                <a:gsLst>
                  <a:gs pos="0">
                    <a:srgbClr val="FFFFFF"/>
                  </a:gs>
                  <a:gs pos="100000">
                    <a:srgbClr val="FFFFFF"/>
                  </a:gs>
                </a:gsLst>
                <a:lin ang="5400000" scaled="0"/>
              </a:gradFill>
              <a:ea typeface="Segoe UI" pitchFamily="34" charset="0"/>
              <a:cs typeface="Segoe UI" pitchFamily="34" charset="0"/>
            </a:endParaRPr>
          </a:p>
        </p:txBody>
      </p:sp>
      <p:sp>
        <p:nvSpPr>
          <p:cNvPr id="20" name="Rectangle 19">
            <a:extLst>
              <a:ext uri="{FF2B5EF4-FFF2-40B4-BE49-F238E27FC236}">
                <a16:creationId xmlns:a16="http://schemas.microsoft.com/office/drawing/2014/main" id="{E6DDB665-2DD7-AE40-9862-C6E8E22E9215}"/>
              </a:ext>
            </a:extLst>
          </p:cNvPr>
          <p:cNvSpPr/>
          <p:nvPr userDrawn="1"/>
        </p:nvSpPr>
        <p:spPr bwMode="auto">
          <a:xfrm>
            <a:off x="3320633" y="1590385"/>
            <a:ext cx="2653417" cy="3128965"/>
          </a:xfrm>
          <a:prstGeom prst="rect">
            <a:avLst/>
          </a:prstGeom>
          <a:solidFill>
            <a:schemeClr val="bg2"/>
          </a:solidFill>
          <a:ln>
            <a:noFill/>
            <a:headEnd type="none" w="med" len="med"/>
            <a:tailEnd type="none" w="med" len="med"/>
          </a:ln>
          <a:effectLst>
            <a:outerShdw blurRad="76200" algn="ctr" rotWithShape="0">
              <a:schemeClr val="bg2">
                <a:lumMod val="50000"/>
                <a:alpha val="8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a:gradFill>
                <a:gsLst>
                  <a:gs pos="0">
                    <a:srgbClr val="FFFFFF"/>
                  </a:gs>
                  <a:gs pos="100000">
                    <a:srgbClr val="FFFFFF"/>
                  </a:gs>
                </a:gsLst>
                <a:lin ang="5400000" scaled="0"/>
              </a:gradFill>
              <a:ea typeface="Segoe UI" pitchFamily="34" charset="0"/>
              <a:cs typeface="Segoe UI" pitchFamily="34" charset="0"/>
            </a:endParaRPr>
          </a:p>
        </p:txBody>
      </p:sp>
      <p:sp>
        <p:nvSpPr>
          <p:cNvPr id="21" name="Rectangle 20">
            <a:extLst>
              <a:ext uri="{FF2B5EF4-FFF2-40B4-BE49-F238E27FC236}">
                <a16:creationId xmlns:a16="http://schemas.microsoft.com/office/drawing/2014/main" id="{4CD677DE-AA2C-984C-BAE1-54D5F0B518CE}"/>
              </a:ext>
            </a:extLst>
          </p:cNvPr>
          <p:cNvSpPr/>
          <p:nvPr userDrawn="1"/>
        </p:nvSpPr>
        <p:spPr bwMode="auto">
          <a:xfrm>
            <a:off x="426426" y="1590385"/>
            <a:ext cx="2653417" cy="3128965"/>
          </a:xfrm>
          <a:prstGeom prst="rect">
            <a:avLst/>
          </a:prstGeom>
          <a:solidFill>
            <a:schemeClr val="bg2"/>
          </a:solidFill>
          <a:ln>
            <a:noFill/>
            <a:headEnd type="none" w="med" len="med"/>
            <a:tailEnd type="none" w="med" len="med"/>
          </a:ln>
          <a:effectLst>
            <a:outerShdw blurRad="76200" algn="ctr" rotWithShape="0">
              <a:schemeClr val="bg2">
                <a:lumMod val="50000"/>
                <a:alpha val="8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0347712A-15EB-884C-BF95-7C690BA77817}"/>
              </a:ext>
            </a:extLst>
          </p:cNvPr>
          <p:cNvSpPr>
            <a:spLocks noGrp="1"/>
          </p:cNvSpPr>
          <p:nvPr>
            <p:ph type="title" hasCustomPrompt="1"/>
          </p:nvPr>
        </p:nvSpPr>
        <p:spPr>
          <a:xfrm>
            <a:off x="426424" y="435824"/>
            <a:ext cx="11336039" cy="744014"/>
          </a:xfrm>
        </p:spPr>
        <p:txBody>
          <a:bodyPr/>
          <a:lstStyle>
            <a:lvl1pPr>
              <a:defRPr/>
            </a:lvl1pPr>
          </a:lstStyle>
          <a:p>
            <a:r>
              <a:rPr lang="en-US"/>
              <a:t>Graphic layout: four columns graphic and text</a:t>
            </a:r>
          </a:p>
        </p:txBody>
      </p:sp>
      <p:sp>
        <p:nvSpPr>
          <p:cNvPr id="4" name="Content Placeholder 15">
            <a:extLst>
              <a:ext uri="{FF2B5EF4-FFF2-40B4-BE49-F238E27FC236}">
                <a16:creationId xmlns:a16="http://schemas.microsoft.com/office/drawing/2014/main" id="{F580A529-D3A8-5643-80BA-3E2BE1AA8D57}"/>
              </a:ext>
            </a:extLst>
          </p:cNvPr>
          <p:cNvSpPr>
            <a:spLocks noGrp="1"/>
          </p:cNvSpPr>
          <p:nvPr>
            <p:ph sz="quarter" idx="17" hasCustomPrompt="1"/>
          </p:nvPr>
        </p:nvSpPr>
        <p:spPr>
          <a:xfrm>
            <a:off x="966751" y="2135537"/>
            <a:ext cx="1572767" cy="2038660"/>
          </a:xfrm>
        </p:spPr>
        <p:txBody>
          <a:bodyPr anchor="ctr">
            <a:noAutofit/>
          </a:bodyPr>
          <a:lstStyle>
            <a:lvl1pPr marL="0" indent="0" algn="ctr">
              <a:buNone/>
              <a:defRPr sz="1961">
                <a:solidFill>
                  <a:schemeClr val="tx2"/>
                </a:solidFill>
                <a:latin typeface="+mj-lt"/>
              </a:defRPr>
            </a:lvl1pPr>
          </a:lstStyle>
          <a:p>
            <a:pPr lvl="0"/>
            <a:r>
              <a:rPr lang="en-US"/>
              <a:t> </a:t>
            </a:r>
          </a:p>
        </p:txBody>
      </p:sp>
      <p:sp>
        <p:nvSpPr>
          <p:cNvPr id="7" name="Content Placeholder 15">
            <a:extLst>
              <a:ext uri="{FF2B5EF4-FFF2-40B4-BE49-F238E27FC236}">
                <a16:creationId xmlns:a16="http://schemas.microsoft.com/office/drawing/2014/main" id="{1F6D7A4B-5FFE-2741-8477-E0CAA019B079}"/>
              </a:ext>
            </a:extLst>
          </p:cNvPr>
          <p:cNvSpPr>
            <a:spLocks noGrp="1"/>
          </p:cNvSpPr>
          <p:nvPr>
            <p:ph sz="quarter" idx="18" hasCustomPrompt="1"/>
          </p:nvPr>
        </p:nvSpPr>
        <p:spPr>
          <a:xfrm>
            <a:off x="3849259" y="2135537"/>
            <a:ext cx="1596164" cy="2038660"/>
          </a:xfrm>
        </p:spPr>
        <p:txBody>
          <a:bodyPr anchor="ctr">
            <a:noAutofit/>
          </a:bodyPr>
          <a:lstStyle>
            <a:lvl1pPr marL="0" indent="0" algn="ctr">
              <a:buNone/>
              <a:defRPr sz="1961">
                <a:solidFill>
                  <a:schemeClr val="tx2"/>
                </a:solidFill>
                <a:latin typeface="+mj-lt"/>
              </a:defRPr>
            </a:lvl1pPr>
          </a:lstStyle>
          <a:p>
            <a:pPr lvl="0"/>
            <a:r>
              <a:rPr lang="en-US"/>
              <a:t> </a:t>
            </a:r>
          </a:p>
        </p:txBody>
      </p:sp>
      <p:sp>
        <p:nvSpPr>
          <p:cNvPr id="9" name="Text Placeholder 4">
            <a:extLst>
              <a:ext uri="{FF2B5EF4-FFF2-40B4-BE49-F238E27FC236}">
                <a16:creationId xmlns:a16="http://schemas.microsoft.com/office/drawing/2014/main" id="{07CF99F6-2487-AC48-8A09-B34B72BD5FE9}"/>
              </a:ext>
            </a:extLst>
          </p:cNvPr>
          <p:cNvSpPr>
            <a:spLocks noGrp="1"/>
          </p:cNvSpPr>
          <p:nvPr>
            <p:ph type="body" sz="quarter" idx="11" hasCustomPrompt="1"/>
          </p:nvPr>
        </p:nvSpPr>
        <p:spPr>
          <a:xfrm>
            <a:off x="426426" y="4927922"/>
            <a:ext cx="2653417" cy="1307666"/>
          </a:xfrm>
        </p:spPr>
        <p:txBody>
          <a:bodyPr lIns="0" tIns="0" rIns="0" bIns="0"/>
          <a:lstStyle>
            <a:lvl1pPr marL="0" indent="0">
              <a:lnSpc>
                <a:spcPct val="100000"/>
              </a:lnSpc>
              <a:spcBef>
                <a:spcPts val="0"/>
              </a:spcBef>
              <a:spcAft>
                <a:spcPts val="784"/>
              </a:spcAft>
              <a:buNone/>
              <a:defRPr sz="1568" b="1">
                <a:solidFill>
                  <a:schemeClr val="accent1"/>
                </a:solidFill>
                <a:latin typeface="+mj-lt"/>
              </a:defRPr>
            </a:lvl1pPr>
            <a:lvl2pPr marL="0" marR="0" indent="0" algn="l" defTabSz="914367" rtl="0" eaLnBrk="1" fontAlgn="auto" latinLnBrk="0" hangingPunct="1">
              <a:lnSpc>
                <a:spcPct val="100000"/>
              </a:lnSpc>
              <a:spcBef>
                <a:spcPts val="0"/>
              </a:spcBef>
              <a:spcAft>
                <a:spcPts val="784"/>
              </a:spcAft>
              <a:buClrTx/>
              <a:buSzPct val="90000"/>
              <a:buFont typeface="Arial" panose="020B0604020202020204" pitchFamily="34" charset="0"/>
              <a:buNone/>
              <a:tabLst/>
              <a:defRPr sz="1568">
                <a:solidFill>
                  <a:srgbClr val="000000"/>
                </a:solidFill>
              </a:defRPr>
            </a:lvl2pPr>
            <a:lvl3pPr marL="448193" indent="0">
              <a:buNone/>
              <a:defRPr/>
            </a:lvl3pPr>
            <a:lvl4pPr marL="672290" indent="0">
              <a:buNone/>
              <a:defRPr/>
            </a:lvl4pPr>
            <a:lvl5pPr marL="896386" indent="0">
              <a:buNone/>
              <a:defRPr/>
            </a:lvl5pPr>
          </a:lstStyle>
          <a:p>
            <a:pPr lvl="0"/>
            <a:r>
              <a:rPr lang="en-US"/>
              <a:t>Paragraph title Segoe UI </a:t>
            </a:r>
            <a:r>
              <a:rPr lang="en-US" err="1"/>
              <a:t>Semibold</a:t>
            </a:r>
            <a:r>
              <a:rPr lang="en-US"/>
              <a:t> 16</a:t>
            </a:r>
          </a:p>
          <a:p>
            <a:pPr lvl="1"/>
            <a:r>
              <a:rPr lang="en-US"/>
              <a:t>Body copy Segoe Regular 16. </a:t>
            </a:r>
            <a:r>
              <a:rPr lang="en-US" err="1"/>
              <a:t>Cavorest</a:t>
            </a:r>
            <a:r>
              <a:rPr lang="en-US"/>
              <a:t> a </a:t>
            </a:r>
            <a:r>
              <a:rPr lang="en-US" err="1"/>
              <a:t>aut</a:t>
            </a:r>
            <a:r>
              <a:rPr lang="en-US"/>
              <a:t> arum quam id eat ape </a:t>
            </a:r>
            <a:r>
              <a:rPr lang="en-US" err="1"/>
              <a:t>est</a:t>
            </a:r>
            <a:r>
              <a:rPr lang="en-US"/>
              <a:t>, qui </a:t>
            </a:r>
            <a:r>
              <a:rPr lang="en-US" err="1"/>
              <a:t>sinc</a:t>
            </a:r>
            <a:r>
              <a:rPr lang="en-US"/>
              <a:t>.</a:t>
            </a:r>
          </a:p>
        </p:txBody>
      </p:sp>
      <p:sp>
        <p:nvSpPr>
          <p:cNvPr id="10" name="Text Placeholder 4">
            <a:extLst>
              <a:ext uri="{FF2B5EF4-FFF2-40B4-BE49-F238E27FC236}">
                <a16:creationId xmlns:a16="http://schemas.microsoft.com/office/drawing/2014/main" id="{7F7B5F75-90C0-F44E-9322-8FF1108BD340}"/>
              </a:ext>
            </a:extLst>
          </p:cNvPr>
          <p:cNvSpPr>
            <a:spLocks noGrp="1"/>
          </p:cNvSpPr>
          <p:nvPr>
            <p:ph type="body" sz="quarter" idx="12" hasCustomPrompt="1"/>
          </p:nvPr>
        </p:nvSpPr>
        <p:spPr>
          <a:xfrm>
            <a:off x="3320633" y="4927922"/>
            <a:ext cx="2653417" cy="1307666"/>
          </a:xfrm>
        </p:spPr>
        <p:txBody>
          <a:bodyPr lIns="0" tIns="0" rIns="0" bIns="0"/>
          <a:lstStyle>
            <a:lvl1pPr marL="0" indent="0">
              <a:lnSpc>
                <a:spcPct val="100000"/>
              </a:lnSpc>
              <a:spcBef>
                <a:spcPts val="0"/>
              </a:spcBef>
              <a:spcAft>
                <a:spcPts val="784"/>
              </a:spcAft>
              <a:buNone/>
              <a:defRPr sz="1568">
                <a:solidFill>
                  <a:schemeClr val="accent1"/>
                </a:solidFill>
                <a:latin typeface="+mj-lt"/>
              </a:defRPr>
            </a:lvl1pPr>
            <a:lvl2pPr marL="0" marR="0" indent="0" algn="l" defTabSz="914367" rtl="0" eaLnBrk="1" fontAlgn="auto" latinLnBrk="0" hangingPunct="1">
              <a:lnSpc>
                <a:spcPct val="100000"/>
              </a:lnSpc>
              <a:spcBef>
                <a:spcPts val="0"/>
              </a:spcBef>
              <a:spcAft>
                <a:spcPts val="784"/>
              </a:spcAft>
              <a:buClrTx/>
              <a:buSzPct val="90000"/>
              <a:buFont typeface="Arial" panose="020B0604020202020204" pitchFamily="34" charset="0"/>
              <a:buNone/>
              <a:tabLst/>
              <a:defRPr sz="1568">
                <a:solidFill>
                  <a:srgbClr val="000000"/>
                </a:solidFill>
              </a:defRPr>
            </a:lvl2pPr>
            <a:lvl3pPr marL="448193" indent="0">
              <a:buNone/>
              <a:defRPr/>
            </a:lvl3pPr>
            <a:lvl4pPr marL="672290" indent="0">
              <a:buNone/>
              <a:defRPr/>
            </a:lvl4pPr>
            <a:lvl5pPr marL="896386" indent="0">
              <a:buNone/>
              <a:defRPr/>
            </a:lvl5pPr>
          </a:lstStyle>
          <a:p>
            <a:pPr lvl="0"/>
            <a:r>
              <a:rPr lang="en-US"/>
              <a:t>Paragraph title Segoe UI </a:t>
            </a:r>
            <a:r>
              <a:rPr lang="en-US" err="1"/>
              <a:t>Semibold</a:t>
            </a:r>
            <a:r>
              <a:rPr lang="en-US"/>
              <a:t> 16</a:t>
            </a:r>
          </a:p>
          <a:p>
            <a:pPr lvl="1"/>
            <a:r>
              <a:rPr lang="en-US"/>
              <a:t>Body copy Segoe Regular 16. </a:t>
            </a:r>
            <a:r>
              <a:rPr lang="en-US" err="1"/>
              <a:t>Cavorest</a:t>
            </a:r>
            <a:r>
              <a:rPr lang="en-US"/>
              <a:t> a </a:t>
            </a:r>
            <a:r>
              <a:rPr lang="en-US" err="1"/>
              <a:t>aut</a:t>
            </a:r>
            <a:r>
              <a:rPr lang="en-US"/>
              <a:t> arum quam id eat ape </a:t>
            </a:r>
            <a:r>
              <a:rPr lang="en-US" err="1"/>
              <a:t>est</a:t>
            </a:r>
            <a:r>
              <a:rPr lang="en-US"/>
              <a:t>, qui </a:t>
            </a:r>
            <a:r>
              <a:rPr lang="en-US" err="1"/>
              <a:t>sinc</a:t>
            </a:r>
            <a:r>
              <a:rPr lang="en-US"/>
              <a:t>.</a:t>
            </a:r>
          </a:p>
        </p:txBody>
      </p:sp>
      <p:sp>
        <p:nvSpPr>
          <p:cNvPr id="11" name="Text Placeholder 4">
            <a:extLst>
              <a:ext uri="{FF2B5EF4-FFF2-40B4-BE49-F238E27FC236}">
                <a16:creationId xmlns:a16="http://schemas.microsoft.com/office/drawing/2014/main" id="{6E444E9C-8096-FE42-BE2A-094180C61109}"/>
              </a:ext>
            </a:extLst>
          </p:cNvPr>
          <p:cNvSpPr>
            <a:spLocks noGrp="1"/>
          </p:cNvSpPr>
          <p:nvPr>
            <p:ph type="body" sz="quarter" idx="13" hasCustomPrompt="1"/>
          </p:nvPr>
        </p:nvSpPr>
        <p:spPr>
          <a:xfrm>
            <a:off x="6214840" y="4927922"/>
            <a:ext cx="2653417" cy="1307666"/>
          </a:xfrm>
        </p:spPr>
        <p:txBody>
          <a:bodyPr lIns="0" tIns="0" rIns="0" bIns="0"/>
          <a:lstStyle>
            <a:lvl1pPr marL="0" indent="0">
              <a:lnSpc>
                <a:spcPct val="100000"/>
              </a:lnSpc>
              <a:spcBef>
                <a:spcPts val="0"/>
              </a:spcBef>
              <a:spcAft>
                <a:spcPts val="784"/>
              </a:spcAft>
              <a:buNone/>
              <a:defRPr sz="1568">
                <a:solidFill>
                  <a:schemeClr val="accent1"/>
                </a:solidFill>
                <a:latin typeface="+mj-lt"/>
              </a:defRPr>
            </a:lvl1pPr>
            <a:lvl2pPr marL="0" marR="0" indent="0" algn="l" defTabSz="914367" rtl="0" eaLnBrk="1" fontAlgn="auto" latinLnBrk="0" hangingPunct="1">
              <a:lnSpc>
                <a:spcPct val="100000"/>
              </a:lnSpc>
              <a:spcBef>
                <a:spcPts val="0"/>
              </a:spcBef>
              <a:spcAft>
                <a:spcPts val="784"/>
              </a:spcAft>
              <a:buClrTx/>
              <a:buSzPct val="90000"/>
              <a:buFont typeface="Arial" panose="020B0604020202020204" pitchFamily="34" charset="0"/>
              <a:buNone/>
              <a:tabLst/>
              <a:defRPr sz="1568">
                <a:solidFill>
                  <a:srgbClr val="000000"/>
                </a:solidFill>
              </a:defRPr>
            </a:lvl2pPr>
            <a:lvl3pPr marL="448193" indent="0">
              <a:buNone/>
              <a:defRPr/>
            </a:lvl3pPr>
            <a:lvl4pPr marL="672290" indent="0">
              <a:buNone/>
              <a:defRPr/>
            </a:lvl4pPr>
            <a:lvl5pPr marL="896386" indent="0">
              <a:buNone/>
              <a:defRPr/>
            </a:lvl5pPr>
          </a:lstStyle>
          <a:p>
            <a:pPr lvl="0"/>
            <a:r>
              <a:rPr lang="en-US"/>
              <a:t>Paragraph title Segoe UI bold 16</a:t>
            </a:r>
          </a:p>
          <a:p>
            <a:pPr lvl="1"/>
            <a:r>
              <a:rPr lang="en-US"/>
              <a:t>Body copy Segoe Regular 16. </a:t>
            </a:r>
            <a:r>
              <a:rPr lang="en-US" err="1"/>
              <a:t>Cavorest</a:t>
            </a:r>
            <a:r>
              <a:rPr lang="en-US"/>
              <a:t> a </a:t>
            </a:r>
            <a:r>
              <a:rPr lang="en-US" err="1"/>
              <a:t>aut</a:t>
            </a:r>
            <a:r>
              <a:rPr lang="en-US"/>
              <a:t> arum quam id eat ape </a:t>
            </a:r>
            <a:r>
              <a:rPr lang="en-US" err="1"/>
              <a:t>est</a:t>
            </a:r>
            <a:r>
              <a:rPr lang="en-US"/>
              <a:t>, qui </a:t>
            </a:r>
            <a:r>
              <a:rPr lang="en-US" err="1"/>
              <a:t>sinc</a:t>
            </a:r>
            <a:r>
              <a:rPr lang="en-US"/>
              <a:t>.</a:t>
            </a:r>
          </a:p>
        </p:txBody>
      </p:sp>
      <p:sp>
        <p:nvSpPr>
          <p:cNvPr id="13" name="Content Placeholder 15">
            <a:extLst>
              <a:ext uri="{FF2B5EF4-FFF2-40B4-BE49-F238E27FC236}">
                <a16:creationId xmlns:a16="http://schemas.microsoft.com/office/drawing/2014/main" id="{30602BFF-4B8C-D046-AD65-47970BC89DF5}"/>
              </a:ext>
            </a:extLst>
          </p:cNvPr>
          <p:cNvSpPr>
            <a:spLocks noGrp="1"/>
          </p:cNvSpPr>
          <p:nvPr>
            <p:ph sz="quarter" idx="19" hasCustomPrompt="1"/>
          </p:nvPr>
        </p:nvSpPr>
        <p:spPr>
          <a:xfrm>
            <a:off x="6743466" y="2135537"/>
            <a:ext cx="1596164" cy="2038660"/>
          </a:xfrm>
        </p:spPr>
        <p:txBody>
          <a:bodyPr anchor="ctr">
            <a:noAutofit/>
          </a:bodyPr>
          <a:lstStyle>
            <a:lvl1pPr marL="0" indent="0" algn="ctr">
              <a:buNone/>
              <a:defRPr sz="1961">
                <a:solidFill>
                  <a:schemeClr val="tx2"/>
                </a:solidFill>
                <a:latin typeface="+mj-lt"/>
              </a:defRPr>
            </a:lvl1pPr>
          </a:lstStyle>
          <a:p>
            <a:pPr lvl="0"/>
            <a:r>
              <a:rPr lang="en-US"/>
              <a:t> </a:t>
            </a:r>
          </a:p>
        </p:txBody>
      </p:sp>
      <p:sp>
        <p:nvSpPr>
          <p:cNvPr id="14" name="Content Placeholder 15">
            <a:extLst>
              <a:ext uri="{FF2B5EF4-FFF2-40B4-BE49-F238E27FC236}">
                <a16:creationId xmlns:a16="http://schemas.microsoft.com/office/drawing/2014/main" id="{88A8CB35-A244-544E-8BAE-53CB85074FBB}"/>
              </a:ext>
            </a:extLst>
          </p:cNvPr>
          <p:cNvSpPr>
            <a:spLocks noGrp="1"/>
          </p:cNvSpPr>
          <p:nvPr>
            <p:ph sz="quarter" idx="20" hasCustomPrompt="1"/>
          </p:nvPr>
        </p:nvSpPr>
        <p:spPr>
          <a:xfrm>
            <a:off x="9637672" y="2135537"/>
            <a:ext cx="1596164" cy="2038660"/>
          </a:xfrm>
        </p:spPr>
        <p:txBody>
          <a:bodyPr anchor="ctr">
            <a:noAutofit/>
          </a:bodyPr>
          <a:lstStyle>
            <a:lvl1pPr marL="0" indent="0" algn="ctr">
              <a:buNone/>
              <a:defRPr sz="1961">
                <a:solidFill>
                  <a:schemeClr val="tx2"/>
                </a:solidFill>
                <a:latin typeface="+mj-lt"/>
              </a:defRPr>
            </a:lvl1pPr>
          </a:lstStyle>
          <a:p>
            <a:pPr lvl="0"/>
            <a:r>
              <a:rPr lang="en-US"/>
              <a:t> </a:t>
            </a:r>
          </a:p>
        </p:txBody>
      </p:sp>
      <p:sp>
        <p:nvSpPr>
          <p:cNvPr id="15" name="Text Placeholder 4">
            <a:extLst>
              <a:ext uri="{FF2B5EF4-FFF2-40B4-BE49-F238E27FC236}">
                <a16:creationId xmlns:a16="http://schemas.microsoft.com/office/drawing/2014/main" id="{D8D35D15-66F4-4840-BA72-4B7AB5A24EFD}"/>
              </a:ext>
            </a:extLst>
          </p:cNvPr>
          <p:cNvSpPr>
            <a:spLocks noGrp="1"/>
          </p:cNvSpPr>
          <p:nvPr>
            <p:ph type="body" sz="quarter" idx="21" hasCustomPrompt="1"/>
          </p:nvPr>
        </p:nvSpPr>
        <p:spPr>
          <a:xfrm>
            <a:off x="9109046" y="4927922"/>
            <a:ext cx="2653417" cy="1307666"/>
          </a:xfrm>
        </p:spPr>
        <p:txBody>
          <a:bodyPr lIns="0" tIns="0" rIns="0" bIns="0"/>
          <a:lstStyle>
            <a:lvl1pPr marL="0" indent="0">
              <a:lnSpc>
                <a:spcPct val="100000"/>
              </a:lnSpc>
              <a:spcBef>
                <a:spcPts val="0"/>
              </a:spcBef>
              <a:spcAft>
                <a:spcPts val="784"/>
              </a:spcAft>
              <a:buNone/>
              <a:defRPr sz="1568">
                <a:solidFill>
                  <a:schemeClr val="accent1"/>
                </a:solidFill>
                <a:latin typeface="+mj-lt"/>
              </a:defRPr>
            </a:lvl1pPr>
            <a:lvl2pPr marL="0" marR="0" indent="0" algn="l" defTabSz="914367" rtl="0" eaLnBrk="1" fontAlgn="auto" latinLnBrk="0" hangingPunct="1">
              <a:lnSpc>
                <a:spcPct val="100000"/>
              </a:lnSpc>
              <a:spcBef>
                <a:spcPts val="0"/>
              </a:spcBef>
              <a:spcAft>
                <a:spcPts val="784"/>
              </a:spcAft>
              <a:buClrTx/>
              <a:buSzPct val="90000"/>
              <a:buFont typeface="Arial" panose="020B0604020202020204" pitchFamily="34" charset="0"/>
              <a:buNone/>
              <a:tabLst/>
              <a:defRPr sz="1568">
                <a:solidFill>
                  <a:srgbClr val="000000"/>
                </a:solidFill>
              </a:defRPr>
            </a:lvl2pPr>
            <a:lvl3pPr marL="448193" indent="0">
              <a:buNone/>
              <a:defRPr/>
            </a:lvl3pPr>
            <a:lvl4pPr marL="672290" indent="0">
              <a:buNone/>
              <a:defRPr/>
            </a:lvl4pPr>
            <a:lvl5pPr marL="896386" indent="0">
              <a:buNone/>
              <a:defRPr/>
            </a:lvl5pPr>
          </a:lstStyle>
          <a:p>
            <a:pPr lvl="0"/>
            <a:r>
              <a:rPr lang="en-US"/>
              <a:t>Paragraph title Segoe UI bold 16</a:t>
            </a:r>
          </a:p>
          <a:p>
            <a:pPr lvl="1"/>
            <a:r>
              <a:rPr lang="en-US"/>
              <a:t>Body copy Segoe Regular 16. </a:t>
            </a:r>
            <a:r>
              <a:rPr lang="en-US" err="1"/>
              <a:t>Cavorest</a:t>
            </a:r>
            <a:r>
              <a:rPr lang="en-US"/>
              <a:t> a </a:t>
            </a:r>
            <a:r>
              <a:rPr lang="en-US" err="1"/>
              <a:t>aut</a:t>
            </a:r>
            <a:r>
              <a:rPr lang="en-US"/>
              <a:t> arum quam id eat ape </a:t>
            </a:r>
            <a:r>
              <a:rPr lang="en-US" err="1"/>
              <a:t>est</a:t>
            </a:r>
            <a:r>
              <a:rPr lang="en-US"/>
              <a:t>, qui </a:t>
            </a:r>
            <a:r>
              <a:rPr lang="en-US" err="1"/>
              <a:t>sinc</a:t>
            </a:r>
            <a:r>
              <a:rPr lang="en-US"/>
              <a:t>.</a:t>
            </a:r>
          </a:p>
        </p:txBody>
      </p:sp>
    </p:spTree>
    <p:extLst>
      <p:ext uri="{BB962C8B-B14F-4D97-AF65-F5344CB8AC3E}">
        <p14:creationId xmlns:p14="http://schemas.microsoft.com/office/powerpoint/2010/main" val="2646606197"/>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title white">
    <p:spTree>
      <p:nvGrpSpPr>
        <p:cNvPr id="1" name=""/>
        <p:cNvGrpSpPr/>
        <p:nvPr/>
      </p:nvGrpSpPr>
      <p:grpSpPr>
        <a:xfrm>
          <a:off x="0" y="0"/>
          <a:ext cx="0" cy="0"/>
          <a:chOff x="0" y="0"/>
          <a:chExt cx="0" cy="0"/>
        </a:xfrm>
      </p:grpSpPr>
      <p:sp>
        <p:nvSpPr>
          <p:cNvPr id="36" name="Title 35"/>
          <p:cNvSpPr>
            <a:spLocks noGrp="1"/>
          </p:cNvSpPr>
          <p:nvPr>
            <p:ph type="title" hasCustomPrompt="1"/>
          </p:nvPr>
        </p:nvSpPr>
        <p:spPr>
          <a:xfrm>
            <a:off x="426425" y="1184319"/>
            <a:ext cx="7477989" cy="3535032"/>
          </a:xfrm>
          <a:noFill/>
        </p:spPr>
        <p:txBody>
          <a:bodyPr vert="horz" wrap="square" lIns="0" tIns="0" rIns="0" bIns="0" rtlCol="0" anchor="t" anchorCtr="0">
            <a:noAutofit/>
          </a:bodyPr>
          <a:lstStyle>
            <a:lvl1pPr>
              <a:lnSpc>
                <a:spcPct val="90000"/>
              </a:lnSpc>
              <a:defRPr lang="en-US" sz="5294" spc="-147" dirty="0">
                <a:solidFill>
                  <a:srgbClr val="000000"/>
                </a:solidFill>
              </a:defRPr>
            </a:lvl1pPr>
          </a:lstStyle>
          <a:p>
            <a:pPr marL="0" lvl="0">
              <a:lnSpc>
                <a:spcPts val="5490"/>
              </a:lnSpc>
            </a:pPr>
            <a:r>
              <a:rPr lang="en-US"/>
              <a:t>Section title</a:t>
            </a:r>
          </a:p>
        </p:txBody>
      </p:sp>
    </p:spTree>
    <p:extLst>
      <p:ext uri="{BB962C8B-B14F-4D97-AF65-F5344CB8AC3E}">
        <p14:creationId xmlns:p14="http://schemas.microsoft.com/office/powerpoint/2010/main" val="456947350"/>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title blue">
    <p:bg>
      <p:bgRef idx="1001">
        <a:schemeClr val="bg2"/>
      </p:bgRef>
    </p:bg>
    <p:spTree>
      <p:nvGrpSpPr>
        <p:cNvPr id="1" name=""/>
        <p:cNvGrpSpPr/>
        <p:nvPr/>
      </p:nvGrpSpPr>
      <p:grpSpPr>
        <a:xfrm>
          <a:off x="0" y="0"/>
          <a:ext cx="0" cy="0"/>
          <a:chOff x="0" y="0"/>
          <a:chExt cx="0" cy="0"/>
        </a:xfrm>
      </p:grpSpPr>
      <p:sp>
        <p:nvSpPr>
          <p:cNvPr id="3" name="Title 35">
            <a:extLst>
              <a:ext uri="{FF2B5EF4-FFF2-40B4-BE49-F238E27FC236}">
                <a16:creationId xmlns:a16="http://schemas.microsoft.com/office/drawing/2014/main" id="{51E9DCD3-357B-4AF7-BDD2-18E09F714F4A}"/>
              </a:ext>
            </a:extLst>
          </p:cNvPr>
          <p:cNvSpPr>
            <a:spLocks noGrp="1"/>
          </p:cNvSpPr>
          <p:nvPr>
            <p:ph type="title" hasCustomPrompt="1"/>
          </p:nvPr>
        </p:nvSpPr>
        <p:spPr>
          <a:xfrm>
            <a:off x="426425" y="1184319"/>
            <a:ext cx="7477989" cy="3535032"/>
          </a:xfrm>
          <a:noFill/>
        </p:spPr>
        <p:txBody>
          <a:bodyPr vert="horz" wrap="square" lIns="0" tIns="0" rIns="0" bIns="0" rtlCol="0" anchor="t" anchorCtr="0">
            <a:noAutofit/>
          </a:bodyPr>
          <a:lstStyle>
            <a:lvl1pPr>
              <a:lnSpc>
                <a:spcPct val="90000"/>
              </a:lnSpc>
              <a:defRPr lang="en-US" sz="5294" spc="-147" dirty="0">
                <a:solidFill>
                  <a:schemeClr val="tx2"/>
                </a:solidFill>
              </a:defRPr>
            </a:lvl1pPr>
          </a:lstStyle>
          <a:p>
            <a:pPr marL="0" lvl="0">
              <a:lnSpc>
                <a:spcPts val="5490"/>
              </a:lnSpc>
            </a:pPr>
            <a:r>
              <a:rPr lang="en-US"/>
              <a:t>Section title</a:t>
            </a:r>
          </a:p>
        </p:txBody>
      </p:sp>
    </p:spTree>
    <p:extLst>
      <p:ext uri="{BB962C8B-B14F-4D97-AF65-F5344CB8AC3E}">
        <p14:creationId xmlns:p14="http://schemas.microsoft.com/office/powerpoint/2010/main" val="2044933447"/>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hank you blue">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426425" y="1829711"/>
            <a:ext cx="7477989" cy="1473396"/>
          </a:xfrm>
          <a:noFill/>
        </p:spPr>
        <p:txBody>
          <a:bodyPr lIns="0" tIns="0" rIns="0" bIns="0" anchor="t" anchorCtr="0"/>
          <a:lstStyle>
            <a:lvl1pPr>
              <a:lnSpc>
                <a:spcPct val="100000"/>
              </a:lnSpc>
              <a:spcAft>
                <a:spcPts val="1274"/>
              </a:spcAft>
              <a:defRPr sz="2549" spc="-147" baseline="0">
                <a:solidFill>
                  <a:schemeClr val="bg2"/>
                </a:solidFill>
              </a:defRPr>
            </a:lvl1pPr>
          </a:lstStyle>
          <a:p>
            <a:r>
              <a:rPr lang="en-US"/>
              <a:t>Thank you.</a:t>
            </a:r>
          </a:p>
        </p:txBody>
      </p:sp>
      <p:sp>
        <p:nvSpPr>
          <p:cNvPr id="4" name="Text Box 3">
            <a:extLst>
              <a:ext uri="{FF2B5EF4-FFF2-40B4-BE49-F238E27FC236}">
                <a16:creationId xmlns:a16="http://schemas.microsoft.com/office/drawing/2014/main" id="{1688BD8D-D2E4-4DFC-B39C-D55D84362354}"/>
              </a:ext>
            </a:extLst>
          </p:cNvPr>
          <p:cNvSpPr txBox="1">
            <a:spLocks noChangeArrowheads="1"/>
          </p:cNvSpPr>
          <p:nvPr userDrawn="1"/>
        </p:nvSpPr>
        <p:spPr bwMode="blackWhite">
          <a:xfrm>
            <a:off x="428494" y="6318462"/>
            <a:ext cx="4482124" cy="105619"/>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a:solidFill>
                  <a:schemeClr val="bg2"/>
                </a:solidFill>
                <a:cs typeface="Segoe UI" pitchFamily="34" charset="0"/>
              </a:rPr>
              <a:t>© Copyright Microsoft Corporation. All rights reserved. </a:t>
            </a:r>
          </a:p>
        </p:txBody>
      </p:sp>
      <p:pic>
        <p:nvPicPr>
          <p:cNvPr id="5" name="Picture 4">
            <a:extLst>
              <a:ext uri="{FF2B5EF4-FFF2-40B4-BE49-F238E27FC236}">
                <a16:creationId xmlns:a16="http://schemas.microsoft.com/office/drawing/2014/main" id="{C36BDE7C-8AED-4A87-A171-2EB14E4B9838}"/>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428681" y="437140"/>
            <a:ext cx="896425" cy="191140"/>
          </a:xfrm>
          <a:prstGeom prst="rect">
            <a:avLst/>
          </a:prstGeom>
        </p:spPr>
      </p:pic>
    </p:spTree>
    <p:extLst>
      <p:ext uri="{BB962C8B-B14F-4D97-AF65-F5344CB8AC3E}">
        <p14:creationId xmlns:p14="http://schemas.microsoft.com/office/powerpoint/2010/main" val="365895474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Photo layout 1">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87B2D435-6763-4273-8B58-EEB87561755F}"/>
              </a:ext>
            </a:extLst>
          </p:cNvPr>
          <p:cNvSpPr>
            <a:spLocks noGrp="1"/>
          </p:cNvSpPr>
          <p:nvPr>
            <p:ph type="title" hasCustomPrompt="1"/>
          </p:nvPr>
        </p:nvSpPr>
        <p:spPr>
          <a:xfrm>
            <a:off x="426425" y="440495"/>
            <a:ext cx="5555966" cy="758022"/>
          </a:xfrm>
          <a:prstGeom prst="rect">
            <a:avLst/>
          </a:prstGeom>
        </p:spPr>
        <p:txBody>
          <a:bodyPr vert="horz" wrap="square" lIns="0" tIns="164592" rIns="0" bIns="0" rtlCol="0" anchor="t">
            <a:noAutofit/>
          </a:bodyPr>
          <a:lstStyle>
            <a:lvl1pPr>
              <a:defRPr/>
            </a:lvl1pPr>
          </a:lstStyle>
          <a:p>
            <a:r>
              <a:rPr lang="en-US"/>
              <a:t>Photo layout 1</a:t>
            </a:r>
          </a:p>
        </p:txBody>
      </p:sp>
      <p:sp>
        <p:nvSpPr>
          <p:cNvPr id="6" name="Text Placeholder 3">
            <a:extLst>
              <a:ext uri="{FF2B5EF4-FFF2-40B4-BE49-F238E27FC236}">
                <a16:creationId xmlns:a16="http://schemas.microsoft.com/office/drawing/2014/main" id="{71CE2F71-BF91-4E7B-BDE5-A747EFEFF88C}"/>
              </a:ext>
            </a:extLst>
          </p:cNvPr>
          <p:cNvSpPr>
            <a:spLocks noGrp="1"/>
          </p:cNvSpPr>
          <p:nvPr>
            <p:ph type="body" sz="quarter" idx="11" hasCustomPrompt="1"/>
          </p:nvPr>
        </p:nvSpPr>
        <p:spPr>
          <a:xfrm>
            <a:off x="426424" y="2145841"/>
            <a:ext cx="5555965" cy="2573509"/>
          </a:xfrm>
        </p:spPr>
        <p:txBody>
          <a:bodyPr wrap="square" lIns="0" tIns="0" rIns="0" bIns="0">
            <a:noAutofit/>
          </a:bodyPr>
          <a:lstStyle>
            <a:lvl1pPr marL="0" marR="0" indent="0" algn="l" defTabSz="914367" rtl="0" eaLnBrk="1" fontAlgn="auto" latinLnBrk="0" hangingPunct="1">
              <a:lnSpc>
                <a:spcPct val="90000"/>
              </a:lnSpc>
              <a:spcBef>
                <a:spcPts val="0"/>
              </a:spcBef>
              <a:spcAft>
                <a:spcPts val="2549"/>
              </a:spcAft>
              <a:buClrTx/>
              <a:buSzPct val="90000"/>
              <a:buFont typeface="Wingdings" panose="05000000000000000000" pitchFamily="2" charset="2"/>
              <a:buNone/>
              <a:tabLst/>
              <a:defRPr sz="2549" b="0" i="0">
                <a:solidFill>
                  <a:srgbClr val="000000"/>
                </a:solidFill>
                <a:latin typeface="+mn-lt"/>
              </a:defRPr>
            </a:lvl1pPr>
            <a:lvl2pPr marL="224097" marR="0" indent="0" algn="l" defTabSz="914367" rtl="0" eaLnBrk="1" fontAlgn="auto" latinLnBrk="0" hangingPunct="1">
              <a:lnSpc>
                <a:spcPct val="90000"/>
              </a:lnSpc>
              <a:spcBef>
                <a:spcPct val="20000"/>
              </a:spcBef>
              <a:spcAft>
                <a:spcPts val="0"/>
              </a:spcAft>
              <a:buClrTx/>
              <a:buSzPct val="90000"/>
              <a:buFont typeface="Wingdings" panose="05000000000000000000" pitchFamily="2" charset="2"/>
              <a:buNone/>
              <a:tabLst/>
              <a:defRPr/>
            </a:lvl2pPr>
            <a:lvl3pPr marL="448193" indent="0">
              <a:buNone/>
              <a:defRPr/>
            </a:lvl3pPr>
            <a:lvl4pPr marL="672290" indent="0">
              <a:buNone/>
              <a:defRPr/>
            </a:lvl4pPr>
            <a:lvl5pPr marL="896386" indent="0">
              <a:buNone/>
              <a:defRPr/>
            </a:lvl5pPr>
          </a:lstStyle>
          <a:p>
            <a:pPr lvl="0"/>
            <a:r>
              <a:rPr lang="pt-BR"/>
              <a:t>Subhead Segoe UI 26pt</a:t>
            </a:r>
          </a:p>
          <a:p>
            <a:pPr lvl="0"/>
            <a:r>
              <a:rPr lang="pt-BR"/>
              <a:t>Subhead Segoe UI 26pt</a:t>
            </a:r>
          </a:p>
          <a:p>
            <a:pPr lvl="0"/>
            <a:r>
              <a:rPr lang="pt-BR"/>
              <a:t>Subhead Segoe UI 26pt</a:t>
            </a:r>
          </a:p>
        </p:txBody>
      </p:sp>
    </p:spTree>
    <p:extLst>
      <p:ext uri="{BB962C8B-B14F-4D97-AF65-F5344CB8AC3E}">
        <p14:creationId xmlns:p14="http://schemas.microsoft.com/office/powerpoint/2010/main" val="2893404912"/>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Graphic layout: three columns graphic and text">
    <p:spTree>
      <p:nvGrpSpPr>
        <p:cNvPr id="1" name=""/>
        <p:cNvGrpSpPr/>
        <p:nvPr/>
      </p:nvGrpSpPr>
      <p:grpSpPr>
        <a:xfrm>
          <a:off x="0" y="0"/>
          <a:ext cx="0" cy="0"/>
          <a:chOff x="0" y="0"/>
          <a:chExt cx="0" cy="0"/>
        </a:xfrm>
      </p:grpSpPr>
      <p:sp>
        <p:nvSpPr>
          <p:cNvPr id="12" name="Title Placeholder 1">
            <a:extLst>
              <a:ext uri="{FF2B5EF4-FFF2-40B4-BE49-F238E27FC236}">
                <a16:creationId xmlns:a16="http://schemas.microsoft.com/office/drawing/2014/main" id="{FC74E6E5-9DAD-4A14-9C20-D9F9150874FE}"/>
              </a:ext>
            </a:extLst>
          </p:cNvPr>
          <p:cNvSpPr>
            <a:spLocks noGrp="1"/>
          </p:cNvSpPr>
          <p:nvPr>
            <p:ph type="title" hasCustomPrompt="1"/>
          </p:nvPr>
        </p:nvSpPr>
        <p:spPr>
          <a:xfrm>
            <a:off x="426424" y="440496"/>
            <a:ext cx="11336039" cy="739343"/>
          </a:xfrm>
          <a:prstGeom prst="rect">
            <a:avLst/>
          </a:prstGeom>
        </p:spPr>
        <p:txBody>
          <a:bodyPr vert="horz" wrap="square" lIns="0" tIns="164592" rIns="0" bIns="0" rtlCol="0" anchor="t">
            <a:noAutofit/>
          </a:bodyPr>
          <a:lstStyle>
            <a:lvl1pPr>
              <a:defRPr>
                <a:solidFill>
                  <a:srgbClr val="000000"/>
                </a:solidFill>
              </a:defRPr>
            </a:lvl1pPr>
          </a:lstStyle>
          <a:p>
            <a:r>
              <a:rPr lang="en-US"/>
              <a:t>Graphic layout: three columns graphic and text</a:t>
            </a:r>
          </a:p>
        </p:txBody>
      </p:sp>
      <p:sp>
        <p:nvSpPr>
          <p:cNvPr id="13" name="Text Placeholder 4">
            <a:extLst>
              <a:ext uri="{FF2B5EF4-FFF2-40B4-BE49-F238E27FC236}">
                <a16:creationId xmlns:a16="http://schemas.microsoft.com/office/drawing/2014/main" id="{FB052D15-67DF-4845-863F-FEC853640A9E}"/>
              </a:ext>
            </a:extLst>
          </p:cNvPr>
          <p:cNvSpPr>
            <a:spLocks noGrp="1"/>
          </p:cNvSpPr>
          <p:nvPr>
            <p:ph type="body" sz="quarter" idx="11" hasCustomPrompt="1"/>
          </p:nvPr>
        </p:nvSpPr>
        <p:spPr>
          <a:xfrm>
            <a:off x="426426" y="4927922"/>
            <a:ext cx="3627659" cy="1307666"/>
          </a:xfrm>
        </p:spPr>
        <p:txBody>
          <a:bodyPr lIns="0" tIns="0" rIns="0" bIns="0"/>
          <a:lstStyle>
            <a:lvl1pPr marL="0" indent="0">
              <a:lnSpc>
                <a:spcPct val="100000"/>
              </a:lnSpc>
              <a:spcBef>
                <a:spcPts val="0"/>
              </a:spcBef>
              <a:spcAft>
                <a:spcPts val="784"/>
              </a:spcAft>
              <a:buNone/>
              <a:defRPr sz="1567" b="1">
                <a:solidFill>
                  <a:schemeClr val="accent1"/>
                </a:solidFill>
                <a:latin typeface="+mj-lt"/>
              </a:defRPr>
            </a:lvl1pPr>
            <a:lvl2pPr marL="0" marR="0" indent="0" algn="l" defTabSz="914192" rtl="0" eaLnBrk="1" fontAlgn="auto" latinLnBrk="0" hangingPunct="1">
              <a:lnSpc>
                <a:spcPct val="100000"/>
              </a:lnSpc>
              <a:spcBef>
                <a:spcPts val="0"/>
              </a:spcBef>
              <a:spcAft>
                <a:spcPts val="784"/>
              </a:spcAft>
              <a:buClrTx/>
              <a:buSzPct val="90000"/>
              <a:buFont typeface="Arial" panose="020B0604020202020204" pitchFamily="34" charset="0"/>
              <a:buNone/>
              <a:tabLst/>
              <a:defRPr sz="1567">
                <a:solidFill>
                  <a:srgbClr val="000000"/>
                </a:solidFill>
              </a:defRPr>
            </a:lvl2pPr>
            <a:lvl3pPr marL="448107" indent="0">
              <a:buNone/>
              <a:defRPr/>
            </a:lvl3pPr>
            <a:lvl4pPr marL="672161" indent="0">
              <a:buNone/>
              <a:defRPr/>
            </a:lvl4pPr>
            <a:lvl5pPr marL="896214" indent="0">
              <a:buNone/>
              <a:defRPr/>
            </a:lvl5pPr>
          </a:lstStyle>
          <a:p>
            <a:pPr lvl="0"/>
            <a:r>
              <a:rPr lang="en-US"/>
              <a:t>Paragraph title Segoe UI </a:t>
            </a:r>
            <a:r>
              <a:rPr lang="en-US" err="1"/>
              <a:t>Semibold</a:t>
            </a:r>
            <a:r>
              <a:rPr lang="en-US"/>
              <a:t> 16</a:t>
            </a:r>
          </a:p>
          <a:p>
            <a:pPr lvl="1"/>
            <a:r>
              <a:rPr lang="en-US"/>
              <a:t>Body copy Segoe Regular 16.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a:t>
            </a:r>
            <a:r>
              <a:rPr lang="en-US"/>
              <a:t>, </a:t>
            </a:r>
            <a:r>
              <a:rPr lang="en-US" err="1"/>
              <a:t>omnimusdae</a:t>
            </a:r>
            <a:r>
              <a:rPr lang="en-US"/>
              <a:t>. </a:t>
            </a:r>
            <a:r>
              <a:rPr lang="en-US" err="1"/>
              <a:t>Boribus</a:t>
            </a:r>
            <a:r>
              <a:rPr lang="en-US"/>
              <a:t> </a:t>
            </a:r>
            <a:r>
              <a:rPr lang="en-US" err="1"/>
              <a:t>sinctius</a:t>
            </a:r>
            <a:r>
              <a:rPr lang="en-US"/>
              <a:t> </a:t>
            </a:r>
            <a:r>
              <a:rPr lang="en-US" err="1"/>
              <a:t>nimaxime</a:t>
            </a:r>
            <a:r>
              <a:rPr lang="en-US"/>
              <a:t> sit et </a:t>
            </a:r>
            <a:r>
              <a:rPr lang="en-US" err="1"/>
              <a:t>nonsequibus</a:t>
            </a:r>
            <a:r>
              <a:rPr lang="en-US"/>
              <a:t> </a:t>
            </a:r>
            <a:r>
              <a:rPr lang="en-US" err="1"/>
              <a:t>dollendis</a:t>
            </a:r>
            <a:r>
              <a:rPr lang="en-US"/>
              <a:t> as </a:t>
            </a:r>
            <a:r>
              <a:rPr lang="en-US" err="1"/>
              <a:t>autestiat</a:t>
            </a:r>
            <a:r>
              <a:rPr lang="en-US"/>
              <a:t>.</a:t>
            </a:r>
          </a:p>
        </p:txBody>
      </p:sp>
      <p:sp>
        <p:nvSpPr>
          <p:cNvPr id="14" name="Text Placeholder 4">
            <a:extLst>
              <a:ext uri="{FF2B5EF4-FFF2-40B4-BE49-F238E27FC236}">
                <a16:creationId xmlns:a16="http://schemas.microsoft.com/office/drawing/2014/main" id="{A5ECD4C7-D870-4003-9FA8-85EBBED87940}"/>
              </a:ext>
            </a:extLst>
          </p:cNvPr>
          <p:cNvSpPr>
            <a:spLocks noGrp="1"/>
          </p:cNvSpPr>
          <p:nvPr>
            <p:ph type="body" sz="quarter" idx="12" hasCustomPrompt="1"/>
          </p:nvPr>
        </p:nvSpPr>
        <p:spPr>
          <a:xfrm>
            <a:off x="4281363" y="4927922"/>
            <a:ext cx="3623051" cy="1307666"/>
          </a:xfrm>
        </p:spPr>
        <p:txBody>
          <a:bodyPr lIns="0" tIns="0" rIns="0" bIns="0"/>
          <a:lstStyle>
            <a:lvl1pPr marL="0" indent="0">
              <a:lnSpc>
                <a:spcPct val="100000"/>
              </a:lnSpc>
              <a:spcBef>
                <a:spcPts val="0"/>
              </a:spcBef>
              <a:spcAft>
                <a:spcPts val="784"/>
              </a:spcAft>
              <a:buNone/>
              <a:defRPr sz="1567">
                <a:solidFill>
                  <a:schemeClr val="accent1"/>
                </a:solidFill>
                <a:latin typeface="+mj-lt"/>
              </a:defRPr>
            </a:lvl1pPr>
            <a:lvl2pPr marL="0" marR="0" indent="0" algn="l" defTabSz="914192" rtl="0" eaLnBrk="1" fontAlgn="auto" latinLnBrk="0" hangingPunct="1">
              <a:lnSpc>
                <a:spcPct val="100000"/>
              </a:lnSpc>
              <a:spcBef>
                <a:spcPts val="0"/>
              </a:spcBef>
              <a:spcAft>
                <a:spcPts val="784"/>
              </a:spcAft>
              <a:buClrTx/>
              <a:buSzPct val="90000"/>
              <a:buFont typeface="Arial" panose="020B0604020202020204" pitchFamily="34" charset="0"/>
              <a:buNone/>
              <a:tabLst/>
              <a:defRPr sz="1567">
                <a:solidFill>
                  <a:srgbClr val="000000"/>
                </a:solidFill>
              </a:defRPr>
            </a:lvl2pPr>
            <a:lvl3pPr marL="448107" indent="0">
              <a:buNone/>
              <a:defRPr/>
            </a:lvl3pPr>
            <a:lvl4pPr marL="672161" indent="0">
              <a:buNone/>
              <a:defRPr/>
            </a:lvl4pPr>
            <a:lvl5pPr marL="896214" indent="0">
              <a:buNone/>
              <a:defRPr/>
            </a:lvl5pPr>
          </a:lstStyle>
          <a:p>
            <a:pPr lvl="0"/>
            <a:r>
              <a:rPr lang="en-US"/>
              <a:t>Paragraph title Segoe UI </a:t>
            </a:r>
            <a:r>
              <a:rPr lang="en-US" err="1"/>
              <a:t>Semibold</a:t>
            </a:r>
            <a:r>
              <a:rPr lang="en-US"/>
              <a:t> 16</a:t>
            </a:r>
          </a:p>
          <a:p>
            <a:pPr lvl="1"/>
            <a:r>
              <a:rPr lang="en-US"/>
              <a:t>Body copy Segoe Regular 16.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a:t>
            </a:r>
            <a:r>
              <a:rPr lang="en-US"/>
              <a:t>, </a:t>
            </a:r>
            <a:r>
              <a:rPr lang="en-US" err="1"/>
              <a:t>omnimusdae</a:t>
            </a:r>
            <a:r>
              <a:rPr lang="en-US"/>
              <a:t>. </a:t>
            </a:r>
            <a:r>
              <a:rPr lang="en-US" err="1"/>
              <a:t>Boribus</a:t>
            </a:r>
            <a:r>
              <a:rPr lang="en-US"/>
              <a:t> </a:t>
            </a:r>
            <a:r>
              <a:rPr lang="en-US" err="1"/>
              <a:t>sinctius</a:t>
            </a:r>
            <a:r>
              <a:rPr lang="en-US"/>
              <a:t> </a:t>
            </a:r>
            <a:r>
              <a:rPr lang="en-US" err="1"/>
              <a:t>nimaxime</a:t>
            </a:r>
            <a:r>
              <a:rPr lang="en-US"/>
              <a:t> sit et </a:t>
            </a:r>
            <a:r>
              <a:rPr lang="en-US" err="1"/>
              <a:t>nonsequibus</a:t>
            </a:r>
            <a:r>
              <a:rPr lang="en-US"/>
              <a:t> </a:t>
            </a:r>
            <a:r>
              <a:rPr lang="en-US" err="1"/>
              <a:t>dollendis</a:t>
            </a:r>
            <a:r>
              <a:rPr lang="en-US"/>
              <a:t> as </a:t>
            </a:r>
            <a:r>
              <a:rPr lang="en-US" err="1"/>
              <a:t>autestiat</a:t>
            </a:r>
            <a:r>
              <a:rPr lang="en-US"/>
              <a:t>.</a:t>
            </a:r>
          </a:p>
        </p:txBody>
      </p:sp>
      <p:sp>
        <p:nvSpPr>
          <p:cNvPr id="15" name="Text Placeholder 4">
            <a:extLst>
              <a:ext uri="{FF2B5EF4-FFF2-40B4-BE49-F238E27FC236}">
                <a16:creationId xmlns:a16="http://schemas.microsoft.com/office/drawing/2014/main" id="{AA9BECBA-B2CC-4EE6-B54E-9ADB03EB2595}"/>
              </a:ext>
            </a:extLst>
          </p:cNvPr>
          <p:cNvSpPr>
            <a:spLocks noGrp="1"/>
          </p:cNvSpPr>
          <p:nvPr>
            <p:ph type="body" sz="quarter" idx="13" hasCustomPrompt="1"/>
          </p:nvPr>
        </p:nvSpPr>
        <p:spPr>
          <a:xfrm>
            <a:off x="8126964" y="4927922"/>
            <a:ext cx="3635502" cy="1307666"/>
          </a:xfrm>
        </p:spPr>
        <p:txBody>
          <a:bodyPr lIns="0" tIns="0" rIns="0" bIns="0"/>
          <a:lstStyle>
            <a:lvl1pPr marL="0" indent="0">
              <a:lnSpc>
                <a:spcPct val="100000"/>
              </a:lnSpc>
              <a:spcBef>
                <a:spcPts val="0"/>
              </a:spcBef>
              <a:spcAft>
                <a:spcPts val="784"/>
              </a:spcAft>
              <a:buNone/>
              <a:defRPr sz="1567">
                <a:solidFill>
                  <a:schemeClr val="accent1"/>
                </a:solidFill>
                <a:latin typeface="+mj-lt"/>
              </a:defRPr>
            </a:lvl1pPr>
            <a:lvl2pPr marL="0" marR="0" indent="0" algn="l" defTabSz="914192" rtl="0" eaLnBrk="1" fontAlgn="auto" latinLnBrk="0" hangingPunct="1">
              <a:lnSpc>
                <a:spcPct val="100000"/>
              </a:lnSpc>
              <a:spcBef>
                <a:spcPts val="0"/>
              </a:spcBef>
              <a:spcAft>
                <a:spcPts val="784"/>
              </a:spcAft>
              <a:buClrTx/>
              <a:buSzPct val="90000"/>
              <a:buFont typeface="Arial" panose="020B0604020202020204" pitchFamily="34" charset="0"/>
              <a:buNone/>
              <a:tabLst/>
              <a:defRPr sz="1567">
                <a:solidFill>
                  <a:srgbClr val="000000"/>
                </a:solidFill>
              </a:defRPr>
            </a:lvl2pPr>
            <a:lvl3pPr marL="448107" indent="0">
              <a:buNone/>
              <a:defRPr/>
            </a:lvl3pPr>
            <a:lvl4pPr marL="672161" indent="0">
              <a:buNone/>
              <a:defRPr/>
            </a:lvl4pPr>
            <a:lvl5pPr marL="896214" indent="0">
              <a:buNone/>
              <a:defRPr/>
            </a:lvl5pPr>
          </a:lstStyle>
          <a:p>
            <a:pPr lvl="0"/>
            <a:r>
              <a:rPr lang="en-US"/>
              <a:t>Paragraph title Segoe UI bold 16</a:t>
            </a:r>
          </a:p>
          <a:p>
            <a:pPr lvl="1"/>
            <a:r>
              <a:rPr lang="en-US"/>
              <a:t>Body copy Segoe Regular 16.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a:t>
            </a:r>
            <a:r>
              <a:rPr lang="en-US"/>
              <a:t>, </a:t>
            </a:r>
            <a:r>
              <a:rPr lang="en-US" err="1"/>
              <a:t>omnimusdae</a:t>
            </a:r>
            <a:r>
              <a:rPr lang="en-US"/>
              <a:t>. </a:t>
            </a:r>
            <a:r>
              <a:rPr lang="en-US" err="1"/>
              <a:t>Boribus</a:t>
            </a:r>
            <a:r>
              <a:rPr lang="en-US"/>
              <a:t> </a:t>
            </a:r>
            <a:r>
              <a:rPr lang="en-US" err="1"/>
              <a:t>sinctius</a:t>
            </a:r>
            <a:r>
              <a:rPr lang="en-US"/>
              <a:t> </a:t>
            </a:r>
            <a:r>
              <a:rPr lang="en-US" err="1"/>
              <a:t>nimaxime</a:t>
            </a:r>
            <a:r>
              <a:rPr lang="en-US"/>
              <a:t> sit et </a:t>
            </a:r>
            <a:r>
              <a:rPr lang="en-US" err="1"/>
              <a:t>nonsequibus</a:t>
            </a:r>
            <a:r>
              <a:rPr lang="en-US"/>
              <a:t> </a:t>
            </a:r>
            <a:r>
              <a:rPr lang="en-US" err="1"/>
              <a:t>dollendis</a:t>
            </a:r>
            <a:r>
              <a:rPr lang="en-US"/>
              <a:t> as </a:t>
            </a:r>
            <a:r>
              <a:rPr lang="en-US" err="1"/>
              <a:t>autestiat</a:t>
            </a:r>
            <a:r>
              <a:rPr lang="en-US"/>
              <a:t>.</a:t>
            </a:r>
          </a:p>
        </p:txBody>
      </p:sp>
    </p:spTree>
    <p:extLst>
      <p:ext uri="{BB962C8B-B14F-4D97-AF65-F5344CB8AC3E}">
        <p14:creationId xmlns:p14="http://schemas.microsoft.com/office/powerpoint/2010/main" val="2410497291"/>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82D53EF-379E-4348-B193-51A225E179DE}" type="slidenum">
              <a:rPr lang="en-US" smtClean="0"/>
              <a:t>‹#›</a:t>
            </a:fld>
            <a:endParaRPr lang="en-US"/>
          </a:p>
        </p:txBody>
      </p:sp>
    </p:spTree>
    <p:extLst>
      <p:ext uri="{BB962C8B-B14F-4D97-AF65-F5344CB8AC3E}">
        <p14:creationId xmlns:p14="http://schemas.microsoft.com/office/powerpoint/2010/main" val="21408364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Section title blue">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62684651"/>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277490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5947785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8829656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496576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4818077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7035248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0942107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107357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5734433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5417675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3064985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4199763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MCAPS Logo">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27415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Blank 5">
    <p:bg>
      <p:bgPr>
        <a:blipFill dpi="0" rotWithShape="1">
          <a:blip r:embed="rId2">
            <a:lum/>
          </a:blip>
          <a:srcRect/>
          <a:stretch>
            <a:fillRect t="-7000" b="-7000"/>
          </a:stretch>
        </a:blip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6B15DBD-1404-5599-4352-54E4640D8E34}"/>
              </a:ext>
            </a:extLst>
          </p:cNvPr>
          <p:cNvSpPr>
            <a:spLocks noGrp="1"/>
          </p:cNvSpPr>
          <p:nvPr>
            <p:ph type="title"/>
          </p:nvPr>
        </p:nvSpPr>
        <p:spPr>
          <a:xfrm>
            <a:off x="584200" y="457200"/>
            <a:ext cx="5508419" cy="433965"/>
          </a:xfrm>
        </p:spPr>
        <p:txBody>
          <a:bodyPr tIns="64008"/>
          <a:lstStyle>
            <a:lvl1pPr>
              <a:defRPr sz="2400" spc="0">
                <a:latin typeface="+mj-lt"/>
                <a:cs typeface="Segoe Sans Display" pitchFamily="2" charset="0"/>
              </a:defRPr>
            </a:lvl1pPr>
          </a:lstStyle>
          <a:p>
            <a:r>
              <a:rPr lang="en-US"/>
              <a:t>Click to edit Master title style</a:t>
            </a:r>
          </a:p>
        </p:txBody>
      </p:sp>
    </p:spTree>
    <p:extLst>
      <p:ext uri="{BB962C8B-B14F-4D97-AF65-F5344CB8AC3E}">
        <p14:creationId xmlns:p14="http://schemas.microsoft.com/office/powerpoint/2010/main" val="52999271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83F7F-0DB8-8B3B-2954-2F0C861E438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DF23798-84E0-BEB9-EC26-6B379386201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820D27A-2053-3DFE-7F63-F99B4924A62F}"/>
              </a:ext>
            </a:extLst>
          </p:cNvPr>
          <p:cNvSpPr>
            <a:spLocks noGrp="1"/>
          </p:cNvSpPr>
          <p:nvPr>
            <p:ph type="dt" sz="half" idx="10"/>
          </p:nvPr>
        </p:nvSpPr>
        <p:spPr/>
        <p:txBody>
          <a:bodyPr/>
          <a:lstStyle/>
          <a:p>
            <a:fld id="{42BA38D1-E4C1-4454-A3E5-8863343597FA}" type="datetimeFigureOut">
              <a:rPr lang="en-IN" smtClean="0"/>
              <a:t>31-08-2026</a:t>
            </a:fld>
            <a:endParaRPr lang="en-IN"/>
          </a:p>
        </p:txBody>
      </p:sp>
      <p:sp>
        <p:nvSpPr>
          <p:cNvPr id="5" name="Footer Placeholder 4">
            <a:extLst>
              <a:ext uri="{FF2B5EF4-FFF2-40B4-BE49-F238E27FC236}">
                <a16:creationId xmlns:a16="http://schemas.microsoft.com/office/drawing/2014/main" id="{5AF26B13-B831-B8EE-AC6B-9B7729AE6F8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301F3F4-09E2-7863-4A71-46C748016FC6}"/>
              </a:ext>
            </a:extLst>
          </p:cNvPr>
          <p:cNvSpPr>
            <a:spLocks noGrp="1"/>
          </p:cNvSpPr>
          <p:nvPr>
            <p:ph type="sldNum" sz="quarter" idx="12"/>
          </p:nvPr>
        </p:nvSpPr>
        <p:spPr/>
        <p:txBody>
          <a:bodyPr/>
          <a:lstStyle/>
          <a:p>
            <a:fld id="{11402B53-CE29-4347-9E10-38A305D69B82}" type="slidenum">
              <a:rPr lang="en-IN" smtClean="0"/>
              <a:t>‹#›</a:t>
            </a:fld>
            <a:endParaRPr lang="en-IN"/>
          </a:p>
        </p:txBody>
      </p:sp>
    </p:spTree>
    <p:extLst>
      <p:ext uri="{BB962C8B-B14F-4D97-AF65-F5344CB8AC3E}">
        <p14:creationId xmlns:p14="http://schemas.microsoft.com/office/powerpoint/2010/main" val="7519327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58325-30DE-69C9-C5BD-67432748BBA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8377FE2-66B5-9756-ECBF-A3A6B6F4954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34FBBEE-CA65-6A1C-26DD-EE261F6EEAE6}"/>
              </a:ext>
            </a:extLst>
          </p:cNvPr>
          <p:cNvSpPr>
            <a:spLocks noGrp="1"/>
          </p:cNvSpPr>
          <p:nvPr>
            <p:ph type="dt" sz="half" idx="10"/>
          </p:nvPr>
        </p:nvSpPr>
        <p:spPr/>
        <p:txBody>
          <a:bodyPr/>
          <a:lstStyle/>
          <a:p>
            <a:fld id="{42BA38D1-E4C1-4454-A3E5-8863343597FA}" type="datetimeFigureOut">
              <a:rPr lang="en-IN" smtClean="0"/>
              <a:t>31-08-2026</a:t>
            </a:fld>
            <a:endParaRPr lang="en-IN"/>
          </a:p>
        </p:txBody>
      </p:sp>
      <p:sp>
        <p:nvSpPr>
          <p:cNvPr id="5" name="Footer Placeholder 4">
            <a:extLst>
              <a:ext uri="{FF2B5EF4-FFF2-40B4-BE49-F238E27FC236}">
                <a16:creationId xmlns:a16="http://schemas.microsoft.com/office/drawing/2014/main" id="{8FD98D99-983C-F767-3F27-8AB82FA14EB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9B5A91-C2AC-D096-8181-361FD684CE48}"/>
              </a:ext>
            </a:extLst>
          </p:cNvPr>
          <p:cNvSpPr>
            <a:spLocks noGrp="1"/>
          </p:cNvSpPr>
          <p:nvPr>
            <p:ph type="sldNum" sz="quarter" idx="12"/>
          </p:nvPr>
        </p:nvSpPr>
        <p:spPr/>
        <p:txBody>
          <a:bodyPr/>
          <a:lstStyle/>
          <a:p>
            <a:fld id="{11402B53-CE29-4347-9E10-38A305D69B82}" type="slidenum">
              <a:rPr lang="en-IN" smtClean="0"/>
              <a:t>‹#›</a:t>
            </a:fld>
            <a:endParaRPr lang="en-IN"/>
          </a:p>
        </p:txBody>
      </p:sp>
    </p:spTree>
    <p:extLst>
      <p:ext uri="{BB962C8B-B14F-4D97-AF65-F5344CB8AC3E}">
        <p14:creationId xmlns:p14="http://schemas.microsoft.com/office/powerpoint/2010/main" val="397808680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39E56-F6B2-AFF5-FA74-C99188B9D9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7A3F7AE-AE52-E158-7E0C-CBD1EF30AD5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FD603DF-86EF-D2E6-6815-D9B4FB721AF9}"/>
              </a:ext>
            </a:extLst>
          </p:cNvPr>
          <p:cNvSpPr>
            <a:spLocks noGrp="1"/>
          </p:cNvSpPr>
          <p:nvPr>
            <p:ph type="dt" sz="half" idx="10"/>
          </p:nvPr>
        </p:nvSpPr>
        <p:spPr/>
        <p:txBody>
          <a:bodyPr/>
          <a:lstStyle/>
          <a:p>
            <a:fld id="{42BA38D1-E4C1-4454-A3E5-8863343597FA}" type="datetimeFigureOut">
              <a:rPr lang="en-IN" smtClean="0"/>
              <a:t>31-08-2026</a:t>
            </a:fld>
            <a:endParaRPr lang="en-IN"/>
          </a:p>
        </p:txBody>
      </p:sp>
      <p:sp>
        <p:nvSpPr>
          <p:cNvPr id="5" name="Footer Placeholder 4">
            <a:extLst>
              <a:ext uri="{FF2B5EF4-FFF2-40B4-BE49-F238E27FC236}">
                <a16:creationId xmlns:a16="http://schemas.microsoft.com/office/drawing/2014/main" id="{A769B420-AC93-B384-833E-340FBDD1732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B3BDFCF-1F8E-BAB1-C0F7-81E0AF3072A0}"/>
              </a:ext>
            </a:extLst>
          </p:cNvPr>
          <p:cNvSpPr>
            <a:spLocks noGrp="1"/>
          </p:cNvSpPr>
          <p:nvPr>
            <p:ph type="sldNum" sz="quarter" idx="12"/>
          </p:nvPr>
        </p:nvSpPr>
        <p:spPr/>
        <p:txBody>
          <a:bodyPr/>
          <a:lstStyle/>
          <a:p>
            <a:fld id="{11402B53-CE29-4347-9E10-38A305D69B82}" type="slidenum">
              <a:rPr lang="en-IN" smtClean="0"/>
              <a:t>‹#›</a:t>
            </a:fld>
            <a:endParaRPr lang="en-IN"/>
          </a:p>
        </p:txBody>
      </p:sp>
    </p:spTree>
    <p:extLst>
      <p:ext uri="{BB962C8B-B14F-4D97-AF65-F5344CB8AC3E}">
        <p14:creationId xmlns:p14="http://schemas.microsoft.com/office/powerpoint/2010/main" val="165933344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E9386-EB90-8F42-58CB-89C25DE0CBE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B19FF21-9752-2A75-B7C2-4781DC7BF0A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C8E3C9F-CDEF-2A8E-11D3-54DEA2C16DF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5AF8134-405F-1753-CE3F-1163613A3D4B}"/>
              </a:ext>
            </a:extLst>
          </p:cNvPr>
          <p:cNvSpPr>
            <a:spLocks noGrp="1"/>
          </p:cNvSpPr>
          <p:nvPr>
            <p:ph type="dt" sz="half" idx="10"/>
          </p:nvPr>
        </p:nvSpPr>
        <p:spPr/>
        <p:txBody>
          <a:bodyPr/>
          <a:lstStyle/>
          <a:p>
            <a:fld id="{42BA38D1-E4C1-4454-A3E5-8863343597FA}" type="datetimeFigureOut">
              <a:rPr lang="en-IN" smtClean="0"/>
              <a:t>31-08-2026</a:t>
            </a:fld>
            <a:endParaRPr lang="en-IN"/>
          </a:p>
        </p:txBody>
      </p:sp>
      <p:sp>
        <p:nvSpPr>
          <p:cNvPr id="6" name="Footer Placeholder 5">
            <a:extLst>
              <a:ext uri="{FF2B5EF4-FFF2-40B4-BE49-F238E27FC236}">
                <a16:creationId xmlns:a16="http://schemas.microsoft.com/office/drawing/2014/main" id="{327B73D1-8E85-24BC-EC55-BD8A3E28B8F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0B3356E-E9AF-F73B-E5D4-A0241E328037}"/>
              </a:ext>
            </a:extLst>
          </p:cNvPr>
          <p:cNvSpPr>
            <a:spLocks noGrp="1"/>
          </p:cNvSpPr>
          <p:nvPr>
            <p:ph type="sldNum" sz="quarter" idx="12"/>
          </p:nvPr>
        </p:nvSpPr>
        <p:spPr/>
        <p:txBody>
          <a:bodyPr/>
          <a:lstStyle/>
          <a:p>
            <a:fld id="{11402B53-CE29-4347-9E10-38A305D69B82}" type="slidenum">
              <a:rPr lang="en-IN" smtClean="0"/>
              <a:t>‹#›</a:t>
            </a:fld>
            <a:endParaRPr lang="en-IN"/>
          </a:p>
        </p:txBody>
      </p:sp>
    </p:spTree>
    <p:extLst>
      <p:ext uri="{BB962C8B-B14F-4D97-AF65-F5344CB8AC3E}">
        <p14:creationId xmlns:p14="http://schemas.microsoft.com/office/powerpoint/2010/main" val="34714566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E4540-12F7-9375-E094-919DA28B188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AD37A30-F8CF-297D-0C32-88022A9B76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CE4BC01-7377-21BD-3E75-1204FD7930C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0BB7E55-B9B7-22B0-A551-F083C087610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CAD1C14-9398-44F6-F829-98D0EC12903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606F97B-8550-39CA-6A61-334320B17FC3}"/>
              </a:ext>
            </a:extLst>
          </p:cNvPr>
          <p:cNvSpPr>
            <a:spLocks noGrp="1"/>
          </p:cNvSpPr>
          <p:nvPr>
            <p:ph type="dt" sz="half" idx="10"/>
          </p:nvPr>
        </p:nvSpPr>
        <p:spPr/>
        <p:txBody>
          <a:bodyPr/>
          <a:lstStyle/>
          <a:p>
            <a:fld id="{42BA38D1-E4C1-4454-A3E5-8863343597FA}" type="datetimeFigureOut">
              <a:rPr lang="en-IN" smtClean="0"/>
              <a:t>31-08-2026</a:t>
            </a:fld>
            <a:endParaRPr lang="en-IN"/>
          </a:p>
        </p:txBody>
      </p:sp>
      <p:sp>
        <p:nvSpPr>
          <p:cNvPr id="8" name="Footer Placeholder 7">
            <a:extLst>
              <a:ext uri="{FF2B5EF4-FFF2-40B4-BE49-F238E27FC236}">
                <a16:creationId xmlns:a16="http://schemas.microsoft.com/office/drawing/2014/main" id="{A2364604-73A7-2DAA-B996-A7D74B0A6AD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FC584F3-D525-2CF8-32D7-A0D38AE96129}"/>
              </a:ext>
            </a:extLst>
          </p:cNvPr>
          <p:cNvSpPr>
            <a:spLocks noGrp="1"/>
          </p:cNvSpPr>
          <p:nvPr>
            <p:ph type="sldNum" sz="quarter" idx="12"/>
          </p:nvPr>
        </p:nvSpPr>
        <p:spPr/>
        <p:txBody>
          <a:bodyPr/>
          <a:lstStyle/>
          <a:p>
            <a:fld id="{11402B53-CE29-4347-9E10-38A305D69B82}" type="slidenum">
              <a:rPr lang="en-IN" smtClean="0"/>
              <a:t>‹#›</a:t>
            </a:fld>
            <a:endParaRPr lang="en-IN"/>
          </a:p>
        </p:txBody>
      </p:sp>
    </p:spTree>
    <p:extLst>
      <p:ext uri="{BB962C8B-B14F-4D97-AF65-F5344CB8AC3E}">
        <p14:creationId xmlns:p14="http://schemas.microsoft.com/office/powerpoint/2010/main" val="253825581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846C89-30AD-742A-7180-44851BB723E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62F95FE-2C22-EE36-6BF9-142931AB36B1}"/>
              </a:ext>
            </a:extLst>
          </p:cNvPr>
          <p:cNvSpPr>
            <a:spLocks noGrp="1"/>
          </p:cNvSpPr>
          <p:nvPr>
            <p:ph type="dt" sz="half" idx="10"/>
          </p:nvPr>
        </p:nvSpPr>
        <p:spPr/>
        <p:txBody>
          <a:bodyPr/>
          <a:lstStyle/>
          <a:p>
            <a:fld id="{42BA38D1-E4C1-4454-A3E5-8863343597FA}" type="datetimeFigureOut">
              <a:rPr lang="en-IN" smtClean="0"/>
              <a:t>31-08-2026</a:t>
            </a:fld>
            <a:endParaRPr lang="en-IN"/>
          </a:p>
        </p:txBody>
      </p:sp>
      <p:sp>
        <p:nvSpPr>
          <p:cNvPr id="4" name="Footer Placeholder 3">
            <a:extLst>
              <a:ext uri="{FF2B5EF4-FFF2-40B4-BE49-F238E27FC236}">
                <a16:creationId xmlns:a16="http://schemas.microsoft.com/office/drawing/2014/main" id="{B6771BE0-1547-31CA-DBA1-9FBD891A9E6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DC69C37-BF2D-A12D-7766-0807EA1E7DC6}"/>
              </a:ext>
            </a:extLst>
          </p:cNvPr>
          <p:cNvSpPr>
            <a:spLocks noGrp="1"/>
          </p:cNvSpPr>
          <p:nvPr>
            <p:ph type="sldNum" sz="quarter" idx="12"/>
          </p:nvPr>
        </p:nvSpPr>
        <p:spPr/>
        <p:txBody>
          <a:bodyPr/>
          <a:lstStyle/>
          <a:p>
            <a:fld id="{11402B53-CE29-4347-9E10-38A305D69B82}" type="slidenum">
              <a:rPr lang="en-IN" smtClean="0"/>
              <a:t>‹#›</a:t>
            </a:fld>
            <a:endParaRPr lang="en-IN"/>
          </a:p>
        </p:txBody>
      </p:sp>
    </p:spTree>
    <p:extLst>
      <p:ext uri="{BB962C8B-B14F-4D97-AF65-F5344CB8AC3E}">
        <p14:creationId xmlns:p14="http://schemas.microsoft.com/office/powerpoint/2010/main" val="422219679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69B760D-5683-5450-DCD1-CA7588565966}"/>
              </a:ext>
            </a:extLst>
          </p:cNvPr>
          <p:cNvSpPr>
            <a:spLocks noGrp="1"/>
          </p:cNvSpPr>
          <p:nvPr>
            <p:ph type="dt" sz="half" idx="10"/>
          </p:nvPr>
        </p:nvSpPr>
        <p:spPr/>
        <p:txBody>
          <a:bodyPr/>
          <a:lstStyle/>
          <a:p>
            <a:fld id="{42BA38D1-E4C1-4454-A3E5-8863343597FA}" type="datetimeFigureOut">
              <a:rPr lang="en-IN" smtClean="0"/>
              <a:t>31-08-2026</a:t>
            </a:fld>
            <a:endParaRPr lang="en-IN"/>
          </a:p>
        </p:txBody>
      </p:sp>
      <p:sp>
        <p:nvSpPr>
          <p:cNvPr id="3" name="Footer Placeholder 2">
            <a:extLst>
              <a:ext uri="{FF2B5EF4-FFF2-40B4-BE49-F238E27FC236}">
                <a16:creationId xmlns:a16="http://schemas.microsoft.com/office/drawing/2014/main" id="{F1603E05-7C0C-5DEC-864D-EEDF54A4C0C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ED635D1-4E5C-770A-8E69-9C1A8C22DDB1}"/>
              </a:ext>
            </a:extLst>
          </p:cNvPr>
          <p:cNvSpPr>
            <a:spLocks noGrp="1"/>
          </p:cNvSpPr>
          <p:nvPr>
            <p:ph type="sldNum" sz="quarter" idx="12"/>
          </p:nvPr>
        </p:nvSpPr>
        <p:spPr/>
        <p:txBody>
          <a:bodyPr/>
          <a:lstStyle/>
          <a:p>
            <a:fld id="{11402B53-CE29-4347-9E10-38A305D69B82}" type="slidenum">
              <a:rPr lang="en-IN" smtClean="0"/>
              <a:t>‹#›</a:t>
            </a:fld>
            <a:endParaRPr lang="en-IN"/>
          </a:p>
        </p:txBody>
      </p:sp>
    </p:spTree>
    <p:extLst>
      <p:ext uri="{BB962C8B-B14F-4D97-AF65-F5344CB8AC3E}">
        <p14:creationId xmlns:p14="http://schemas.microsoft.com/office/powerpoint/2010/main" val="49563312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BE5E89-FA38-C43C-6680-96F2E90F91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DDF2B43-0C86-B8E2-D5E7-C4A3A607996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A9342B2-62BF-00B0-C91A-A4AD04749F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73C82C0-269D-BDD6-A195-EFA385B63B12}"/>
              </a:ext>
            </a:extLst>
          </p:cNvPr>
          <p:cNvSpPr>
            <a:spLocks noGrp="1"/>
          </p:cNvSpPr>
          <p:nvPr>
            <p:ph type="dt" sz="half" idx="10"/>
          </p:nvPr>
        </p:nvSpPr>
        <p:spPr/>
        <p:txBody>
          <a:bodyPr/>
          <a:lstStyle/>
          <a:p>
            <a:fld id="{42BA38D1-E4C1-4454-A3E5-8863343597FA}" type="datetimeFigureOut">
              <a:rPr lang="en-IN" smtClean="0"/>
              <a:t>31-08-2026</a:t>
            </a:fld>
            <a:endParaRPr lang="en-IN"/>
          </a:p>
        </p:txBody>
      </p:sp>
      <p:sp>
        <p:nvSpPr>
          <p:cNvPr id="6" name="Footer Placeholder 5">
            <a:extLst>
              <a:ext uri="{FF2B5EF4-FFF2-40B4-BE49-F238E27FC236}">
                <a16:creationId xmlns:a16="http://schemas.microsoft.com/office/drawing/2014/main" id="{856634ED-F26B-A070-840C-7B25BE81F24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06C1788-BBC9-CD18-D8E7-5C29FEF77B7D}"/>
              </a:ext>
            </a:extLst>
          </p:cNvPr>
          <p:cNvSpPr>
            <a:spLocks noGrp="1"/>
          </p:cNvSpPr>
          <p:nvPr>
            <p:ph type="sldNum" sz="quarter" idx="12"/>
          </p:nvPr>
        </p:nvSpPr>
        <p:spPr/>
        <p:txBody>
          <a:bodyPr/>
          <a:lstStyle/>
          <a:p>
            <a:fld id="{11402B53-CE29-4347-9E10-38A305D69B82}" type="slidenum">
              <a:rPr lang="en-IN" smtClean="0"/>
              <a:t>‹#›</a:t>
            </a:fld>
            <a:endParaRPr lang="en-IN"/>
          </a:p>
        </p:txBody>
      </p:sp>
    </p:spTree>
    <p:extLst>
      <p:ext uri="{BB962C8B-B14F-4D97-AF65-F5344CB8AC3E}">
        <p14:creationId xmlns:p14="http://schemas.microsoft.com/office/powerpoint/2010/main" val="184943700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42256-97D7-3CA5-80F0-A777CAF469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5127417-FA15-B546-BA2E-14A980D9E41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B5D67E7-00FE-0F60-40E4-FC8B7E7D69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8EE07F-64EA-B637-E1EA-6A7F579CDD50}"/>
              </a:ext>
            </a:extLst>
          </p:cNvPr>
          <p:cNvSpPr>
            <a:spLocks noGrp="1"/>
          </p:cNvSpPr>
          <p:nvPr>
            <p:ph type="dt" sz="half" idx="10"/>
          </p:nvPr>
        </p:nvSpPr>
        <p:spPr/>
        <p:txBody>
          <a:bodyPr/>
          <a:lstStyle/>
          <a:p>
            <a:fld id="{42BA38D1-E4C1-4454-A3E5-8863343597FA}" type="datetimeFigureOut">
              <a:rPr lang="en-IN" smtClean="0"/>
              <a:t>31-08-2026</a:t>
            </a:fld>
            <a:endParaRPr lang="en-IN"/>
          </a:p>
        </p:txBody>
      </p:sp>
      <p:sp>
        <p:nvSpPr>
          <p:cNvPr id="6" name="Footer Placeholder 5">
            <a:extLst>
              <a:ext uri="{FF2B5EF4-FFF2-40B4-BE49-F238E27FC236}">
                <a16:creationId xmlns:a16="http://schemas.microsoft.com/office/drawing/2014/main" id="{ECA2CA20-8BC7-35B4-97DE-7BB7418FAD5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A446FA0-C9C6-A9A8-B440-9E0BABDDA019}"/>
              </a:ext>
            </a:extLst>
          </p:cNvPr>
          <p:cNvSpPr>
            <a:spLocks noGrp="1"/>
          </p:cNvSpPr>
          <p:nvPr>
            <p:ph type="sldNum" sz="quarter" idx="12"/>
          </p:nvPr>
        </p:nvSpPr>
        <p:spPr/>
        <p:txBody>
          <a:bodyPr/>
          <a:lstStyle/>
          <a:p>
            <a:fld id="{11402B53-CE29-4347-9E10-38A305D69B82}" type="slidenum">
              <a:rPr lang="en-IN" smtClean="0"/>
              <a:t>‹#›</a:t>
            </a:fld>
            <a:endParaRPr lang="en-IN"/>
          </a:p>
        </p:txBody>
      </p:sp>
    </p:spTree>
    <p:extLst>
      <p:ext uri="{BB962C8B-B14F-4D97-AF65-F5344CB8AC3E}">
        <p14:creationId xmlns:p14="http://schemas.microsoft.com/office/powerpoint/2010/main" val="142770273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5DE91-78F7-2CF0-C028-64D07E5AA80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55C6A2D-E550-FFBF-5417-637DFFEFE46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8F1B573-9B72-48EF-D88F-2C88D99D0EFE}"/>
              </a:ext>
            </a:extLst>
          </p:cNvPr>
          <p:cNvSpPr>
            <a:spLocks noGrp="1"/>
          </p:cNvSpPr>
          <p:nvPr>
            <p:ph type="dt" sz="half" idx="10"/>
          </p:nvPr>
        </p:nvSpPr>
        <p:spPr/>
        <p:txBody>
          <a:bodyPr/>
          <a:lstStyle/>
          <a:p>
            <a:fld id="{42BA38D1-E4C1-4454-A3E5-8863343597FA}" type="datetimeFigureOut">
              <a:rPr lang="en-IN" smtClean="0"/>
              <a:t>31-08-2026</a:t>
            </a:fld>
            <a:endParaRPr lang="en-IN"/>
          </a:p>
        </p:txBody>
      </p:sp>
      <p:sp>
        <p:nvSpPr>
          <p:cNvPr id="5" name="Footer Placeholder 4">
            <a:extLst>
              <a:ext uri="{FF2B5EF4-FFF2-40B4-BE49-F238E27FC236}">
                <a16:creationId xmlns:a16="http://schemas.microsoft.com/office/drawing/2014/main" id="{3C3CFA20-646E-8A9B-9F67-BF4B7AF9511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94D7B14-757B-4AC5-CD27-9BFB0ADD2237}"/>
              </a:ext>
            </a:extLst>
          </p:cNvPr>
          <p:cNvSpPr>
            <a:spLocks noGrp="1"/>
          </p:cNvSpPr>
          <p:nvPr>
            <p:ph type="sldNum" sz="quarter" idx="12"/>
          </p:nvPr>
        </p:nvSpPr>
        <p:spPr/>
        <p:txBody>
          <a:bodyPr/>
          <a:lstStyle/>
          <a:p>
            <a:fld id="{11402B53-CE29-4347-9E10-38A305D69B82}" type="slidenum">
              <a:rPr lang="en-IN" smtClean="0"/>
              <a:t>‹#›</a:t>
            </a:fld>
            <a:endParaRPr lang="en-IN"/>
          </a:p>
        </p:txBody>
      </p:sp>
    </p:spTree>
    <p:extLst>
      <p:ext uri="{BB962C8B-B14F-4D97-AF65-F5344CB8AC3E}">
        <p14:creationId xmlns:p14="http://schemas.microsoft.com/office/powerpoint/2010/main" val="234560635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1EA5E3A-68F6-6C7B-3155-274394DD3AC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C1CD13C-C895-B68A-DFA7-AE7431A6A21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6F440CB-0380-70CB-CE23-CBAA6C519687}"/>
              </a:ext>
            </a:extLst>
          </p:cNvPr>
          <p:cNvSpPr>
            <a:spLocks noGrp="1"/>
          </p:cNvSpPr>
          <p:nvPr>
            <p:ph type="dt" sz="half" idx="10"/>
          </p:nvPr>
        </p:nvSpPr>
        <p:spPr/>
        <p:txBody>
          <a:bodyPr/>
          <a:lstStyle/>
          <a:p>
            <a:fld id="{42BA38D1-E4C1-4454-A3E5-8863343597FA}" type="datetimeFigureOut">
              <a:rPr lang="en-IN" smtClean="0"/>
              <a:t>31-08-2026</a:t>
            </a:fld>
            <a:endParaRPr lang="en-IN"/>
          </a:p>
        </p:txBody>
      </p:sp>
      <p:sp>
        <p:nvSpPr>
          <p:cNvPr id="5" name="Footer Placeholder 4">
            <a:extLst>
              <a:ext uri="{FF2B5EF4-FFF2-40B4-BE49-F238E27FC236}">
                <a16:creationId xmlns:a16="http://schemas.microsoft.com/office/drawing/2014/main" id="{CF23C08E-8C62-EC8B-405C-79BA3B6E43D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5C903D5-1E0E-75D2-3EF1-0C96BC70DC49}"/>
              </a:ext>
            </a:extLst>
          </p:cNvPr>
          <p:cNvSpPr>
            <a:spLocks noGrp="1"/>
          </p:cNvSpPr>
          <p:nvPr>
            <p:ph type="sldNum" sz="quarter" idx="12"/>
          </p:nvPr>
        </p:nvSpPr>
        <p:spPr/>
        <p:txBody>
          <a:bodyPr/>
          <a:lstStyle/>
          <a:p>
            <a:fld id="{11402B53-CE29-4347-9E10-38A305D69B82}" type="slidenum">
              <a:rPr lang="en-IN" smtClean="0"/>
              <a:t>‹#›</a:t>
            </a:fld>
            <a:endParaRPr lang="en-IN"/>
          </a:p>
        </p:txBody>
      </p:sp>
    </p:spTree>
    <p:extLst>
      <p:ext uri="{BB962C8B-B14F-4D97-AF65-F5344CB8AC3E}">
        <p14:creationId xmlns:p14="http://schemas.microsoft.com/office/powerpoint/2010/main" val="378763817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CB8D68C-3D8E-5E53-1142-AF659F272741}"/>
              </a:ext>
            </a:extLst>
          </p:cNvPr>
          <p:cNvPicPr>
            <a:picLocks noChangeAspect="1"/>
          </p:cNvPicPr>
          <p:nvPr userDrawn="1"/>
        </p:nvPicPr>
        <p:blipFill>
          <a:blip r:embed="rId3"/>
          <a:srcRect l="3333" r="3333"/>
          <a:stretch/>
        </p:blipFill>
        <p:spPr>
          <a:xfrm>
            <a:off x="-1" y="-1"/>
            <a:ext cx="12192001" cy="6858001"/>
          </a:xfrm>
          <a:prstGeom prst="rect">
            <a:avLst/>
          </a:prstGeom>
        </p:spPr>
      </p:pic>
      <p:pic>
        <p:nvPicPr>
          <p:cNvPr id="2" name="MS logo white - EMF" descr="Microsoft logo white text version">
            <a:extLst>
              <a:ext uri="{FF2B5EF4-FFF2-40B4-BE49-F238E27FC236}">
                <a16:creationId xmlns:a16="http://schemas.microsoft.com/office/drawing/2014/main" id="{1840CBD0-0BEB-DC8F-CEF1-C001B4538665}"/>
              </a:ext>
            </a:extLst>
          </p:cNvPr>
          <p:cNvPicPr>
            <a:picLocks noChangeAspect="1"/>
          </p:cNvPicPr>
          <p:nvPr userDrawn="1"/>
        </p:nvPicPr>
        <p:blipFill>
          <a:blip r:embed="rId4" cstate="print">
            <a:lum bright="100000"/>
            <a:extLst>
              <a:ext uri="{28A0092B-C50C-407E-A947-70E740481C1C}">
                <a14:useLocalDpi xmlns:a14="http://schemas.microsoft.com/office/drawing/2010/main"/>
              </a:ext>
            </a:extLst>
          </a:blip>
          <a:stretch>
            <a:fillRect/>
          </a:stretch>
        </p:blipFill>
        <p:spPr bwMode="black">
          <a:xfrm>
            <a:off x="307976" y="6339128"/>
            <a:ext cx="933451" cy="199917"/>
          </a:xfrm>
          <a:prstGeom prst="rect">
            <a:avLst/>
          </a:prstGeom>
        </p:spPr>
      </p:pic>
      <p:sp>
        <p:nvSpPr>
          <p:cNvPr id="3" name="Text Placeholder 4">
            <a:extLst>
              <a:ext uri="{FF2B5EF4-FFF2-40B4-BE49-F238E27FC236}">
                <a16:creationId xmlns:a16="http://schemas.microsoft.com/office/drawing/2014/main" id="{F41303C3-84B6-E6CF-238B-40E4DFF45156}"/>
              </a:ext>
            </a:extLst>
          </p:cNvPr>
          <p:cNvSpPr>
            <a:spLocks noGrp="1"/>
          </p:cNvSpPr>
          <p:nvPr>
            <p:ph type="body" sz="quarter" idx="12"/>
          </p:nvPr>
        </p:nvSpPr>
        <p:spPr>
          <a:xfrm>
            <a:off x="525780" y="1697492"/>
            <a:ext cx="3434755" cy="246221"/>
          </a:xfrm>
          <a:noFill/>
        </p:spPr>
        <p:txBody>
          <a:bodyPr wrap="square" lIns="0" tIns="0" rIns="0" bIns="0">
            <a:spAutoFit/>
          </a:bodyPr>
          <a:lstStyle>
            <a:lvl1pPr marL="0" indent="0">
              <a:spcBef>
                <a:spcPts val="0"/>
              </a:spcBef>
              <a:buNone/>
              <a:defRPr sz="1600" spc="0" baseline="0">
                <a:solidFill>
                  <a:srgbClr val="7030A0"/>
                </a:solidFill>
                <a:latin typeface="+mn-lt"/>
                <a:cs typeface="Segoe Sans Display" pitchFamily="2" charset="0"/>
              </a:defRPr>
            </a:lvl1pPr>
          </a:lstStyle>
          <a:p>
            <a:pPr lvl="0"/>
            <a:endParaRPr lang="en-US"/>
          </a:p>
        </p:txBody>
      </p:sp>
      <p:sp>
        <p:nvSpPr>
          <p:cNvPr id="7" name="Text Placeholder 4">
            <a:extLst>
              <a:ext uri="{FF2B5EF4-FFF2-40B4-BE49-F238E27FC236}">
                <a16:creationId xmlns:a16="http://schemas.microsoft.com/office/drawing/2014/main" id="{27D2F62B-95C1-501A-9EAF-373FABE01165}"/>
              </a:ext>
            </a:extLst>
          </p:cNvPr>
          <p:cNvSpPr>
            <a:spLocks noGrp="1"/>
          </p:cNvSpPr>
          <p:nvPr>
            <p:ph type="body" sz="quarter" idx="13" hasCustomPrompt="1"/>
          </p:nvPr>
        </p:nvSpPr>
        <p:spPr>
          <a:xfrm>
            <a:off x="525780" y="596605"/>
            <a:ext cx="8242300" cy="646331"/>
          </a:xfrm>
          <a:noFill/>
        </p:spPr>
        <p:txBody>
          <a:bodyPr wrap="square" lIns="0" tIns="0" rIns="0" bIns="0">
            <a:spAutoFit/>
          </a:bodyPr>
          <a:lstStyle>
            <a:lvl1pPr marL="0" indent="0">
              <a:spcBef>
                <a:spcPts val="0"/>
              </a:spcBef>
              <a:buNone/>
              <a:defRPr sz="4200" b="0" spc="0" baseline="0">
                <a:solidFill>
                  <a:srgbClr val="7030A0"/>
                </a:solidFill>
                <a:latin typeface="Segoe UI Semibold" panose="020B0702040204020203" pitchFamily="34" charset="0"/>
                <a:cs typeface="Segoe UI Semibold" panose="020B0702040204020203" pitchFamily="34" charset="0"/>
              </a:defRPr>
            </a:lvl1pPr>
          </a:lstStyle>
          <a:p>
            <a:pPr lvl="0"/>
            <a:r>
              <a:rPr lang="en-US"/>
              <a:t>Title goes here</a:t>
            </a:r>
          </a:p>
        </p:txBody>
      </p:sp>
    </p:spTree>
    <p:extLst>
      <p:ext uri="{BB962C8B-B14F-4D97-AF65-F5344CB8AC3E}">
        <p14:creationId xmlns:p14="http://schemas.microsoft.com/office/powerpoint/2010/main" val="162014562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9857348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 Id="rId3" Type="http://schemas.openxmlformats.org/officeDocument/2006/relationships/image" Target="../media/image1.jpeg"/><Relationship Id="rId4" Type="http://schemas.openxmlformats.org/officeDocument/2006/relationships/image" Target="../media/image2.sv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 Id="rId9" Type="http://schemas.openxmlformats.org/officeDocument/2006/relationships/slideLayout" Target="../slideLayouts/slideLayout10.xml"/><Relationship Id="rId10" Type="http://schemas.openxmlformats.org/officeDocument/2006/relationships/slideLayout" Target="../slideLayouts/slideLayout11.xml"/><Relationship Id="rId11" Type="http://schemas.openxmlformats.org/officeDocument/2006/relationships/slideLayout" Target="../slideLayouts/slideLayout12.xml"/><Relationship Id="rId12" Type="http://schemas.openxmlformats.org/officeDocument/2006/relationships/slideLayout" Target="../slideLayouts/slideLayout13.xml"/><Relationship Id="rId13" Type="http://schemas.openxmlformats.org/officeDocument/2006/relationships/slideLayout" Target="../slideLayouts/slideLayout14.xml"/><Relationship Id="rId14" Type="http://schemas.openxmlformats.org/officeDocument/2006/relationships/slideLayout" Target="../slideLayouts/slideLayout15.xml"/><Relationship Id="rId15"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slideLayout" Target="../slideLayouts/slideLayout17.xml"/><Relationship Id="rId3" Type="http://schemas.openxmlformats.org/officeDocument/2006/relationships/slideLayout" Target="../slideLayouts/slideLayout18.xml"/><Relationship Id="rId4" Type="http://schemas.openxmlformats.org/officeDocument/2006/relationships/slideLayout" Target="../slideLayouts/slideLayout19.xml"/><Relationship Id="rId5" Type="http://schemas.openxmlformats.org/officeDocument/2006/relationships/slideLayout" Target="../slideLayouts/slideLayout20.xml"/><Relationship Id="rId6" Type="http://schemas.openxmlformats.org/officeDocument/2006/relationships/slideLayout" Target="../slideLayouts/slideLayout21.xml"/><Relationship Id="rId7" Type="http://schemas.openxmlformats.org/officeDocument/2006/relationships/slideLayout" Target="../slideLayouts/slideLayout22.xml"/><Relationship Id="rId8" Type="http://schemas.openxmlformats.org/officeDocument/2006/relationships/slideLayout" Target="../slideLayouts/slideLayout23.xml"/><Relationship Id="rId9" Type="http://schemas.openxmlformats.org/officeDocument/2006/relationships/slideLayout" Target="../slideLayouts/slideLayout24.xml"/><Relationship Id="rId10" Type="http://schemas.openxmlformats.org/officeDocument/2006/relationships/slideLayout" Target="../slideLayouts/slideLayout25.xml"/><Relationship Id="rId11" Type="http://schemas.openxmlformats.org/officeDocument/2006/relationships/slideLayout" Target="../slideLayouts/slideLayout26.xml"/><Relationship Id="rId12" Type="http://schemas.openxmlformats.org/officeDocument/2006/relationships/slideLayout" Target="../slideLayouts/slideLayout27.xml"/><Relationship Id="rId13" Type="http://schemas.openxmlformats.org/officeDocument/2006/relationships/slideLayout" Target="../slideLayouts/slideLayout28.xml"/><Relationship Id="rId14" Type="http://schemas.openxmlformats.org/officeDocument/2006/relationships/slideLayout" Target="../slideLayouts/slideLayout29.xml"/><Relationship Id="rId15"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slideLayout" Target="../slideLayouts/slideLayout31.xml"/><Relationship Id="rId3" Type="http://schemas.openxmlformats.org/officeDocument/2006/relationships/slideLayout" Target="../slideLayouts/slideLayout32.xml"/><Relationship Id="rId4" Type="http://schemas.openxmlformats.org/officeDocument/2006/relationships/slideLayout" Target="../slideLayouts/slideLayout33.xml"/><Relationship Id="rId5" Type="http://schemas.openxmlformats.org/officeDocument/2006/relationships/slideLayout" Target="../slideLayouts/slideLayout34.xml"/><Relationship Id="rId6" Type="http://schemas.openxmlformats.org/officeDocument/2006/relationships/slideLayout" Target="../slideLayouts/slideLayout35.xml"/><Relationship Id="rId7" Type="http://schemas.openxmlformats.org/officeDocument/2006/relationships/slideLayout" Target="../slideLayouts/slideLayout36.xml"/><Relationship Id="rId8" Type="http://schemas.openxmlformats.org/officeDocument/2006/relationships/slideLayout" Target="../slideLayouts/slideLayout37.xml"/><Relationship Id="rId9" Type="http://schemas.openxmlformats.org/officeDocument/2006/relationships/slideLayout" Target="../slideLayouts/slideLayout38.xml"/><Relationship Id="rId10" Type="http://schemas.openxmlformats.org/officeDocument/2006/relationships/slideLayout" Target="../slideLayouts/slideLayout39.xml"/><Relationship Id="rId11" Type="http://schemas.openxmlformats.org/officeDocument/2006/relationships/slideLayout" Target="../slideLayouts/slideLayout40.xml"/><Relationship Id="rId12" Type="http://schemas.openxmlformats.org/officeDocument/2006/relationships/slideLayout" Target="../slideLayouts/slideLayout41.xml"/><Relationship Id="rId13" Type="http://schemas.openxmlformats.org/officeDocument/2006/relationships/slideLayout" Target="../slideLayouts/slideLayout42.xml"/><Relationship Id="rId1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blackWhite">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Sans Display" pitchFamily="2"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Sans Display" pitchFamily="2"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866397260"/>
      </p:ext>
    </p:extLst>
  </p:cSld>
  <p:clrMap bg1="lt1" tx1="dk1" bg2="lt2" tx2="dk2" accent1="accent1" accent2="accent2" accent3="accent3" accent4="accent4" accent5="accent5" accent6="accent6" hlink="hlink" folHlink="folHlink"/>
  <p:sldLayoutIdLst>
    <p:sldLayoutId id="2147483676" r:id="rId1"/>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Sans Display" pitchFamily="2"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Sans Display"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49">
          <p15:clr>
            <a:srgbClr val="C35EA4"/>
          </p15:clr>
        </p15:guide>
        <p15:guide id="28" pos="192">
          <p15:clr>
            <a:srgbClr val="A4A3A4"/>
          </p15:clr>
        </p15:guide>
        <p15:guide id="29" orient="horz" pos="4135">
          <p15:clr>
            <a:srgbClr val="A4A3A4"/>
          </p15:clr>
        </p15:guide>
        <p15:guide id="30" pos="7488">
          <p15:clr>
            <a:srgbClr val="A4A3A4"/>
          </p15:clr>
        </p15:guide>
        <p15:guide id="31" orient="horz" pos="400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26424" y="435824"/>
            <a:ext cx="11336039" cy="744014"/>
          </a:xfrm>
          <a:prstGeom prst="rect">
            <a:avLst/>
          </a:prstGeom>
        </p:spPr>
        <p:txBody>
          <a:bodyPr vert="horz" wrap="square" lIns="0" tIns="164592" rIns="0" bIns="0" rtlCol="0" anchor="t">
            <a:noAutofit/>
          </a:bodyPr>
          <a:lstStyle/>
          <a:p>
            <a:r>
              <a:rPr lang="en-US"/>
              <a:t>Click to edit Master title style</a:t>
            </a:r>
          </a:p>
        </p:txBody>
      </p:sp>
      <p:sp>
        <p:nvSpPr>
          <p:cNvPr id="4" name="Text Placeholder 3"/>
          <p:cNvSpPr>
            <a:spLocks noGrp="1"/>
          </p:cNvSpPr>
          <p:nvPr>
            <p:ph type="body" idx="1"/>
          </p:nvPr>
        </p:nvSpPr>
        <p:spPr>
          <a:xfrm>
            <a:off x="437319" y="1866615"/>
            <a:ext cx="11336039" cy="1276484"/>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91752537"/>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Lst>
  <p:transition>
    <p:fade/>
  </p:transition>
  <p:txStyles>
    <p:titleStyle>
      <a:lvl1pPr algn="l" defTabSz="914367" rtl="0" eaLnBrk="1" latinLnBrk="0" hangingPunct="1">
        <a:lnSpc>
          <a:spcPct val="90000"/>
        </a:lnSpc>
        <a:spcBef>
          <a:spcPct val="0"/>
        </a:spcBef>
        <a:buNone/>
        <a:defRPr lang="en-US" sz="3137" b="0" kern="1200" cap="none" spc="-147" baseline="0" dirty="0">
          <a:ln w="3175">
            <a:noFill/>
          </a:ln>
          <a:solidFill>
            <a:srgbClr val="000000"/>
          </a:solidFill>
          <a:effectLst/>
          <a:latin typeface="+mj-lt"/>
          <a:ea typeface="+mn-ea"/>
          <a:cs typeface="Segoe UI" pitchFamily="34" charset="0"/>
        </a:defRPr>
      </a:lvl1pPr>
    </p:titleStyle>
    <p:bodyStyle>
      <a:lvl1pPr marL="0" marR="0" indent="0" algn="l" defTabSz="914367" rtl="0" eaLnBrk="1" fontAlgn="auto" latinLnBrk="0" hangingPunct="1">
        <a:lnSpc>
          <a:spcPct val="90000"/>
        </a:lnSpc>
        <a:spcBef>
          <a:spcPts val="0"/>
        </a:spcBef>
        <a:spcAft>
          <a:spcPts val="0"/>
        </a:spcAft>
        <a:buClrTx/>
        <a:buSzPct val="90000"/>
        <a:buFont typeface="Wingdings" panose="05000000000000000000" pitchFamily="2" charset="2"/>
        <a:buNone/>
        <a:tabLst/>
        <a:defRPr sz="2549" kern="1200" spc="0" baseline="0">
          <a:solidFill>
            <a:srgbClr val="000000"/>
          </a:solidFill>
          <a:latin typeface="+mn-lt"/>
          <a:ea typeface="+mn-ea"/>
          <a:cs typeface="+mn-cs"/>
        </a:defRPr>
      </a:lvl1pPr>
      <a:lvl2pPr marL="224097" marR="0" indent="0" algn="l" defTabSz="914367" rtl="0" eaLnBrk="1" fontAlgn="auto" latinLnBrk="0" hangingPunct="1">
        <a:lnSpc>
          <a:spcPct val="90000"/>
        </a:lnSpc>
        <a:spcBef>
          <a:spcPts val="0"/>
        </a:spcBef>
        <a:spcAft>
          <a:spcPts val="0"/>
        </a:spcAft>
        <a:buClrTx/>
        <a:buSzPct val="90000"/>
        <a:buFont typeface="Wingdings" panose="05000000000000000000" pitchFamily="2" charset="2"/>
        <a:buNone/>
        <a:tabLst/>
        <a:defRPr sz="1961" kern="1200" spc="0" baseline="0">
          <a:solidFill>
            <a:srgbClr val="000000"/>
          </a:solidFill>
          <a:latin typeface="+mn-lt"/>
          <a:ea typeface="+mn-ea"/>
          <a:cs typeface="+mn-cs"/>
        </a:defRPr>
      </a:lvl2pPr>
      <a:lvl3pPr marL="448193" marR="0" indent="0" algn="l" defTabSz="914367" rtl="0" eaLnBrk="1" fontAlgn="auto" latinLnBrk="0" hangingPunct="1">
        <a:lnSpc>
          <a:spcPct val="90000"/>
        </a:lnSpc>
        <a:spcBef>
          <a:spcPts val="0"/>
        </a:spcBef>
        <a:spcAft>
          <a:spcPts val="0"/>
        </a:spcAft>
        <a:buClrTx/>
        <a:buSzPct val="90000"/>
        <a:buFont typeface="Wingdings" panose="05000000000000000000" pitchFamily="2" charset="2"/>
        <a:buNone/>
        <a:tabLst/>
        <a:defRPr sz="1568" kern="1200" spc="0" baseline="0">
          <a:solidFill>
            <a:srgbClr val="000000"/>
          </a:solidFill>
          <a:latin typeface="+mn-lt"/>
          <a:ea typeface="+mn-ea"/>
          <a:cs typeface="+mn-cs"/>
        </a:defRPr>
      </a:lvl3pPr>
      <a:lvl4pPr marL="672290" marR="0" indent="0" algn="l" defTabSz="914367" rtl="0" eaLnBrk="1" fontAlgn="auto" latinLnBrk="0" hangingPunct="1">
        <a:lnSpc>
          <a:spcPct val="90000"/>
        </a:lnSpc>
        <a:spcBef>
          <a:spcPts val="0"/>
        </a:spcBef>
        <a:spcAft>
          <a:spcPts val="0"/>
        </a:spcAft>
        <a:buClrTx/>
        <a:buSzPct val="90000"/>
        <a:buFont typeface="Wingdings" panose="05000000000000000000" pitchFamily="2" charset="2"/>
        <a:buNone/>
        <a:tabLst/>
        <a:defRPr sz="1568" kern="1200" spc="0" baseline="0">
          <a:solidFill>
            <a:srgbClr val="000000"/>
          </a:solidFill>
          <a:latin typeface="+mn-lt"/>
          <a:ea typeface="+mn-ea"/>
          <a:cs typeface="+mn-cs"/>
        </a:defRPr>
      </a:lvl4pPr>
      <a:lvl5pPr marL="896386" marR="0" indent="0" algn="l" defTabSz="914367" rtl="0" eaLnBrk="1" fontAlgn="auto" latinLnBrk="0" hangingPunct="1">
        <a:lnSpc>
          <a:spcPct val="90000"/>
        </a:lnSpc>
        <a:spcBef>
          <a:spcPts val="0"/>
        </a:spcBef>
        <a:spcAft>
          <a:spcPts val="0"/>
        </a:spcAft>
        <a:buClrTx/>
        <a:buSzPct val="90000"/>
        <a:buFont typeface="Wingdings" panose="05000000000000000000" pitchFamily="2" charset="2"/>
        <a:buNone/>
        <a:tabLst/>
        <a:defRPr sz="1568" kern="1200" spc="0" baseline="0">
          <a:solidFill>
            <a:srgbClr val="000000"/>
          </a:solidFill>
          <a:latin typeface="+mn-lt"/>
          <a:ea typeface="+mn-ea"/>
          <a:cs typeface="+mn-cs"/>
        </a:defRPr>
      </a:lvl5pPr>
      <a:lvl6pPr marL="2514509"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6pPr>
      <a:lvl7pPr marL="2971693"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p:bodyStyle>
    <p:other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3" pos="1373">
          <p15:clr>
            <a:srgbClr val="C35EA4"/>
          </p15:clr>
        </p15:guide>
        <p15:guide id="4" pos="1517">
          <p15:clr>
            <a:srgbClr val="C35EA4"/>
          </p15:clr>
        </p15:guide>
        <p15:guide id="5" pos="2608">
          <p15:clr>
            <a:srgbClr val="C35EA4"/>
          </p15:clr>
        </p15:guide>
        <p15:guide id="6" pos="2751">
          <p15:clr>
            <a:srgbClr val="C35EA4"/>
          </p15:clr>
        </p15:guide>
        <p15:guide id="7" pos="3844">
          <p15:clr>
            <a:srgbClr val="C35EA4"/>
          </p15:clr>
        </p15:guide>
        <p15:guide id="8" pos="3989">
          <p15:clr>
            <a:srgbClr val="C35EA4"/>
          </p15:clr>
        </p15:guide>
        <p15:guide id="9" pos="5079">
          <p15:clr>
            <a:srgbClr val="C35EA4"/>
          </p15:clr>
        </p15:guide>
        <p15:guide id="10" pos="5222">
          <p15:clr>
            <a:srgbClr val="C35EA4"/>
          </p15:clr>
        </p15:guide>
        <p15:guide id="11" pos="6317">
          <p15:clr>
            <a:srgbClr val="C35EA4"/>
          </p15:clr>
        </p15:guide>
        <p15:guide id="12" pos="6460">
          <p15:clr>
            <a:srgbClr val="C35EA4"/>
          </p15:clr>
        </p15:guide>
        <p15:guide id="16" pos="274">
          <p15:clr>
            <a:srgbClr val="F26B43"/>
          </p15:clr>
        </p15:guide>
        <p15:guide id="17" pos="7558">
          <p15:clr>
            <a:srgbClr val="F26B43"/>
          </p15:clr>
        </p15:guide>
        <p15:guide id="18" orient="horz" pos="758">
          <p15:clr>
            <a:srgbClr val="5ACBF0"/>
          </p15:clr>
        </p15:guide>
        <p15:guide id="19" orient="horz" pos="1372">
          <p15:clr>
            <a:srgbClr val="5ACBF0"/>
          </p15:clr>
        </p15:guide>
        <p15:guide id="20" orient="horz" pos="612">
          <p15:clr>
            <a:srgbClr val="5ACBF0"/>
          </p15:clr>
        </p15:guide>
        <p15:guide id="21" orient="horz" pos="1515">
          <p15:clr>
            <a:srgbClr val="5ACBF0"/>
          </p15:clr>
        </p15:guide>
        <p15:guide id="22" orient="horz" pos="2127">
          <p15:clr>
            <a:srgbClr val="5ACBF0"/>
          </p15:clr>
        </p15:guide>
        <p15:guide id="23" orient="horz" pos="2275">
          <p15:clr>
            <a:srgbClr val="5ACBF0"/>
          </p15:clr>
        </p15:guide>
        <p15:guide id="25" orient="horz" pos="280">
          <p15:clr>
            <a:srgbClr val="F26B43"/>
          </p15:clr>
        </p15:guide>
        <p15:guide id="26" orient="horz" pos="4127">
          <p15:clr>
            <a:srgbClr val="F26B43"/>
          </p15:clr>
        </p15:guide>
        <p15:guide id="27" orient="horz" pos="2889">
          <p15:clr>
            <a:srgbClr val="5ACBF0"/>
          </p15:clr>
        </p15:guide>
        <p15:guide id="28" orient="horz" pos="3032">
          <p15:clr>
            <a:srgbClr val="5ACBF0"/>
          </p15:clr>
        </p15:guide>
        <p15:guide id="29" orient="horz" pos="3648">
          <p15:clr>
            <a:srgbClr val="5ACBF0"/>
          </p15:clr>
        </p15:guide>
        <p15:guide id="30" orient="horz" pos="3792">
          <p15:clr>
            <a:srgbClr val="5ACBF0"/>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8/31/2026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691520917"/>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2" r:id="rId12"/>
    <p:sldLayoutId id="2147483723" r:id="rId13"/>
    <p:sldLayoutId id="2147483724" r:id="rId14"/>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8D1397F-3D96-B4C8-79ED-E1DCF018FF9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9CC59E5-016C-9074-8D95-7F5F52C3122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A5A8D74-8E97-FA6C-A820-5D962D5D9A8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2BA38D1-E4C1-4454-A3E5-8863343597FA}" type="datetimeFigureOut">
              <a:rPr lang="en-IN" smtClean="0"/>
              <a:t>31-08-2026</a:t>
            </a:fld>
            <a:endParaRPr lang="en-IN"/>
          </a:p>
        </p:txBody>
      </p:sp>
      <p:sp>
        <p:nvSpPr>
          <p:cNvPr id="5" name="Footer Placeholder 4">
            <a:extLst>
              <a:ext uri="{FF2B5EF4-FFF2-40B4-BE49-F238E27FC236}">
                <a16:creationId xmlns:a16="http://schemas.microsoft.com/office/drawing/2014/main" id="{177EAB47-7AC5-ECE0-6A03-555754A4062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96BF72F6-A9CC-C4DE-9F56-6C716BEA7C1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1402B53-CE29-4347-9E10-38A305D69B82}" type="slidenum">
              <a:rPr lang="en-IN" smtClean="0"/>
              <a:t>‹#›</a:t>
            </a:fld>
            <a:endParaRPr lang="en-IN"/>
          </a:p>
        </p:txBody>
      </p:sp>
    </p:spTree>
    <p:extLst>
      <p:ext uri="{BB962C8B-B14F-4D97-AF65-F5344CB8AC3E}">
        <p14:creationId xmlns:p14="http://schemas.microsoft.com/office/powerpoint/2010/main" val="4193118187"/>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8"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image" Target="../media/image20.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image" Target="../media/image21.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themeOverride" Target="../theme/themeOverride10.xml"/><Relationship Id="rId3" Type="http://schemas.openxmlformats.org/officeDocument/2006/relationships/image" Target="../media/image17.png"/><Relationship Id="rId4" Type="http://schemas.openxmlformats.org/officeDocument/2006/relationships/image" Target="../media/image16.png"/><Relationship Id="rId5" Type="http://schemas.openxmlformats.org/officeDocument/2006/relationships/image" Target="../media/image15.jpeg"/><Relationship Id="rId6" Type="http://schemas.openxmlformats.org/officeDocument/2006/relationships/image" Target="../media/image22.png"/><Relationship Id="rId7" Type="http://schemas.openxmlformats.org/officeDocument/2006/relationships/image" Target="../media/image23.png"/><Relationship Id="rId8"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themeOverride" Target="../theme/themeOverride11.xml"/><Relationship Id="rId3" Type="http://schemas.openxmlformats.org/officeDocument/2006/relationships/image" Target="../media/image17.png"/><Relationship Id="rId4" Type="http://schemas.openxmlformats.org/officeDocument/2006/relationships/image" Target="../media/image16.png"/><Relationship Id="rId5" Type="http://schemas.openxmlformats.org/officeDocument/2006/relationships/image" Target="../media/image15.jpeg"/><Relationship Id="rId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themeOverride" Target="../theme/themeOverride12.xml"/><Relationship Id="rId3" Type="http://schemas.openxmlformats.org/officeDocument/2006/relationships/image" Target="../media/image17.png"/><Relationship Id="rId4" Type="http://schemas.openxmlformats.org/officeDocument/2006/relationships/image" Target="../media/image16.png"/><Relationship Id="rId5" Type="http://schemas.openxmlformats.org/officeDocument/2006/relationships/image" Target="../media/image15.jpeg"/><Relationship Id="rId6"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themeOverride" Target="../theme/themeOverride13.xml"/><Relationship Id="rId3" Type="http://schemas.openxmlformats.org/officeDocument/2006/relationships/image" Target="../media/image17.png"/><Relationship Id="rId4" Type="http://schemas.openxmlformats.org/officeDocument/2006/relationships/image" Target="../media/image16.png"/><Relationship Id="rId5" Type="http://schemas.openxmlformats.org/officeDocument/2006/relationships/image" Target="../media/image15.jpeg"/><Relationship Id="rId6"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themeOverride" Target="../theme/themeOverride14.xml"/><Relationship Id="rId3" Type="http://schemas.openxmlformats.org/officeDocument/2006/relationships/image" Target="../media/image17.png"/><Relationship Id="rId4" Type="http://schemas.openxmlformats.org/officeDocument/2006/relationships/image" Target="../media/image16.png"/><Relationship Id="rId5" Type="http://schemas.openxmlformats.org/officeDocument/2006/relationships/image" Target="../media/image15.jpeg"/><Relationship Id="rId6" Type="http://schemas.openxmlformats.org/officeDocument/2006/relationships/image" Target="../media/image22.png"/><Relationship Id="rId7" Type="http://schemas.openxmlformats.org/officeDocument/2006/relationships/image" Target="../media/image23.png"/><Relationship Id="rId8"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themeOverride" Target="../theme/themeOverride15.xml"/><Relationship Id="rId3" Type="http://schemas.openxmlformats.org/officeDocument/2006/relationships/image" Target="../media/image17.png"/><Relationship Id="rId4" Type="http://schemas.openxmlformats.org/officeDocument/2006/relationships/image" Target="../media/image16.png"/><Relationship Id="rId5" Type="http://schemas.openxmlformats.org/officeDocument/2006/relationships/image" Target="../media/image15.jpeg"/><Relationship Id="rId6"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themeOverride" Target="../theme/themeOverride16.xml"/><Relationship Id="rId3" Type="http://schemas.openxmlformats.org/officeDocument/2006/relationships/image" Target="../media/image17.png"/><Relationship Id="rId4" Type="http://schemas.openxmlformats.org/officeDocument/2006/relationships/image" Target="../media/image16.png"/><Relationship Id="rId5" Type="http://schemas.openxmlformats.org/officeDocument/2006/relationships/image" Target="../media/image15.jpeg"/><Relationship Id="rId6"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themeOverride" Target="../theme/themeOverride17.xml"/><Relationship Id="rId3" Type="http://schemas.openxmlformats.org/officeDocument/2006/relationships/image" Target="../media/image17.png"/><Relationship Id="rId4" Type="http://schemas.openxmlformats.org/officeDocument/2006/relationships/image" Target="../media/image16.png"/><Relationship Id="rId5" Type="http://schemas.openxmlformats.org/officeDocument/2006/relationships/image" Target="../media/image15.jpeg"/><Relationship Id="rId6" Type="http://schemas.openxmlformats.org/officeDocument/2006/relationships/image" Target="../media/image22.png"/><Relationship Id="rId7" Type="http://schemas.openxmlformats.org/officeDocument/2006/relationships/image" Target="../media/image23.png"/><Relationship Id="rId8"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themeOverride" Target="../theme/themeOverride18.xml"/><Relationship Id="rId3" Type="http://schemas.openxmlformats.org/officeDocument/2006/relationships/image" Target="../media/image17.png"/><Relationship Id="rId4" Type="http://schemas.openxmlformats.org/officeDocument/2006/relationships/image" Target="../media/image16.png"/><Relationship Id="rId5" Type="http://schemas.openxmlformats.org/officeDocument/2006/relationships/image" Target="../media/image15.jpeg"/><Relationship Id="rId6"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themeOverride" Target="../theme/themeOverride19.xml"/><Relationship Id="rId3" Type="http://schemas.openxmlformats.org/officeDocument/2006/relationships/image" Target="../media/image17.png"/><Relationship Id="rId4" Type="http://schemas.openxmlformats.org/officeDocument/2006/relationships/image" Target="../media/image16.png"/><Relationship Id="rId5" Type="http://schemas.openxmlformats.org/officeDocument/2006/relationships/image" Target="../media/image15.jpeg"/><Relationship Id="rId6" Type="http://schemas.openxmlformats.org/officeDocument/2006/relationships/image" Target="../media/image23.png"/><Relationship Id="rId7"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themeOverride" Target="../theme/themeOverride20.xml"/><Relationship Id="rId3" Type="http://schemas.openxmlformats.org/officeDocument/2006/relationships/image" Target="../media/image17.png"/><Relationship Id="rId4" Type="http://schemas.openxmlformats.org/officeDocument/2006/relationships/image" Target="../media/image16.png"/><Relationship Id="rId5" Type="http://schemas.openxmlformats.org/officeDocument/2006/relationships/image" Target="../media/image15.jpeg"/><Relationship Id="rId6"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themeOverride" Target="../theme/themeOverride21.xml"/><Relationship Id="rId3" Type="http://schemas.openxmlformats.org/officeDocument/2006/relationships/image" Target="../media/image17.png"/><Relationship Id="rId4" Type="http://schemas.openxmlformats.org/officeDocument/2006/relationships/image" Target="../media/image16.png"/><Relationship Id="rId5" Type="http://schemas.openxmlformats.org/officeDocument/2006/relationships/image" Target="../media/image15.jpeg"/><Relationship Id="rId6" Type="http://schemas.openxmlformats.org/officeDocument/2006/relationships/image" Target="../media/image23.png"/><Relationship Id="rId7"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themeOverride" Target="../theme/themeOverride22.xml"/><Relationship Id="rId3" Type="http://schemas.openxmlformats.org/officeDocument/2006/relationships/image" Target="../media/image17.png"/><Relationship Id="rId4" Type="http://schemas.openxmlformats.org/officeDocument/2006/relationships/image" Target="../media/image16.png"/><Relationship Id="rId5" Type="http://schemas.openxmlformats.org/officeDocument/2006/relationships/image" Target="../media/image15.jpeg"/><Relationship Id="rId6"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themeOverride" Target="../theme/themeOverride23.xml"/><Relationship Id="rId3" Type="http://schemas.openxmlformats.org/officeDocument/2006/relationships/image" Target="../media/image17.png"/><Relationship Id="rId4" Type="http://schemas.openxmlformats.org/officeDocument/2006/relationships/image" Target="../media/image16.png"/><Relationship Id="rId5" Type="http://schemas.openxmlformats.org/officeDocument/2006/relationships/image" Target="../media/image15.jpeg"/><Relationship Id="rId6"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themeOverride" Target="../theme/themeOverride24.xml"/><Relationship Id="rId3" Type="http://schemas.openxmlformats.org/officeDocument/2006/relationships/image" Target="../media/image17.png"/><Relationship Id="rId4" Type="http://schemas.openxmlformats.org/officeDocument/2006/relationships/image" Target="../media/image16.png"/><Relationship Id="rId5" Type="http://schemas.openxmlformats.org/officeDocument/2006/relationships/image" Target="../media/image15.jpeg"/><Relationship Id="rId6" Type="http://schemas.openxmlformats.org/officeDocument/2006/relationships/image" Target="../media/image23.png"/><Relationship Id="rId7"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themeOverride" Target="../theme/themeOverride25.xml"/><Relationship Id="rId3" Type="http://schemas.openxmlformats.org/officeDocument/2006/relationships/image" Target="../media/image17.png"/><Relationship Id="rId4" Type="http://schemas.openxmlformats.org/officeDocument/2006/relationships/image" Target="../media/image16.png"/><Relationship Id="rId5" Type="http://schemas.openxmlformats.org/officeDocument/2006/relationships/image" Target="../media/image15.jpeg"/><Relationship Id="rId6"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themeOverride" Target="../theme/themeOverride26.xml"/><Relationship Id="rId3" Type="http://schemas.openxmlformats.org/officeDocument/2006/relationships/image" Target="../media/image17.png"/><Relationship Id="rId4" Type="http://schemas.openxmlformats.org/officeDocument/2006/relationships/image" Target="../media/image16.png"/><Relationship Id="rId5" Type="http://schemas.openxmlformats.org/officeDocument/2006/relationships/image" Target="../media/image15.jpeg"/><Relationship Id="rId6" Type="http://schemas.openxmlformats.org/officeDocument/2006/relationships/image" Target="../media/image23.png"/><Relationship Id="rId7"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themeOverride" Target="../theme/themeOverride27.xml"/><Relationship Id="rId3" Type="http://schemas.openxmlformats.org/officeDocument/2006/relationships/image" Target="../media/image17.png"/><Relationship Id="rId4" Type="http://schemas.openxmlformats.org/officeDocument/2006/relationships/image" Target="../media/image16.png"/><Relationship Id="rId5" Type="http://schemas.openxmlformats.org/officeDocument/2006/relationships/image" Target="../media/image15.jpeg"/><Relationship Id="rId6"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themeOverride" Target="../theme/themeOverride28.xml"/><Relationship Id="rId3" Type="http://schemas.openxmlformats.org/officeDocument/2006/relationships/image" Target="../media/image17.png"/><Relationship Id="rId4" Type="http://schemas.openxmlformats.org/officeDocument/2006/relationships/image" Target="../media/image16.png"/><Relationship Id="rId5" Type="http://schemas.openxmlformats.org/officeDocument/2006/relationships/image" Target="../media/image15.jpeg"/><Relationship Id="rId6" Type="http://schemas.openxmlformats.org/officeDocument/2006/relationships/image" Target="../media/image24.png"/><Relationship Id="rId7"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themeOverride" Target="../theme/themeOverride29.xml"/><Relationship Id="rId3" Type="http://schemas.openxmlformats.org/officeDocument/2006/relationships/image" Target="../media/image17.png"/><Relationship Id="rId4" Type="http://schemas.openxmlformats.org/officeDocument/2006/relationships/image" Target="../media/image16.png"/><Relationship Id="rId5" Type="http://schemas.openxmlformats.org/officeDocument/2006/relationships/image" Target="../media/image15.jpeg"/><Relationship Id="rId6" Type="http://schemas.openxmlformats.org/officeDocument/2006/relationships/image" Target="../media/image25.png"/><Relationship Id="rId7"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themeOverride" Target="../theme/themeOverride30.xml"/><Relationship Id="rId3" Type="http://schemas.openxmlformats.org/officeDocument/2006/relationships/image" Target="../media/image17.png"/><Relationship Id="rId4" Type="http://schemas.openxmlformats.org/officeDocument/2006/relationships/image" Target="../media/image16.png"/><Relationship Id="rId5" Type="http://schemas.openxmlformats.org/officeDocument/2006/relationships/image" Target="../media/image15.jpeg"/><Relationship Id="rId6"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6CA73066-62EB-02EC-D037-EC294C24A95A}"/>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5A38DABC-8A4C-0F68-E7D3-3975110991B6}"/>
              </a:ext>
            </a:extLst>
          </p:cNvPr>
          <p:cNvSpPr txBox="1">
            <a:spLocks noGrp="1"/>
          </p:cNvSpPr>
          <p:nvPr>
            <p:ph type="title"/>
          </p:nvPr>
        </p:nvSpPr>
        <p:spPr>
          <a:xfrm>
            <a:off x="584200" y="2148840"/>
            <a:ext cx="9144000" cy="1371600"/>
          </a:xfrm>
          <a:noFill/>
          <a:ln>
            <a:noFill/>
            <a:prstDash/>
          </a:ln>
          <a:effectLst/>
        </p:spPr>
        <p:txBody>
          <a:bodyPr rot="0" spcFirstLastPara="0" vertOverflow="overflow" horzOverflow="overflow" vert="horz" wrap="square" lIns="0" tIns="0" rIns="0" bIns="0" numCol="1" spcCol="0" rtlCol="0" fromWordArt="0" anchor="b" anchorCtr="0" forceAA="0" compatLnSpc="1">
            <a:prstTxWarp prst="textNoShape">
              <a:avLst/>
            </a:prstTxWarp>
            <a:spAutoFit/>
          </a:bodyPr>
          <a:lstStyle>
            <a:lvl1pPr algn="l" defTabSz="932742" rtl="0" eaLnBrk="1" latinLnBrk="0" hangingPunct="1">
              <a:lnSpc>
                <a:spcPct val="100000"/>
              </a:lnSpc>
              <a:spcBef>
                <a:spcPct val="0"/>
              </a:spcBef>
              <a:buNone/>
              <a:defRPr lang="en-US" sz="4000" b="0" kern="1200" cap="none" spc="-50" baseline="0">
                <a:ln w="3175">
                  <a:noFill/>
                </a:ln>
                <a:solidFill>
                  <a:schemeClr val="tx1"/>
                </a:solidFill>
                <a:effectLst/>
                <a:latin typeface="+mj-lt"/>
                <a:ea typeface="+mn-ea"/>
                <a:cs typeface="Segoe Sans Display" pitchFamily="2" charset="0"/>
              </a:defRPr>
            </a:lvl1pPr>
          </a:lstStyle>
          <a:p>
            <a:pPr lvl="0"/>
            <a:r>
              <a:rPr lang="en-US" noProof="0" sz="4000"/>
              <a:t>Getting Things Done with Copilot Cowork</a:t>
            </a:r>
            <a:br>
              <a:rPr lang="en-US" noProof="0" sz="4000"/>
            </a:br>
            <a:r>
              <a:rPr lang="en-US" noProof="0" sz="4000"/>
              <a:t>for HR Tasks</a:t>
            </a:r>
            <a:endParaRPr lang="en-US" noProof="0"/>
          </a:p>
        </p:txBody>
      </p:sp>
      <p:sp>
        <p:nvSpPr>
          <p:cNvPr id="5" name="Text Placeholder 4">
            <a:extLst>
              <a:ext uri="{FF2B5EF4-FFF2-40B4-BE49-F238E27FC236}">
                <a16:creationId xmlns:a16="http://schemas.microsoft.com/office/drawing/2014/main" id="{66591BFA-242A-4A0F-746F-DC462B53012B}"/>
              </a:ext>
            </a:extLst>
          </p:cNvPr>
          <p:cNvSpPr>
            <a:spLocks noGrp="1"/>
          </p:cNvSpPr>
          <p:nvPr>
            <p:ph type="body" sz="quarter" idx="12"/>
          </p:nvPr>
        </p:nvSpPr>
        <p:spPr/>
        <p:txBody>
          <a:bodyPr/>
          <a:lstStyle/>
          <a:p>
            <a:r>
              <a:rPr lang="en-IN"/>
              <a:t>Instructor-led, hands-on workshop · 4 hours · ~25 attendees</a:t>
            </a:r>
          </a:p>
        </p:txBody>
      </p:sp>
      <p:sp>
        <p:nvSpPr>
          <p:cNvPr id="7" name="TextBox 6">
            <a:extLst>
              <a:ext uri="{FF2B5EF4-FFF2-40B4-BE49-F238E27FC236}">
                <a16:creationId xmlns:a16="http://schemas.microsoft.com/office/drawing/2014/main" id="{9E45F3F4-9BE0-AC31-C0BF-36DF98724E37}"/>
              </a:ext>
            </a:extLst>
          </p:cNvPr>
          <p:cNvSpPr txBox="1"/>
          <p:nvPr/>
        </p:nvSpPr>
        <p:spPr>
          <a:xfrm>
            <a:off x="584200" y="6293077"/>
            <a:ext cx="6811924"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323139"/>
                </a:solidFill>
                <a:effectLst/>
                <a:uLnTx/>
                <a:uFillTx/>
                <a:latin typeface="Segoe Sans Display Semilight"/>
                <a:ea typeface="+mn-ea"/>
                <a:cs typeface="+mn-cs"/>
              </a:rPr>
              <a:t>©2026</a:t>
            </a:r>
            <a:r>
              <a:rPr kumimoji="0" lang="en-US" sz="800" b="0" i="0" u="none" strike="noStrike" kern="1200" cap="none" spc="40" normalizeH="0" baseline="0" noProof="0">
                <a:ln>
                  <a:noFill/>
                </a:ln>
                <a:solidFill>
                  <a:srgbClr val="323139"/>
                </a:solidFill>
                <a:effectLst/>
                <a:uLnTx/>
                <a:uFillTx/>
                <a:latin typeface="Segoe Sans Display Semilight"/>
                <a:ea typeface="+mn-ea"/>
                <a:cs typeface="+mn-cs"/>
              </a:rPr>
              <a:t> </a:t>
            </a:r>
            <a:r>
              <a:rPr kumimoji="0" lang="en-US" sz="800" b="0" i="0" u="none" strike="noStrike" kern="1200" cap="none" spc="0" normalizeH="0" baseline="0" noProof="0">
                <a:ln>
                  <a:noFill/>
                </a:ln>
                <a:solidFill>
                  <a:srgbClr val="323139"/>
                </a:solidFill>
                <a:effectLst/>
                <a:uLnTx/>
                <a:uFillTx/>
                <a:latin typeface="Segoe Sans Display Semilight"/>
                <a:ea typeface="+mn-ea"/>
                <a:cs typeface="+mn-cs"/>
              </a:rPr>
              <a:t>Microsoft</a:t>
            </a:r>
            <a:r>
              <a:rPr kumimoji="0" lang="en-US" sz="800" b="0" i="0" u="none" strike="noStrike" kern="1200" cap="none" spc="40" normalizeH="0" baseline="0" noProof="0">
                <a:ln>
                  <a:noFill/>
                </a:ln>
                <a:solidFill>
                  <a:srgbClr val="323139"/>
                </a:solidFill>
                <a:effectLst/>
                <a:uLnTx/>
                <a:uFillTx/>
                <a:latin typeface="Segoe Sans Display Semilight"/>
                <a:ea typeface="+mn-ea"/>
                <a:cs typeface="+mn-cs"/>
              </a:rPr>
              <a:t> </a:t>
            </a:r>
            <a:r>
              <a:rPr kumimoji="0" lang="en-US" sz="800" b="0" i="0" u="none" strike="noStrike" kern="1200" cap="none" spc="0" normalizeH="0" baseline="0" noProof="0">
                <a:ln>
                  <a:noFill/>
                </a:ln>
                <a:solidFill>
                  <a:srgbClr val="323139"/>
                </a:solidFill>
                <a:effectLst/>
                <a:uLnTx/>
                <a:uFillTx/>
                <a:latin typeface="Segoe Sans Display Semilight"/>
                <a:ea typeface="+mn-ea"/>
                <a:cs typeface="+mn-cs"/>
              </a:rPr>
              <a:t>Corporation.</a:t>
            </a:r>
            <a:r>
              <a:rPr kumimoji="0" lang="en-US" sz="800" b="0" i="0" u="none" strike="noStrike" kern="1200" cap="none" spc="40" normalizeH="0" baseline="0" noProof="0">
                <a:ln>
                  <a:noFill/>
                </a:ln>
                <a:solidFill>
                  <a:srgbClr val="323139"/>
                </a:solidFill>
                <a:effectLst/>
                <a:uLnTx/>
                <a:uFillTx/>
                <a:latin typeface="Segoe Sans Display Semilight"/>
                <a:ea typeface="+mn-ea"/>
                <a:cs typeface="+mn-cs"/>
              </a:rPr>
              <a:t> </a:t>
            </a:r>
            <a:r>
              <a:rPr kumimoji="0" lang="en-US" sz="800" b="0" i="0" u="none" strike="noStrike" kern="1200" cap="none" spc="0" normalizeH="0" baseline="0" noProof="0">
                <a:ln>
                  <a:noFill/>
                </a:ln>
                <a:solidFill>
                  <a:srgbClr val="323139"/>
                </a:solidFill>
                <a:effectLst/>
                <a:uLnTx/>
                <a:uFillTx/>
                <a:latin typeface="Segoe Sans Display Semilight"/>
                <a:ea typeface="+mn-ea"/>
                <a:cs typeface="+mn-cs"/>
              </a:rPr>
              <a:t>All</a:t>
            </a:r>
            <a:r>
              <a:rPr kumimoji="0" lang="en-US" sz="800" b="0" i="0" u="none" strike="noStrike" kern="1200" cap="none" spc="35" normalizeH="0" baseline="0" noProof="0">
                <a:ln>
                  <a:noFill/>
                </a:ln>
                <a:solidFill>
                  <a:srgbClr val="323139"/>
                </a:solidFill>
                <a:effectLst/>
                <a:uLnTx/>
                <a:uFillTx/>
                <a:latin typeface="Segoe Sans Display Semilight"/>
                <a:ea typeface="+mn-ea"/>
                <a:cs typeface="+mn-cs"/>
              </a:rPr>
              <a:t> </a:t>
            </a:r>
            <a:r>
              <a:rPr kumimoji="0" lang="en-US" sz="800" b="0" i="0" u="none" strike="noStrike" kern="1200" cap="none" spc="0" normalizeH="0" baseline="0" noProof="0">
                <a:ln>
                  <a:noFill/>
                </a:ln>
                <a:solidFill>
                  <a:srgbClr val="323139"/>
                </a:solidFill>
                <a:effectLst/>
                <a:uLnTx/>
                <a:uFillTx/>
                <a:latin typeface="Segoe Sans Display Semilight"/>
                <a:ea typeface="+mn-ea"/>
                <a:cs typeface="+mn-cs"/>
              </a:rPr>
              <a:t>rights</a:t>
            </a:r>
            <a:r>
              <a:rPr kumimoji="0" lang="en-US" sz="800" b="0" i="0" u="none" strike="noStrike" kern="1200" cap="none" spc="40" normalizeH="0" baseline="0" noProof="0">
                <a:ln>
                  <a:noFill/>
                </a:ln>
                <a:solidFill>
                  <a:srgbClr val="323139"/>
                </a:solidFill>
                <a:effectLst/>
                <a:uLnTx/>
                <a:uFillTx/>
                <a:latin typeface="Segoe Sans Display Semilight"/>
                <a:ea typeface="+mn-ea"/>
                <a:cs typeface="+mn-cs"/>
              </a:rPr>
              <a:t> </a:t>
            </a:r>
            <a:r>
              <a:rPr kumimoji="0" lang="en-US" sz="800" b="0" i="0" u="none" strike="noStrike" kern="1200" cap="none" spc="0" normalizeH="0" baseline="0" noProof="0">
                <a:ln>
                  <a:noFill/>
                </a:ln>
                <a:solidFill>
                  <a:srgbClr val="323139"/>
                </a:solidFill>
                <a:effectLst/>
                <a:uLnTx/>
                <a:uFillTx/>
                <a:latin typeface="Segoe Sans Display Semilight"/>
                <a:ea typeface="+mn-ea"/>
                <a:cs typeface="+mn-cs"/>
              </a:rPr>
              <a:t>reserved</a:t>
            </a:r>
            <a:r>
              <a:rPr kumimoji="0" lang="en-US" sz="800" b="0" i="0" u="none" strike="noStrike" kern="1200" cap="none" spc="0" normalizeH="0" baseline="0" noProof="0">
                <a:ln>
                  <a:noFill/>
                </a:ln>
                <a:solidFill>
                  <a:srgbClr val="FFFFFF"/>
                </a:solidFill>
                <a:effectLst/>
                <a:uLnTx/>
                <a:uFillTx/>
                <a:latin typeface="Segoe Sans Display Semilight"/>
                <a:ea typeface="+mn-ea"/>
                <a:cs typeface="+mn-cs"/>
              </a:rPr>
              <a:t>.</a:t>
            </a:r>
            <a:r>
              <a:rPr kumimoji="0" lang="en-US" sz="800" b="0" i="0" u="none" strike="noStrike" kern="1200" cap="none" spc="40" normalizeH="0" baseline="0" noProof="0">
                <a:ln>
                  <a:noFill/>
                </a:ln>
                <a:solidFill>
                  <a:srgbClr val="FFFFFF"/>
                </a:solidFill>
                <a:effectLst/>
                <a:uLnTx/>
                <a:uFillTx/>
                <a:latin typeface="Segoe Sans Display Semilight"/>
                <a:ea typeface="+mn-ea"/>
                <a:cs typeface="+mn-cs"/>
              </a:rPr>
              <a:t> </a:t>
            </a:r>
            <a:endParaRPr kumimoji="0" lang="en-US" sz="1800" b="0" i="0" u="none" strike="noStrike" kern="1200" cap="none" spc="0" normalizeH="0" baseline="0" noProof="0">
              <a:ln>
                <a:noFill/>
              </a:ln>
              <a:solidFill>
                <a:srgbClr val="323139"/>
              </a:solidFill>
              <a:effectLst/>
              <a:uLnTx/>
              <a:uFillTx/>
              <a:latin typeface="Segoe Sans Display Semilight"/>
              <a:ea typeface="+mn-ea"/>
              <a:cs typeface="+mn-cs"/>
            </a:endParaRPr>
          </a:p>
        </p:txBody>
      </p:sp>
    </p:spTree>
    <p:extLst>
      <p:ext uri="{BB962C8B-B14F-4D97-AF65-F5344CB8AC3E}">
        <p14:creationId xmlns:p14="http://schemas.microsoft.com/office/powerpoint/2010/main" val="3541237129"/>
      </p:ext>
    </p:extLst>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1690EC29-5E32-79B5-E29E-1E389EB1B83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1224B80-F0A8-232A-607E-25709F49219E}"/>
              </a:ext>
            </a:extLst>
          </p:cNvPr>
          <p:cNvSpPr txBox="1"/>
          <p:nvPr/>
        </p:nvSpPr>
        <p:spPr>
          <a:xfrm>
            <a:off x="502920" y="347472"/>
            <a:ext cx="11155680" cy="415498"/>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a:ln>
                  <a:noFill/>
                </a:ln>
                <a:solidFill>
                  <a:srgbClr val="242424"/>
                </a:solidFill>
                <a:effectLst/>
                <a:uLnTx/>
                <a:uFillTx/>
                <a:latin typeface="Segoe UI"/>
                <a:ea typeface="+mn-ea"/>
                <a:cs typeface="+mn-cs"/>
              </a:rPr>
              <a:t>Agenda — 4 hours, hands-on</a:t>
            </a:r>
          </a:p>
        </p:txBody>
      </p:sp>
      <p:sp>
        <p:nvSpPr>
          <p:cNvPr id="3" name="TextBox 2">
            <a:extLst>
              <a:ext uri="{FF2B5EF4-FFF2-40B4-BE49-F238E27FC236}">
                <a16:creationId xmlns:a16="http://schemas.microsoft.com/office/drawing/2014/main" id="{C42FDF1E-C1D0-BD11-A7D1-CD7E8CECE583}"/>
              </a:ext>
            </a:extLst>
          </p:cNvPr>
          <p:cNvSpPr txBox="1"/>
          <p:nvPr/>
        </p:nvSpPr>
        <p:spPr>
          <a:xfrm>
            <a:off x="502920" y="932688"/>
            <a:ext cx="11064240" cy="215444"/>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616161"/>
                </a:solidFill>
                <a:effectLst/>
                <a:uLnTx/>
                <a:uFillTx/>
                <a:latin typeface="Segoe UI"/>
                <a:ea typeface="+mn-ea"/>
                <a:cs typeface="+mn-cs"/>
              </a:rPr>
              <a:t>Framing and a UI tour, then eight scenario-based exercises with two breaks.</a:t>
            </a:r>
          </a:p>
        </p:txBody>
      </p:sp>
      <p:sp>
        <p:nvSpPr>
          <p:cNvPr id="4" name="Rectangle 3">
            <a:extLst>
              <a:ext uri="{C183D7F6-B498-43B3-948B-1728B52AA6E4}">
                <ns0:decorative xmlns:ns0="http://schemas.microsoft.com/office/drawing/2017/decorative" val="1"/>
              </a:ext>
            </a:extLst>
          </p:cNvPr>
          <p:cNvSpPr/>
          <p:nvPr/>
        </p:nvSpPr>
        <p:spPr>
          <a:xfrm>
            <a:off x="502920" y="1463040"/>
            <a:ext cx="5486400" cy="54864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a:extLst>
              <a:ext uri="{C183D7F6-B498-43B3-948B-1728B52AA6E4}">
                <ns1:decorative xmlns:ns1="http://schemas.microsoft.com/office/drawing/2017/decorative" val="1"/>
              </a:ext>
            </a:extLst>
          </p:cNvPr>
          <p:cNvSpPr/>
          <p:nvPr/>
        </p:nvSpPr>
        <p:spPr>
          <a:xfrm>
            <a:off x="502920" y="1463040"/>
            <a:ext cx="54864" cy="548640"/>
          </a:xfrm>
          <a:prstGeom prst="rect">
            <a:avLst/>
          </a:prstGeom>
          <a:solidFill>
            <a:srgbClr val="0F6C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85800" y="1463040"/>
            <a:ext cx="822960" cy="548640"/>
          </a:xfrm>
          <a:prstGeom prst="rect">
            <a:avLst/>
          </a:prstGeom>
          <a:noFill/>
        </p:spPr>
        <p:txBody>
          <a:bodyPr wrap="square" anchor="ctr" lIns="0" rIns="0" tIns="0" bIns="0">
            <a:spAutoFit/>
          </a:bodyPr>
          <a:lstStyle/>
          <a:p>
            <a:pPr algn="l">
              <a:spcAft>
                <a:spcPts val="400"/>
              </a:spcAft>
            </a:pPr>
            <a:r>
              <a:rPr sz="1200" b="1" i="0">
                <a:solidFill>
                  <a:srgbClr val="0F6CBD"/>
                </a:solidFill>
                <a:latin typeface="Segoe UI"/>
              </a:rPr>
              <a:t>10 min</a:t>
            </a:r>
          </a:p>
        </p:txBody>
      </p:sp>
      <p:sp>
        <p:nvSpPr>
          <p:cNvPr id="7" name="TextBox 6"/>
          <p:cNvSpPr txBox="1"/>
          <p:nvPr/>
        </p:nvSpPr>
        <p:spPr>
          <a:xfrm>
            <a:off x="1600200" y="1463040"/>
            <a:ext cx="4297680" cy="548640"/>
          </a:xfrm>
          <a:prstGeom prst="rect">
            <a:avLst/>
          </a:prstGeom>
          <a:noFill/>
        </p:spPr>
        <p:txBody>
          <a:bodyPr wrap="square" anchor="ctr" lIns="0" rIns="0" tIns="0" bIns="0">
            <a:spAutoFit/>
          </a:bodyPr>
          <a:lstStyle/>
          <a:p>
            <a:pPr algn="l">
              <a:spcAft>
                <a:spcPts val="0"/>
              </a:spcAft>
            </a:pPr>
            <a:r>
              <a:rPr sz="1300" b="1" i="0">
                <a:solidFill>
                  <a:srgbClr val="242424"/>
                </a:solidFill>
                <a:latin typeface="Segoe UI"/>
              </a:rPr>
              <a:t>Welcome &amp; context</a:t>
            </a:r>
          </a:p>
          <a:p>
            <a:pPr algn="l">
              <a:spcAft>
                <a:spcPts val="0"/>
              </a:spcAft>
            </a:pPr>
            <a:r>
              <a:rPr sz="1050" b="0" i="0">
                <a:solidFill>
                  <a:srgbClr val="616161"/>
                </a:solidFill>
                <a:latin typeface="Segoe UI"/>
              </a:rPr>
              <a:t>What Cowork is, HR value, the approval model</a:t>
            </a:r>
          </a:p>
        </p:txBody>
      </p:sp>
      <p:sp>
        <p:nvSpPr>
          <p:cNvPr id="8" name="Rectangle 7">
            <a:extLst>
              <a:ext uri="{C183D7F6-B498-43B3-948B-1728B52AA6E4}">
                <ns2:decorative xmlns:ns2="http://schemas.microsoft.com/office/drawing/2017/decorative" val="1"/>
              </a:ext>
            </a:extLst>
          </p:cNvPr>
          <p:cNvSpPr/>
          <p:nvPr/>
        </p:nvSpPr>
        <p:spPr>
          <a:xfrm>
            <a:off x="502920" y="2084832"/>
            <a:ext cx="5486400" cy="54864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a:extLst>
              <a:ext uri="{C183D7F6-B498-43B3-948B-1728B52AA6E4}">
                <ns3:decorative xmlns:ns3="http://schemas.microsoft.com/office/drawing/2017/decorative" val="1"/>
              </a:ext>
            </a:extLst>
          </p:cNvPr>
          <p:cNvSpPr/>
          <p:nvPr/>
        </p:nvSpPr>
        <p:spPr>
          <a:xfrm>
            <a:off x="502920" y="2084832"/>
            <a:ext cx="54864" cy="548640"/>
          </a:xfrm>
          <a:prstGeom prst="rect">
            <a:avLst/>
          </a:prstGeom>
          <a:solidFill>
            <a:srgbClr val="0F6C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85800" y="2084832"/>
            <a:ext cx="822960" cy="548640"/>
          </a:xfrm>
          <a:prstGeom prst="rect">
            <a:avLst/>
          </a:prstGeom>
          <a:noFill/>
        </p:spPr>
        <p:txBody>
          <a:bodyPr wrap="square" anchor="ctr" lIns="0" rIns="0" tIns="0" bIns="0">
            <a:spAutoFit/>
          </a:bodyPr>
          <a:lstStyle/>
          <a:p>
            <a:pPr algn="l">
              <a:spcAft>
                <a:spcPts val="400"/>
              </a:spcAft>
            </a:pPr>
            <a:r>
              <a:rPr sz="1200" b="1" i="0">
                <a:solidFill>
                  <a:srgbClr val="0F6CBD"/>
                </a:solidFill>
                <a:latin typeface="Segoe UI"/>
              </a:rPr>
              <a:t>10 min</a:t>
            </a:r>
          </a:p>
        </p:txBody>
      </p:sp>
      <p:sp>
        <p:nvSpPr>
          <p:cNvPr id="11" name="TextBox 10"/>
          <p:cNvSpPr txBox="1"/>
          <p:nvPr/>
        </p:nvSpPr>
        <p:spPr>
          <a:xfrm>
            <a:off x="1600200" y="2084832"/>
            <a:ext cx="4297680" cy="548640"/>
          </a:xfrm>
          <a:prstGeom prst="rect">
            <a:avLst/>
          </a:prstGeom>
          <a:noFill/>
        </p:spPr>
        <p:txBody>
          <a:bodyPr wrap="square" anchor="ctr" lIns="0" rIns="0" tIns="0" bIns="0">
            <a:spAutoFit/>
          </a:bodyPr>
          <a:lstStyle/>
          <a:p>
            <a:pPr algn="l">
              <a:spcAft>
                <a:spcPts val="0"/>
              </a:spcAft>
            </a:pPr>
            <a:r>
              <a:rPr sz="1300" b="1" i="0">
                <a:solidFill>
                  <a:srgbClr val="242424"/>
                </a:solidFill>
                <a:latin typeface="Segoe UI"/>
              </a:rPr>
              <a:t>Copilot vs. Cowork</a:t>
            </a:r>
          </a:p>
          <a:p>
            <a:pPr algn="l">
              <a:spcAft>
                <a:spcPts val="0"/>
              </a:spcAft>
            </a:pPr>
            <a:r>
              <a:rPr sz="1050" b="0" i="0">
                <a:solidFill>
                  <a:srgbClr val="616161"/>
                </a:solidFill>
                <a:latin typeface="Segoe UI"/>
              </a:rPr>
              <a:t>The difference and when to use which</a:t>
            </a:r>
          </a:p>
        </p:txBody>
      </p:sp>
      <p:sp>
        <p:nvSpPr>
          <p:cNvPr id="12" name="Rectangle 11">
            <a:extLst>
              <a:ext uri="{C183D7F6-B498-43B3-948B-1728B52AA6E4}">
                <ns4:decorative xmlns:ns4="http://schemas.microsoft.com/office/drawing/2017/decorative" val="1"/>
              </a:ext>
            </a:extLst>
          </p:cNvPr>
          <p:cNvSpPr/>
          <p:nvPr/>
        </p:nvSpPr>
        <p:spPr>
          <a:xfrm>
            <a:off x="502920" y="2706624"/>
            <a:ext cx="5486400" cy="54864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a:extLst>
              <a:ext uri="{C183D7F6-B498-43B3-948B-1728B52AA6E4}">
                <ns5:decorative xmlns:ns5="http://schemas.microsoft.com/office/drawing/2017/decorative" val="1"/>
              </a:ext>
            </a:extLst>
          </p:cNvPr>
          <p:cNvSpPr/>
          <p:nvPr/>
        </p:nvSpPr>
        <p:spPr>
          <a:xfrm>
            <a:off x="502920" y="2706624"/>
            <a:ext cx="54864" cy="548640"/>
          </a:xfrm>
          <a:prstGeom prst="rect">
            <a:avLst/>
          </a:prstGeom>
          <a:solidFill>
            <a:srgbClr val="0F6C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85800" y="2706624"/>
            <a:ext cx="822960" cy="548640"/>
          </a:xfrm>
          <a:prstGeom prst="rect">
            <a:avLst/>
          </a:prstGeom>
          <a:noFill/>
        </p:spPr>
        <p:txBody>
          <a:bodyPr wrap="square" anchor="ctr" lIns="0" rIns="0" tIns="0" bIns="0">
            <a:spAutoFit/>
          </a:bodyPr>
          <a:lstStyle/>
          <a:p>
            <a:pPr algn="l">
              <a:spcAft>
                <a:spcPts val="400"/>
              </a:spcAft>
            </a:pPr>
            <a:r>
              <a:rPr sz="1200" b="1" i="0">
                <a:solidFill>
                  <a:srgbClr val="0F6CBD"/>
                </a:solidFill>
                <a:latin typeface="Segoe UI"/>
              </a:rPr>
              <a:t>20 min</a:t>
            </a:r>
          </a:p>
        </p:txBody>
      </p:sp>
      <p:sp>
        <p:nvSpPr>
          <p:cNvPr id="15" name="TextBox 14"/>
          <p:cNvSpPr txBox="1"/>
          <p:nvPr/>
        </p:nvSpPr>
        <p:spPr>
          <a:xfrm>
            <a:off x="1600200" y="2706624"/>
            <a:ext cx="4297680" cy="548640"/>
          </a:xfrm>
          <a:prstGeom prst="rect">
            <a:avLst/>
          </a:prstGeom>
          <a:noFill/>
        </p:spPr>
        <p:txBody>
          <a:bodyPr wrap="square" anchor="ctr" lIns="0" rIns="0" tIns="0" bIns="0">
            <a:spAutoFit/>
          </a:bodyPr>
          <a:lstStyle/>
          <a:p>
            <a:pPr algn="l">
              <a:spcAft>
                <a:spcPts val="0"/>
              </a:spcAft>
            </a:pPr>
            <a:r>
              <a:rPr sz="1300" b="1" i="0">
                <a:solidFill>
                  <a:srgbClr val="242424"/>
                </a:solidFill>
                <a:latin typeface="Segoe UI"/>
              </a:rPr>
              <a:t>Cowork UI walkthrough + setup</a:t>
            </a:r>
          </a:p>
          <a:p>
            <a:pPr algn="l">
              <a:spcAft>
                <a:spcPts val="0"/>
              </a:spcAft>
            </a:pPr>
            <a:r>
              <a:rPr sz="1050" b="0" i="0">
                <a:solidFill>
                  <a:srgbClr val="616161"/>
                </a:solidFill>
                <a:latin typeface="Segoe UI"/>
              </a:rPr>
              <a:t>New task · My tasks · Automations · Customize</a:t>
            </a:r>
          </a:p>
        </p:txBody>
      </p:sp>
      <p:sp>
        <p:nvSpPr>
          <p:cNvPr id="16" name="Rectangle 15">
            <a:extLst>
              <a:ext uri="{C183D7F6-B498-43B3-948B-1728B52AA6E4}">
                <ns6:decorative xmlns:ns6="http://schemas.microsoft.com/office/drawing/2017/decorative" val="1"/>
              </a:ext>
            </a:extLst>
          </p:cNvPr>
          <p:cNvSpPr/>
          <p:nvPr/>
        </p:nvSpPr>
        <p:spPr>
          <a:xfrm>
            <a:off x="502920" y="3328416"/>
            <a:ext cx="5486400" cy="54864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a:extLst>
              <a:ext uri="{C183D7F6-B498-43B3-948B-1728B52AA6E4}">
                <ns7:decorative xmlns:ns7="http://schemas.microsoft.com/office/drawing/2017/decorative" val="1"/>
              </a:ext>
            </a:extLst>
          </p:cNvPr>
          <p:cNvSpPr/>
          <p:nvPr/>
        </p:nvSpPr>
        <p:spPr>
          <a:xfrm>
            <a:off x="502920" y="3328416"/>
            <a:ext cx="54864" cy="548640"/>
          </a:xfrm>
          <a:prstGeom prst="rect">
            <a:avLst/>
          </a:prstGeom>
          <a:solidFill>
            <a:srgbClr val="8064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85800" y="3328416"/>
            <a:ext cx="822960" cy="548640"/>
          </a:xfrm>
          <a:prstGeom prst="rect">
            <a:avLst/>
          </a:prstGeom>
          <a:noFill/>
        </p:spPr>
        <p:txBody>
          <a:bodyPr wrap="square" anchor="ctr" lIns="0" rIns="0" tIns="0" bIns="0">
            <a:spAutoFit/>
          </a:bodyPr>
          <a:lstStyle/>
          <a:p>
            <a:pPr algn="l">
              <a:spcAft>
                <a:spcPts val="400"/>
              </a:spcAft>
            </a:pPr>
            <a:r>
              <a:rPr sz="1200" b="1" i="0">
                <a:solidFill>
                  <a:srgbClr val="8064A2"/>
                </a:solidFill>
                <a:latin typeface="Segoe UI"/>
              </a:rPr>
              <a:t>25 min</a:t>
            </a:r>
          </a:p>
        </p:txBody>
      </p:sp>
      <p:sp>
        <p:nvSpPr>
          <p:cNvPr id="19" name="TextBox 18"/>
          <p:cNvSpPr txBox="1"/>
          <p:nvPr/>
        </p:nvSpPr>
        <p:spPr>
          <a:xfrm>
            <a:off x="1600200" y="3328416"/>
            <a:ext cx="4297680" cy="548640"/>
          </a:xfrm>
          <a:prstGeom prst="rect">
            <a:avLst/>
          </a:prstGeom>
          <a:noFill/>
        </p:spPr>
        <p:txBody>
          <a:bodyPr wrap="square" anchor="ctr" lIns="0" rIns="0" tIns="0" bIns="0">
            <a:spAutoFit/>
          </a:bodyPr>
          <a:lstStyle/>
          <a:p>
            <a:pPr algn="l">
              <a:spcAft>
                <a:spcPts val="0"/>
              </a:spcAft>
            </a:pPr>
            <a:r>
              <a:rPr sz="1300" b="1" i="0">
                <a:solidFill>
                  <a:srgbClr val="242424"/>
                </a:solidFill>
                <a:latin typeface="Segoe UI"/>
              </a:rPr>
              <a:t>Ex 1 · Executive Command Center</a:t>
            </a:r>
          </a:p>
          <a:p>
            <a:pPr algn="l">
              <a:spcAft>
                <a:spcPts val="0"/>
              </a:spcAft>
            </a:pPr>
            <a:r>
              <a:rPr sz="1050" b="0" i="0">
                <a:solidFill>
                  <a:srgbClr val="616161"/>
                </a:solidFill>
                <a:latin typeface="Segoe UI"/>
              </a:rPr>
              <a:t>Nifty Fifty “Exec 01” · approvals one at a time</a:t>
            </a:r>
          </a:p>
        </p:txBody>
      </p:sp>
      <p:sp>
        <p:nvSpPr>
          <p:cNvPr id="20" name="Rectangle 19">
            <a:extLst>
              <a:ext uri="{C183D7F6-B498-43B3-948B-1728B52AA6E4}">
                <ns8:decorative xmlns:ns8="http://schemas.microsoft.com/office/drawing/2017/decorative" val="1"/>
              </a:ext>
            </a:extLst>
          </p:cNvPr>
          <p:cNvSpPr/>
          <p:nvPr/>
        </p:nvSpPr>
        <p:spPr>
          <a:xfrm>
            <a:off x="502920" y="3950208"/>
            <a:ext cx="5486400" cy="54864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a:extLst>
              <a:ext uri="{C183D7F6-B498-43B3-948B-1728B52AA6E4}">
                <ns9:decorative xmlns:ns9="http://schemas.microsoft.com/office/drawing/2017/decorative" val="1"/>
              </a:ext>
            </a:extLst>
          </p:cNvPr>
          <p:cNvSpPr/>
          <p:nvPr/>
        </p:nvSpPr>
        <p:spPr>
          <a:xfrm>
            <a:off x="502920" y="3950208"/>
            <a:ext cx="54864" cy="548640"/>
          </a:xfrm>
          <a:prstGeom prst="rect">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85800" y="3950208"/>
            <a:ext cx="822960" cy="548640"/>
          </a:xfrm>
          <a:prstGeom prst="rect">
            <a:avLst/>
          </a:prstGeom>
          <a:noFill/>
        </p:spPr>
        <p:txBody>
          <a:bodyPr wrap="square" anchor="ctr" lIns="0" rIns="0" tIns="0" bIns="0">
            <a:spAutoFit/>
          </a:bodyPr>
          <a:lstStyle/>
          <a:p>
            <a:pPr algn="l">
              <a:spcAft>
                <a:spcPts val="400"/>
              </a:spcAft>
            </a:pPr>
            <a:r>
              <a:rPr sz="1200" b="1" i="0">
                <a:solidFill>
                  <a:srgbClr val="107C10"/>
                </a:solidFill>
                <a:latin typeface="Segoe UI"/>
              </a:rPr>
              <a:t>20 min</a:t>
            </a:r>
          </a:p>
        </p:txBody>
      </p:sp>
      <p:sp>
        <p:nvSpPr>
          <p:cNvPr id="23" name="TextBox 22"/>
          <p:cNvSpPr txBox="1"/>
          <p:nvPr/>
        </p:nvSpPr>
        <p:spPr>
          <a:xfrm>
            <a:off x="1600200" y="3950208"/>
            <a:ext cx="4297680" cy="548640"/>
          </a:xfrm>
          <a:prstGeom prst="rect">
            <a:avLst/>
          </a:prstGeom>
          <a:noFill/>
        </p:spPr>
        <p:txBody>
          <a:bodyPr wrap="square" anchor="ctr" lIns="0" rIns="0" tIns="0" bIns="0">
            <a:spAutoFit/>
          </a:bodyPr>
          <a:lstStyle/>
          <a:p>
            <a:pPr algn="l">
              <a:spcAft>
                <a:spcPts val="0"/>
              </a:spcAft>
            </a:pPr>
            <a:r>
              <a:rPr sz="1300" b="1" i="0">
                <a:solidFill>
                  <a:srgbClr val="242424"/>
                </a:solidFill>
                <a:latin typeface="Segoe UI"/>
              </a:rPr>
              <a:t>Ex 2 · Deep Research</a:t>
            </a:r>
          </a:p>
          <a:p>
            <a:pPr algn="l">
              <a:spcAft>
                <a:spcPts val="0"/>
              </a:spcAft>
            </a:pPr>
            <a:r>
              <a:rPr sz="1050" b="0" i="0">
                <a:solidFill>
                  <a:srgbClr val="616161"/>
                </a:solidFill>
                <a:latin typeface="Segoe UI"/>
              </a:rPr>
              <a:t>Cited briefing + Word/Excel scorecard</a:t>
            </a:r>
          </a:p>
        </p:txBody>
      </p:sp>
      <p:sp>
        <p:nvSpPr>
          <p:cNvPr id="24" name="Rectangle 23">
            <a:extLst>
              <a:ext uri="{C183D7F6-B498-43B3-948B-1728B52AA6E4}">
                <ns10:decorative xmlns:ns10="http://schemas.microsoft.com/office/drawing/2017/decorative" val="1"/>
              </a:ext>
            </a:extLst>
          </p:cNvPr>
          <p:cNvSpPr/>
          <p:nvPr/>
        </p:nvSpPr>
        <p:spPr>
          <a:xfrm>
            <a:off x="502920" y="4572000"/>
            <a:ext cx="5486400" cy="54864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a:extLst>
              <a:ext uri="{C183D7F6-B498-43B3-948B-1728B52AA6E4}">
                <ns11:decorative xmlns:ns11="http://schemas.microsoft.com/office/drawing/2017/decorative" val="1"/>
              </a:ext>
            </a:extLst>
          </p:cNvPr>
          <p:cNvSpPr/>
          <p:nvPr/>
        </p:nvSpPr>
        <p:spPr>
          <a:xfrm>
            <a:off x="502920" y="4572000"/>
            <a:ext cx="54864" cy="548640"/>
          </a:xfrm>
          <a:prstGeom prst="rect">
            <a:avLst/>
          </a:prstGeom>
          <a:solidFill>
            <a:srgbClr val="8A88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85800" y="4572000"/>
            <a:ext cx="822960" cy="548640"/>
          </a:xfrm>
          <a:prstGeom prst="rect">
            <a:avLst/>
          </a:prstGeom>
          <a:noFill/>
        </p:spPr>
        <p:txBody>
          <a:bodyPr wrap="square" anchor="ctr" lIns="0" rIns="0" tIns="0" bIns="0">
            <a:spAutoFit/>
          </a:bodyPr>
          <a:lstStyle/>
          <a:p>
            <a:pPr algn="l">
              <a:spcAft>
                <a:spcPts val="400"/>
              </a:spcAft>
            </a:pPr>
            <a:r>
              <a:rPr sz="1200" b="1" i="0">
                <a:solidFill>
                  <a:srgbClr val="8A8886"/>
                </a:solidFill>
                <a:latin typeface="Segoe UI"/>
              </a:rPr>
              <a:t>10 min</a:t>
            </a:r>
          </a:p>
        </p:txBody>
      </p:sp>
      <p:sp>
        <p:nvSpPr>
          <p:cNvPr id="27" name="TextBox 26"/>
          <p:cNvSpPr txBox="1"/>
          <p:nvPr/>
        </p:nvSpPr>
        <p:spPr>
          <a:xfrm>
            <a:off x="1600200" y="4572000"/>
            <a:ext cx="4297680" cy="548640"/>
          </a:xfrm>
          <a:prstGeom prst="rect">
            <a:avLst/>
          </a:prstGeom>
          <a:noFill/>
        </p:spPr>
        <p:txBody>
          <a:bodyPr wrap="square" anchor="ctr" lIns="0" rIns="0" tIns="0" bIns="0">
            <a:spAutoFit/>
          </a:bodyPr>
          <a:lstStyle/>
          <a:p>
            <a:pPr algn="l">
              <a:spcAft>
                <a:spcPts val="0"/>
              </a:spcAft>
            </a:pPr>
            <a:r>
              <a:rPr sz="1300" b="1" i="0">
                <a:solidFill>
                  <a:srgbClr val="242424"/>
                </a:solidFill>
                <a:latin typeface="Segoe UI"/>
              </a:rPr>
              <a:t>Break</a:t>
            </a:r>
          </a:p>
        </p:txBody>
      </p:sp>
      <p:sp>
        <p:nvSpPr>
          <p:cNvPr id="28" name="Rectangle 27">
            <a:extLst>
              <a:ext uri="{C183D7F6-B498-43B3-948B-1728B52AA6E4}">
                <ns12:decorative xmlns:ns12="http://schemas.microsoft.com/office/drawing/2017/decorative" val="1"/>
              </a:ext>
            </a:extLst>
          </p:cNvPr>
          <p:cNvSpPr/>
          <p:nvPr/>
        </p:nvSpPr>
        <p:spPr>
          <a:xfrm>
            <a:off x="502920" y="5193792"/>
            <a:ext cx="5486400" cy="54864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a:extLst>
              <a:ext uri="{C183D7F6-B498-43B3-948B-1728B52AA6E4}">
                <ns13:decorative xmlns:ns13="http://schemas.microsoft.com/office/drawing/2017/decorative" val="1"/>
              </a:ext>
            </a:extLst>
          </p:cNvPr>
          <p:cNvSpPr/>
          <p:nvPr/>
        </p:nvSpPr>
        <p:spPr>
          <a:xfrm>
            <a:off x="502920" y="5193792"/>
            <a:ext cx="54864" cy="548640"/>
          </a:xfrm>
          <a:prstGeom prst="rect">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85800" y="5193792"/>
            <a:ext cx="822960" cy="548640"/>
          </a:xfrm>
          <a:prstGeom prst="rect">
            <a:avLst/>
          </a:prstGeom>
          <a:noFill/>
        </p:spPr>
        <p:txBody>
          <a:bodyPr wrap="square" anchor="ctr" lIns="0" rIns="0" tIns="0" bIns="0">
            <a:spAutoFit/>
          </a:bodyPr>
          <a:lstStyle/>
          <a:p>
            <a:pPr algn="l">
              <a:spcAft>
                <a:spcPts val="400"/>
              </a:spcAft>
            </a:pPr>
            <a:r>
              <a:rPr sz="1200" b="1" i="0">
                <a:solidFill>
                  <a:srgbClr val="107C10"/>
                </a:solidFill>
                <a:latin typeface="Segoe UI"/>
              </a:rPr>
              <a:t>25 min</a:t>
            </a:r>
          </a:p>
        </p:txBody>
      </p:sp>
      <p:sp>
        <p:nvSpPr>
          <p:cNvPr id="31" name="TextBox 30"/>
          <p:cNvSpPr txBox="1"/>
          <p:nvPr/>
        </p:nvSpPr>
        <p:spPr>
          <a:xfrm>
            <a:off x="1600200" y="5193792"/>
            <a:ext cx="4297680" cy="548640"/>
          </a:xfrm>
          <a:prstGeom prst="rect">
            <a:avLst/>
          </a:prstGeom>
          <a:noFill/>
        </p:spPr>
        <p:txBody>
          <a:bodyPr wrap="square" anchor="ctr" lIns="0" rIns="0" tIns="0" bIns="0">
            <a:spAutoFit/>
          </a:bodyPr>
          <a:lstStyle/>
          <a:p>
            <a:pPr algn="l">
              <a:spcAft>
                <a:spcPts val="0"/>
              </a:spcAft>
            </a:pPr>
            <a:r>
              <a:rPr sz="1300" b="1" i="0">
                <a:solidFill>
                  <a:srgbClr val="242424"/>
                </a:solidFill>
                <a:latin typeface="Segoe UI"/>
              </a:rPr>
              <a:t>Ex 3 · Navigate websites</a:t>
            </a:r>
          </a:p>
          <a:p>
            <a:pPr algn="l">
              <a:spcAft>
                <a:spcPts val="0"/>
              </a:spcAft>
            </a:pPr>
            <a:r>
              <a:rPr sz="1050" b="0" i="0">
                <a:solidFill>
                  <a:srgbClr val="616161"/>
                </a:solidFill>
                <a:latin typeface="Segoe UI"/>
              </a:rPr>
              <a:t>Cowork drives Edge: dol.gov + lni.wa.gov</a:t>
            </a:r>
          </a:p>
        </p:txBody>
      </p:sp>
      <p:sp>
        <p:nvSpPr>
          <p:cNvPr id="32" name="Rectangle 31">
            <a:extLst>
              <a:ext uri="{C183D7F6-B498-43B3-948B-1728B52AA6E4}">
                <ns14:decorative xmlns:ns14="http://schemas.microsoft.com/office/drawing/2017/decorative" val="1"/>
              </a:ext>
            </a:extLst>
          </p:cNvPr>
          <p:cNvSpPr/>
          <p:nvPr/>
        </p:nvSpPr>
        <p:spPr>
          <a:xfrm>
            <a:off x="6172200" y="1463040"/>
            <a:ext cx="5486400" cy="54864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a:extLst>
              <a:ext uri="{C183D7F6-B498-43B3-948B-1728B52AA6E4}">
                <ns15:decorative xmlns:ns15="http://schemas.microsoft.com/office/drawing/2017/decorative" val="1"/>
              </a:ext>
            </a:extLst>
          </p:cNvPr>
          <p:cNvSpPr/>
          <p:nvPr/>
        </p:nvSpPr>
        <p:spPr>
          <a:xfrm>
            <a:off x="6172200" y="1463040"/>
            <a:ext cx="54864" cy="548640"/>
          </a:xfrm>
          <a:prstGeom prst="rect">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355080" y="1463040"/>
            <a:ext cx="822960" cy="548640"/>
          </a:xfrm>
          <a:prstGeom prst="rect">
            <a:avLst/>
          </a:prstGeom>
          <a:noFill/>
        </p:spPr>
        <p:txBody>
          <a:bodyPr wrap="square" anchor="ctr" lIns="0" rIns="0" tIns="0" bIns="0">
            <a:spAutoFit/>
          </a:bodyPr>
          <a:lstStyle/>
          <a:p>
            <a:pPr algn="l">
              <a:spcAft>
                <a:spcPts val="400"/>
              </a:spcAft>
            </a:pPr>
            <a:r>
              <a:rPr sz="1200" b="1" i="0">
                <a:solidFill>
                  <a:srgbClr val="107C10"/>
                </a:solidFill>
                <a:latin typeface="Segoe UI"/>
              </a:rPr>
              <a:t>30 min</a:t>
            </a:r>
          </a:p>
        </p:txBody>
      </p:sp>
      <p:sp>
        <p:nvSpPr>
          <p:cNvPr id="35" name="TextBox 34"/>
          <p:cNvSpPr txBox="1"/>
          <p:nvPr/>
        </p:nvSpPr>
        <p:spPr>
          <a:xfrm>
            <a:off x="7269480" y="1463040"/>
            <a:ext cx="4297680" cy="548640"/>
          </a:xfrm>
          <a:prstGeom prst="rect">
            <a:avLst/>
          </a:prstGeom>
          <a:noFill/>
        </p:spPr>
        <p:txBody>
          <a:bodyPr wrap="square" anchor="ctr" lIns="0" rIns="0" tIns="0" bIns="0">
            <a:spAutoFit/>
          </a:bodyPr>
          <a:lstStyle/>
          <a:p>
            <a:pPr algn="l">
              <a:spcAft>
                <a:spcPts val="0"/>
              </a:spcAft>
            </a:pPr>
            <a:r>
              <a:rPr sz="1300" b="1" i="0">
                <a:solidFill>
                  <a:srgbClr val="242424"/>
                </a:solidFill>
                <a:latin typeface="Segoe UI"/>
              </a:rPr>
              <a:t>Ex 4 · Build a custom skill</a:t>
            </a:r>
          </a:p>
          <a:p>
            <a:pPr algn="l">
              <a:spcAft>
                <a:spcPts val="0"/>
              </a:spcAft>
            </a:pPr>
            <a:r>
              <a:rPr sz="1050" b="0" i="0">
                <a:solidFill>
                  <a:srgbClr val="616161"/>
                </a:solidFill>
                <a:latin typeface="Segoe UI"/>
              </a:rPr>
              <a:t>Centerpiece: HR Policy Answer</a:t>
            </a:r>
          </a:p>
        </p:txBody>
      </p:sp>
      <p:sp>
        <p:nvSpPr>
          <p:cNvPr id="36" name="Rectangle 35">
            <a:extLst>
              <a:ext uri="{C183D7F6-B498-43B3-948B-1728B52AA6E4}">
                <ns16:decorative xmlns:ns16="http://schemas.microsoft.com/office/drawing/2017/decorative" val="1"/>
              </a:ext>
            </a:extLst>
          </p:cNvPr>
          <p:cNvSpPr/>
          <p:nvPr/>
        </p:nvSpPr>
        <p:spPr>
          <a:xfrm>
            <a:off x="6172200" y="2084832"/>
            <a:ext cx="5486400" cy="54864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a:extLst>
              <a:ext uri="{C183D7F6-B498-43B3-948B-1728B52AA6E4}">
                <ns17:decorative xmlns:ns17="http://schemas.microsoft.com/office/drawing/2017/decorative" val="1"/>
              </a:ext>
            </a:extLst>
          </p:cNvPr>
          <p:cNvSpPr/>
          <p:nvPr/>
        </p:nvSpPr>
        <p:spPr>
          <a:xfrm>
            <a:off x="6172200" y="2084832"/>
            <a:ext cx="54864" cy="548640"/>
          </a:xfrm>
          <a:prstGeom prst="rect">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355080" y="2084832"/>
            <a:ext cx="822960" cy="548640"/>
          </a:xfrm>
          <a:prstGeom prst="rect">
            <a:avLst/>
          </a:prstGeom>
          <a:noFill/>
        </p:spPr>
        <p:txBody>
          <a:bodyPr wrap="square" anchor="ctr" lIns="0" rIns="0" tIns="0" bIns="0">
            <a:spAutoFit/>
          </a:bodyPr>
          <a:lstStyle/>
          <a:p>
            <a:pPr algn="l">
              <a:spcAft>
                <a:spcPts val="400"/>
              </a:spcAft>
            </a:pPr>
            <a:r>
              <a:rPr sz="1200" b="1" i="0">
                <a:solidFill>
                  <a:srgbClr val="107C10"/>
                </a:solidFill>
                <a:latin typeface="Segoe UI"/>
              </a:rPr>
              <a:t>15 min</a:t>
            </a:r>
          </a:p>
        </p:txBody>
      </p:sp>
      <p:sp>
        <p:nvSpPr>
          <p:cNvPr id="39" name="TextBox 38"/>
          <p:cNvSpPr txBox="1"/>
          <p:nvPr/>
        </p:nvSpPr>
        <p:spPr>
          <a:xfrm>
            <a:off x="7269480" y="2084832"/>
            <a:ext cx="4297680" cy="548640"/>
          </a:xfrm>
          <a:prstGeom prst="rect">
            <a:avLst/>
          </a:prstGeom>
          <a:noFill/>
        </p:spPr>
        <p:txBody>
          <a:bodyPr wrap="square" anchor="ctr" lIns="0" rIns="0" tIns="0" bIns="0">
            <a:spAutoFit/>
          </a:bodyPr>
          <a:lstStyle/>
          <a:p>
            <a:pPr algn="l">
              <a:spcAft>
                <a:spcPts val="0"/>
              </a:spcAft>
            </a:pPr>
            <a:r>
              <a:rPr sz="1300" b="1" i="0">
                <a:solidFill>
                  <a:srgbClr val="242424"/>
                </a:solidFill>
                <a:latin typeface="Segoe UI"/>
              </a:rPr>
              <a:t>Ex 5 · Recruiting + reporting</a:t>
            </a:r>
          </a:p>
          <a:p>
            <a:pPr algn="l">
              <a:spcAft>
                <a:spcPts val="0"/>
              </a:spcAft>
            </a:pPr>
            <a:r>
              <a:rPr sz="1050" b="0" i="0">
                <a:solidFill>
                  <a:srgbClr val="616161"/>
                </a:solidFill>
                <a:latin typeface="Segoe UI"/>
              </a:rPr>
              <a:t>Inclusive job posting + ticket summary</a:t>
            </a:r>
          </a:p>
        </p:txBody>
      </p:sp>
      <p:sp>
        <p:nvSpPr>
          <p:cNvPr id="40" name="Rectangle 39">
            <a:extLst>
              <a:ext uri="{C183D7F6-B498-43B3-948B-1728B52AA6E4}">
                <ns18:decorative xmlns:ns18="http://schemas.microsoft.com/office/drawing/2017/decorative" val="1"/>
              </a:ext>
            </a:extLst>
          </p:cNvPr>
          <p:cNvSpPr/>
          <p:nvPr/>
        </p:nvSpPr>
        <p:spPr>
          <a:xfrm>
            <a:off x="6172200" y="2706624"/>
            <a:ext cx="5486400" cy="54864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a:extLst>
              <a:ext uri="{C183D7F6-B498-43B3-948B-1728B52AA6E4}">
                <ns19:decorative xmlns:ns19="http://schemas.microsoft.com/office/drawing/2017/decorative" val="1"/>
              </a:ext>
            </a:extLst>
          </p:cNvPr>
          <p:cNvSpPr/>
          <p:nvPr/>
        </p:nvSpPr>
        <p:spPr>
          <a:xfrm>
            <a:off x="6172200" y="2706624"/>
            <a:ext cx="54864" cy="548640"/>
          </a:xfrm>
          <a:prstGeom prst="rect">
            <a:avLst/>
          </a:prstGeom>
          <a:solidFill>
            <a:srgbClr val="8A88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6355080" y="2706624"/>
            <a:ext cx="822960" cy="548640"/>
          </a:xfrm>
          <a:prstGeom prst="rect">
            <a:avLst/>
          </a:prstGeom>
          <a:noFill/>
        </p:spPr>
        <p:txBody>
          <a:bodyPr wrap="square" anchor="ctr" lIns="0" rIns="0" tIns="0" bIns="0">
            <a:spAutoFit/>
          </a:bodyPr>
          <a:lstStyle/>
          <a:p>
            <a:pPr algn="l">
              <a:spcAft>
                <a:spcPts val="400"/>
              </a:spcAft>
            </a:pPr>
            <a:r>
              <a:rPr sz="1200" b="1" i="0">
                <a:solidFill>
                  <a:srgbClr val="8A8886"/>
                </a:solidFill>
                <a:latin typeface="Segoe UI"/>
              </a:rPr>
              <a:t>10 min</a:t>
            </a:r>
          </a:p>
        </p:txBody>
      </p:sp>
      <p:sp>
        <p:nvSpPr>
          <p:cNvPr id="43" name="TextBox 42"/>
          <p:cNvSpPr txBox="1"/>
          <p:nvPr/>
        </p:nvSpPr>
        <p:spPr>
          <a:xfrm>
            <a:off x="7269480" y="2706624"/>
            <a:ext cx="4297680" cy="548640"/>
          </a:xfrm>
          <a:prstGeom prst="rect">
            <a:avLst/>
          </a:prstGeom>
          <a:noFill/>
        </p:spPr>
        <p:txBody>
          <a:bodyPr wrap="square" anchor="ctr" lIns="0" rIns="0" tIns="0" bIns="0">
            <a:spAutoFit/>
          </a:bodyPr>
          <a:lstStyle/>
          <a:p>
            <a:pPr algn="l">
              <a:spcAft>
                <a:spcPts val="0"/>
              </a:spcAft>
            </a:pPr>
            <a:r>
              <a:rPr sz="1300" b="1" i="0">
                <a:solidFill>
                  <a:srgbClr val="242424"/>
                </a:solidFill>
                <a:latin typeface="Segoe UI"/>
              </a:rPr>
              <a:t>Break</a:t>
            </a:r>
          </a:p>
        </p:txBody>
      </p:sp>
      <p:sp>
        <p:nvSpPr>
          <p:cNvPr id="44" name="Rectangle 43">
            <a:extLst>
              <a:ext uri="{C183D7F6-B498-43B3-948B-1728B52AA6E4}">
                <ns20:decorative xmlns:ns20="http://schemas.microsoft.com/office/drawing/2017/decorative" val="1"/>
              </a:ext>
            </a:extLst>
          </p:cNvPr>
          <p:cNvSpPr/>
          <p:nvPr/>
        </p:nvSpPr>
        <p:spPr>
          <a:xfrm>
            <a:off x="6172200" y="3328416"/>
            <a:ext cx="5486400" cy="54864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44">
            <a:extLst>
              <a:ext uri="{C183D7F6-B498-43B3-948B-1728B52AA6E4}">
                <ns21:decorative xmlns:ns21="http://schemas.microsoft.com/office/drawing/2017/decorative" val="1"/>
              </a:ext>
            </a:extLst>
          </p:cNvPr>
          <p:cNvSpPr/>
          <p:nvPr/>
        </p:nvSpPr>
        <p:spPr>
          <a:xfrm>
            <a:off x="6172200" y="3328416"/>
            <a:ext cx="54864" cy="548640"/>
          </a:xfrm>
          <a:prstGeom prst="rect">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6355080" y="3328416"/>
            <a:ext cx="822960" cy="548640"/>
          </a:xfrm>
          <a:prstGeom prst="rect">
            <a:avLst/>
          </a:prstGeom>
          <a:noFill/>
        </p:spPr>
        <p:txBody>
          <a:bodyPr wrap="square" anchor="ctr" lIns="0" rIns="0" tIns="0" bIns="0">
            <a:spAutoFit/>
          </a:bodyPr>
          <a:lstStyle/>
          <a:p>
            <a:pPr algn="l">
              <a:spcAft>
                <a:spcPts val="400"/>
              </a:spcAft>
            </a:pPr>
            <a:r>
              <a:rPr sz="1200" b="1" i="0">
                <a:solidFill>
                  <a:srgbClr val="107C10"/>
                </a:solidFill>
                <a:latin typeface="Segoe UI"/>
              </a:rPr>
              <a:t>20 min</a:t>
            </a:r>
          </a:p>
        </p:txBody>
      </p:sp>
      <p:sp>
        <p:nvSpPr>
          <p:cNvPr id="47" name="TextBox 46"/>
          <p:cNvSpPr txBox="1"/>
          <p:nvPr/>
        </p:nvSpPr>
        <p:spPr>
          <a:xfrm>
            <a:off x="7269480" y="3328416"/>
            <a:ext cx="4297680" cy="548640"/>
          </a:xfrm>
          <a:prstGeom prst="rect">
            <a:avLst/>
          </a:prstGeom>
          <a:noFill/>
        </p:spPr>
        <p:txBody>
          <a:bodyPr wrap="square" anchor="ctr" lIns="0" rIns="0" tIns="0" bIns="0">
            <a:spAutoFit/>
          </a:bodyPr>
          <a:lstStyle/>
          <a:p>
            <a:pPr algn="l">
              <a:spcAft>
                <a:spcPts val="0"/>
              </a:spcAft>
            </a:pPr>
            <a:r>
              <a:rPr sz="1300" b="1" i="0">
                <a:solidFill>
                  <a:srgbClr val="242424"/>
                </a:solidFill>
                <a:latin typeface="Segoe UI"/>
              </a:rPr>
              <a:t>Ex 6 · Onboarding pack</a:t>
            </a:r>
          </a:p>
          <a:p>
            <a:pPr algn="l">
              <a:spcAft>
                <a:spcPts val="0"/>
              </a:spcAft>
            </a:pPr>
            <a:r>
              <a:rPr sz="1050" b="0" i="0">
                <a:solidFill>
                  <a:srgbClr val="616161"/>
                </a:solidFill>
                <a:latin typeface="Segoe UI"/>
              </a:rPr>
              <a:t>PowerPoint + Scheduling + Communications</a:t>
            </a:r>
          </a:p>
        </p:txBody>
      </p:sp>
      <p:sp>
        <p:nvSpPr>
          <p:cNvPr id="48" name="Rectangle 47">
            <a:extLst>
              <a:ext uri="{C183D7F6-B498-43B3-948B-1728B52AA6E4}">
                <ns22:decorative xmlns:ns22="http://schemas.microsoft.com/office/drawing/2017/decorative" val="1"/>
              </a:ext>
            </a:extLst>
          </p:cNvPr>
          <p:cNvSpPr/>
          <p:nvPr/>
        </p:nvSpPr>
        <p:spPr>
          <a:xfrm>
            <a:off x="6172200" y="3950208"/>
            <a:ext cx="5486400" cy="54864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ectangle 48">
            <a:extLst>
              <a:ext uri="{C183D7F6-B498-43B3-948B-1728B52AA6E4}">
                <ns23:decorative xmlns:ns23="http://schemas.microsoft.com/office/drawing/2017/decorative" val="1"/>
              </a:ext>
            </a:extLst>
          </p:cNvPr>
          <p:cNvSpPr/>
          <p:nvPr/>
        </p:nvSpPr>
        <p:spPr>
          <a:xfrm>
            <a:off x="6172200" y="3950208"/>
            <a:ext cx="54864" cy="548640"/>
          </a:xfrm>
          <a:prstGeom prst="rect">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6355080" y="3950208"/>
            <a:ext cx="822960" cy="548640"/>
          </a:xfrm>
          <a:prstGeom prst="rect">
            <a:avLst/>
          </a:prstGeom>
          <a:noFill/>
        </p:spPr>
        <p:txBody>
          <a:bodyPr wrap="square" anchor="ctr" lIns="0" rIns="0" tIns="0" bIns="0">
            <a:spAutoFit/>
          </a:bodyPr>
          <a:lstStyle/>
          <a:p>
            <a:pPr algn="l">
              <a:spcAft>
                <a:spcPts val="400"/>
              </a:spcAft>
            </a:pPr>
            <a:r>
              <a:rPr sz="1200" b="1" i="0">
                <a:solidFill>
                  <a:srgbClr val="107C10"/>
                </a:solidFill>
                <a:latin typeface="Segoe UI"/>
              </a:rPr>
              <a:t>15 min</a:t>
            </a:r>
          </a:p>
        </p:txBody>
      </p:sp>
      <p:sp>
        <p:nvSpPr>
          <p:cNvPr id="51" name="TextBox 50"/>
          <p:cNvSpPr txBox="1"/>
          <p:nvPr/>
        </p:nvSpPr>
        <p:spPr>
          <a:xfrm>
            <a:off x="7269480" y="3950208"/>
            <a:ext cx="4297680" cy="548640"/>
          </a:xfrm>
          <a:prstGeom prst="rect">
            <a:avLst/>
          </a:prstGeom>
          <a:noFill/>
        </p:spPr>
        <p:txBody>
          <a:bodyPr wrap="square" anchor="ctr" lIns="0" rIns="0" tIns="0" bIns="0">
            <a:spAutoFit/>
          </a:bodyPr>
          <a:lstStyle/>
          <a:p>
            <a:pPr algn="l">
              <a:spcAft>
                <a:spcPts val="0"/>
              </a:spcAft>
            </a:pPr>
            <a:r>
              <a:rPr sz="1300" b="1" i="0">
                <a:solidFill>
                  <a:srgbClr val="242424"/>
                </a:solidFill>
                <a:latin typeface="Segoe UI"/>
              </a:rPr>
              <a:t>Ex 7 · Automate &amp; share</a:t>
            </a:r>
          </a:p>
          <a:p>
            <a:pPr algn="l">
              <a:spcAft>
                <a:spcPts val="0"/>
              </a:spcAft>
            </a:pPr>
            <a:r>
              <a:rPr sz="1050" b="0" i="0">
                <a:solidFill>
                  <a:srgbClr val="616161"/>
                </a:solidFill>
                <a:latin typeface="Segoe UI"/>
              </a:rPr>
              <a:t>Automations, Daily Briefing, sharing</a:t>
            </a:r>
          </a:p>
        </p:txBody>
      </p:sp>
      <p:sp>
        <p:nvSpPr>
          <p:cNvPr id="52" name="Rectangle 51">
            <a:extLst>
              <a:ext uri="{C183D7F6-B498-43B3-948B-1728B52AA6E4}">
                <ns24:decorative xmlns:ns24="http://schemas.microsoft.com/office/drawing/2017/decorative" val="1"/>
              </a:ext>
            </a:extLst>
          </p:cNvPr>
          <p:cNvSpPr/>
          <p:nvPr/>
        </p:nvSpPr>
        <p:spPr>
          <a:xfrm>
            <a:off x="6172200" y="4572000"/>
            <a:ext cx="5486400" cy="54864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Rectangle 52">
            <a:extLst>
              <a:ext uri="{C183D7F6-B498-43B3-948B-1728B52AA6E4}">
                <ns25:decorative xmlns:ns25="http://schemas.microsoft.com/office/drawing/2017/decorative" val="1"/>
              </a:ext>
            </a:extLst>
          </p:cNvPr>
          <p:cNvSpPr/>
          <p:nvPr/>
        </p:nvSpPr>
        <p:spPr>
          <a:xfrm>
            <a:off x="6172200" y="4572000"/>
            <a:ext cx="54864" cy="548640"/>
          </a:xfrm>
          <a:prstGeom prst="rect">
            <a:avLst/>
          </a:prstGeom>
          <a:solidFill>
            <a:srgbClr val="948A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6355080" y="4572000"/>
            <a:ext cx="822960" cy="548640"/>
          </a:xfrm>
          <a:prstGeom prst="rect">
            <a:avLst/>
          </a:prstGeom>
          <a:noFill/>
        </p:spPr>
        <p:txBody>
          <a:bodyPr wrap="square" anchor="ctr" lIns="0" rIns="0" tIns="0" bIns="0">
            <a:spAutoFit/>
          </a:bodyPr>
          <a:lstStyle/>
          <a:p>
            <a:pPr algn="l">
              <a:spcAft>
                <a:spcPts val="400"/>
              </a:spcAft>
            </a:pPr>
            <a:r>
              <a:rPr sz="1200" b="1" i="0">
                <a:solidFill>
                  <a:srgbClr val="948A54"/>
                </a:solidFill>
                <a:latin typeface="Segoe UI"/>
              </a:rPr>
              <a:t>5 min</a:t>
            </a:r>
          </a:p>
        </p:txBody>
      </p:sp>
      <p:sp>
        <p:nvSpPr>
          <p:cNvPr id="55" name="TextBox 54"/>
          <p:cNvSpPr txBox="1"/>
          <p:nvPr/>
        </p:nvSpPr>
        <p:spPr>
          <a:xfrm>
            <a:off x="7269480" y="4572000"/>
            <a:ext cx="4297680" cy="548640"/>
          </a:xfrm>
          <a:prstGeom prst="rect">
            <a:avLst/>
          </a:prstGeom>
          <a:noFill/>
        </p:spPr>
        <p:txBody>
          <a:bodyPr wrap="square" anchor="ctr" lIns="0" rIns="0" tIns="0" bIns="0">
            <a:spAutoFit/>
          </a:bodyPr>
          <a:lstStyle/>
          <a:p>
            <a:pPr algn="l">
              <a:spcAft>
                <a:spcPts val="0"/>
              </a:spcAft>
            </a:pPr>
            <a:r>
              <a:rPr sz="1300" b="1" i="0">
                <a:solidFill>
                  <a:srgbClr val="242424"/>
                </a:solidFill>
                <a:latin typeface="Segoe UI"/>
              </a:rPr>
              <a:t>Spotlight · HR plugins</a:t>
            </a:r>
          </a:p>
          <a:p>
            <a:pPr algn="l">
              <a:spcAft>
                <a:spcPts val="0"/>
              </a:spcAft>
            </a:pPr>
            <a:r>
              <a:rPr sz="1050" b="0" i="0">
                <a:solidFill>
                  <a:srgbClr val="616161"/>
                </a:solidFill>
                <a:latin typeface="Segoe UI"/>
              </a:rPr>
              <a:t>Customize → Plugins, talk only</a:t>
            </a:r>
          </a:p>
        </p:txBody>
      </p:sp>
      <p:sp>
        <p:nvSpPr>
          <p:cNvPr id="56" name="Rectangle 55">
            <a:extLst>
              <a:ext uri="{C183D7F6-B498-43B3-948B-1728B52AA6E4}">
                <ns26:decorative xmlns:ns26="http://schemas.microsoft.com/office/drawing/2017/decorative" val="1"/>
              </a:ext>
            </a:extLst>
          </p:cNvPr>
          <p:cNvSpPr/>
          <p:nvPr/>
        </p:nvSpPr>
        <p:spPr>
          <a:xfrm>
            <a:off x="6172200" y="5193792"/>
            <a:ext cx="5486400" cy="54864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Rectangle 56">
            <a:extLst>
              <a:ext uri="{C183D7F6-B498-43B3-948B-1728B52AA6E4}">
                <ns27:decorative xmlns:ns27="http://schemas.microsoft.com/office/drawing/2017/decorative" val="1"/>
              </a:ext>
            </a:extLst>
          </p:cNvPr>
          <p:cNvSpPr/>
          <p:nvPr/>
        </p:nvSpPr>
        <p:spPr>
          <a:xfrm>
            <a:off x="6172200" y="5193792"/>
            <a:ext cx="54864" cy="548640"/>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6355080" y="5193792"/>
            <a:ext cx="822960" cy="548640"/>
          </a:xfrm>
          <a:prstGeom prst="rect">
            <a:avLst/>
          </a:prstGeom>
          <a:noFill/>
        </p:spPr>
        <p:txBody>
          <a:bodyPr wrap="square" anchor="ctr" lIns="0" rIns="0" tIns="0" bIns="0">
            <a:spAutoFit/>
          </a:bodyPr>
          <a:lstStyle/>
          <a:p>
            <a:pPr algn="l">
              <a:spcAft>
                <a:spcPts val="400"/>
              </a:spcAft>
            </a:pPr>
            <a:r>
              <a:rPr sz="1200" b="1" i="0">
                <a:solidFill>
                  <a:srgbClr val="C0504D"/>
                </a:solidFill>
                <a:latin typeface="Segoe UI"/>
              </a:rPr>
              <a:t>20 min</a:t>
            </a:r>
          </a:p>
        </p:txBody>
      </p:sp>
      <p:sp>
        <p:nvSpPr>
          <p:cNvPr id="59" name="TextBox 58"/>
          <p:cNvSpPr txBox="1"/>
          <p:nvPr/>
        </p:nvSpPr>
        <p:spPr>
          <a:xfrm>
            <a:off x="7269480" y="5193792"/>
            <a:ext cx="4297680" cy="548640"/>
          </a:xfrm>
          <a:prstGeom prst="rect">
            <a:avLst/>
          </a:prstGeom>
          <a:noFill/>
        </p:spPr>
        <p:txBody>
          <a:bodyPr wrap="square" anchor="ctr" lIns="0" rIns="0" tIns="0" bIns="0">
            <a:spAutoFit/>
          </a:bodyPr>
          <a:lstStyle/>
          <a:p>
            <a:pPr algn="l">
              <a:spcAft>
                <a:spcPts val="0"/>
              </a:spcAft>
            </a:pPr>
            <a:r>
              <a:rPr sz="1300" b="1" i="0">
                <a:solidFill>
                  <a:srgbClr val="242424"/>
                </a:solidFill>
                <a:latin typeface="Segoe UI"/>
              </a:rPr>
              <a:t>Ex 8 · Agent Builder</a:t>
            </a:r>
          </a:p>
          <a:p>
            <a:pPr algn="l">
              <a:spcAft>
                <a:spcPts val="0"/>
              </a:spcAft>
            </a:pPr>
            <a:r>
              <a:rPr sz="1050" b="0" i="0">
                <a:solidFill>
                  <a:srgbClr val="616161"/>
                </a:solidFill>
                <a:latin typeface="Segoe UI"/>
              </a:rPr>
              <a:t>Non-Cowork: build an HR Policy Agent</a:t>
            </a:r>
          </a:p>
        </p:txBody>
      </p:sp>
      <p:sp>
        <p:nvSpPr>
          <p:cNvPr id="60" name="Rectangle 59">
            <a:extLst>
              <a:ext uri="{C183D7F6-B498-43B3-948B-1728B52AA6E4}">
                <ns28:decorative xmlns:ns28="http://schemas.microsoft.com/office/drawing/2017/decorative" val="1"/>
              </a:ext>
            </a:extLst>
          </p:cNvPr>
          <p:cNvSpPr/>
          <p:nvPr/>
        </p:nvSpPr>
        <p:spPr>
          <a:xfrm>
            <a:off x="6172200" y="5815584"/>
            <a:ext cx="5486400" cy="54864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Rectangle 60">
            <a:extLst>
              <a:ext uri="{C183D7F6-B498-43B3-948B-1728B52AA6E4}">
                <ns29:decorative xmlns:ns29="http://schemas.microsoft.com/office/drawing/2017/decorative" val="1"/>
              </a:ext>
            </a:extLst>
          </p:cNvPr>
          <p:cNvSpPr/>
          <p:nvPr/>
        </p:nvSpPr>
        <p:spPr>
          <a:xfrm>
            <a:off x="6172200" y="5815584"/>
            <a:ext cx="54864" cy="548640"/>
          </a:xfrm>
          <a:prstGeom prst="rect">
            <a:avLst/>
          </a:prstGeom>
          <a:solidFill>
            <a:srgbClr val="0F6C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Box 61"/>
          <p:cNvSpPr txBox="1"/>
          <p:nvPr/>
        </p:nvSpPr>
        <p:spPr>
          <a:xfrm>
            <a:off x="6355080" y="5815584"/>
            <a:ext cx="822960" cy="548640"/>
          </a:xfrm>
          <a:prstGeom prst="rect">
            <a:avLst/>
          </a:prstGeom>
          <a:noFill/>
        </p:spPr>
        <p:txBody>
          <a:bodyPr wrap="square" anchor="ctr" lIns="0" rIns="0" tIns="0" bIns="0">
            <a:spAutoFit/>
          </a:bodyPr>
          <a:lstStyle/>
          <a:p>
            <a:pPr algn="l">
              <a:spcAft>
                <a:spcPts val="400"/>
              </a:spcAft>
            </a:pPr>
            <a:r>
              <a:rPr sz="1200" b="1" i="0">
                <a:solidFill>
                  <a:srgbClr val="0F6CBD"/>
                </a:solidFill>
                <a:latin typeface="Segoe UI"/>
              </a:rPr>
              <a:t>5 min</a:t>
            </a:r>
          </a:p>
        </p:txBody>
      </p:sp>
      <p:sp>
        <p:nvSpPr>
          <p:cNvPr id="63" name="TextBox 62"/>
          <p:cNvSpPr txBox="1"/>
          <p:nvPr/>
        </p:nvSpPr>
        <p:spPr>
          <a:xfrm>
            <a:off x="7269480" y="5815584"/>
            <a:ext cx="4297680" cy="548640"/>
          </a:xfrm>
          <a:prstGeom prst="rect">
            <a:avLst/>
          </a:prstGeom>
          <a:noFill/>
        </p:spPr>
        <p:txBody>
          <a:bodyPr wrap="square" anchor="ctr" lIns="0" rIns="0" tIns="0" bIns="0">
            <a:spAutoFit/>
          </a:bodyPr>
          <a:lstStyle/>
          <a:p>
            <a:pPr algn="l">
              <a:spcAft>
                <a:spcPts val="0"/>
              </a:spcAft>
            </a:pPr>
            <a:r>
              <a:rPr sz="1300" b="1" i="0">
                <a:solidFill>
                  <a:srgbClr val="242424"/>
                </a:solidFill>
                <a:latin typeface="Segoe UI"/>
              </a:rPr>
              <a:t>Wrap-up</a:t>
            </a:r>
          </a:p>
          <a:p>
            <a:pPr algn="l">
              <a:spcAft>
                <a:spcPts val="0"/>
              </a:spcAft>
            </a:pPr>
            <a:r>
              <a:rPr sz="1050" b="0" i="0">
                <a:solidFill>
                  <a:srgbClr val="616161"/>
                </a:solidFill>
                <a:latin typeface="Segoe UI"/>
              </a:rPr>
              <a:t>Three tools and next steps</a:t>
            </a:r>
          </a:p>
        </p:txBody>
      </p:sp>
    </p:spTree>
    <p:extLst>
      <p:ext uri="{BB962C8B-B14F-4D97-AF65-F5344CB8AC3E}">
        <p14:creationId xmlns:p14="http://schemas.microsoft.com/office/powerpoint/2010/main" val="418314712"/>
      </p:ext>
    </p:extLst>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1690EC29-5E32-79B5-E29E-1E389EB1B83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1224B80-F0A8-232A-607E-25709F49219E}"/>
              </a:ext>
            </a:extLst>
          </p:cNvPr>
          <p:cNvSpPr txBox="1"/>
          <p:nvPr/>
        </p:nvSpPr>
        <p:spPr>
          <a:xfrm>
            <a:off x="502920" y="347472"/>
            <a:ext cx="11155680" cy="415498"/>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a:ln>
                  <a:noFill/>
                </a:ln>
                <a:solidFill>
                  <a:srgbClr val="242424"/>
                </a:solidFill>
                <a:effectLst/>
                <a:uLnTx/>
                <a:uFillTx/>
                <a:latin typeface="Segoe UI"/>
                <a:ea typeface="+mn-ea"/>
                <a:cs typeface="+mn-cs"/>
              </a:rPr>
              <a:t>What you’ll be able to do by the end</a:t>
            </a:r>
          </a:p>
        </p:txBody>
      </p:sp>
      <p:sp>
        <p:nvSpPr>
          <p:cNvPr id="3" name="TextBox 2">
            <a:extLst>
              <a:ext uri="{FF2B5EF4-FFF2-40B4-BE49-F238E27FC236}">
                <a16:creationId xmlns:a16="http://schemas.microsoft.com/office/drawing/2014/main" id="{C42FDF1E-C1D0-BD11-A7D1-CD7E8CECE583}"/>
              </a:ext>
            </a:extLst>
          </p:cNvPr>
          <p:cNvSpPr txBox="1"/>
          <p:nvPr/>
        </p:nvSpPr>
        <p:spPr>
          <a:xfrm>
            <a:off x="502920" y="932688"/>
            <a:ext cx="11064240" cy="215444"/>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616161"/>
                </a:solidFill>
                <a:effectLst/>
                <a:uLnTx/>
                <a:uFillTx/>
                <a:latin typeface="Segoe UI"/>
                <a:ea typeface="+mn-ea"/>
                <a:cs typeface="+mn-cs"/>
              </a:rPr>
              <a:t>Six learning objectives — we’ll check them at wrap-up.</a:t>
            </a:r>
          </a:p>
        </p:txBody>
      </p:sp>
      <p:sp>
        <p:nvSpPr>
          <p:cNvPr id="4" name="Rectangle 3">
            <a:extLst>
              <a:ext uri="{C183D7F6-B498-43B3-948B-1728B52AA6E4}">
                <ns0:decorative xmlns:ns0="http://schemas.microsoft.com/office/drawing/2017/decorative" val="1"/>
              </a:ext>
            </a:extLst>
          </p:cNvPr>
          <p:cNvSpPr/>
          <p:nvPr/>
        </p:nvSpPr>
        <p:spPr>
          <a:xfrm>
            <a:off x="502920" y="1463040"/>
            <a:ext cx="5513832" cy="141732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a:extLst>
              <a:ext uri="{C183D7F6-B498-43B3-948B-1728B52AA6E4}">
                <ns1:decorative xmlns:ns1="http://schemas.microsoft.com/office/drawing/2017/decorative" val="1"/>
              </a:ext>
            </a:extLst>
          </p:cNvPr>
          <p:cNvSpPr/>
          <p:nvPr/>
        </p:nvSpPr>
        <p:spPr>
          <a:xfrm>
            <a:off x="502920" y="1463040"/>
            <a:ext cx="54864" cy="1417320"/>
          </a:xfrm>
          <a:prstGeom prst="rect">
            <a:avLst/>
          </a:prstGeom>
          <a:solidFill>
            <a:srgbClr val="0F6C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77240" y="1463040"/>
            <a:ext cx="640080" cy="1417320"/>
          </a:xfrm>
          <a:prstGeom prst="rect">
            <a:avLst/>
          </a:prstGeom>
          <a:noFill/>
        </p:spPr>
        <p:txBody>
          <a:bodyPr wrap="square" anchor="ctr" lIns="0" rIns="0" tIns="0" bIns="0">
            <a:spAutoFit/>
          </a:bodyPr>
          <a:lstStyle/>
          <a:p>
            <a:pPr algn="l">
              <a:spcAft>
                <a:spcPts val="400"/>
              </a:spcAft>
            </a:pPr>
            <a:r>
              <a:rPr sz="3200" b="1" i="0">
                <a:solidFill>
                  <a:srgbClr val="0F6CBD"/>
                </a:solidFill>
                <a:latin typeface="Segoe UI"/>
              </a:rPr>
              <a:t>1</a:t>
            </a:r>
          </a:p>
        </p:txBody>
      </p:sp>
      <p:sp>
        <p:nvSpPr>
          <p:cNvPr id="7" name="TextBox 6"/>
          <p:cNvSpPr txBox="1"/>
          <p:nvPr/>
        </p:nvSpPr>
        <p:spPr>
          <a:xfrm>
            <a:off x="1508760" y="1554480"/>
            <a:ext cx="4343400" cy="1234440"/>
          </a:xfrm>
          <a:prstGeom prst="rect">
            <a:avLst/>
          </a:prstGeom>
          <a:noFill/>
        </p:spPr>
        <p:txBody>
          <a:bodyPr wrap="square" anchor="ctr" lIns="0" rIns="0" tIns="0" bIns="0">
            <a:spAutoFit/>
          </a:bodyPr>
          <a:lstStyle/>
          <a:p>
            <a:pPr algn="l">
              <a:spcAft>
                <a:spcPts val="400"/>
              </a:spcAft>
            </a:pPr>
            <a:r>
              <a:rPr sz="1600" b="1" i="0">
                <a:solidFill>
                  <a:srgbClr val="242424"/>
                </a:solidFill>
                <a:latin typeface="Segoe UI"/>
              </a:rPr>
              <a:t>Choose the right tool</a:t>
            </a:r>
          </a:p>
          <a:p>
            <a:pPr algn="l">
              <a:spcAft>
                <a:spcPts val="400"/>
              </a:spcAft>
            </a:pPr>
            <a:r>
              <a:rPr sz="1300" b="0" i="0">
                <a:solidFill>
                  <a:srgbClr val="616161"/>
                </a:solidFill>
                <a:latin typeface="Segoe UI"/>
              </a:rPr>
              <a:t>Copilot Chat, </a:t>
            </a:r>
            <a:r>
              <a:rPr sz="1300" b="1" i="0">
                <a:solidFill>
                  <a:srgbClr val="616161"/>
                </a:solidFill>
                <a:latin typeface="Segoe UI"/>
              </a:rPr>
              <a:t>Cowork</a:t>
            </a:r>
            <a:r>
              <a:rPr sz="1300" b="0" i="0">
                <a:solidFill>
                  <a:srgbClr val="616161"/>
                </a:solidFill>
                <a:latin typeface="Segoe UI"/>
              </a:rPr>
              <a:t>, or </a:t>
            </a:r>
            <a:r>
              <a:rPr sz="1300" b="1" i="0">
                <a:solidFill>
                  <a:srgbClr val="616161"/>
                </a:solidFill>
                <a:latin typeface="Segoe UI"/>
              </a:rPr>
              <a:t>Agent Builder</a:t>
            </a:r>
            <a:r>
              <a:rPr sz="1300" b="0" i="0">
                <a:solidFill>
                  <a:srgbClr val="616161"/>
                </a:solidFill>
                <a:latin typeface="Segoe UI"/>
              </a:rPr>
              <a:t> — for the task in front of you.</a:t>
            </a:r>
          </a:p>
        </p:txBody>
      </p:sp>
      <p:sp>
        <p:nvSpPr>
          <p:cNvPr id="8" name="Rectangle 7">
            <a:extLst>
              <a:ext uri="{C183D7F6-B498-43B3-948B-1728B52AA6E4}">
                <ns2:decorative xmlns:ns2="http://schemas.microsoft.com/office/drawing/2017/decorative" val="1"/>
              </a:ext>
            </a:extLst>
          </p:cNvPr>
          <p:cNvSpPr/>
          <p:nvPr/>
        </p:nvSpPr>
        <p:spPr>
          <a:xfrm>
            <a:off x="6172200" y="1463040"/>
            <a:ext cx="5513832" cy="141732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a:extLst>
              <a:ext uri="{C183D7F6-B498-43B3-948B-1728B52AA6E4}">
                <ns3:decorative xmlns:ns3="http://schemas.microsoft.com/office/drawing/2017/decorative" val="1"/>
              </a:ext>
            </a:extLst>
          </p:cNvPr>
          <p:cNvSpPr/>
          <p:nvPr/>
        </p:nvSpPr>
        <p:spPr>
          <a:xfrm>
            <a:off x="6172200" y="1463040"/>
            <a:ext cx="54864" cy="1417320"/>
          </a:xfrm>
          <a:prstGeom prst="rect">
            <a:avLst/>
          </a:prstGeom>
          <a:solidFill>
            <a:srgbClr val="8064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46520" y="1463040"/>
            <a:ext cx="640080" cy="1417320"/>
          </a:xfrm>
          <a:prstGeom prst="rect">
            <a:avLst/>
          </a:prstGeom>
          <a:noFill/>
        </p:spPr>
        <p:txBody>
          <a:bodyPr wrap="square" anchor="ctr" lIns="0" rIns="0" tIns="0" bIns="0">
            <a:spAutoFit/>
          </a:bodyPr>
          <a:lstStyle/>
          <a:p>
            <a:pPr algn="l">
              <a:spcAft>
                <a:spcPts val="400"/>
              </a:spcAft>
            </a:pPr>
            <a:r>
              <a:rPr sz="3200" b="1" i="0">
                <a:solidFill>
                  <a:srgbClr val="8064A2"/>
                </a:solidFill>
                <a:latin typeface="Segoe UI"/>
              </a:rPr>
              <a:t>2</a:t>
            </a:r>
          </a:p>
        </p:txBody>
      </p:sp>
      <p:sp>
        <p:nvSpPr>
          <p:cNvPr id="11" name="TextBox 10"/>
          <p:cNvSpPr txBox="1"/>
          <p:nvPr/>
        </p:nvSpPr>
        <p:spPr>
          <a:xfrm>
            <a:off x="7178040" y="1554480"/>
            <a:ext cx="4343400" cy="1234440"/>
          </a:xfrm>
          <a:prstGeom prst="rect">
            <a:avLst/>
          </a:prstGeom>
          <a:noFill/>
        </p:spPr>
        <p:txBody>
          <a:bodyPr wrap="square" anchor="ctr" lIns="0" rIns="0" tIns="0" bIns="0">
            <a:spAutoFit/>
          </a:bodyPr>
          <a:lstStyle/>
          <a:p>
            <a:pPr algn="l">
              <a:spcAft>
                <a:spcPts val="400"/>
              </a:spcAft>
            </a:pPr>
            <a:r>
              <a:rPr sz="1600" b="1" i="0">
                <a:solidFill>
                  <a:srgbClr val="242424"/>
                </a:solidFill>
                <a:latin typeface="Segoe UI"/>
              </a:rPr>
              <a:t>Delegate safely</a:t>
            </a:r>
          </a:p>
          <a:p>
            <a:pPr algn="l">
              <a:spcAft>
                <a:spcPts val="400"/>
              </a:spcAft>
            </a:pPr>
            <a:r>
              <a:rPr sz="1300" b="0" i="0">
                <a:solidFill>
                  <a:srgbClr val="616161"/>
                </a:solidFill>
                <a:latin typeface="Segoe UI"/>
              </a:rPr>
              <a:t>Describe an outcome; approve Cowork’s actions </a:t>
            </a:r>
            <a:r>
              <a:rPr sz="1300" b="1" i="0">
                <a:solidFill>
                  <a:srgbClr val="616161"/>
                </a:solidFill>
                <a:latin typeface="Segoe UI"/>
              </a:rPr>
              <a:t>one at a time</a:t>
            </a:r>
            <a:r>
              <a:rPr sz="1300" b="0" i="0">
                <a:solidFill>
                  <a:srgbClr val="616161"/>
                </a:solidFill>
                <a:latin typeface="Segoe UI"/>
              </a:rPr>
              <a:t>.</a:t>
            </a:r>
          </a:p>
        </p:txBody>
      </p:sp>
      <p:sp>
        <p:nvSpPr>
          <p:cNvPr id="12" name="Rectangle 11">
            <a:extLst>
              <a:ext uri="{C183D7F6-B498-43B3-948B-1728B52AA6E4}">
                <ns4:decorative xmlns:ns4="http://schemas.microsoft.com/office/drawing/2017/decorative" val="1"/>
              </a:ext>
            </a:extLst>
          </p:cNvPr>
          <p:cNvSpPr/>
          <p:nvPr/>
        </p:nvSpPr>
        <p:spPr>
          <a:xfrm>
            <a:off x="502920" y="3063240"/>
            <a:ext cx="5513832" cy="141732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a:extLst>
              <a:ext uri="{C183D7F6-B498-43B3-948B-1728B52AA6E4}">
                <ns5:decorative xmlns:ns5="http://schemas.microsoft.com/office/drawing/2017/decorative" val="1"/>
              </a:ext>
            </a:extLst>
          </p:cNvPr>
          <p:cNvSpPr/>
          <p:nvPr/>
        </p:nvSpPr>
        <p:spPr>
          <a:xfrm>
            <a:off x="502920" y="3063240"/>
            <a:ext cx="54864" cy="1417320"/>
          </a:xfrm>
          <a:prstGeom prst="rect">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77240" y="3063240"/>
            <a:ext cx="640080" cy="1417320"/>
          </a:xfrm>
          <a:prstGeom prst="rect">
            <a:avLst/>
          </a:prstGeom>
          <a:noFill/>
        </p:spPr>
        <p:txBody>
          <a:bodyPr wrap="square" anchor="ctr" lIns="0" rIns="0" tIns="0" bIns="0">
            <a:spAutoFit/>
          </a:bodyPr>
          <a:lstStyle/>
          <a:p>
            <a:pPr algn="l">
              <a:spcAft>
                <a:spcPts val="400"/>
              </a:spcAft>
            </a:pPr>
            <a:r>
              <a:rPr sz="3200" b="1" i="0">
                <a:solidFill>
                  <a:srgbClr val="107C10"/>
                </a:solidFill>
                <a:latin typeface="Segoe UI"/>
              </a:rPr>
              <a:t>3</a:t>
            </a:r>
          </a:p>
        </p:txBody>
      </p:sp>
      <p:sp>
        <p:nvSpPr>
          <p:cNvPr id="15" name="TextBox 14"/>
          <p:cNvSpPr txBox="1"/>
          <p:nvPr/>
        </p:nvSpPr>
        <p:spPr>
          <a:xfrm>
            <a:off x="1508760" y="3154680"/>
            <a:ext cx="4343400" cy="1234440"/>
          </a:xfrm>
          <a:prstGeom prst="rect">
            <a:avLst/>
          </a:prstGeom>
          <a:noFill/>
        </p:spPr>
        <p:txBody>
          <a:bodyPr wrap="square" anchor="ctr" lIns="0" rIns="0" tIns="0" bIns="0">
            <a:spAutoFit/>
          </a:bodyPr>
          <a:lstStyle/>
          <a:p>
            <a:pPr algn="l">
              <a:spcAft>
                <a:spcPts val="400"/>
              </a:spcAft>
            </a:pPr>
            <a:r>
              <a:rPr sz="1600" b="1" i="0">
                <a:solidFill>
                  <a:srgbClr val="242424"/>
                </a:solidFill>
                <a:latin typeface="Segoe UI"/>
              </a:rPr>
              <a:t>Ground in real content</a:t>
            </a:r>
          </a:p>
          <a:p>
            <a:pPr algn="l">
              <a:spcAft>
                <a:spcPts val="400"/>
              </a:spcAft>
            </a:pPr>
            <a:r>
              <a:rPr sz="1300" b="0" i="0">
                <a:solidFill>
                  <a:srgbClr val="616161"/>
                </a:solidFill>
                <a:latin typeface="Segoe UI"/>
              </a:rPr>
              <a:t>Attach files, research and browse the web </a:t>
            </a:r>
            <a:r>
              <a:rPr sz="1300" b="1" i="0">
                <a:solidFill>
                  <a:srgbClr val="616161"/>
                </a:solidFill>
                <a:latin typeface="Segoe UI"/>
              </a:rPr>
              <a:t>with citations</a:t>
            </a:r>
            <a:r>
              <a:rPr sz="1300" b="0" i="0">
                <a:solidFill>
                  <a:srgbClr val="616161"/>
                </a:solidFill>
                <a:latin typeface="Segoe UI"/>
              </a:rPr>
              <a:t>, and check the result.</a:t>
            </a:r>
          </a:p>
        </p:txBody>
      </p:sp>
      <p:sp>
        <p:nvSpPr>
          <p:cNvPr id="16" name="Rectangle 15">
            <a:extLst>
              <a:ext uri="{C183D7F6-B498-43B3-948B-1728B52AA6E4}">
                <ns6:decorative xmlns:ns6="http://schemas.microsoft.com/office/drawing/2017/decorative" val="1"/>
              </a:ext>
            </a:extLst>
          </p:cNvPr>
          <p:cNvSpPr/>
          <p:nvPr/>
        </p:nvSpPr>
        <p:spPr>
          <a:xfrm>
            <a:off x="6172200" y="3063240"/>
            <a:ext cx="5513832" cy="141732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a:extLst>
              <a:ext uri="{C183D7F6-B498-43B3-948B-1728B52AA6E4}">
                <ns7:decorative xmlns:ns7="http://schemas.microsoft.com/office/drawing/2017/decorative" val="1"/>
              </a:ext>
            </a:extLst>
          </p:cNvPr>
          <p:cNvSpPr/>
          <p:nvPr/>
        </p:nvSpPr>
        <p:spPr>
          <a:xfrm>
            <a:off x="6172200" y="3063240"/>
            <a:ext cx="54864" cy="1417320"/>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446520" y="3063240"/>
            <a:ext cx="640080" cy="1417320"/>
          </a:xfrm>
          <a:prstGeom prst="rect">
            <a:avLst/>
          </a:prstGeom>
          <a:noFill/>
        </p:spPr>
        <p:txBody>
          <a:bodyPr wrap="square" anchor="ctr" lIns="0" rIns="0" tIns="0" bIns="0">
            <a:spAutoFit/>
          </a:bodyPr>
          <a:lstStyle/>
          <a:p>
            <a:pPr algn="l">
              <a:spcAft>
                <a:spcPts val="400"/>
              </a:spcAft>
            </a:pPr>
            <a:r>
              <a:rPr sz="3200" b="1" i="0">
                <a:solidFill>
                  <a:srgbClr val="C0504D"/>
                </a:solidFill>
                <a:latin typeface="Segoe UI"/>
              </a:rPr>
              <a:t>4</a:t>
            </a:r>
          </a:p>
        </p:txBody>
      </p:sp>
      <p:sp>
        <p:nvSpPr>
          <p:cNvPr id="19" name="TextBox 18"/>
          <p:cNvSpPr txBox="1"/>
          <p:nvPr/>
        </p:nvSpPr>
        <p:spPr>
          <a:xfrm>
            <a:off x="7178040" y="3154680"/>
            <a:ext cx="4343400" cy="1234440"/>
          </a:xfrm>
          <a:prstGeom prst="rect">
            <a:avLst/>
          </a:prstGeom>
          <a:noFill/>
        </p:spPr>
        <p:txBody>
          <a:bodyPr wrap="square" anchor="ctr" lIns="0" rIns="0" tIns="0" bIns="0">
            <a:spAutoFit/>
          </a:bodyPr>
          <a:lstStyle/>
          <a:p>
            <a:pPr algn="l">
              <a:spcAft>
                <a:spcPts val="400"/>
              </a:spcAft>
            </a:pPr>
            <a:r>
              <a:rPr sz="1600" b="1" i="0">
                <a:solidFill>
                  <a:srgbClr val="242424"/>
                </a:solidFill>
                <a:latin typeface="Segoe UI"/>
              </a:rPr>
              <a:t>Package repeatable work</a:t>
            </a:r>
          </a:p>
          <a:p>
            <a:pPr algn="l">
              <a:spcAft>
                <a:spcPts val="400"/>
              </a:spcAft>
            </a:pPr>
            <a:r>
              <a:rPr sz="1300" b="0" i="0">
                <a:solidFill>
                  <a:srgbClr val="616161"/>
                </a:solidFill>
                <a:latin typeface="Segoe UI"/>
              </a:rPr>
              <a:t>Build a </a:t>
            </a:r>
            <a:r>
              <a:rPr sz="1300" b="1" i="0">
                <a:solidFill>
                  <a:srgbClr val="616161"/>
                </a:solidFill>
                <a:latin typeface="Segoe UI"/>
              </a:rPr>
              <a:t>custom skill</a:t>
            </a:r>
            <a:r>
              <a:rPr sz="1300" b="0" i="0">
                <a:solidFill>
                  <a:srgbClr val="616161"/>
                </a:solidFill>
                <a:latin typeface="Segoe UI"/>
              </a:rPr>
              <a:t>; schedule recurring work with </a:t>
            </a:r>
            <a:r>
              <a:rPr sz="1300" b="1" i="0">
                <a:solidFill>
                  <a:srgbClr val="616161"/>
                </a:solidFill>
                <a:latin typeface="Segoe UI"/>
              </a:rPr>
              <a:t>Automations</a:t>
            </a:r>
            <a:r>
              <a:rPr sz="1300" b="0" i="0">
                <a:solidFill>
                  <a:srgbClr val="616161"/>
                </a:solidFill>
                <a:latin typeface="Segoe UI"/>
              </a:rPr>
              <a:t>.</a:t>
            </a:r>
          </a:p>
        </p:txBody>
      </p:sp>
      <p:sp>
        <p:nvSpPr>
          <p:cNvPr id="20" name="Rectangle 19">
            <a:extLst>
              <a:ext uri="{C183D7F6-B498-43B3-948B-1728B52AA6E4}">
                <ns8:decorative xmlns:ns8="http://schemas.microsoft.com/office/drawing/2017/decorative" val="1"/>
              </a:ext>
            </a:extLst>
          </p:cNvPr>
          <p:cNvSpPr/>
          <p:nvPr/>
        </p:nvSpPr>
        <p:spPr>
          <a:xfrm>
            <a:off x="502920" y="4663440"/>
            <a:ext cx="5513832" cy="141732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a:extLst>
              <a:ext uri="{C183D7F6-B498-43B3-948B-1728B52AA6E4}">
                <ns9:decorative xmlns:ns9="http://schemas.microsoft.com/office/drawing/2017/decorative" val="1"/>
              </a:ext>
            </a:extLst>
          </p:cNvPr>
          <p:cNvSpPr/>
          <p:nvPr/>
        </p:nvSpPr>
        <p:spPr>
          <a:xfrm>
            <a:off x="502920" y="4663440"/>
            <a:ext cx="54864" cy="1417320"/>
          </a:xfrm>
          <a:prstGeom prst="rect">
            <a:avLst/>
          </a:prstGeom>
          <a:solidFill>
            <a:srgbClr val="948A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77240" y="4663440"/>
            <a:ext cx="640080" cy="1417320"/>
          </a:xfrm>
          <a:prstGeom prst="rect">
            <a:avLst/>
          </a:prstGeom>
          <a:noFill/>
        </p:spPr>
        <p:txBody>
          <a:bodyPr wrap="square" anchor="ctr" lIns="0" rIns="0" tIns="0" bIns="0">
            <a:spAutoFit/>
          </a:bodyPr>
          <a:lstStyle/>
          <a:p>
            <a:pPr algn="l">
              <a:spcAft>
                <a:spcPts val="400"/>
              </a:spcAft>
            </a:pPr>
            <a:r>
              <a:rPr sz="3200" b="1" i="0">
                <a:solidFill>
                  <a:srgbClr val="948A54"/>
                </a:solidFill>
                <a:latin typeface="Segoe UI"/>
              </a:rPr>
              <a:t>5</a:t>
            </a:r>
          </a:p>
        </p:txBody>
      </p:sp>
      <p:sp>
        <p:nvSpPr>
          <p:cNvPr id="23" name="TextBox 22"/>
          <p:cNvSpPr txBox="1"/>
          <p:nvPr/>
        </p:nvSpPr>
        <p:spPr>
          <a:xfrm>
            <a:off x="1508760" y="4754879"/>
            <a:ext cx="4343400" cy="1234440"/>
          </a:xfrm>
          <a:prstGeom prst="rect">
            <a:avLst/>
          </a:prstGeom>
          <a:noFill/>
        </p:spPr>
        <p:txBody>
          <a:bodyPr wrap="square" anchor="ctr" lIns="0" rIns="0" tIns="0" bIns="0">
            <a:spAutoFit/>
          </a:bodyPr>
          <a:lstStyle/>
          <a:p>
            <a:pPr algn="l">
              <a:spcAft>
                <a:spcPts val="400"/>
              </a:spcAft>
            </a:pPr>
            <a:r>
              <a:rPr sz="1600" b="1" i="0">
                <a:solidFill>
                  <a:srgbClr val="242424"/>
                </a:solidFill>
                <a:latin typeface="Segoe UI"/>
              </a:rPr>
              <a:t>Build a no-code agent</a:t>
            </a:r>
          </a:p>
          <a:p>
            <a:pPr algn="l">
              <a:spcAft>
                <a:spcPts val="400"/>
              </a:spcAft>
            </a:pPr>
            <a:r>
              <a:rPr sz="1300" b="0" i="0">
                <a:solidFill>
                  <a:srgbClr val="616161"/>
                </a:solidFill>
                <a:latin typeface="Segoe UI"/>
              </a:rPr>
              <a:t>Answers from HR documents; </a:t>
            </a:r>
            <a:r>
              <a:rPr sz="1300" b="1" i="0">
                <a:solidFill>
                  <a:srgbClr val="616161"/>
                </a:solidFill>
                <a:latin typeface="Segoe UI"/>
              </a:rPr>
              <a:t>declines</a:t>
            </a:r>
            <a:r>
              <a:rPr sz="1300" b="0" i="0">
                <a:solidFill>
                  <a:srgbClr val="616161"/>
                </a:solidFill>
                <a:latin typeface="Segoe UI"/>
              </a:rPr>
              <a:t> what it shouldn’t answer.</a:t>
            </a:r>
          </a:p>
        </p:txBody>
      </p:sp>
      <p:sp>
        <p:nvSpPr>
          <p:cNvPr id="24" name="Rectangle 23">
            <a:extLst>
              <a:ext uri="{C183D7F6-B498-43B3-948B-1728B52AA6E4}">
                <ns10:decorative xmlns:ns10="http://schemas.microsoft.com/office/drawing/2017/decorative" val="1"/>
              </a:ext>
            </a:extLst>
          </p:cNvPr>
          <p:cNvSpPr/>
          <p:nvPr/>
        </p:nvSpPr>
        <p:spPr>
          <a:xfrm>
            <a:off x="6172200" y="4663440"/>
            <a:ext cx="5513832" cy="141732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a:extLst>
              <a:ext uri="{C183D7F6-B498-43B3-948B-1728B52AA6E4}">
                <ns11:decorative xmlns:ns11="http://schemas.microsoft.com/office/drawing/2017/decorative" val="1"/>
              </a:ext>
            </a:extLst>
          </p:cNvPr>
          <p:cNvSpPr/>
          <p:nvPr/>
        </p:nvSpPr>
        <p:spPr>
          <a:xfrm>
            <a:off x="6172200" y="4663440"/>
            <a:ext cx="54864" cy="1417320"/>
          </a:xfrm>
          <a:prstGeom prst="rect">
            <a:avLst/>
          </a:prstGeom>
          <a:solidFill>
            <a:srgbClr val="0F6C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446520" y="4663440"/>
            <a:ext cx="640080" cy="1417320"/>
          </a:xfrm>
          <a:prstGeom prst="rect">
            <a:avLst/>
          </a:prstGeom>
          <a:noFill/>
        </p:spPr>
        <p:txBody>
          <a:bodyPr wrap="square" anchor="ctr" lIns="0" rIns="0" tIns="0" bIns="0">
            <a:spAutoFit/>
          </a:bodyPr>
          <a:lstStyle/>
          <a:p>
            <a:pPr algn="l">
              <a:spcAft>
                <a:spcPts val="400"/>
              </a:spcAft>
            </a:pPr>
            <a:r>
              <a:rPr sz="3200" b="1" i="0">
                <a:solidFill>
                  <a:srgbClr val="0F6CBD"/>
                </a:solidFill>
                <a:latin typeface="Segoe UI"/>
              </a:rPr>
              <a:t>6</a:t>
            </a:r>
          </a:p>
        </p:txBody>
      </p:sp>
      <p:sp>
        <p:nvSpPr>
          <p:cNvPr id="27" name="TextBox 26"/>
          <p:cNvSpPr txBox="1"/>
          <p:nvPr/>
        </p:nvSpPr>
        <p:spPr>
          <a:xfrm>
            <a:off x="7178040" y="4754879"/>
            <a:ext cx="4343400" cy="1234440"/>
          </a:xfrm>
          <a:prstGeom prst="rect">
            <a:avLst/>
          </a:prstGeom>
          <a:noFill/>
        </p:spPr>
        <p:txBody>
          <a:bodyPr wrap="square" anchor="ctr" lIns="0" rIns="0" tIns="0" bIns="0">
            <a:spAutoFit/>
          </a:bodyPr>
          <a:lstStyle/>
          <a:p>
            <a:pPr algn="l">
              <a:spcAft>
                <a:spcPts val="400"/>
              </a:spcAft>
            </a:pPr>
            <a:r>
              <a:rPr sz="1600" b="1" i="0">
                <a:solidFill>
                  <a:srgbClr val="242424"/>
                </a:solidFill>
                <a:latin typeface="Segoe UI"/>
              </a:rPr>
              <a:t>Apply HR guardrails</a:t>
            </a:r>
          </a:p>
          <a:p>
            <a:pPr algn="l">
              <a:spcAft>
                <a:spcPts val="400"/>
              </a:spcAft>
            </a:pPr>
            <a:r>
              <a:rPr sz="1300" b="0" i="0">
                <a:solidFill>
                  <a:srgbClr val="616161"/>
                </a:solidFill>
                <a:latin typeface="Segoe UI"/>
              </a:rPr>
              <a:t>Fictional data, </a:t>
            </a:r>
            <a:r>
              <a:rPr sz="1300" b="1" i="0">
                <a:solidFill>
                  <a:srgbClr val="616161"/>
                </a:solidFill>
                <a:latin typeface="Segoe UI"/>
              </a:rPr>
              <a:t>cite and confirm</a:t>
            </a:r>
            <a:r>
              <a:rPr sz="1300" b="0" i="0">
                <a:solidFill>
                  <a:srgbClr val="616161"/>
                </a:solidFill>
                <a:latin typeface="Segoe UI"/>
              </a:rPr>
              <a:t>, people decisions stay with people.</a:t>
            </a:r>
          </a:p>
        </p:txBody>
      </p:sp>
    </p:spTree>
    <p:extLst>
      <p:ext uri="{BB962C8B-B14F-4D97-AF65-F5344CB8AC3E}">
        <p14:creationId xmlns:p14="http://schemas.microsoft.com/office/powerpoint/2010/main" val="418314712"/>
      </p:ext>
    </p:extLst>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1690EC29-5E32-79B5-E29E-1E389EB1B83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1224B80-F0A8-232A-607E-25709F49219E}"/>
              </a:ext>
            </a:extLst>
          </p:cNvPr>
          <p:cNvSpPr txBox="1"/>
          <p:nvPr/>
        </p:nvSpPr>
        <p:spPr>
          <a:xfrm>
            <a:off x="502920" y="347472"/>
            <a:ext cx="11155680" cy="415498"/>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a:ln>
                  <a:noFill/>
                </a:ln>
                <a:solidFill>
                  <a:srgbClr val="242424"/>
                </a:solidFill>
                <a:effectLst/>
                <a:uLnTx/>
                <a:uFillTx/>
                <a:latin typeface="Segoe UI"/>
                <a:ea typeface="+mn-ea"/>
                <a:cs typeface="+mn-cs"/>
              </a:rPr>
              <a:t>Copilot vs. Cowork — what’s the difference?</a:t>
            </a:r>
          </a:p>
        </p:txBody>
      </p:sp>
      <p:sp>
        <p:nvSpPr>
          <p:cNvPr id="3" name="TextBox 2">
            <a:extLst>
              <a:ext uri="{FF2B5EF4-FFF2-40B4-BE49-F238E27FC236}">
                <a16:creationId xmlns:a16="http://schemas.microsoft.com/office/drawing/2014/main" id="{C42FDF1E-C1D0-BD11-A7D1-CD7E8CECE583}"/>
              </a:ext>
            </a:extLst>
          </p:cNvPr>
          <p:cNvSpPr txBox="1"/>
          <p:nvPr/>
        </p:nvSpPr>
        <p:spPr>
          <a:xfrm>
            <a:off x="502920" y="932688"/>
            <a:ext cx="11064240" cy="215444"/>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616161"/>
                </a:solidFill>
                <a:effectLst/>
                <a:uLnTx/>
                <a:uFillTx/>
                <a:latin typeface="Segoe UI"/>
                <a:ea typeface="+mn-ea"/>
                <a:cs typeface="+mn-cs"/>
              </a:rPr>
              <a:t>Start here: the mental model for the whole day.</a:t>
            </a:r>
          </a:p>
        </p:txBody>
      </p:sp>
      <p:sp>
        <p:nvSpPr>
          <p:cNvPr id="4" name="Rectangle 3">
            <a:extLst>
              <a:ext uri="{C183D7F6-B498-43B3-948B-1728B52AA6E4}">
                <ns0:decorative xmlns:ns0="http://schemas.microsoft.com/office/drawing/2017/decorative" val="1"/>
              </a:ext>
            </a:extLst>
          </p:cNvPr>
          <p:cNvSpPr/>
          <p:nvPr/>
        </p:nvSpPr>
        <p:spPr>
          <a:xfrm>
            <a:off x="502920" y="1463040"/>
            <a:ext cx="5468112" cy="301752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a:extLst>
              <a:ext uri="{C183D7F6-B498-43B3-948B-1728B52AA6E4}">
                <ns1:decorative xmlns:ns1="http://schemas.microsoft.com/office/drawing/2017/decorative" val="1"/>
              </a:ext>
            </a:extLst>
          </p:cNvPr>
          <p:cNvSpPr/>
          <p:nvPr/>
        </p:nvSpPr>
        <p:spPr>
          <a:xfrm>
            <a:off x="502920" y="1463040"/>
            <a:ext cx="5468112" cy="41148"/>
          </a:xfrm>
          <a:prstGeom prst="rect">
            <a:avLst/>
          </a:prstGeom>
          <a:solidFill>
            <a:srgbClr val="0F6C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49224" y="1645920"/>
            <a:ext cx="5175504" cy="365760"/>
          </a:xfrm>
          <a:prstGeom prst="rect">
            <a:avLst/>
          </a:prstGeom>
          <a:noFill/>
        </p:spPr>
        <p:txBody>
          <a:bodyPr wrap="square" anchor="t" lIns="0" rIns="0" tIns="0" bIns="0">
            <a:spAutoFit/>
          </a:bodyPr>
          <a:lstStyle/>
          <a:p>
            <a:pPr algn="l">
              <a:spcAft>
                <a:spcPts val="400"/>
              </a:spcAft>
            </a:pPr>
            <a:r>
              <a:rPr sz="1500" b="1" i="0">
                <a:solidFill>
                  <a:srgbClr val="0F6CBD"/>
                </a:solidFill>
                <a:latin typeface="Segoe UI"/>
              </a:rPr>
              <a:t>COPILOT (CHAT) = YOUR AI ASSISTANT</a:t>
            </a:r>
          </a:p>
        </p:txBody>
      </p:sp>
      <p:sp>
        <p:nvSpPr>
          <p:cNvPr id="7" name="TextBox 6"/>
          <p:cNvSpPr txBox="1"/>
          <p:nvPr/>
        </p:nvSpPr>
        <p:spPr>
          <a:xfrm>
            <a:off x="649224" y="2084832"/>
            <a:ext cx="5175504" cy="2286000"/>
          </a:xfrm>
          <a:prstGeom prst="rect">
            <a:avLst/>
          </a:prstGeom>
          <a:noFill/>
        </p:spPr>
        <p:txBody>
          <a:bodyPr wrap="square" anchor="t" lIns="0" rIns="0" tIns="0" bIns="0">
            <a:spAutoFit/>
          </a:bodyPr>
          <a:lstStyle/>
          <a:p>
            <a:pPr algn="l" marL="182880" indent="-182880">
              <a:spcAft>
                <a:spcPts val="500"/>
              </a:spcAft>
              <a:buFont typeface="Arial"/>
              <a:buChar char="•"/>
            </a:pPr>
            <a:r>
              <a:rPr sz="1500" b="1" i="0">
                <a:solidFill>
                  <a:srgbClr val="242424"/>
                </a:solidFill>
                <a:latin typeface="Segoe UI"/>
              </a:rPr>
              <a:t>You ask, it answers</a:t>
            </a:r>
            <a:r>
              <a:rPr sz="1500" b="0" i="0">
                <a:solidFill>
                  <a:srgbClr val="242424"/>
                </a:solidFill>
                <a:latin typeface="Segoe UI"/>
              </a:rPr>
              <a:t> — you drive each step</a:t>
            </a:r>
          </a:p>
          <a:p>
            <a:pPr algn="l" marL="182880" indent="-182880">
              <a:spcAft>
                <a:spcPts val="500"/>
              </a:spcAft>
              <a:buFont typeface="Arial"/>
              <a:buChar char="•"/>
            </a:pPr>
            <a:r>
              <a:rPr sz="1500" b="0" i="0">
                <a:solidFill>
                  <a:srgbClr val="242424"/>
                </a:solidFill>
                <a:latin typeface="Segoe UI"/>
              </a:rPr>
              <a:t>Best for quick answers, drafting, summarizing, rewriting</a:t>
            </a:r>
          </a:p>
          <a:p>
            <a:pPr algn="l" marL="182880" indent="-182880">
              <a:spcAft>
                <a:spcPts val="500"/>
              </a:spcAft>
              <a:buFont typeface="Arial"/>
              <a:buChar char="•"/>
            </a:pPr>
            <a:r>
              <a:rPr sz="1500" b="0" i="0">
                <a:solidFill>
                  <a:srgbClr val="242424"/>
                </a:solidFill>
                <a:latin typeface="Segoe UI"/>
              </a:rPr>
              <a:t>Output: a response in the chat</a:t>
            </a:r>
          </a:p>
          <a:p>
            <a:pPr algn="l" marL="182880" indent="-182880">
              <a:spcAft>
                <a:spcPts val="500"/>
              </a:spcAft>
              <a:buFont typeface="Arial"/>
              <a:buChar char="•"/>
            </a:pPr>
            <a:r>
              <a:rPr sz="1500" b="0" i="0">
                <a:solidFill>
                  <a:srgbClr val="242424"/>
                </a:solidFill>
                <a:latin typeface="Segoe UI"/>
              </a:rPr>
              <a:t>HR example: “Summarize this policy in 3 bullets.”</a:t>
            </a:r>
          </a:p>
        </p:txBody>
      </p:sp>
      <p:sp>
        <p:nvSpPr>
          <p:cNvPr id="8" name="Rectangle 7">
            <a:extLst>
              <a:ext uri="{C183D7F6-B498-43B3-948B-1728B52AA6E4}">
                <ns2:decorative xmlns:ns2="http://schemas.microsoft.com/office/drawing/2017/decorative" val="1"/>
              </a:ext>
            </a:extLst>
          </p:cNvPr>
          <p:cNvSpPr/>
          <p:nvPr/>
        </p:nvSpPr>
        <p:spPr>
          <a:xfrm>
            <a:off x="6217920" y="1463040"/>
            <a:ext cx="5468112" cy="301752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a:extLst>
              <a:ext uri="{C183D7F6-B498-43B3-948B-1728B52AA6E4}">
                <ns3:decorative xmlns:ns3="http://schemas.microsoft.com/office/drawing/2017/decorative" val="1"/>
              </a:ext>
            </a:extLst>
          </p:cNvPr>
          <p:cNvSpPr/>
          <p:nvPr/>
        </p:nvSpPr>
        <p:spPr>
          <a:xfrm>
            <a:off x="6217920" y="1463040"/>
            <a:ext cx="5468112" cy="41148"/>
          </a:xfrm>
          <a:prstGeom prst="rect">
            <a:avLst/>
          </a:prstGeom>
          <a:solidFill>
            <a:srgbClr val="8064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364224" y="1645920"/>
            <a:ext cx="5175504" cy="365760"/>
          </a:xfrm>
          <a:prstGeom prst="rect">
            <a:avLst/>
          </a:prstGeom>
          <a:noFill/>
        </p:spPr>
        <p:txBody>
          <a:bodyPr wrap="square" anchor="t" lIns="0" rIns="0" tIns="0" bIns="0">
            <a:spAutoFit/>
          </a:bodyPr>
          <a:lstStyle/>
          <a:p>
            <a:pPr algn="l">
              <a:spcAft>
                <a:spcPts val="400"/>
              </a:spcAft>
            </a:pPr>
            <a:r>
              <a:rPr sz="1500" b="1" i="0">
                <a:solidFill>
                  <a:srgbClr val="8064A2"/>
                </a:solidFill>
                <a:latin typeface="Segoe UI"/>
              </a:rPr>
              <a:t>COWORK = YOUR AI COWORKER</a:t>
            </a:r>
          </a:p>
        </p:txBody>
      </p:sp>
      <p:sp>
        <p:nvSpPr>
          <p:cNvPr id="11" name="TextBox 10"/>
          <p:cNvSpPr txBox="1"/>
          <p:nvPr/>
        </p:nvSpPr>
        <p:spPr>
          <a:xfrm>
            <a:off x="6364224" y="2084832"/>
            <a:ext cx="5175504" cy="2286000"/>
          </a:xfrm>
          <a:prstGeom prst="rect">
            <a:avLst/>
          </a:prstGeom>
          <a:noFill/>
        </p:spPr>
        <p:txBody>
          <a:bodyPr wrap="square" anchor="t" lIns="0" rIns="0" tIns="0" bIns="0">
            <a:spAutoFit/>
          </a:bodyPr>
          <a:lstStyle/>
          <a:p>
            <a:pPr algn="l" marL="182880" indent="-182880">
              <a:spcAft>
                <a:spcPts val="500"/>
              </a:spcAft>
              <a:buFont typeface="Arial"/>
              <a:buChar char="•"/>
            </a:pPr>
            <a:r>
              <a:rPr sz="1500" b="1" i="0">
                <a:solidFill>
                  <a:srgbClr val="242424"/>
                </a:solidFill>
                <a:latin typeface="Segoe UI"/>
              </a:rPr>
              <a:t>You describe an outcome</a:t>
            </a:r>
            <a:r>
              <a:rPr sz="1500" b="0" i="0">
                <a:solidFill>
                  <a:srgbClr val="242424"/>
                </a:solidFill>
                <a:latin typeface="Segoe UI"/>
              </a:rPr>
              <a:t> — it plans and does the multi-step work</a:t>
            </a:r>
          </a:p>
          <a:p>
            <a:pPr algn="l" marL="182880" indent="-182880">
              <a:spcAft>
                <a:spcPts val="500"/>
              </a:spcAft>
              <a:buFont typeface="Arial"/>
              <a:buChar char="•"/>
            </a:pPr>
            <a:r>
              <a:rPr sz="1500" b="0" i="0">
                <a:solidFill>
                  <a:srgbClr val="242424"/>
                </a:solidFill>
                <a:latin typeface="Segoe UI"/>
              </a:rPr>
              <a:t>Best for tasks that end in a doc, email, deck, report, or schedule</a:t>
            </a:r>
          </a:p>
          <a:p>
            <a:pPr algn="l" marL="182880" indent="-182880">
              <a:spcAft>
                <a:spcPts val="500"/>
              </a:spcAft>
              <a:buFont typeface="Arial"/>
              <a:buChar char="•"/>
            </a:pPr>
            <a:r>
              <a:rPr sz="1500" b="0" i="0">
                <a:solidFill>
                  <a:srgbClr val="242424"/>
                </a:solidFill>
                <a:latin typeface="Segoe UI"/>
              </a:rPr>
              <a:t>Output: finished artifacts — and it can run on a schedule</a:t>
            </a:r>
          </a:p>
          <a:p>
            <a:pPr algn="l" marL="182880" indent="-182880">
              <a:spcAft>
                <a:spcPts val="500"/>
              </a:spcAft>
              <a:buFont typeface="Arial"/>
              <a:buChar char="•"/>
            </a:pPr>
            <a:r>
              <a:rPr sz="1500" b="0" i="0">
                <a:solidFill>
                  <a:srgbClr val="242424"/>
                </a:solidFill>
                <a:latin typeface="Segoe UI"/>
              </a:rPr>
              <a:t>HR example: “Draft welcome emails for all 4 new hires and save them as drafts.”</a:t>
            </a:r>
          </a:p>
        </p:txBody>
      </p:sp>
      <p:sp>
        <p:nvSpPr>
          <p:cNvPr id="12" name="Rounded Rectangle 11">
            <a:extLst>
              <a:ext uri="{C183D7F6-B498-43B3-948B-1728B52AA6E4}">
                <ns4:decorative xmlns:ns4="http://schemas.microsoft.com/office/drawing/2017/decorative" val="1"/>
              </a:ext>
            </a:extLst>
          </p:cNvPr>
          <p:cNvSpPr/>
          <p:nvPr/>
        </p:nvSpPr>
        <p:spPr>
          <a:xfrm>
            <a:off x="502920" y="4754880"/>
            <a:ext cx="11183112" cy="1417320"/>
          </a:xfrm>
          <a:prstGeom prst="roundRect">
            <a:avLst>
              <a:gd name="adj" fmla="val 12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77240" y="4754880"/>
            <a:ext cx="10634472" cy="1417320"/>
          </a:xfrm>
          <a:prstGeom prst="rect">
            <a:avLst/>
          </a:prstGeom>
          <a:noFill/>
        </p:spPr>
        <p:txBody>
          <a:bodyPr wrap="square" anchor="ctr" lIns="0" rIns="0" tIns="0" bIns="0">
            <a:spAutoFit/>
          </a:bodyPr>
          <a:lstStyle/>
          <a:p>
            <a:pPr algn="l">
              <a:lnSpc>
                <a:spcPct val="105000"/>
              </a:lnSpc>
              <a:spcAft>
                <a:spcPts val="400"/>
              </a:spcAft>
            </a:pPr>
            <a:r>
              <a:rPr sz="1300" b="1" i="0">
                <a:solidFill>
                  <a:srgbClr val="323139"/>
                </a:solidFill>
                <a:latin typeface="Segoe UI"/>
              </a:rPr>
              <a:t>Rule of thumb:</a:t>
            </a:r>
            <a:r>
              <a:rPr sz="1300" b="0" i="0">
                <a:solidFill>
                  <a:srgbClr val="323139"/>
                </a:solidFill>
                <a:latin typeface="Segoe UI"/>
              </a:rPr>
              <a:t> several steps that end in a file, email, schedule, or report → </a:t>
            </a:r>
            <a:r>
              <a:rPr sz="1300" b="1" i="0">
                <a:solidFill>
                  <a:srgbClr val="323139"/>
                </a:solidFill>
                <a:latin typeface="Segoe UI"/>
              </a:rPr>
              <a:t>Cowork</a:t>
            </a:r>
            <a:r>
              <a:rPr sz="1300" b="0" i="0">
                <a:solidFill>
                  <a:srgbClr val="323139"/>
                </a:solidFill>
                <a:latin typeface="Segoe UI"/>
              </a:rPr>
              <a:t>. A quick answer or rewrite → </a:t>
            </a:r>
            <a:r>
              <a:rPr sz="1300" b="1" i="0">
                <a:solidFill>
                  <a:srgbClr val="323139"/>
                </a:solidFill>
                <a:latin typeface="Segoe UI"/>
              </a:rPr>
              <a:t>Copilot Chat</a:t>
            </a:r>
            <a:r>
              <a:rPr sz="1300" b="0" i="0">
                <a:solidFill>
                  <a:srgbClr val="323139"/>
                </a:solidFill>
                <a:latin typeface="Segoe UI"/>
              </a:rPr>
              <a:t>. Both are grounded in your work through Work IQ and respect the same permissions. We close with a third tool — </a:t>
            </a:r>
            <a:r>
              <a:rPr sz="1300" b="1" i="0">
                <a:solidFill>
                  <a:srgbClr val="323139"/>
                </a:solidFill>
                <a:latin typeface="Segoe UI"/>
              </a:rPr>
              <a:t>Agent Builder</a:t>
            </a:r>
            <a:r>
              <a:rPr sz="1300" b="0" i="0">
                <a:solidFill>
                  <a:srgbClr val="323139"/>
                </a:solidFill>
                <a:latin typeface="Segoe UI"/>
              </a:rPr>
              <a:t> — in Exercise 8.</a:t>
            </a:r>
          </a:p>
        </p:txBody>
      </p:sp>
    </p:spTree>
    <p:extLst>
      <p:ext uri="{BB962C8B-B14F-4D97-AF65-F5344CB8AC3E}">
        <p14:creationId xmlns:p14="http://schemas.microsoft.com/office/powerpoint/2010/main" val="418314712"/>
      </p:ext>
    </p:extLst>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1690EC29-5E32-79B5-E29E-1E389EB1B83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1224B80-F0A8-232A-607E-25709F49219E}"/>
              </a:ext>
            </a:extLst>
          </p:cNvPr>
          <p:cNvSpPr txBox="1"/>
          <p:nvPr/>
        </p:nvSpPr>
        <p:spPr>
          <a:xfrm>
            <a:off x="502920" y="347472"/>
            <a:ext cx="11155680" cy="415498"/>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a:ln>
                  <a:noFill/>
                </a:ln>
                <a:solidFill>
                  <a:srgbClr val="242424"/>
                </a:solidFill>
                <a:effectLst/>
                <a:uLnTx/>
                <a:uFillTx/>
                <a:latin typeface="Segoe UI"/>
                <a:ea typeface="+mn-ea"/>
                <a:cs typeface="+mn-cs"/>
              </a:rPr>
              <a:t>What is Copilot Cowork?</a:t>
            </a:r>
          </a:p>
        </p:txBody>
      </p:sp>
      <p:sp>
        <p:nvSpPr>
          <p:cNvPr id="3" name="TextBox 2">
            <a:extLst>
              <a:ext uri="{FF2B5EF4-FFF2-40B4-BE49-F238E27FC236}">
                <a16:creationId xmlns:a16="http://schemas.microsoft.com/office/drawing/2014/main" id="{C42FDF1E-C1D0-BD11-A7D1-CD7E8CECE583}"/>
              </a:ext>
            </a:extLst>
          </p:cNvPr>
          <p:cNvSpPr txBox="1"/>
          <p:nvPr/>
        </p:nvSpPr>
        <p:spPr>
          <a:xfrm>
            <a:off x="502920" y="932688"/>
            <a:ext cx="11064240" cy="215444"/>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616161"/>
                </a:solidFill>
                <a:effectLst/>
                <a:uLnTx/>
                <a:uFillTx/>
                <a:latin typeface="Segoe UI"/>
                <a:ea typeface="+mn-ea"/>
                <a:cs typeface="+mn-cs"/>
              </a:rPr>
              <a:t>You describe the outcome — Cowork plans and delivers, grounded in your work via Work IQ.</a:t>
            </a:r>
          </a:p>
        </p:txBody>
      </p:sp>
      <p:sp>
        <p:nvSpPr>
          <p:cNvPr id="4" name="Rectangle 3">
            <a:extLst>
              <a:ext uri="{C183D7F6-B498-43B3-948B-1728B52AA6E4}">
                <ns0:decorative xmlns:ns0="http://schemas.microsoft.com/office/drawing/2017/decorative" val="1"/>
              </a:ext>
            </a:extLst>
          </p:cNvPr>
          <p:cNvSpPr/>
          <p:nvPr/>
        </p:nvSpPr>
        <p:spPr>
          <a:xfrm>
            <a:off x="502920" y="1463040"/>
            <a:ext cx="2679192" cy="269748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a:extLst>
              <a:ext uri="{C183D7F6-B498-43B3-948B-1728B52AA6E4}">
                <ns1:decorative xmlns:ns1="http://schemas.microsoft.com/office/drawing/2017/decorative" val="1"/>
              </a:ext>
            </a:extLst>
          </p:cNvPr>
          <p:cNvSpPr/>
          <p:nvPr/>
        </p:nvSpPr>
        <p:spPr>
          <a:xfrm>
            <a:off x="502920" y="1463040"/>
            <a:ext cx="2679192" cy="41148"/>
          </a:xfrm>
          <a:prstGeom prst="rect">
            <a:avLst/>
          </a:prstGeom>
          <a:solidFill>
            <a:srgbClr val="0F6C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49224" y="1645920"/>
            <a:ext cx="2386584" cy="365760"/>
          </a:xfrm>
          <a:prstGeom prst="rect">
            <a:avLst/>
          </a:prstGeom>
          <a:noFill/>
        </p:spPr>
        <p:txBody>
          <a:bodyPr wrap="square" anchor="t" lIns="0" rIns="0" tIns="0" bIns="0">
            <a:spAutoFit/>
          </a:bodyPr>
          <a:lstStyle/>
          <a:p>
            <a:pPr algn="l">
              <a:spcAft>
                <a:spcPts val="400"/>
              </a:spcAft>
            </a:pPr>
            <a:r>
              <a:rPr sz="1600" b="1" i="0">
                <a:solidFill>
                  <a:srgbClr val="0F6CBD"/>
                </a:solidFill>
                <a:latin typeface="Segoe UI"/>
              </a:rPr>
              <a:t>1 · PLANS</a:t>
            </a:r>
          </a:p>
        </p:txBody>
      </p:sp>
      <p:sp>
        <p:nvSpPr>
          <p:cNvPr id="7" name="TextBox 6"/>
          <p:cNvSpPr txBox="1"/>
          <p:nvPr/>
        </p:nvSpPr>
        <p:spPr>
          <a:xfrm>
            <a:off x="649224" y="2084832"/>
            <a:ext cx="2386584" cy="1965960"/>
          </a:xfrm>
          <a:prstGeom prst="rect">
            <a:avLst/>
          </a:prstGeom>
          <a:noFill/>
        </p:spPr>
        <p:txBody>
          <a:bodyPr wrap="square" anchor="t" lIns="0" rIns="0" tIns="0" bIns="0">
            <a:spAutoFit/>
          </a:bodyPr>
          <a:lstStyle/>
          <a:p>
            <a:pPr algn="l">
              <a:spcAft>
                <a:spcPts val="1400"/>
              </a:spcAft>
            </a:pPr>
            <a:r>
              <a:rPr sz="1600" b="0" i="0">
                <a:solidFill>
                  <a:srgbClr val="242424"/>
                </a:solidFill>
                <a:latin typeface="Segoe UI"/>
              </a:rPr>
              <a:t>the steps needed to reach your outcome</a:t>
            </a:r>
          </a:p>
          <a:p>
            <a:pPr algn="l">
              <a:spcAft>
                <a:spcPts val="500"/>
              </a:spcAft>
            </a:pPr>
            <a:r>
              <a:rPr sz="1300" b="0" i="1">
                <a:solidFill>
                  <a:srgbClr val="616161"/>
                </a:solidFill>
                <a:latin typeface="Segoe UI"/>
              </a:rPr>
              <a:t>e.g., gather → draft → schedule</a:t>
            </a:r>
          </a:p>
        </p:txBody>
      </p:sp>
      <p:sp>
        <p:nvSpPr>
          <p:cNvPr id="8" name="Rectangle 7">
            <a:extLst>
              <a:ext uri="{C183D7F6-B498-43B3-948B-1728B52AA6E4}">
                <ns2:decorative xmlns:ns2="http://schemas.microsoft.com/office/drawing/2017/decorative" val="1"/>
              </a:ext>
            </a:extLst>
          </p:cNvPr>
          <p:cNvSpPr/>
          <p:nvPr/>
        </p:nvSpPr>
        <p:spPr>
          <a:xfrm>
            <a:off x="3337560" y="1463040"/>
            <a:ext cx="2679192" cy="269748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a:extLst>
              <a:ext uri="{C183D7F6-B498-43B3-948B-1728B52AA6E4}">
                <ns3:decorative xmlns:ns3="http://schemas.microsoft.com/office/drawing/2017/decorative" val="1"/>
              </a:ext>
            </a:extLst>
          </p:cNvPr>
          <p:cNvSpPr/>
          <p:nvPr/>
        </p:nvSpPr>
        <p:spPr>
          <a:xfrm>
            <a:off x="3337560" y="1463040"/>
            <a:ext cx="2679192" cy="41148"/>
          </a:xfrm>
          <a:prstGeom prst="rect">
            <a:avLst/>
          </a:prstGeom>
          <a:solidFill>
            <a:srgbClr val="8064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483864" y="1645920"/>
            <a:ext cx="2386584" cy="365760"/>
          </a:xfrm>
          <a:prstGeom prst="rect">
            <a:avLst/>
          </a:prstGeom>
          <a:noFill/>
        </p:spPr>
        <p:txBody>
          <a:bodyPr wrap="square" anchor="t" lIns="0" rIns="0" tIns="0" bIns="0">
            <a:spAutoFit/>
          </a:bodyPr>
          <a:lstStyle/>
          <a:p>
            <a:pPr algn="l">
              <a:spcAft>
                <a:spcPts val="400"/>
              </a:spcAft>
            </a:pPr>
            <a:r>
              <a:rPr sz="1600" b="1" i="0">
                <a:solidFill>
                  <a:srgbClr val="8064A2"/>
                </a:solidFill>
                <a:latin typeface="Segoe UI"/>
              </a:rPr>
              <a:t>2 · PICKS</a:t>
            </a:r>
          </a:p>
        </p:txBody>
      </p:sp>
      <p:sp>
        <p:nvSpPr>
          <p:cNvPr id="11" name="TextBox 10"/>
          <p:cNvSpPr txBox="1"/>
          <p:nvPr/>
        </p:nvSpPr>
        <p:spPr>
          <a:xfrm>
            <a:off x="3483864" y="2084832"/>
            <a:ext cx="2386584" cy="1965960"/>
          </a:xfrm>
          <a:prstGeom prst="rect">
            <a:avLst/>
          </a:prstGeom>
          <a:noFill/>
        </p:spPr>
        <p:txBody>
          <a:bodyPr wrap="square" anchor="t" lIns="0" rIns="0" tIns="0" bIns="0">
            <a:spAutoFit/>
          </a:bodyPr>
          <a:lstStyle/>
          <a:p>
            <a:pPr algn="l">
              <a:spcAft>
                <a:spcPts val="1400"/>
              </a:spcAft>
            </a:pPr>
            <a:r>
              <a:rPr sz="1600" b="0" i="0">
                <a:solidFill>
                  <a:srgbClr val="242424"/>
                </a:solidFill>
                <a:latin typeface="Segoe UI"/>
              </a:rPr>
              <a:t>the right skills and apps for each step</a:t>
            </a:r>
          </a:p>
          <a:p>
            <a:pPr algn="l">
              <a:spcAft>
                <a:spcPts val="500"/>
              </a:spcAft>
            </a:pPr>
            <a:r>
              <a:rPr sz="1300" b="0" i="1">
                <a:solidFill>
                  <a:srgbClr val="616161"/>
                </a:solidFill>
                <a:latin typeface="Segoe UI"/>
              </a:rPr>
              <a:t>e.g., Email, Word, Calendar</a:t>
            </a:r>
          </a:p>
        </p:txBody>
      </p:sp>
      <p:sp>
        <p:nvSpPr>
          <p:cNvPr id="12" name="Rectangle 11">
            <a:extLst>
              <a:ext uri="{C183D7F6-B498-43B3-948B-1728B52AA6E4}">
                <ns4:decorative xmlns:ns4="http://schemas.microsoft.com/office/drawing/2017/decorative" val="1"/>
              </a:ext>
            </a:extLst>
          </p:cNvPr>
          <p:cNvSpPr/>
          <p:nvPr/>
        </p:nvSpPr>
        <p:spPr>
          <a:xfrm>
            <a:off x="6172200" y="1463040"/>
            <a:ext cx="2679192" cy="269748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a:extLst>
              <a:ext uri="{C183D7F6-B498-43B3-948B-1728B52AA6E4}">
                <ns5:decorative xmlns:ns5="http://schemas.microsoft.com/office/drawing/2017/decorative" val="1"/>
              </a:ext>
            </a:extLst>
          </p:cNvPr>
          <p:cNvSpPr/>
          <p:nvPr/>
        </p:nvSpPr>
        <p:spPr>
          <a:xfrm>
            <a:off x="6172200" y="1463040"/>
            <a:ext cx="2679192" cy="41148"/>
          </a:xfrm>
          <a:prstGeom prst="rect">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18504" y="1645920"/>
            <a:ext cx="2386584" cy="365760"/>
          </a:xfrm>
          <a:prstGeom prst="rect">
            <a:avLst/>
          </a:prstGeom>
          <a:noFill/>
        </p:spPr>
        <p:txBody>
          <a:bodyPr wrap="square" anchor="t" lIns="0" rIns="0" tIns="0" bIns="0">
            <a:spAutoFit/>
          </a:bodyPr>
          <a:lstStyle/>
          <a:p>
            <a:pPr algn="l">
              <a:spcAft>
                <a:spcPts val="400"/>
              </a:spcAft>
            </a:pPr>
            <a:r>
              <a:rPr sz="1600" b="1" i="0">
                <a:solidFill>
                  <a:srgbClr val="107C10"/>
                </a:solidFill>
                <a:latin typeface="Segoe UI"/>
              </a:rPr>
              <a:t>3 · PAUSES</a:t>
            </a:r>
          </a:p>
        </p:txBody>
      </p:sp>
      <p:sp>
        <p:nvSpPr>
          <p:cNvPr id="15" name="TextBox 14"/>
          <p:cNvSpPr txBox="1"/>
          <p:nvPr/>
        </p:nvSpPr>
        <p:spPr>
          <a:xfrm>
            <a:off x="6318504" y="2084832"/>
            <a:ext cx="2386584" cy="1965960"/>
          </a:xfrm>
          <a:prstGeom prst="rect">
            <a:avLst/>
          </a:prstGeom>
          <a:noFill/>
        </p:spPr>
        <p:txBody>
          <a:bodyPr wrap="square" anchor="t" lIns="0" rIns="0" tIns="0" bIns="0">
            <a:spAutoFit/>
          </a:bodyPr>
          <a:lstStyle/>
          <a:p>
            <a:pPr algn="l">
              <a:spcAft>
                <a:spcPts val="1400"/>
              </a:spcAft>
            </a:pPr>
            <a:r>
              <a:rPr sz="1600" b="0" i="0">
                <a:solidFill>
                  <a:srgbClr val="242424"/>
                </a:solidFill>
                <a:latin typeface="Segoe UI"/>
              </a:rPr>
              <a:t>for your approval at key checkpoints</a:t>
            </a:r>
          </a:p>
          <a:p>
            <a:pPr algn="l">
              <a:spcAft>
                <a:spcPts val="500"/>
              </a:spcAft>
            </a:pPr>
            <a:r>
              <a:rPr sz="1300" b="0" i="1">
                <a:solidFill>
                  <a:srgbClr val="616161"/>
                </a:solidFill>
                <a:latin typeface="Segoe UI"/>
              </a:rPr>
              <a:t>e.g., before it sends or deletes</a:t>
            </a:r>
          </a:p>
        </p:txBody>
      </p:sp>
      <p:sp>
        <p:nvSpPr>
          <p:cNvPr id="16" name="Rectangle 15">
            <a:extLst>
              <a:ext uri="{C183D7F6-B498-43B3-948B-1728B52AA6E4}">
                <ns6:decorative xmlns:ns6="http://schemas.microsoft.com/office/drawing/2017/decorative" val="1"/>
              </a:ext>
            </a:extLst>
          </p:cNvPr>
          <p:cNvSpPr/>
          <p:nvPr/>
        </p:nvSpPr>
        <p:spPr>
          <a:xfrm>
            <a:off x="9006840" y="1463040"/>
            <a:ext cx="2679192" cy="269748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a:extLst>
              <a:ext uri="{C183D7F6-B498-43B3-948B-1728B52AA6E4}">
                <ns7:decorative xmlns:ns7="http://schemas.microsoft.com/office/drawing/2017/decorative" val="1"/>
              </a:ext>
            </a:extLst>
          </p:cNvPr>
          <p:cNvSpPr/>
          <p:nvPr/>
        </p:nvSpPr>
        <p:spPr>
          <a:xfrm>
            <a:off x="9006840" y="1463040"/>
            <a:ext cx="2679192" cy="41148"/>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153144" y="1645920"/>
            <a:ext cx="2386584" cy="365760"/>
          </a:xfrm>
          <a:prstGeom prst="rect">
            <a:avLst/>
          </a:prstGeom>
          <a:noFill/>
        </p:spPr>
        <p:txBody>
          <a:bodyPr wrap="square" anchor="t" lIns="0" rIns="0" tIns="0" bIns="0">
            <a:spAutoFit/>
          </a:bodyPr>
          <a:lstStyle/>
          <a:p>
            <a:pPr algn="l">
              <a:spcAft>
                <a:spcPts val="400"/>
              </a:spcAft>
            </a:pPr>
            <a:r>
              <a:rPr sz="1600" b="1" i="0">
                <a:solidFill>
                  <a:srgbClr val="C0504D"/>
                </a:solidFill>
                <a:latin typeface="Segoe UI"/>
              </a:rPr>
              <a:t>4 · RETURNS</a:t>
            </a:r>
          </a:p>
        </p:txBody>
      </p:sp>
      <p:sp>
        <p:nvSpPr>
          <p:cNvPr id="19" name="TextBox 18"/>
          <p:cNvSpPr txBox="1"/>
          <p:nvPr/>
        </p:nvSpPr>
        <p:spPr>
          <a:xfrm>
            <a:off x="9153144" y="2084832"/>
            <a:ext cx="2386584" cy="1965960"/>
          </a:xfrm>
          <a:prstGeom prst="rect">
            <a:avLst/>
          </a:prstGeom>
          <a:noFill/>
        </p:spPr>
        <p:txBody>
          <a:bodyPr wrap="square" anchor="t" lIns="0" rIns="0" tIns="0" bIns="0">
            <a:spAutoFit/>
          </a:bodyPr>
          <a:lstStyle/>
          <a:p>
            <a:pPr algn="l">
              <a:spcAft>
                <a:spcPts val="1400"/>
              </a:spcAft>
            </a:pPr>
            <a:r>
              <a:rPr sz="1600" b="0" i="0">
                <a:solidFill>
                  <a:srgbClr val="242424"/>
                </a:solidFill>
                <a:latin typeface="Segoe UI"/>
              </a:rPr>
              <a:t>finished artifacts, ready for your review</a:t>
            </a:r>
          </a:p>
          <a:p>
            <a:pPr algn="l">
              <a:spcAft>
                <a:spcPts val="500"/>
              </a:spcAft>
            </a:pPr>
            <a:r>
              <a:rPr sz="1300" b="0" i="1">
                <a:solidFill>
                  <a:srgbClr val="616161"/>
                </a:solidFill>
                <a:latin typeface="Segoe UI"/>
              </a:rPr>
              <a:t>e.g., a deck, report, or dashboard</a:t>
            </a:r>
          </a:p>
        </p:txBody>
      </p:sp>
      <p:sp>
        <p:nvSpPr>
          <p:cNvPr id="20" name="Rounded Rectangle 19">
            <a:extLst>
              <a:ext uri="{C183D7F6-B498-43B3-948B-1728B52AA6E4}">
                <ns8:decorative xmlns:ns8="http://schemas.microsoft.com/office/drawing/2017/decorative" val="1"/>
              </a:ext>
            </a:extLst>
          </p:cNvPr>
          <p:cNvSpPr/>
          <p:nvPr/>
        </p:nvSpPr>
        <p:spPr>
          <a:xfrm>
            <a:off x="502920" y="4480560"/>
            <a:ext cx="11183112" cy="1691640"/>
          </a:xfrm>
          <a:prstGeom prst="roundRect">
            <a:avLst>
              <a:gd name="adj" fmla="val 12000"/>
            </a:avLst>
          </a:prstGeom>
          <a:solidFill>
            <a:srgbClr val="3414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77240" y="4480560"/>
            <a:ext cx="10634472" cy="1691640"/>
          </a:xfrm>
          <a:prstGeom prst="rect">
            <a:avLst/>
          </a:prstGeom>
          <a:noFill/>
        </p:spPr>
        <p:txBody>
          <a:bodyPr wrap="square" anchor="ctr" lIns="0" rIns="0" tIns="0" bIns="0">
            <a:spAutoFit/>
          </a:bodyPr>
          <a:lstStyle/>
          <a:p>
            <a:pPr algn="l">
              <a:lnSpc>
                <a:spcPct val="105000"/>
              </a:lnSpc>
              <a:spcAft>
                <a:spcPts val="400"/>
              </a:spcAft>
            </a:pPr>
            <a:r>
              <a:rPr sz="1600" b="1" i="0">
                <a:solidFill>
                  <a:srgbClr val="FFFFFF"/>
                </a:solidFill>
                <a:latin typeface="Segoe UI"/>
              </a:rPr>
              <a:t>Why HR cares — the checkpoint model:</a:t>
            </a:r>
            <a:r>
              <a:rPr sz="1600" b="0" i="0">
                <a:solidFill>
                  <a:srgbClr val="FFFFFF"/>
                </a:solidFill>
                <a:latin typeface="Segoe UI"/>
              </a:rPr>
              <a:t> nothing irreversible (like sending an email) happens without your approval. Every output is a draft to review, so HR stays accountable. You’ll approve actions one at a time all day.</a:t>
            </a:r>
          </a:p>
        </p:txBody>
      </p:sp>
    </p:spTree>
    <p:extLst>
      <p:ext uri="{BB962C8B-B14F-4D97-AF65-F5344CB8AC3E}">
        <p14:creationId xmlns:p14="http://schemas.microsoft.com/office/powerpoint/2010/main" val="418314712"/>
      </p:ext>
    </p:extLst>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1690EC29-5E32-79B5-E29E-1E389EB1B83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1224B80-F0A8-232A-607E-25709F49219E}"/>
              </a:ext>
            </a:extLst>
          </p:cNvPr>
          <p:cNvSpPr txBox="1"/>
          <p:nvPr/>
        </p:nvSpPr>
        <p:spPr>
          <a:xfrm>
            <a:off x="502920" y="347472"/>
            <a:ext cx="11155680" cy="415498"/>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a:ln>
                  <a:noFill/>
                </a:ln>
                <a:solidFill>
                  <a:srgbClr val="242424"/>
                </a:solidFill>
                <a:effectLst/>
                <a:uLnTx/>
                <a:uFillTx/>
                <a:latin typeface="Segoe UI"/>
                <a:ea typeface="+mn-ea"/>
                <a:cs typeface="+mn-cs"/>
              </a:rPr>
              <a:t>Cowork UI walkthrough</a:t>
            </a:r>
          </a:p>
        </p:txBody>
      </p:sp>
      <p:sp>
        <p:nvSpPr>
          <p:cNvPr id="3" name="TextBox 2">
            <a:extLst>
              <a:ext uri="{FF2B5EF4-FFF2-40B4-BE49-F238E27FC236}">
                <a16:creationId xmlns:a16="http://schemas.microsoft.com/office/drawing/2014/main" id="{C42FDF1E-C1D0-BD11-A7D1-CD7E8CECE583}"/>
              </a:ext>
            </a:extLst>
          </p:cNvPr>
          <p:cNvSpPr txBox="1"/>
          <p:nvPr/>
        </p:nvSpPr>
        <p:spPr>
          <a:xfrm>
            <a:off x="502920" y="932688"/>
            <a:ext cx="11064240" cy="215444"/>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616161"/>
                </a:solidFill>
                <a:effectLst/>
                <a:uLnTx/>
                <a:uFillTx/>
                <a:latin typeface="Segoe UI"/>
                <a:ea typeface="+mn-ea"/>
                <a:cs typeface="+mn-cs"/>
              </a:rPr>
              <a:t>Four places in the left navigation you’ll use all day.</a:t>
            </a:r>
          </a:p>
        </p:txBody>
      </p:sp>
      <p:pic>
        <p:nvPicPr>
          <p:cNvPr id="4" name="Picture 3" descr="Pasted Image.png"/>
          <p:cNvPicPr>
            <a:picLocks noChangeAspect="1"/>
          </p:cNvPicPr>
          <p:nvPr/>
        </p:nvPicPr>
        <p:blipFill>
          <a:blip r:embed="rId2"/>
          <a:stretch>
            <a:fillRect/>
          </a:stretch>
        </p:blipFill>
        <p:spPr>
          <a:xfrm>
            <a:off x="502920" y="1463040"/>
            <a:ext cx="5852160" cy="2700997"/>
          </a:xfrm>
          <a:prstGeom prst="rect">
            <a:avLst/>
          </a:prstGeom>
          <a:ln w="9525">
            <a:solidFill>
              <a:srgbClr val="D1D1D1"/>
            </a:solidFill>
          </a:ln>
        </p:spPr>
      </p:pic>
      <p:sp>
        <p:nvSpPr>
          <p:cNvPr id="5" name="TextBox 4"/>
          <p:cNvSpPr txBox="1"/>
          <p:nvPr/>
        </p:nvSpPr>
        <p:spPr>
          <a:xfrm>
            <a:off x="502920" y="4255476"/>
            <a:ext cx="5852160" cy="548640"/>
          </a:xfrm>
          <a:prstGeom prst="rect">
            <a:avLst/>
          </a:prstGeom>
          <a:noFill/>
        </p:spPr>
        <p:txBody>
          <a:bodyPr wrap="square" anchor="t" lIns="0" rIns="0" tIns="0" bIns="0">
            <a:spAutoFit/>
          </a:bodyPr>
          <a:lstStyle/>
          <a:p>
            <a:pPr algn="l">
              <a:spcAft>
                <a:spcPts val="400"/>
              </a:spcAft>
            </a:pPr>
            <a:r>
              <a:rPr sz="1100" b="1" i="0">
                <a:solidFill>
                  <a:srgbClr val="616161"/>
                </a:solidFill>
                <a:latin typeface="Segoe UI"/>
              </a:rPr>
              <a:t>New task</a:t>
            </a:r>
            <a:r>
              <a:rPr sz="1100" b="0" i="0">
                <a:solidFill>
                  <a:srgbClr val="616161"/>
                </a:solidFill>
                <a:latin typeface="Segoe UI"/>
              </a:rPr>
              <a:t> home: Start a task box, model picker (e.g., Opus 5.5), reasoning effort (e.g., High), attach (+), dictate, and “Try these next” starters.</a:t>
            </a:r>
          </a:p>
        </p:txBody>
      </p:sp>
      <p:sp>
        <p:nvSpPr>
          <p:cNvPr id="6" name="Rounded Rectangle 5">
            <a:extLst>
              <a:ext uri="{C183D7F6-B498-43B3-948B-1728B52AA6E4}">
                <ns0:decorative xmlns:ns0="http://schemas.microsoft.com/office/drawing/2017/decorative" val="1"/>
              </a:ext>
            </a:extLst>
          </p:cNvPr>
          <p:cNvSpPr/>
          <p:nvPr/>
        </p:nvSpPr>
        <p:spPr>
          <a:xfrm>
            <a:off x="502920" y="4892040"/>
            <a:ext cx="5852160" cy="1234440"/>
          </a:xfrm>
          <a:prstGeom prst="roundRect">
            <a:avLst>
              <a:gd name="adj" fmla="val 12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4892040"/>
            <a:ext cx="5303520" cy="1234440"/>
          </a:xfrm>
          <a:prstGeom prst="rect">
            <a:avLst/>
          </a:prstGeom>
          <a:noFill/>
        </p:spPr>
        <p:txBody>
          <a:bodyPr wrap="square" anchor="ctr" lIns="0" rIns="0" tIns="0" bIns="0">
            <a:spAutoFit/>
          </a:bodyPr>
          <a:lstStyle/>
          <a:p>
            <a:pPr algn="l">
              <a:lnSpc>
                <a:spcPct val="105000"/>
              </a:lnSpc>
              <a:spcAft>
                <a:spcPts val="400"/>
              </a:spcAft>
            </a:pPr>
            <a:r>
              <a:rPr sz="1300" b="0" i="0">
                <a:solidFill>
                  <a:srgbClr val="323139"/>
                </a:solidFill>
                <a:latin typeface="Segoe UI"/>
              </a:rPr>
              <a:t>While a task runs, open the </a:t>
            </a:r>
            <a:r>
              <a:rPr sz="1300" b="1" i="0">
                <a:solidFill>
                  <a:srgbClr val="323139"/>
                </a:solidFill>
                <a:latin typeface="Segoe UI"/>
              </a:rPr>
              <a:t>side panel</a:t>
            </a:r>
            <a:r>
              <a:rPr sz="1300" b="0" i="0">
                <a:solidFill>
                  <a:srgbClr val="323139"/>
                </a:solidFill>
                <a:latin typeface="Segoe UI"/>
              </a:rPr>
              <a:t>: progress, skill chips, the </a:t>
            </a:r>
            <a:r>
              <a:rPr sz="1300" b="1" i="0">
                <a:solidFill>
                  <a:srgbClr val="323139"/>
                </a:solidFill>
                <a:latin typeface="Segoe UI"/>
              </a:rPr>
              <a:t>Output folder</a:t>
            </a:r>
            <a:r>
              <a:rPr sz="1300" b="0" i="0">
                <a:solidFill>
                  <a:srgbClr val="323139"/>
                </a:solidFill>
                <a:latin typeface="Segoe UI"/>
              </a:rPr>
              <a:t> of files Cowork created, and schedules update in real time.</a:t>
            </a:r>
          </a:p>
        </p:txBody>
      </p:sp>
      <p:sp>
        <p:nvSpPr>
          <p:cNvPr id="8" name="Rectangle 7">
            <a:extLst>
              <a:ext uri="{C183D7F6-B498-43B3-948B-1728B52AA6E4}">
                <ns1:decorative xmlns:ns1="http://schemas.microsoft.com/office/drawing/2017/decorative" val="1"/>
              </a:ext>
            </a:extLst>
          </p:cNvPr>
          <p:cNvSpPr/>
          <p:nvPr/>
        </p:nvSpPr>
        <p:spPr>
          <a:xfrm>
            <a:off x="6583680" y="1463040"/>
            <a:ext cx="5102352" cy="109728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a:extLst>
              <a:ext uri="{C183D7F6-B498-43B3-948B-1728B52AA6E4}">
                <ns2:decorative xmlns:ns2="http://schemas.microsoft.com/office/drawing/2017/decorative" val="1"/>
              </a:ext>
            </a:extLst>
          </p:cNvPr>
          <p:cNvSpPr/>
          <p:nvPr/>
        </p:nvSpPr>
        <p:spPr>
          <a:xfrm>
            <a:off x="6583680" y="1463040"/>
            <a:ext cx="54864" cy="1097280"/>
          </a:xfrm>
          <a:prstGeom prst="rect">
            <a:avLst/>
          </a:prstGeom>
          <a:solidFill>
            <a:srgbClr val="0F6C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784848" y="1572768"/>
            <a:ext cx="4754880" cy="914400"/>
          </a:xfrm>
          <a:prstGeom prst="rect">
            <a:avLst/>
          </a:prstGeom>
          <a:noFill/>
        </p:spPr>
        <p:txBody>
          <a:bodyPr wrap="square" anchor="t" lIns="0" rIns="0" tIns="0" bIns="0">
            <a:spAutoFit/>
          </a:bodyPr>
          <a:lstStyle/>
          <a:p>
            <a:pPr algn="l">
              <a:spcAft>
                <a:spcPts val="300"/>
              </a:spcAft>
            </a:pPr>
            <a:r>
              <a:rPr sz="1400" b="1" i="0">
                <a:solidFill>
                  <a:srgbClr val="0F6CBD"/>
                </a:solidFill>
                <a:latin typeface="Segoe UI"/>
              </a:rPr>
              <a:t>NEW TASK</a:t>
            </a:r>
          </a:p>
          <a:p>
            <a:pPr algn="l">
              <a:spcAft>
                <a:spcPts val="400"/>
              </a:spcAft>
            </a:pPr>
            <a:r>
              <a:rPr sz="1250" b="0" i="0">
                <a:solidFill>
                  <a:srgbClr val="242424"/>
                </a:solidFill>
                <a:latin typeface="Segoe UI"/>
              </a:rPr>
              <a:t>Start a task, pick a model and reasoning effort, attach files, or try a starter.</a:t>
            </a:r>
          </a:p>
        </p:txBody>
      </p:sp>
      <p:sp>
        <p:nvSpPr>
          <p:cNvPr id="11" name="Rectangle 10">
            <a:extLst>
              <a:ext uri="{C183D7F6-B498-43B3-948B-1728B52AA6E4}">
                <ns3:decorative xmlns:ns3="http://schemas.microsoft.com/office/drawing/2017/decorative" val="1"/>
              </a:ext>
            </a:extLst>
          </p:cNvPr>
          <p:cNvSpPr/>
          <p:nvPr/>
        </p:nvSpPr>
        <p:spPr>
          <a:xfrm>
            <a:off x="6583680" y="2651760"/>
            <a:ext cx="5102352" cy="109728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a:extLst>
              <a:ext uri="{C183D7F6-B498-43B3-948B-1728B52AA6E4}">
                <ns4:decorative xmlns:ns4="http://schemas.microsoft.com/office/drawing/2017/decorative" val="1"/>
              </a:ext>
            </a:extLst>
          </p:cNvPr>
          <p:cNvSpPr/>
          <p:nvPr/>
        </p:nvSpPr>
        <p:spPr>
          <a:xfrm>
            <a:off x="6583680" y="2651760"/>
            <a:ext cx="54864" cy="1097280"/>
          </a:xfrm>
          <a:prstGeom prst="rect">
            <a:avLst/>
          </a:prstGeom>
          <a:solidFill>
            <a:srgbClr val="8064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784848" y="2761488"/>
            <a:ext cx="4754880" cy="914400"/>
          </a:xfrm>
          <a:prstGeom prst="rect">
            <a:avLst/>
          </a:prstGeom>
          <a:noFill/>
        </p:spPr>
        <p:txBody>
          <a:bodyPr wrap="square" anchor="t" lIns="0" rIns="0" tIns="0" bIns="0">
            <a:spAutoFit/>
          </a:bodyPr>
          <a:lstStyle/>
          <a:p>
            <a:pPr algn="l">
              <a:spcAft>
                <a:spcPts val="300"/>
              </a:spcAft>
            </a:pPr>
            <a:r>
              <a:rPr sz="1400" b="1" i="0">
                <a:solidFill>
                  <a:srgbClr val="8064A2"/>
                </a:solidFill>
                <a:latin typeface="Segoe UI"/>
              </a:rPr>
              <a:t>MY TASKS</a:t>
            </a:r>
          </a:p>
          <a:p>
            <a:pPr algn="l">
              <a:spcAft>
                <a:spcPts val="400"/>
              </a:spcAft>
            </a:pPr>
            <a:r>
              <a:rPr sz="1250" b="0" i="0">
                <a:solidFill>
                  <a:srgbClr val="242424"/>
                </a:solidFill>
                <a:latin typeface="Segoe UI"/>
              </a:rPr>
              <a:t>Find and resume previous tasks — past work is always a click away.</a:t>
            </a:r>
          </a:p>
        </p:txBody>
      </p:sp>
      <p:sp>
        <p:nvSpPr>
          <p:cNvPr id="14" name="Rectangle 13">
            <a:extLst>
              <a:ext uri="{C183D7F6-B498-43B3-948B-1728B52AA6E4}">
                <ns5:decorative xmlns:ns5="http://schemas.microsoft.com/office/drawing/2017/decorative" val="1"/>
              </a:ext>
            </a:extLst>
          </p:cNvPr>
          <p:cNvSpPr/>
          <p:nvPr/>
        </p:nvSpPr>
        <p:spPr>
          <a:xfrm>
            <a:off x="6583680" y="3840480"/>
            <a:ext cx="5102352" cy="109728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a:extLst>
              <a:ext uri="{C183D7F6-B498-43B3-948B-1728B52AA6E4}">
                <ns6:decorative xmlns:ns6="http://schemas.microsoft.com/office/drawing/2017/decorative" val="1"/>
              </a:ext>
            </a:extLst>
          </p:cNvPr>
          <p:cNvSpPr/>
          <p:nvPr/>
        </p:nvSpPr>
        <p:spPr>
          <a:xfrm>
            <a:off x="6583680" y="3840480"/>
            <a:ext cx="54864" cy="1097280"/>
          </a:xfrm>
          <a:prstGeom prst="rect">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784848" y="3950208"/>
            <a:ext cx="4754880" cy="914400"/>
          </a:xfrm>
          <a:prstGeom prst="rect">
            <a:avLst/>
          </a:prstGeom>
          <a:noFill/>
        </p:spPr>
        <p:txBody>
          <a:bodyPr wrap="square" anchor="t" lIns="0" rIns="0" tIns="0" bIns="0">
            <a:spAutoFit/>
          </a:bodyPr>
          <a:lstStyle/>
          <a:p>
            <a:pPr algn="l">
              <a:spcAft>
                <a:spcPts val="300"/>
              </a:spcAft>
            </a:pPr>
            <a:r>
              <a:rPr sz="1400" b="1" i="0">
                <a:solidFill>
                  <a:srgbClr val="107C10"/>
                </a:solidFill>
                <a:latin typeface="Segoe UI"/>
              </a:rPr>
              <a:t>AUTOMATIONS</a:t>
            </a:r>
          </a:p>
          <a:p>
            <a:pPr algn="l">
              <a:spcAft>
                <a:spcPts val="400"/>
              </a:spcAft>
            </a:pPr>
            <a:r>
              <a:rPr sz="1250" b="0" i="0">
                <a:solidFill>
                  <a:srgbClr val="242424"/>
                </a:solidFill>
                <a:latin typeface="Segoe UI"/>
              </a:rPr>
              <a:t>Run tasks on a schedule or on events. Tabs: Runs and Manage schedules.</a:t>
            </a:r>
          </a:p>
        </p:txBody>
      </p:sp>
      <p:sp>
        <p:nvSpPr>
          <p:cNvPr id="17" name="Rectangle 16">
            <a:extLst>
              <a:ext uri="{C183D7F6-B498-43B3-948B-1728B52AA6E4}">
                <ns7:decorative xmlns:ns7="http://schemas.microsoft.com/office/drawing/2017/decorative" val="1"/>
              </a:ext>
            </a:extLst>
          </p:cNvPr>
          <p:cNvSpPr/>
          <p:nvPr/>
        </p:nvSpPr>
        <p:spPr>
          <a:xfrm>
            <a:off x="6583680" y="5029200"/>
            <a:ext cx="5102352" cy="109728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a:extLst>
              <a:ext uri="{C183D7F6-B498-43B3-948B-1728B52AA6E4}">
                <ns8:decorative xmlns:ns8="http://schemas.microsoft.com/office/drawing/2017/decorative" val="1"/>
              </a:ext>
            </a:extLst>
          </p:cNvPr>
          <p:cNvSpPr/>
          <p:nvPr/>
        </p:nvSpPr>
        <p:spPr>
          <a:xfrm>
            <a:off x="6583680" y="5029200"/>
            <a:ext cx="54864" cy="1097280"/>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784848" y="5138928"/>
            <a:ext cx="4754880" cy="914400"/>
          </a:xfrm>
          <a:prstGeom prst="rect">
            <a:avLst/>
          </a:prstGeom>
          <a:noFill/>
        </p:spPr>
        <p:txBody>
          <a:bodyPr wrap="square" anchor="t" lIns="0" rIns="0" tIns="0" bIns="0">
            <a:spAutoFit/>
          </a:bodyPr>
          <a:lstStyle/>
          <a:p>
            <a:pPr algn="l">
              <a:spcAft>
                <a:spcPts val="300"/>
              </a:spcAft>
            </a:pPr>
            <a:r>
              <a:rPr sz="1400" b="1" i="0">
                <a:solidFill>
                  <a:srgbClr val="C0504D"/>
                </a:solidFill>
                <a:latin typeface="Segoe UI"/>
              </a:rPr>
              <a:t>CUSTOMIZE</a:t>
            </a:r>
          </a:p>
          <a:p>
            <a:pPr algn="l">
              <a:spcAft>
                <a:spcPts val="400"/>
              </a:spcAft>
            </a:pPr>
            <a:r>
              <a:rPr sz="1250" b="0" i="0">
                <a:solidFill>
                  <a:srgbClr val="242424"/>
                </a:solidFill>
                <a:latin typeface="Segoe UI"/>
              </a:rPr>
              <a:t>Custom instructions, your personal skills, and plugins.</a:t>
            </a:r>
          </a:p>
        </p:txBody>
      </p:sp>
    </p:spTree>
    <p:extLst>
      <p:ext uri="{BB962C8B-B14F-4D97-AF65-F5344CB8AC3E}">
        <p14:creationId xmlns:p14="http://schemas.microsoft.com/office/powerpoint/2010/main" val="418314712"/>
      </p:ext>
    </p:extLst>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1690EC29-5E32-79B5-E29E-1E389EB1B83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1224B80-F0A8-232A-607E-25709F49219E}"/>
              </a:ext>
            </a:extLst>
          </p:cNvPr>
          <p:cNvSpPr txBox="1"/>
          <p:nvPr/>
        </p:nvSpPr>
        <p:spPr>
          <a:xfrm>
            <a:off x="502920" y="347472"/>
            <a:ext cx="11155680" cy="415498"/>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a:ln>
                  <a:noFill/>
                </a:ln>
                <a:solidFill>
                  <a:srgbClr val="242424"/>
                </a:solidFill>
                <a:effectLst/>
                <a:uLnTx/>
                <a:uFillTx/>
                <a:latin typeface="Segoe UI"/>
                <a:ea typeface="+mn-ea"/>
                <a:cs typeface="+mn-cs"/>
              </a:rPr>
              <a:t>How approvals work — one at a time</a:t>
            </a:r>
          </a:p>
        </p:txBody>
      </p:sp>
      <p:sp>
        <p:nvSpPr>
          <p:cNvPr id="3" name="TextBox 2">
            <a:extLst>
              <a:ext uri="{FF2B5EF4-FFF2-40B4-BE49-F238E27FC236}">
                <a16:creationId xmlns:a16="http://schemas.microsoft.com/office/drawing/2014/main" id="{C42FDF1E-C1D0-BD11-A7D1-CD7E8CECE583}"/>
              </a:ext>
            </a:extLst>
          </p:cNvPr>
          <p:cNvSpPr txBox="1"/>
          <p:nvPr/>
        </p:nvSpPr>
        <p:spPr>
          <a:xfrm>
            <a:off x="502920" y="932688"/>
            <a:ext cx="11064240" cy="215444"/>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616161"/>
                </a:solidFill>
                <a:effectLst/>
                <a:uLnTx/>
                <a:uFillTx/>
                <a:latin typeface="Segoe UI"/>
                <a:ea typeface="+mn-ea"/>
                <a:cs typeface="+mn-cs"/>
              </a:rPr>
              <a:t>Cowork asks before sensitive actions: sending, posting, deleting, creating meetings.</a:t>
            </a:r>
          </a:p>
        </p:txBody>
      </p:sp>
      <p:sp>
        <p:nvSpPr>
          <p:cNvPr id="4" name="TextBox 3"/>
          <p:cNvSpPr txBox="1"/>
          <p:nvPr/>
        </p:nvSpPr>
        <p:spPr>
          <a:xfrm>
            <a:off x="685800" y="1463040"/>
            <a:ext cx="3291840" cy="365760"/>
          </a:xfrm>
          <a:prstGeom prst="rect">
            <a:avLst/>
          </a:prstGeom>
          <a:noFill/>
        </p:spPr>
        <p:txBody>
          <a:bodyPr wrap="square" anchor="t" lIns="0" rIns="0" tIns="0" bIns="0">
            <a:spAutoFit/>
          </a:bodyPr>
          <a:lstStyle/>
          <a:p>
            <a:pPr algn="l">
              <a:spcAft>
                <a:spcPts val="400"/>
              </a:spcAft>
            </a:pPr>
            <a:r>
              <a:rPr sz="1200" b="1" i="0">
                <a:solidFill>
                  <a:srgbClr val="616161"/>
                </a:solidFill>
                <a:latin typeface="Segoe UI"/>
              </a:rPr>
              <a:t>OPTION</a:t>
            </a:r>
          </a:p>
        </p:txBody>
      </p:sp>
      <p:sp>
        <p:nvSpPr>
          <p:cNvPr id="5" name="TextBox 4"/>
          <p:cNvSpPr txBox="1"/>
          <p:nvPr/>
        </p:nvSpPr>
        <p:spPr>
          <a:xfrm>
            <a:off x="4160520" y="1463040"/>
            <a:ext cx="4114800" cy="365760"/>
          </a:xfrm>
          <a:prstGeom prst="rect">
            <a:avLst/>
          </a:prstGeom>
          <a:noFill/>
        </p:spPr>
        <p:txBody>
          <a:bodyPr wrap="square" anchor="t" lIns="0" rIns="0" tIns="0" bIns="0">
            <a:spAutoFit/>
          </a:bodyPr>
          <a:lstStyle/>
          <a:p>
            <a:pPr algn="l">
              <a:spcAft>
                <a:spcPts val="400"/>
              </a:spcAft>
            </a:pPr>
            <a:r>
              <a:rPr sz="1200" b="1" i="0">
                <a:solidFill>
                  <a:srgbClr val="616161"/>
                </a:solidFill>
                <a:latin typeface="Segoe UI"/>
              </a:rPr>
              <a:t>WHAT IT DOES</a:t>
            </a:r>
          </a:p>
        </p:txBody>
      </p:sp>
      <p:sp>
        <p:nvSpPr>
          <p:cNvPr id="6" name="TextBox 5"/>
          <p:cNvSpPr txBox="1"/>
          <p:nvPr/>
        </p:nvSpPr>
        <p:spPr>
          <a:xfrm>
            <a:off x="8458200" y="1463040"/>
            <a:ext cx="3108960" cy="365760"/>
          </a:xfrm>
          <a:prstGeom prst="rect">
            <a:avLst/>
          </a:prstGeom>
          <a:noFill/>
        </p:spPr>
        <p:txBody>
          <a:bodyPr wrap="square" anchor="t" lIns="0" rIns="0" tIns="0" bIns="0">
            <a:spAutoFit/>
          </a:bodyPr>
          <a:lstStyle/>
          <a:p>
            <a:pPr algn="l">
              <a:spcAft>
                <a:spcPts val="400"/>
              </a:spcAft>
            </a:pPr>
            <a:r>
              <a:rPr sz="1200" b="1" i="0">
                <a:solidFill>
                  <a:srgbClr val="616161"/>
                </a:solidFill>
                <a:latin typeface="Segoe UI"/>
              </a:rPr>
              <a:t>USE IT TODAY?</a:t>
            </a:r>
          </a:p>
        </p:txBody>
      </p:sp>
      <p:sp>
        <p:nvSpPr>
          <p:cNvPr id="7" name="Rectangle 6">
            <a:extLst>
              <a:ext uri="{C183D7F6-B498-43B3-948B-1728B52AA6E4}">
                <ns0:decorative xmlns:ns0="http://schemas.microsoft.com/office/drawing/2017/decorative" val="1"/>
              </a:ext>
            </a:extLst>
          </p:cNvPr>
          <p:cNvSpPr/>
          <p:nvPr/>
        </p:nvSpPr>
        <p:spPr>
          <a:xfrm>
            <a:off x="502920" y="1828800"/>
            <a:ext cx="11183112" cy="512064"/>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a:extLst>
              <a:ext uri="{C183D7F6-B498-43B3-948B-1728B52AA6E4}">
                <ns1:decorative xmlns:ns1="http://schemas.microsoft.com/office/drawing/2017/decorative" val="1"/>
              </a:ext>
            </a:extLst>
          </p:cNvPr>
          <p:cNvSpPr/>
          <p:nvPr/>
        </p:nvSpPr>
        <p:spPr>
          <a:xfrm>
            <a:off x="502920" y="1828800"/>
            <a:ext cx="54864" cy="512064"/>
          </a:xfrm>
          <a:prstGeom prst="rect">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85800" y="1828800"/>
            <a:ext cx="3383280" cy="512064"/>
          </a:xfrm>
          <a:prstGeom prst="rect">
            <a:avLst/>
          </a:prstGeom>
          <a:noFill/>
        </p:spPr>
        <p:txBody>
          <a:bodyPr wrap="square" anchor="ctr" lIns="0" rIns="0" tIns="0" bIns="0">
            <a:spAutoFit/>
          </a:bodyPr>
          <a:lstStyle/>
          <a:p>
            <a:pPr algn="l">
              <a:spcAft>
                <a:spcPts val="400"/>
              </a:spcAft>
            </a:pPr>
            <a:r>
              <a:rPr sz="1350" b="1" i="0">
                <a:solidFill>
                  <a:srgbClr val="242424"/>
                </a:solidFill>
                <a:latin typeface="Segoe UI"/>
              </a:rPr>
              <a:t>Send / Post / Create</a:t>
            </a:r>
          </a:p>
        </p:txBody>
      </p:sp>
      <p:sp>
        <p:nvSpPr>
          <p:cNvPr id="10" name="TextBox 9"/>
          <p:cNvSpPr txBox="1"/>
          <p:nvPr/>
        </p:nvSpPr>
        <p:spPr>
          <a:xfrm>
            <a:off x="4160520" y="1828800"/>
            <a:ext cx="4206240" cy="512064"/>
          </a:xfrm>
          <a:prstGeom prst="rect">
            <a:avLst/>
          </a:prstGeom>
          <a:noFill/>
        </p:spPr>
        <p:txBody>
          <a:bodyPr wrap="square" anchor="ctr" lIns="0" rIns="0" tIns="0" bIns="0">
            <a:spAutoFit/>
          </a:bodyPr>
          <a:lstStyle/>
          <a:p>
            <a:pPr algn="l">
              <a:spcAft>
                <a:spcPts val="400"/>
              </a:spcAft>
            </a:pPr>
            <a:r>
              <a:rPr sz="1300" b="0" i="0">
                <a:solidFill>
                  <a:srgbClr val="242424"/>
                </a:solidFill>
                <a:latin typeface="Segoe UI"/>
              </a:rPr>
              <a:t>Approves this one action</a:t>
            </a:r>
          </a:p>
        </p:txBody>
      </p:sp>
      <p:sp>
        <p:nvSpPr>
          <p:cNvPr id="11" name="TextBox 10"/>
          <p:cNvSpPr txBox="1"/>
          <p:nvPr/>
        </p:nvSpPr>
        <p:spPr>
          <a:xfrm>
            <a:off x="8458200" y="1828800"/>
            <a:ext cx="3108960" cy="512064"/>
          </a:xfrm>
          <a:prstGeom prst="rect">
            <a:avLst/>
          </a:prstGeom>
          <a:noFill/>
        </p:spPr>
        <p:txBody>
          <a:bodyPr wrap="square" anchor="ctr" lIns="0" rIns="0" tIns="0" bIns="0">
            <a:spAutoFit/>
          </a:bodyPr>
          <a:lstStyle/>
          <a:p>
            <a:pPr algn="l">
              <a:spcAft>
                <a:spcPts val="400"/>
              </a:spcAft>
            </a:pPr>
            <a:r>
              <a:rPr sz="1300" b="1" i="0">
                <a:solidFill>
                  <a:srgbClr val="107C10"/>
                </a:solidFill>
                <a:latin typeface="Segoe UI"/>
              </a:rPr>
              <a:t>Yes — after reading the preview</a:t>
            </a:r>
          </a:p>
        </p:txBody>
      </p:sp>
      <p:sp>
        <p:nvSpPr>
          <p:cNvPr id="12" name="Rectangle 11">
            <a:extLst>
              <a:ext uri="{C183D7F6-B498-43B3-948B-1728B52AA6E4}">
                <ns2:decorative xmlns:ns2="http://schemas.microsoft.com/office/drawing/2017/decorative" val="1"/>
              </a:ext>
            </a:extLst>
          </p:cNvPr>
          <p:cNvSpPr/>
          <p:nvPr/>
        </p:nvSpPr>
        <p:spPr>
          <a:xfrm>
            <a:off x="502920" y="2432304"/>
            <a:ext cx="11183112" cy="512064"/>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a:extLst>
              <a:ext uri="{C183D7F6-B498-43B3-948B-1728B52AA6E4}">
                <ns3:decorative xmlns:ns3="http://schemas.microsoft.com/office/drawing/2017/decorative" val="1"/>
              </a:ext>
            </a:extLst>
          </p:cNvPr>
          <p:cNvSpPr/>
          <p:nvPr/>
        </p:nvSpPr>
        <p:spPr>
          <a:xfrm>
            <a:off x="502920" y="2432304"/>
            <a:ext cx="54864" cy="512064"/>
          </a:xfrm>
          <a:prstGeom prst="rect">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85800" y="2432304"/>
            <a:ext cx="3383280" cy="512064"/>
          </a:xfrm>
          <a:prstGeom prst="rect">
            <a:avLst/>
          </a:prstGeom>
          <a:noFill/>
        </p:spPr>
        <p:txBody>
          <a:bodyPr wrap="square" anchor="ctr" lIns="0" rIns="0" tIns="0" bIns="0">
            <a:spAutoFit/>
          </a:bodyPr>
          <a:lstStyle/>
          <a:p>
            <a:pPr algn="l">
              <a:spcAft>
                <a:spcPts val="400"/>
              </a:spcAft>
            </a:pPr>
            <a:r>
              <a:rPr sz="1350" b="1" i="0">
                <a:solidFill>
                  <a:srgbClr val="242424"/>
                </a:solidFill>
                <a:latin typeface="Segoe UI"/>
              </a:rPr>
              <a:t>Cancel</a:t>
            </a:r>
          </a:p>
        </p:txBody>
      </p:sp>
      <p:sp>
        <p:nvSpPr>
          <p:cNvPr id="15" name="TextBox 14"/>
          <p:cNvSpPr txBox="1"/>
          <p:nvPr/>
        </p:nvSpPr>
        <p:spPr>
          <a:xfrm>
            <a:off x="4160520" y="2432304"/>
            <a:ext cx="4206240" cy="512064"/>
          </a:xfrm>
          <a:prstGeom prst="rect">
            <a:avLst/>
          </a:prstGeom>
          <a:noFill/>
        </p:spPr>
        <p:txBody>
          <a:bodyPr wrap="square" anchor="ctr" lIns="0" rIns="0" tIns="0" bIns="0">
            <a:spAutoFit/>
          </a:bodyPr>
          <a:lstStyle/>
          <a:p>
            <a:pPr algn="l">
              <a:spcAft>
                <a:spcPts val="400"/>
              </a:spcAft>
            </a:pPr>
            <a:r>
              <a:rPr sz="1300" b="0" i="0">
                <a:solidFill>
                  <a:srgbClr val="242424"/>
                </a:solidFill>
                <a:latin typeface="Segoe UI"/>
              </a:rPr>
              <a:t>Skips it; Cowork continues with the rest</a:t>
            </a:r>
          </a:p>
        </p:txBody>
      </p:sp>
      <p:sp>
        <p:nvSpPr>
          <p:cNvPr id="16" name="TextBox 15"/>
          <p:cNvSpPr txBox="1"/>
          <p:nvPr/>
        </p:nvSpPr>
        <p:spPr>
          <a:xfrm>
            <a:off x="8458200" y="2432304"/>
            <a:ext cx="3108960" cy="512064"/>
          </a:xfrm>
          <a:prstGeom prst="rect">
            <a:avLst/>
          </a:prstGeom>
          <a:noFill/>
        </p:spPr>
        <p:txBody>
          <a:bodyPr wrap="square" anchor="ctr" lIns="0" rIns="0" tIns="0" bIns="0">
            <a:spAutoFit/>
          </a:bodyPr>
          <a:lstStyle/>
          <a:p>
            <a:pPr algn="l">
              <a:spcAft>
                <a:spcPts val="400"/>
              </a:spcAft>
            </a:pPr>
            <a:r>
              <a:rPr sz="1300" b="1" i="0">
                <a:solidFill>
                  <a:srgbClr val="107C10"/>
                </a:solidFill>
                <a:latin typeface="Segoe UI"/>
              </a:rPr>
              <a:t>Yes — whenever unsure</a:t>
            </a:r>
          </a:p>
        </p:txBody>
      </p:sp>
      <p:sp>
        <p:nvSpPr>
          <p:cNvPr id="17" name="Rectangle 16">
            <a:extLst>
              <a:ext uri="{C183D7F6-B498-43B3-948B-1728B52AA6E4}">
                <ns4:decorative xmlns:ns4="http://schemas.microsoft.com/office/drawing/2017/decorative" val="1"/>
              </a:ext>
            </a:extLst>
          </p:cNvPr>
          <p:cNvSpPr/>
          <p:nvPr/>
        </p:nvSpPr>
        <p:spPr>
          <a:xfrm>
            <a:off x="502920" y="3035808"/>
            <a:ext cx="11183112" cy="512064"/>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a:extLst>
              <a:ext uri="{C183D7F6-B498-43B3-948B-1728B52AA6E4}">
                <ns5:decorative xmlns:ns5="http://schemas.microsoft.com/office/drawing/2017/decorative" val="1"/>
              </a:ext>
            </a:extLst>
          </p:cNvPr>
          <p:cNvSpPr/>
          <p:nvPr/>
        </p:nvSpPr>
        <p:spPr>
          <a:xfrm>
            <a:off x="502920" y="3035808"/>
            <a:ext cx="54864" cy="512064"/>
          </a:xfrm>
          <a:prstGeom prst="rect">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85800" y="3035808"/>
            <a:ext cx="3383280" cy="512064"/>
          </a:xfrm>
          <a:prstGeom prst="rect">
            <a:avLst/>
          </a:prstGeom>
          <a:noFill/>
        </p:spPr>
        <p:txBody>
          <a:bodyPr wrap="square" anchor="ctr" lIns="0" rIns="0" tIns="0" bIns="0">
            <a:spAutoFit/>
          </a:bodyPr>
          <a:lstStyle/>
          <a:p>
            <a:pPr algn="l">
              <a:spcAft>
                <a:spcPts val="400"/>
              </a:spcAft>
            </a:pPr>
            <a:r>
              <a:rPr sz="1350" b="1" i="0">
                <a:solidFill>
                  <a:srgbClr val="242424"/>
                </a:solidFill>
                <a:latin typeface="Segoe UI"/>
              </a:rPr>
              <a:t>Show parameters</a:t>
            </a:r>
          </a:p>
        </p:txBody>
      </p:sp>
      <p:sp>
        <p:nvSpPr>
          <p:cNvPr id="20" name="TextBox 19"/>
          <p:cNvSpPr txBox="1"/>
          <p:nvPr/>
        </p:nvSpPr>
        <p:spPr>
          <a:xfrm>
            <a:off x="4160520" y="3035808"/>
            <a:ext cx="4206240" cy="512064"/>
          </a:xfrm>
          <a:prstGeom prst="rect">
            <a:avLst/>
          </a:prstGeom>
          <a:noFill/>
        </p:spPr>
        <p:txBody>
          <a:bodyPr wrap="square" anchor="ctr" lIns="0" rIns="0" tIns="0" bIns="0">
            <a:spAutoFit/>
          </a:bodyPr>
          <a:lstStyle/>
          <a:p>
            <a:pPr algn="l">
              <a:spcAft>
                <a:spcPts val="400"/>
              </a:spcAft>
            </a:pPr>
            <a:r>
              <a:rPr sz="1300" b="0" i="0">
                <a:solidFill>
                  <a:srgbClr val="242424"/>
                </a:solidFill>
                <a:latin typeface="Segoe UI"/>
              </a:rPr>
              <a:t>Shows recipients, targets, and details</a:t>
            </a:r>
          </a:p>
        </p:txBody>
      </p:sp>
      <p:sp>
        <p:nvSpPr>
          <p:cNvPr id="21" name="TextBox 20"/>
          <p:cNvSpPr txBox="1"/>
          <p:nvPr/>
        </p:nvSpPr>
        <p:spPr>
          <a:xfrm>
            <a:off x="8458200" y="3035808"/>
            <a:ext cx="3108960" cy="512064"/>
          </a:xfrm>
          <a:prstGeom prst="rect">
            <a:avLst/>
          </a:prstGeom>
          <a:noFill/>
        </p:spPr>
        <p:txBody>
          <a:bodyPr wrap="square" anchor="ctr" lIns="0" rIns="0" tIns="0" bIns="0">
            <a:spAutoFit/>
          </a:bodyPr>
          <a:lstStyle/>
          <a:p>
            <a:pPr algn="l">
              <a:spcAft>
                <a:spcPts val="400"/>
              </a:spcAft>
            </a:pPr>
            <a:r>
              <a:rPr sz="1300" b="1" i="0">
                <a:solidFill>
                  <a:srgbClr val="107C10"/>
                </a:solidFill>
                <a:latin typeface="Segoe UI"/>
              </a:rPr>
              <a:t>Yes — check before approving</a:t>
            </a:r>
          </a:p>
        </p:txBody>
      </p:sp>
      <p:sp>
        <p:nvSpPr>
          <p:cNvPr id="22" name="Rectangle 21">
            <a:extLst>
              <a:ext uri="{C183D7F6-B498-43B3-948B-1728B52AA6E4}">
                <ns6:decorative xmlns:ns6="http://schemas.microsoft.com/office/drawing/2017/decorative" val="1"/>
              </a:ext>
            </a:extLst>
          </p:cNvPr>
          <p:cNvSpPr/>
          <p:nvPr/>
        </p:nvSpPr>
        <p:spPr>
          <a:xfrm>
            <a:off x="502920" y="3639312"/>
            <a:ext cx="11183112" cy="512064"/>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a:extLst>
              <a:ext uri="{C183D7F6-B498-43B3-948B-1728B52AA6E4}">
                <ns7:decorative xmlns:ns7="http://schemas.microsoft.com/office/drawing/2017/decorative" val="1"/>
              </a:ext>
            </a:extLst>
          </p:cNvPr>
          <p:cNvSpPr/>
          <p:nvPr/>
        </p:nvSpPr>
        <p:spPr>
          <a:xfrm>
            <a:off x="502920" y="3639312"/>
            <a:ext cx="54864" cy="512064"/>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85800" y="3639312"/>
            <a:ext cx="3383280" cy="512064"/>
          </a:xfrm>
          <a:prstGeom prst="rect">
            <a:avLst/>
          </a:prstGeom>
          <a:noFill/>
        </p:spPr>
        <p:txBody>
          <a:bodyPr wrap="square" anchor="ctr" lIns="0" rIns="0" tIns="0" bIns="0">
            <a:spAutoFit/>
          </a:bodyPr>
          <a:lstStyle/>
          <a:p>
            <a:pPr algn="l">
              <a:spcAft>
                <a:spcPts val="400"/>
              </a:spcAft>
            </a:pPr>
            <a:r>
              <a:rPr sz="1350" b="1" i="0">
                <a:solidFill>
                  <a:srgbClr val="242424"/>
                </a:solidFill>
                <a:latin typeface="Segoe UI"/>
              </a:rPr>
              <a:t>Approve All (n)</a:t>
            </a:r>
          </a:p>
        </p:txBody>
      </p:sp>
      <p:sp>
        <p:nvSpPr>
          <p:cNvPr id="25" name="TextBox 24"/>
          <p:cNvSpPr txBox="1"/>
          <p:nvPr/>
        </p:nvSpPr>
        <p:spPr>
          <a:xfrm>
            <a:off x="4160520" y="3639312"/>
            <a:ext cx="4206240" cy="512064"/>
          </a:xfrm>
          <a:prstGeom prst="rect">
            <a:avLst/>
          </a:prstGeom>
          <a:noFill/>
        </p:spPr>
        <p:txBody>
          <a:bodyPr wrap="square" anchor="ctr" lIns="0" rIns="0" tIns="0" bIns="0">
            <a:spAutoFit/>
          </a:bodyPr>
          <a:lstStyle/>
          <a:p>
            <a:pPr algn="l">
              <a:spcAft>
                <a:spcPts val="400"/>
              </a:spcAft>
            </a:pPr>
            <a:r>
              <a:rPr sz="1300" b="0" i="0">
                <a:solidFill>
                  <a:srgbClr val="242424"/>
                </a:solidFill>
                <a:latin typeface="Segoe UI"/>
              </a:rPr>
              <a:t>Approves every pending action at once</a:t>
            </a:r>
          </a:p>
        </p:txBody>
      </p:sp>
      <p:sp>
        <p:nvSpPr>
          <p:cNvPr id="26" name="TextBox 25"/>
          <p:cNvSpPr txBox="1"/>
          <p:nvPr/>
        </p:nvSpPr>
        <p:spPr>
          <a:xfrm>
            <a:off x="8458200" y="3639312"/>
            <a:ext cx="3108960" cy="512064"/>
          </a:xfrm>
          <a:prstGeom prst="rect">
            <a:avLst/>
          </a:prstGeom>
          <a:noFill/>
        </p:spPr>
        <p:txBody>
          <a:bodyPr wrap="square" anchor="ctr" lIns="0" rIns="0" tIns="0" bIns="0">
            <a:spAutoFit/>
          </a:bodyPr>
          <a:lstStyle/>
          <a:p>
            <a:pPr algn="l">
              <a:spcAft>
                <a:spcPts val="400"/>
              </a:spcAft>
            </a:pPr>
            <a:r>
              <a:rPr sz="1300" b="1" i="0">
                <a:solidFill>
                  <a:srgbClr val="C0504D"/>
                </a:solidFill>
                <a:latin typeface="Segoe UI"/>
              </a:rPr>
              <a:t>No — not today</a:t>
            </a:r>
          </a:p>
        </p:txBody>
      </p:sp>
      <p:sp>
        <p:nvSpPr>
          <p:cNvPr id="27" name="Rectangle 26">
            <a:extLst>
              <a:ext uri="{C183D7F6-B498-43B3-948B-1728B52AA6E4}">
                <ns8:decorative xmlns:ns8="http://schemas.microsoft.com/office/drawing/2017/decorative" val="1"/>
              </a:ext>
            </a:extLst>
          </p:cNvPr>
          <p:cNvSpPr/>
          <p:nvPr/>
        </p:nvSpPr>
        <p:spPr>
          <a:xfrm>
            <a:off x="502920" y="4242816"/>
            <a:ext cx="11183112" cy="512064"/>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a:extLst>
              <a:ext uri="{C183D7F6-B498-43B3-948B-1728B52AA6E4}">
                <ns9:decorative xmlns:ns9="http://schemas.microsoft.com/office/drawing/2017/decorative" val="1"/>
              </a:ext>
            </a:extLst>
          </p:cNvPr>
          <p:cNvSpPr/>
          <p:nvPr/>
        </p:nvSpPr>
        <p:spPr>
          <a:xfrm>
            <a:off x="502920" y="4242816"/>
            <a:ext cx="54864" cy="512064"/>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85800" y="4242816"/>
            <a:ext cx="3383280" cy="512064"/>
          </a:xfrm>
          <a:prstGeom prst="rect">
            <a:avLst/>
          </a:prstGeom>
          <a:noFill/>
        </p:spPr>
        <p:txBody>
          <a:bodyPr wrap="square" anchor="ctr" lIns="0" rIns="0" tIns="0" bIns="0">
            <a:spAutoFit/>
          </a:bodyPr>
          <a:lstStyle/>
          <a:p>
            <a:pPr algn="l">
              <a:spcAft>
                <a:spcPts val="400"/>
              </a:spcAft>
            </a:pPr>
            <a:r>
              <a:rPr sz="1350" b="1" i="0">
                <a:solidFill>
                  <a:srgbClr val="242424"/>
                </a:solidFill>
                <a:latin typeface="Segoe UI"/>
              </a:rPr>
              <a:t>More options → Always allow</a:t>
            </a:r>
          </a:p>
        </p:txBody>
      </p:sp>
      <p:sp>
        <p:nvSpPr>
          <p:cNvPr id="30" name="TextBox 29"/>
          <p:cNvSpPr txBox="1"/>
          <p:nvPr/>
        </p:nvSpPr>
        <p:spPr>
          <a:xfrm>
            <a:off x="4160520" y="4242816"/>
            <a:ext cx="4206240" cy="512064"/>
          </a:xfrm>
          <a:prstGeom prst="rect">
            <a:avLst/>
          </a:prstGeom>
          <a:noFill/>
        </p:spPr>
        <p:txBody>
          <a:bodyPr wrap="square" anchor="ctr" lIns="0" rIns="0" tIns="0" bIns="0">
            <a:spAutoFit/>
          </a:bodyPr>
          <a:lstStyle/>
          <a:p>
            <a:pPr algn="l">
              <a:spcAft>
                <a:spcPts val="400"/>
              </a:spcAft>
            </a:pPr>
            <a:r>
              <a:rPr sz="1300" b="0" i="0">
                <a:solidFill>
                  <a:srgbClr val="242424"/>
                </a:solidFill>
                <a:latin typeface="Segoe UI"/>
              </a:rPr>
              <a:t>Stops asking for similar actions this session</a:t>
            </a:r>
          </a:p>
        </p:txBody>
      </p:sp>
      <p:sp>
        <p:nvSpPr>
          <p:cNvPr id="31" name="TextBox 30"/>
          <p:cNvSpPr txBox="1"/>
          <p:nvPr/>
        </p:nvSpPr>
        <p:spPr>
          <a:xfrm>
            <a:off x="8458200" y="4242816"/>
            <a:ext cx="3108960" cy="512064"/>
          </a:xfrm>
          <a:prstGeom prst="rect">
            <a:avLst/>
          </a:prstGeom>
          <a:noFill/>
        </p:spPr>
        <p:txBody>
          <a:bodyPr wrap="square" anchor="ctr" lIns="0" rIns="0" tIns="0" bIns="0">
            <a:spAutoFit/>
          </a:bodyPr>
          <a:lstStyle/>
          <a:p>
            <a:pPr algn="l">
              <a:spcAft>
                <a:spcPts val="400"/>
              </a:spcAft>
            </a:pPr>
            <a:r>
              <a:rPr sz="1300" b="1" i="0">
                <a:solidFill>
                  <a:srgbClr val="C0504D"/>
                </a:solidFill>
                <a:latin typeface="Segoe UI"/>
              </a:rPr>
              <a:t>No — not today</a:t>
            </a:r>
          </a:p>
        </p:txBody>
      </p:sp>
      <p:sp>
        <p:nvSpPr>
          <p:cNvPr id="32" name="Rounded Rectangle 31">
            <a:extLst>
              <a:ext uri="{C183D7F6-B498-43B3-948B-1728B52AA6E4}">
                <ns10:decorative xmlns:ns10="http://schemas.microsoft.com/office/drawing/2017/decorative" val="1"/>
              </a:ext>
            </a:extLst>
          </p:cNvPr>
          <p:cNvSpPr/>
          <p:nvPr/>
        </p:nvSpPr>
        <p:spPr>
          <a:xfrm>
            <a:off x="502920" y="4983480"/>
            <a:ext cx="11183112" cy="1188720"/>
          </a:xfrm>
          <a:prstGeom prst="roundRect">
            <a:avLst>
              <a:gd name="adj" fmla="val 12000"/>
            </a:avLst>
          </a:prstGeom>
          <a:solidFill>
            <a:srgbClr val="3414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77240" y="4983480"/>
            <a:ext cx="10634472" cy="1188720"/>
          </a:xfrm>
          <a:prstGeom prst="rect">
            <a:avLst/>
          </a:prstGeom>
          <a:noFill/>
        </p:spPr>
        <p:txBody>
          <a:bodyPr wrap="square" anchor="ctr" lIns="0" rIns="0" tIns="0" bIns="0">
            <a:spAutoFit/>
          </a:bodyPr>
          <a:lstStyle/>
          <a:p>
            <a:pPr algn="l">
              <a:lnSpc>
                <a:spcPct val="105000"/>
              </a:lnSpc>
              <a:spcAft>
                <a:spcPts val="400"/>
              </a:spcAft>
            </a:pPr>
            <a:r>
              <a:rPr sz="1500" b="1" i="0">
                <a:solidFill>
                  <a:srgbClr val="FFFFFF"/>
                </a:solidFill>
                <a:latin typeface="Segoe UI"/>
              </a:rPr>
              <a:t>Why:</a:t>
            </a:r>
            <a:r>
              <a:rPr sz="1500" b="0" i="0">
                <a:solidFill>
                  <a:srgbClr val="FFFFFF"/>
                </a:solidFill>
                <a:latin typeface="Segoe UI"/>
              </a:rPr>
              <a:t> one click on </a:t>
            </a:r>
            <a:r>
              <a:rPr sz="1500" b="1" i="0">
                <a:solidFill>
                  <a:srgbClr val="FFFFFF"/>
                </a:solidFill>
                <a:latin typeface="Segoe UI"/>
              </a:rPr>
              <a:t>Approve All</a:t>
            </a:r>
            <a:r>
              <a:rPr sz="1500" b="0" i="0">
                <a:solidFill>
                  <a:srgbClr val="FFFFFF"/>
                </a:solidFill>
                <a:latin typeface="Segoe UI"/>
              </a:rPr>
              <a:t> could bulk-send mail or change many items at once. </a:t>
            </a:r>
            <a:r>
              <a:rPr sz="1500" b="1" i="0">
                <a:solidFill>
                  <a:srgbClr val="FFFFFF"/>
                </a:solidFill>
                <a:latin typeface="Segoe UI"/>
              </a:rPr>
              <a:t>Clicked one by mistake?</a:t>
            </a:r>
            <a:r>
              <a:rPr sz="1500" b="0" i="0">
                <a:solidFill>
                  <a:srgbClr val="FFFFFF"/>
                </a:solidFill>
                <a:latin typeface="Segoe UI"/>
              </a:rPr>
              <a:t> Open the side panel’s </a:t>
            </a:r>
            <a:r>
              <a:rPr sz="1500" b="1" i="0">
                <a:solidFill>
                  <a:srgbClr val="FFFFFF"/>
                </a:solidFill>
                <a:latin typeface="Segoe UI"/>
              </a:rPr>
              <a:t>Permissions</a:t>
            </a:r>
            <a:r>
              <a:rPr sz="1500" b="0" i="0">
                <a:solidFill>
                  <a:srgbClr val="FFFFFF"/>
                </a:solidFill>
                <a:latin typeface="Segoe UI"/>
              </a:rPr>
              <a:t> section and revoke it.</a:t>
            </a:r>
          </a:p>
        </p:txBody>
      </p:sp>
    </p:spTree>
    <p:extLst>
      <p:ext uri="{BB962C8B-B14F-4D97-AF65-F5344CB8AC3E}">
        <p14:creationId xmlns:p14="http://schemas.microsoft.com/office/powerpoint/2010/main" val="418314712"/>
      </p:ext>
    </p:extLst>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1690EC29-5E32-79B5-E29E-1E389EB1B83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1224B80-F0A8-232A-607E-25709F49219E}"/>
              </a:ext>
            </a:extLst>
          </p:cNvPr>
          <p:cNvSpPr txBox="1"/>
          <p:nvPr/>
        </p:nvSpPr>
        <p:spPr>
          <a:xfrm>
            <a:off x="502920" y="347472"/>
            <a:ext cx="11155680" cy="415498"/>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a:ln>
                  <a:noFill/>
                </a:ln>
                <a:solidFill>
                  <a:srgbClr val="242424"/>
                </a:solidFill>
                <a:effectLst/>
                <a:uLnTx/>
                <a:uFillTx/>
                <a:latin typeface="Segoe UI"/>
                <a:ea typeface="+mn-ea"/>
                <a:cs typeface="+mn-cs"/>
              </a:rPr>
              <a:t>Setup — sign in and copy the data</a:t>
            </a:r>
          </a:p>
        </p:txBody>
      </p:sp>
      <p:sp>
        <p:nvSpPr>
          <p:cNvPr id="3" name="TextBox 2">
            <a:extLst>
              <a:ext uri="{FF2B5EF4-FFF2-40B4-BE49-F238E27FC236}">
                <a16:creationId xmlns:a16="http://schemas.microsoft.com/office/drawing/2014/main" id="{C42FDF1E-C1D0-BD11-A7D1-CD7E8CECE583}"/>
              </a:ext>
            </a:extLst>
          </p:cNvPr>
          <p:cNvSpPr txBox="1"/>
          <p:nvPr/>
        </p:nvSpPr>
        <p:spPr>
          <a:xfrm>
            <a:off x="502920" y="932688"/>
            <a:ext cx="11064240" cy="215444"/>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616161"/>
                </a:solidFill>
                <a:effectLst/>
                <a:uLnTx/>
                <a:uFillTx/>
                <a:latin typeface="Segoe UI"/>
                <a:ea typeface="+mn-ea"/>
                <a:cs typeface="+mn-cs"/>
              </a:rPr>
              <a:t>Do this before Exercise 1. Proctors: triage sign-in issues now.</a:t>
            </a:r>
          </a:p>
        </p:txBody>
      </p:sp>
      <p:sp>
        <p:nvSpPr>
          <p:cNvPr id="4" name="Rectangle 3">
            <a:extLst>
              <a:ext uri="{C183D7F6-B498-43B3-948B-1728B52AA6E4}">
                <ns0:decorative xmlns:ns0="http://schemas.microsoft.com/office/drawing/2017/decorative" val="1"/>
              </a:ext>
            </a:extLst>
          </p:cNvPr>
          <p:cNvSpPr/>
          <p:nvPr/>
        </p:nvSpPr>
        <p:spPr>
          <a:xfrm>
            <a:off x="502920" y="1463040"/>
            <a:ext cx="3611880" cy="301752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a:extLst>
              <a:ext uri="{C183D7F6-B498-43B3-948B-1728B52AA6E4}">
                <ns1:decorative xmlns:ns1="http://schemas.microsoft.com/office/drawing/2017/decorative" val="1"/>
              </a:ext>
            </a:extLst>
          </p:cNvPr>
          <p:cNvSpPr/>
          <p:nvPr/>
        </p:nvSpPr>
        <p:spPr>
          <a:xfrm>
            <a:off x="502920" y="1463040"/>
            <a:ext cx="3611880" cy="41148"/>
          </a:xfrm>
          <a:prstGeom prst="rect">
            <a:avLst/>
          </a:prstGeom>
          <a:solidFill>
            <a:srgbClr val="0F6C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49224" y="1645920"/>
            <a:ext cx="3319272" cy="365760"/>
          </a:xfrm>
          <a:prstGeom prst="rect">
            <a:avLst/>
          </a:prstGeom>
          <a:noFill/>
        </p:spPr>
        <p:txBody>
          <a:bodyPr wrap="square" anchor="t" lIns="0" rIns="0" tIns="0" bIns="0">
            <a:spAutoFit/>
          </a:bodyPr>
          <a:lstStyle/>
          <a:p>
            <a:pPr algn="l">
              <a:spcAft>
                <a:spcPts val="400"/>
              </a:spcAft>
            </a:pPr>
            <a:r>
              <a:rPr sz="1400" b="1" i="0">
                <a:solidFill>
                  <a:srgbClr val="0F6CBD"/>
                </a:solidFill>
                <a:latin typeface="Segoe UI"/>
              </a:rPr>
              <a:t>1 · SIGN IN</a:t>
            </a:r>
          </a:p>
        </p:txBody>
      </p:sp>
      <p:sp>
        <p:nvSpPr>
          <p:cNvPr id="7" name="TextBox 6"/>
          <p:cNvSpPr txBox="1"/>
          <p:nvPr/>
        </p:nvSpPr>
        <p:spPr>
          <a:xfrm>
            <a:off x="649224" y="2084832"/>
            <a:ext cx="3319272" cy="2286000"/>
          </a:xfrm>
          <a:prstGeom prst="rect">
            <a:avLst/>
          </a:prstGeom>
          <a:noFill/>
        </p:spPr>
        <p:txBody>
          <a:bodyPr wrap="square" anchor="t" lIns="0" rIns="0" tIns="0" bIns="0">
            <a:spAutoFit/>
          </a:bodyPr>
          <a:lstStyle/>
          <a:p>
            <a:pPr algn="l" marL="182880" indent="-182880">
              <a:spcAft>
                <a:spcPts val="500"/>
              </a:spcAft>
              <a:buFont typeface="Arial"/>
              <a:buChar char="•"/>
            </a:pPr>
            <a:r>
              <a:rPr sz="1400" b="0" i="0">
                <a:solidFill>
                  <a:srgbClr val="242424"/>
                </a:solidFill>
                <a:latin typeface="Segoe UI"/>
              </a:rPr>
              <a:t>Use the workshop account you were given</a:t>
            </a:r>
          </a:p>
          <a:p>
            <a:pPr algn="l" marL="182880" indent="-182880">
              <a:spcAft>
                <a:spcPts val="500"/>
              </a:spcAft>
              <a:buFont typeface="Arial"/>
              <a:buChar char="•"/>
            </a:pPr>
            <a:r>
              <a:rPr sz="1400" b="0" i="0">
                <a:solidFill>
                  <a:srgbClr val="242424"/>
                </a:solidFill>
                <a:latin typeface="Segoe UI"/>
              </a:rPr>
              <a:t>Open copilot.cloud.microsoft in Microsoft Edge</a:t>
            </a:r>
          </a:p>
          <a:p>
            <a:pPr algn="l" marL="182880" indent="-182880">
              <a:spcAft>
                <a:spcPts val="500"/>
              </a:spcAft>
              <a:buFont typeface="Arial"/>
              <a:buChar char="•"/>
            </a:pPr>
            <a:r>
              <a:rPr sz="1400" b="0" i="0">
                <a:solidFill>
                  <a:srgbClr val="242424"/>
                </a:solidFill>
                <a:latin typeface="Segoe UI"/>
              </a:rPr>
              <a:t>Select </a:t>
            </a:r>
            <a:r>
              <a:rPr sz="1400" b="1" i="0">
                <a:solidFill>
                  <a:srgbClr val="242424"/>
                </a:solidFill>
                <a:latin typeface="Segoe UI"/>
              </a:rPr>
              <a:t>Cowork</a:t>
            </a:r>
            <a:r>
              <a:rPr sz="1400" b="0" i="0">
                <a:solidFill>
                  <a:srgbClr val="242424"/>
                </a:solidFill>
                <a:latin typeface="Segoe UI"/>
              </a:rPr>
              <a:t> next to Chat</a:t>
            </a:r>
          </a:p>
          <a:p>
            <a:pPr algn="l" marL="182880" indent="-182880">
              <a:spcAft>
                <a:spcPts val="500"/>
              </a:spcAft>
              <a:buFont typeface="Arial"/>
              <a:buChar char="•"/>
            </a:pPr>
            <a:r>
              <a:rPr sz="1400" b="0" i="0">
                <a:solidFill>
                  <a:srgbClr val="242424"/>
                </a:solidFill>
                <a:latin typeface="Segoe UI"/>
              </a:rPr>
              <a:t>Smoke test: “Give me a one-sentence hello.”</a:t>
            </a:r>
          </a:p>
          <a:p>
            <a:pPr algn="l" marL="182880" indent="-182880">
              <a:spcAft>
                <a:spcPts val="500"/>
              </a:spcAft>
              <a:buFont typeface="Arial"/>
              <a:buChar char="•"/>
            </a:pPr>
            <a:r>
              <a:rPr sz="1400" b="0" i="0">
                <a:solidFill>
                  <a:srgbClr val="242424"/>
                </a:solidFill>
                <a:latin typeface="Segoe UI"/>
              </a:rPr>
              <a:t>Edge profile = the </a:t>
            </a:r>
            <a:r>
              <a:rPr sz="1400" b="1" i="0">
                <a:solidFill>
                  <a:srgbClr val="242424"/>
                </a:solidFill>
                <a:latin typeface="Segoe UI"/>
              </a:rPr>
              <a:t>workshop account</a:t>
            </a:r>
            <a:r>
              <a:rPr sz="1400" b="0" i="0">
                <a:solidFill>
                  <a:srgbClr val="242424"/>
                </a:solidFill>
                <a:latin typeface="Segoe UI"/>
              </a:rPr>
              <a:t> (for Ex 3)</a:t>
            </a:r>
          </a:p>
        </p:txBody>
      </p:sp>
      <p:sp>
        <p:nvSpPr>
          <p:cNvPr id="8" name="Rectangle 7">
            <a:extLst>
              <a:ext uri="{C183D7F6-B498-43B3-948B-1728B52AA6E4}">
                <ns2:decorative xmlns:ns2="http://schemas.microsoft.com/office/drawing/2017/decorative" val="1"/>
              </a:ext>
            </a:extLst>
          </p:cNvPr>
          <p:cNvSpPr/>
          <p:nvPr/>
        </p:nvSpPr>
        <p:spPr>
          <a:xfrm>
            <a:off x="4288536" y="1463040"/>
            <a:ext cx="3611880" cy="301752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a:extLst>
              <a:ext uri="{C183D7F6-B498-43B3-948B-1728B52AA6E4}">
                <ns3:decorative xmlns:ns3="http://schemas.microsoft.com/office/drawing/2017/decorative" val="1"/>
              </a:ext>
            </a:extLst>
          </p:cNvPr>
          <p:cNvSpPr/>
          <p:nvPr/>
        </p:nvSpPr>
        <p:spPr>
          <a:xfrm>
            <a:off x="4288536" y="1463040"/>
            <a:ext cx="3611880" cy="41148"/>
          </a:xfrm>
          <a:prstGeom prst="rect">
            <a:avLst/>
          </a:prstGeom>
          <a:solidFill>
            <a:srgbClr val="8064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434840" y="1645920"/>
            <a:ext cx="3319272" cy="365760"/>
          </a:xfrm>
          <a:prstGeom prst="rect">
            <a:avLst/>
          </a:prstGeom>
          <a:noFill/>
        </p:spPr>
        <p:txBody>
          <a:bodyPr wrap="square" anchor="t" lIns="0" rIns="0" tIns="0" bIns="0">
            <a:spAutoFit/>
          </a:bodyPr>
          <a:lstStyle/>
          <a:p>
            <a:pPr algn="l">
              <a:spcAft>
                <a:spcPts val="400"/>
              </a:spcAft>
            </a:pPr>
            <a:r>
              <a:rPr sz="1400" b="1" i="0">
                <a:solidFill>
                  <a:srgbClr val="8064A2"/>
                </a:solidFill>
                <a:latin typeface="Segoe UI"/>
              </a:rPr>
              <a:t>2 · COPY THE DATA</a:t>
            </a:r>
          </a:p>
        </p:txBody>
      </p:sp>
      <p:sp>
        <p:nvSpPr>
          <p:cNvPr id="11" name="TextBox 10"/>
          <p:cNvSpPr txBox="1"/>
          <p:nvPr/>
        </p:nvSpPr>
        <p:spPr>
          <a:xfrm>
            <a:off x="4434840" y="2084832"/>
            <a:ext cx="3319272" cy="2286000"/>
          </a:xfrm>
          <a:prstGeom prst="rect">
            <a:avLst/>
          </a:prstGeom>
          <a:noFill/>
        </p:spPr>
        <p:txBody>
          <a:bodyPr wrap="square" anchor="t" lIns="0" rIns="0" tIns="0" bIns="0">
            <a:spAutoFit/>
          </a:bodyPr>
          <a:lstStyle/>
          <a:p>
            <a:pPr algn="l" marL="182880" indent="-182880">
              <a:spcAft>
                <a:spcPts val="500"/>
              </a:spcAft>
              <a:buFont typeface="Arial"/>
              <a:buChar char="•"/>
            </a:pPr>
            <a:r>
              <a:rPr sz="1400" b="0" i="0">
                <a:solidFill>
                  <a:srgbClr val="242424"/>
                </a:solidFill>
                <a:latin typeface="Segoe UI"/>
              </a:rPr>
              <a:t>Download </a:t>
            </a:r>
            <a:r>
              <a:rPr sz="1400" b="1" i="0">
                <a:solidFill>
                  <a:srgbClr val="242424"/>
                </a:solidFill>
                <a:latin typeface="Segoe UI"/>
              </a:rPr>
              <a:t>zava-sample-knowledge.zip</a:t>
            </a:r>
            <a:r>
              <a:rPr sz="1400" b="0" i="0">
                <a:solidFill>
                  <a:srgbClr val="242424"/>
                </a:solidFill>
                <a:latin typeface="Segoe UI"/>
              </a:rPr>
              <a:t> from the shared Teams/SharePoint folder</a:t>
            </a:r>
          </a:p>
          <a:p>
            <a:pPr algn="l" marL="182880" indent="-182880">
              <a:spcAft>
                <a:spcPts val="500"/>
              </a:spcAft>
              <a:buFont typeface="Arial"/>
              <a:buChar char="•"/>
            </a:pPr>
            <a:r>
              <a:rPr sz="1400" b="0" i="0">
                <a:solidFill>
                  <a:srgbClr val="242424"/>
                </a:solidFill>
                <a:latin typeface="Segoe UI"/>
              </a:rPr>
              <a:t>Extract it; upload the six </a:t>
            </a:r>
            <a:r>
              <a:rPr sz="1400" b="1" i="0">
                <a:solidFill>
                  <a:srgbClr val="242424"/>
                </a:solidFill>
                <a:latin typeface="Segoe UI"/>
              </a:rPr>
              <a:t>Word and Excel</a:t>
            </a:r>
            <a:r>
              <a:rPr sz="1400" b="0" i="0">
                <a:solidFill>
                  <a:srgbClr val="242424"/>
                </a:solidFill>
                <a:latin typeface="Segoe UI"/>
              </a:rPr>
              <a:t> files to </a:t>
            </a:r>
            <a:r>
              <a:rPr sz="1400" b="1" i="0">
                <a:solidFill>
                  <a:srgbClr val="242424"/>
                </a:solidFill>
                <a:latin typeface="Segoe UI"/>
              </a:rPr>
              <a:t>your</a:t>
            </a:r>
            <a:r>
              <a:rPr sz="1400" b="0" i="0">
                <a:solidFill>
                  <a:srgbClr val="242424"/>
                </a:solidFill>
                <a:latin typeface="Segoe UI"/>
              </a:rPr>
              <a:t> OneDrive (e.g., Documents/Cowork)</a:t>
            </a:r>
          </a:p>
          <a:p>
            <a:pPr algn="l" marL="182880" indent="-182880">
              <a:spcAft>
                <a:spcPts val="500"/>
              </a:spcAft>
              <a:buFont typeface="Arial"/>
              <a:buChar char="•"/>
            </a:pPr>
            <a:r>
              <a:rPr sz="1400" b="0" i="0">
                <a:solidFill>
                  <a:srgbClr val="242424"/>
                </a:solidFill>
                <a:latin typeface="Segoe UI"/>
              </a:rPr>
              <a:t>Attach files with </a:t>
            </a:r>
            <a:r>
              <a:rPr sz="1400" b="1" i="0">
                <a:solidFill>
                  <a:srgbClr val="242424"/>
                </a:solidFill>
                <a:latin typeface="Segoe UI"/>
              </a:rPr>
              <a:t>+ → Attach cloud files</a:t>
            </a:r>
            <a:r>
              <a:rPr sz="1400" b="0" i="0">
                <a:solidFill>
                  <a:srgbClr val="242424"/>
                </a:solidFill>
                <a:latin typeface="Segoe UI"/>
              </a:rPr>
              <a:t>, or type </a:t>
            </a:r>
            <a:r>
              <a:rPr sz="1400" b="1" i="0">
                <a:solidFill>
                  <a:srgbClr val="242424"/>
                </a:solidFill>
                <a:latin typeface="Segoe UI"/>
              </a:rPr>
              <a:t>/</a:t>
            </a:r>
          </a:p>
        </p:txBody>
      </p:sp>
      <p:sp>
        <p:nvSpPr>
          <p:cNvPr id="12" name="Rectangle 11">
            <a:extLst>
              <a:ext uri="{C183D7F6-B498-43B3-948B-1728B52AA6E4}">
                <ns4:decorative xmlns:ns4="http://schemas.microsoft.com/office/drawing/2017/decorative" val="1"/>
              </a:ext>
            </a:extLst>
          </p:cNvPr>
          <p:cNvSpPr/>
          <p:nvPr/>
        </p:nvSpPr>
        <p:spPr>
          <a:xfrm>
            <a:off x="8074152" y="1463040"/>
            <a:ext cx="3611880" cy="301752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a:extLst>
              <a:ext uri="{C183D7F6-B498-43B3-948B-1728B52AA6E4}">
                <ns5:decorative xmlns:ns5="http://schemas.microsoft.com/office/drawing/2017/decorative" val="1"/>
              </a:ext>
            </a:extLst>
          </p:cNvPr>
          <p:cNvSpPr/>
          <p:nvPr/>
        </p:nvSpPr>
        <p:spPr>
          <a:xfrm>
            <a:off x="8074152" y="1463040"/>
            <a:ext cx="3611880" cy="41148"/>
          </a:xfrm>
          <a:prstGeom prst="rect">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220456" y="1645920"/>
            <a:ext cx="3319272" cy="365760"/>
          </a:xfrm>
          <a:prstGeom prst="rect">
            <a:avLst/>
          </a:prstGeom>
          <a:noFill/>
        </p:spPr>
        <p:txBody>
          <a:bodyPr wrap="square" anchor="t" lIns="0" rIns="0" tIns="0" bIns="0">
            <a:spAutoFit/>
          </a:bodyPr>
          <a:lstStyle/>
          <a:p>
            <a:pPr algn="l">
              <a:spcAft>
                <a:spcPts val="400"/>
              </a:spcAft>
            </a:pPr>
            <a:r>
              <a:rPr sz="1400" b="1" i="0">
                <a:solidFill>
                  <a:srgbClr val="107C10"/>
                </a:solidFill>
                <a:latin typeface="Segoe UI"/>
              </a:rPr>
              <a:t>3 · ETIQUETTE</a:t>
            </a:r>
          </a:p>
        </p:txBody>
      </p:sp>
      <p:sp>
        <p:nvSpPr>
          <p:cNvPr id="15" name="TextBox 14"/>
          <p:cNvSpPr txBox="1"/>
          <p:nvPr/>
        </p:nvSpPr>
        <p:spPr>
          <a:xfrm>
            <a:off x="8220456" y="2084832"/>
            <a:ext cx="3319272" cy="2286000"/>
          </a:xfrm>
          <a:prstGeom prst="rect">
            <a:avLst/>
          </a:prstGeom>
          <a:noFill/>
        </p:spPr>
        <p:txBody>
          <a:bodyPr wrap="square" anchor="t" lIns="0" rIns="0" tIns="0" bIns="0">
            <a:spAutoFit/>
          </a:bodyPr>
          <a:lstStyle/>
          <a:p>
            <a:pPr algn="l" marL="182880" indent="-182880">
              <a:spcAft>
                <a:spcPts val="500"/>
              </a:spcAft>
              <a:buFont typeface="Arial"/>
              <a:buChar char="•"/>
            </a:pPr>
            <a:r>
              <a:rPr sz="1400" b="0" i="0">
                <a:solidFill>
                  <a:srgbClr val="242424"/>
                </a:solidFill>
                <a:latin typeface="Segoe UI"/>
              </a:rPr>
              <a:t>Your OneDrive, drafts, and skills are your own</a:t>
            </a:r>
          </a:p>
          <a:p>
            <a:pPr algn="l" marL="182880" indent="-182880">
              <a:spcAft>
                <a:spcPts val="500"/>
              </a:spcAft>
              <a:buFont typeface="Arial"/>
              <a:buChar char="•"/>
            </a:pPr>
            <a:r>
              <a:rPr sz="1400" b="0" i="0">
                <a:solidFill>
                  <a:srgbClr val="242424"/>
                </a:solidFill>
                <a:latin typeface="Segoe UI"/>
              </a:rPr>
              <a:t>Keep custom skills </a:t>
            </a:r>
            <a:r>
              <a:rPr sz="1400" b="1" i="0">
                <a:solidFill>
                  <a:srgbClr val="242424"/>
                </a:solidFill>
                <a:latin typeface="Segoe UI"/>
              </a:rPr>
              <a:t>“Only you”</a:t>
            </a:r>
            <a:r>
              <a:rPr sz="1400" b="0" i="0">
                <a:solidFill>
                  <a:srgbClr val="242424"/>
                </a:solidFill>
                <a:latin typeface="Segoe UI"/>
              </a:rPr>
              <a:t> or initialed</a:t>
            </a:r>
          </a:p>
          <a:p>
            <a:pPr algn="l" marL="182880" indent="-182880">
              <a:spcAft>
                <a:spcPts val="500"/>
              </a:spcAft>
              <a:buFont typeface="Arial"/>
              <a:buChar char="•"/>
            </a:pPr>
            <a:r>
              <a:rPr sz="1400" b="0" i="0">
                <a:solidFill>
                  <a:srgbClr val="242424"/>
                </a:solidFill>
                <a:latin typeface="Segoe UI"/>
              </a:rPr>
              <a:t>Fictional Zava data only — no real PII</a:t>
            </a:r>
          </a:p>
          <a:p>
            <a:pPr algn="l" marL="182880" indent="-182880">
              <a:spcAft>
                <a:spcPts val="500"/>
              </a:spcAft>
              <a:buFont typeface="Arial"/>
              <a:buChar char="•"/>
            </a:pPr>
            <a:r>
              <a:rPr sz="1400" b="0" i="0">
                <a:solidFill>
                  <a:srgbClr val="242424"/>
                </a:solidFill>
                <a:latin typeface="Segoe UI"/>
              </a:rPr>
              <a:t>Never send to real people; save drafts</a:t>
            </a:r>
          </a:p>
        </p:txBody>
      </p:sp>
      <p:sp>
        <p:nvSpPr>
          <p:cNvPr id="16" name="Rounded Rectangle 15">
            <a:extLst>
              <a:ext uri="{C183D7F6-B498-43B3-948B-1728B52AA6E4}">
                <ns6:decorative xmlns:ns6="http://schemas.microsoft.com/office/drawing/2017/decorative" val="1"/>
              </a:ext>
            </a:extLst>
          </p:cNvPr>
          <p:cNvSpPr/>
          <p:nvPr/>
        </p:nvSpPr>
        <p:spPr>
          <a:xfrm>
            <a:off x="502920" y="4754880"/>
            <a:ext cx="11183112" cy="1417320"/>
          </a:xfrm>
          <a:prstGeom prst="roundRect">
            <a:avLst>
              <a:gd name="adj" fmla="val 12000"/>
            </a:avLst>
          </a:prstGeom>
          <a:solidFill>
            <a:srgbClr val="3414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77240" y="4754880"/>
            <a:ext cx="10634472" cy="1417320"/>
          </a:xfrm>
          <a:prstGeom prst="rect">
            <a:avLst/>
          </a:prstGeom>
          <a:noFill/>
        </p:spPr>
        <p:txBody>
          <a:bodyPr wrap="square" anchor="ctr" lIns="0" rIns="0" tIns="0" bIns="0">
            <a:spAutoFit/>
          </a:bodyPr>
          <a:lstStyle/>
          <a:p>
            <a:pPr algn="l">
              <a:lnSpc>
                <a:spcPct val="105000"/>
              </a:lnSpc>
              <a:spcAft>
                <a:spcPts val="400"/>
              </a:spcAft>
            </a:pPr>
            <a:r>
              <a:rPr sz="1400" b="1" i="0">
                <a:solidFill>
                  <a:srgbClr val="FFFFFF"/>
                </a:solidFill>
                <a:latin typeface="Segoe UI"/>
              </a:rPr>
              <a:t>Attendees share one tenant</a:t>
            </a:r>
            <a:r>
              <a:rPr sz="1400" b="0" i="0">
                <a:solidFill>
                  <a:srgbClr val="FFFFFF"/>
                </a:solidFill>
                <a:latin typeface="Segoe UI"/>
              </a:rPr>
              <a:t>, so your screens match each other and org search is consistent. The </a:t>
            </a:r>
            <a:r>
              <a:rPr sz="1400" b="1" i="0">
                <a:solidFill>
                  <a:srgbClr val="FFFFFF"/>
                </a:solidFill>
                <a:latin typeface="Segoe UI"/>
              </a:rPr>
              <a:t>facilitator demos from a separate tenant</a:t>
            </a:r>
            <a:r>
              <a:rPr sz="1400" b="0" i="0">
                <a:solidFill>
                  <a:srgbClr val="FFFFFF"/>
                </a:solidFill>
                <a:latin typeface="Segoe UI"/>
              </a:rPr>
              <a:t>, so the instructor’s screen may look a little different.</a:t>
            </a:r>
          </a:p>
        </p:txBody>
      </p:sp>
    </p:spTree>
    <p:extLst>
      <p:ext uri="{BB962C8B-B14F-4D97-AF65-F5344CB8AC3E}">
        <p14:creationId xmlns:p14="http://schemas.microsoft.com/office/powerpoint/2010/main" val="418314712"/>
      </p:ext>
    </p:extLst>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1690EC29-5E32-79B5-E29E-1E389EB1B83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1224B80-F0A8-232A-607E-25709F49219E}"/>
              </a:ext>
            </a:extLst>
          </p:cNvPr>
          <p:cNvSpPr txBox="1"/>
          <p:nvPr/>
        </p:nvSpPr>
        <p:spPr>
          <a:xfrm>
            <a:off x="502920" y="347472"/>
            <a:ext cx="11155680" cy="415498"/>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a:ln>
                  <a:noFill/>
                </a:ln>
                <a:solidFill>
                  <a:srgbClr val="242424"/>
                </a:solidFill>
                <a:effectLst/>
                <a:uLnTx/>
                <a:uFillTx/>
                <a:latin typeface="Segoe UI"/>
                <a:ea typeface="+mn-ea"/>
                <a:cs typeface="+mn-cs"/>
              </a:rPr>
              <a:t>Setup — Customize instructions for Cowork</a:t>
            </a:r>
          </a:p>
        </p:txBody>
      </p:sp>
      <p:sp>
        <p:nvSpPr>
          <p:cNvPr id="3" name="TextBox 2">
            <a:extLst>
              <a:ext uri="{FF2B5EF4-FFF2-40B4-BE49-F238E27FC236}">
                <a16:creationId xmlns:a16="http://schemas.microsoft.com/office/drawing/2014/main" id="{C42FDF1E-C1D0-BD11-A7D1-CD7E8CECE583}"/>
              </a:ext>
            </a:extLst>
          </p:cNvPr>
          <p:cNvSpPr txBox="1"/>
          <p:nvPr/>
        </p:nvSpPr>
        <p:spPr>
          <a:xfrm>
            <a:off x="502920" y="932688"/>
            <a:ext cx="11064240" cy="215444"/>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616161"/>
                </a:solidFill>
                <a:effectLst/>
                <a:uLnTx/>
                <a:uFillTx/>
                <a:latin typeface="Segoe UI"/>
                <a:ea typeface="+mn-ea"/>
                <a:cs typeface="+mn-cs"/>
              </a:rPr>
              <a:t>Guidance Cowork automatically adds to the start of every task. Set it once; it applies all day.</a:t>
            </a:r>
          </a:p>
        </p:txBody>
      </p:sp>
      <p:pic>
        <p:nvPicPr>
          <p:cNvPr id="4" name="Picture CustomInstructions" descr="Screenshot of the Cowork card 'Customize instructions for Cowork: Give Cowork guidance that is automatically added to the start of every task.'"/>
          <p:cNvPicPr>
            <a:picLocks noChangeAspect="1"/>
          </p:cNvPicPr>
          <p:nvPr/>
        </p:nvPicPr>
        <p:blipFill>
          <a:blip r:embed="rId2"/>
          <a:stretch>
            <a:fillRect/>
          </a:stretch>
        </p:blipFill>
        <p:spPr>
          <a:xfrm>
            <a:off x="502920" y="1417320"/>
            <a:ext cx="11183112" cy="1596144"/>
          </a:xfrm>
          <a:prstGeom prst="rect">
            <a:avLst/>
          </a:prstGeom>
        </p:spPr>
      </p:pic>
      <p:sp>
        <p:nvSpPr>
          <p:cNvPr id="5" name="Rectangle 4">
            <a:extLst>
              <a:ext uri="{C183D7F6-B498-43B3-948B-1728B52AA6E4}">
                <ns0:decorative xmlns:ns0="http://schemas.microsoft.com/office/drawing/2017/decorative" val="1"/>
              </a:ext>
            </a:extLst>
          </p:cNvPr>
          <p:cNvSpPr/>
          <p:nvPr/>
        </p:nvSpPr>
        <p:spPr>
          <a:xfrm>
            <a:off x="502920" y="3200400"/>
            <a:ext cx="3931920" cy="219456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a:extLst>
              <a:ext uri="{C183D7F6-B498-43B3-948B-1728B52AA6E4}">
                <ns1:decorative xmlns:ns1="http://schemas.microsoft.com/office/drawing/2017/decorative" val="1"/>
              </a:ext>
            </a:extLst>
          </p:cNvPr>
          <p:cNvSpPr/>
          <p:nvPr/>
        </p:nvSpPr>
        <p:spPr>
          <a:xfrm>
            <a:off x="502920" y="3200400"/>
            <a:ext cx="3931920" cy="41148"/>
          </a:xfrm>
          <a:prstGeom prst="rect">
            <a:avLst/>
          </a:prstGeom>
          <a:solidFill>
            <a:srgbClr val="0F6C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49224" y="3383280"/>
            <a:ext cx="3639312" cy="365760"/>
          </a:xfrm>
          <a:prstGeom prst="rect">
            <a:avLst/>
          </a:prstGeom>
          <a:noFill/>
        </p:spPr>
        <p:txBody>
          <a:bodyPr wrap="square" anchor="t" lIns="0" rIns="0" tIns="0" bIns="0">
            <a:spAutoFit/>
          </a:bodyPr>
          <a:lstStyle/>
          <a:p>
            <a:pPr algn="l">
              <a:spcAft>
                <a:spcPts val="400"/>
              </a:spcAft>
            </a:pPr>
            <a:r>
              <a:rPr sz="1400" b="1" i="0">
                <a:solidFill>
                  <a:srgbClr val="0F6CBD"/>
                </a:solidFill>
                <a:latin typeface="Segoe UI"/>
              </a:rPr>
              <a:t>HOW</a:t>
            </a:r>
          </a:p>
        </p:txBody>
      </p:sp>
      <p:sp>
        <p:nvSpPr>
          <p:cNvPr id="8" name="TextBox 7"/>
          <p:cNvSpPr txBox="1"/>
          <p:nvPr/>
        </p:nvSpPr>
        <p:spPr>
          <a:xfrm>
            <a:off x="649224" y="3822191"/>
            <a:ext cx="3639312" cy="1463039"/>
          </a:xfrm>
          <a:prstGeom prst="rect">
            <a:avLst/>
          </a:prstGeom>
          <a:noFill/>
        </p:spPr>
        <p:txBody>
          <a:bodyPr wrap="square" anchor="t" lIns="0" rIns="0" tIns="0" bIns="0">
            <a:spAutoFit/>
          </a:bodyPr>
          <a:lstStyle/>
          <a:p>
            <a:pPr algn="l" marL="237744" indent="-237744">
              <a:spcAft>
                <a:spcPts val="500"/>
              </a:spcAft>
              <a:buFont typeface="+mj-lt"/>
              <a:buAutoNum type="arabicPeriod"/>
            </a:pPr>
            <a:r>
              <a:rPr sz="1400" b="1" i="0">
                <a:solidFill>
                  <a:srgbClr val="242424"/>
                </a:solidFill>
                <a:latin typeface="Segoe UI"/>
              </a:rPr>
              <a:t>Customize → Preferences</a:t>
            </a:r>
          </a:p>
          <a:p>
            <a:pPr algn="l" marL="237744" indent="-237744">
              <a:spcAft>
                <a:spcPts val="500"/>
              </a:spcAft>
              <a:buFont typeface="+mj-lt"/>
              <a:buAutoNum type="arabicPeriod"/>
            </a:pPr>
            <a:r>
              <a:rPr sz="1400" b="0" i="0">
                <a:solidFill>
                  <a:srgbClr val="242424"/>
                </a:solidFill>
                <a:latin typeface="Segoe UI"/>
              </a:rPr>
              <a:t>Select </a:t>
            </a:r>
            <a:r>
              <a:rPr sz="1400" b="1" i="0">
                <a:solidFill>
                  <a:srgbClr val="242424"/>
                </a:solidFill>
                <a:latin typeface="Segoe UI"/>
              </a:rPr>
              <a:t>Customize instructions for Cowork</a:t>
            </a:r>
          </a:p>
          <a:p>
            <a:pPr algn="l" marL="237744" indent="-237744">
              <a:spcAft>
                <a:spcPts val="500"/>
              </a:spcAft>
              <a:buFont typeface="+mj-lt"/>
              <a:buAutoNum type="arabicPeriod"/>
            </a:pPr>
            <a:r>
              <a:rPr sz="1400" b="0" i="0">
                <a:solidFill>
                  <a:srgbClr val="242424"/>
                </a:solidFill>
                <a:latin typeface="Segoe UI"/>
              </a:rPr>
              <a:t>Paste the text, then </a:t>
            </a:r>
            <a:r>
              <a:rPr sz="1400" b="1" i="0">
                <a:solidFill>
                  <a:srgbClr val="242424"/>
                </a:solidFill>
                <a:latin typeface="Segoe UI"/>
              </a:rPr>
              <a:t>save</a:t>
            </a:r>
          </a:p>
          <a:p>
            <a:pPr algn="l" marL="237744" indent="-237744">
              <a:spcAft>
                <a:spcPts val="500"/>
              </a:spcAft>
              <a:buFont typeface="+mj-lt"/>
              <a:buAutoNum type="arabicPeriod"/>
            </a:pPr>
            <a:r>
              <a:rPr sz="1400" b="0" i="0">
                <a:solidFill>
                  <a:srgbClr val="242424"/>
                </a:solidFill>
                <a:latin typeface="Segoe UI"/>
              </a:rPr>
              <a:t>Test it in a </a:t>
            </a:r>
            <a:r>
              <a:rPr sz="1400" b="1" i="0">
                <a:solidFill>
                  <a:srgbClr val="242424"/>
                </a:solidFill>
                <a:latin typeface="Segoe UI"/>
              </a:rPr>
              <a:t>new task</a:t>
            </a:r>
          </a:p>
        </p:txBody>
      </p:sp>
      <p:sp>
        <p:nvSpPr>
          <p:cNvPr id="9" name="Rectangle 8">
            <a:extLst>
              <a:ext uri="{C183D7F6-B498-43B3-948B-1728B52AA6E4}">
                <ns2:decorative xmlns:ns2="http://schemas.microsoft.com/office/drawing/2017/decorative" val="1"/>
              </a:ext>
            </a:extLst>
          </p:cNvPr>
          <p:cNvSpPr/>
          <p:nvPr/>
        </p:nvSpPr>
        <p:spPr>
          <a:xfrm>
            <a:off x="4617720" y="3200400"/>
            <a:ext cx="7068312" cy="219456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a:extLst>
              <a:ext uri="{C183D7F6-B498-43B3-948B-1728B52AA6E4}">
                <ns3:decorative xmlns:ns3="http://schemas.microsoft.com/office/drawing/2017/decorative" val="1"/>
              </a:ext>
            </a:extLst>
          </p:cNvPr>
          <p:cNvSpPr/>
          <p:nvPr/>
        </p:nvSpPr>
        <p:spPr>
          <a:xfrm>
            <a:off x="4617720" y="3200400"/>
            <a:ext cx="7068312" cy="41148"/>
          </a:xfrm>
          <a:prstGeom prst="rect">
            <a:avLst/>
          </a:prstGeom>
          <a:solidFill>
            <a:srgbClr val="8064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764024" y="3383280"/>
            <a:ext cx="6775704" cy="365760"/>
          </a:xfrm>
          <a:prstGeom prst="rect">
            <a:avLst/>
          </a:prstGeom>
          <a:noFill/>
        </p:spPr>
        <p:txBody>
          <a:bodyPr wrap="square" anchor="t" lIns="0" rIns="0" tIns="0" bIns="0">
            <a:spAutoFit/>
          </a:bodyPr>
          <a:lstStyle/>
          <a:p>
            <a:pPr algn="l">
              <a:spcAft>
                <a:spcPts val="400"/>
              </a:spcAft>
            </a:pPr>
            <a:r>
              <a:rPr sz="1400" b="1" i="0">
                <a:solidFill>
                  <a:srgbClr val="8064A2"/>
                </a:solidFill>
                <a:latin typeface="Segoe UI"/>
              </a:rPr>
              <a:t>PASTE THIS (WORKBOOK SETUP STEP D)</a:t>
            </a:r>
          </a:p>
        </p:txBody>
      </p:sp>
      <p:sp>
        <p:nvSpPr>
          <p:cNvPr id="12" name="TextBox 11"/>
          <p:cNvSpPr txBox="1"/>
          <p:nvPr/>
        </p:nvSpPr>
        <p:spPr>
          <a:xfrm>
            <a:off x="4764024" y="3822191"/>
            <a:ext cx="6775704" cy="1463039"/>
          </a:xfrm>
          <a:prstGeom prst="rect">
            <a:avLst/>
          </a:prstGeom>
          <a:noFill/>
        </p:spPr>
        <p:txBody>
          <a:bodyPr wrap="square" anchor="t" lIns="0" rIns="0" tIns="0" bIns="0">
            <a:spAutoFit/>
          </a:bodyPr>
          <a:lstStyle/>
          <a:p>
            <a:pPr algn="l">
              <a:spcAft>
                <a:spcPts val="500"/>
              </a:spcAft>
            </a:pPr>
            <a:r>
              <a:rPr sz="1350" b="0" i="1">
                <a:solidFill>
                  <a:srgbClr val="242424"/>
                </a:solidFill>
                <a:latin typeface="Segoe UI"/>
              </a:rPr>
              <a:t>I work in HR at Zava. Write in a warm, professional, inclusive tone suitable for employee communications. When you answer a policy or benefits question, cite the source document and add “Policies can change — please confirm with HR.” Save emails and messages as drafts for me to review; during this workshop, never send anything to anyone but me. Use only the Zava sample files in my OneDrive folder Documents/Cowork, and never include real employee personal data.</a:t>
            </a:r>
          </a:p>
        </p:txBody>
      </p:sp>
      <p:sp>
        <p:nvSpPr>
          <p:cNvPr id="13" name="Rounded Rectangle 12">
            <a:extLst>
              <a:ext uri="{C183D7F6-B498-43B3-948B-1728B52AA6E4}">
                <ns4:decorative xmlns:ns4="http://schemas.microsoft.com/office/drawing/2017/decorative" val="1"/>
              </a:ext>
            </a:extLst>
          </p:cNvPr>
          <p:cNvSpPr/>
          <p:nvPr/>
        </p:nvSpPr>
        <p:spPr>
          <a:xfrm>
            <a:off x="502920" y="5532120"/>
            <a:ext cx="11183112" cy="685800"/>
          </a:xfrm>
          <a:prstGeom prst="roundRect">
            <a:avLst>
              <a:gd name="adj" fmla="val 12000"/>
            </a:avLst>
          </a:prstGeom>
          <a:solidFill>
            <a:srgbClr val="3414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77240" y="5532120"/>
            <a:ext cx="10634472" cy="685800"/>
          </a:xfrm>
          <a:prstGeom prst="rect">
            <a:avLst/>
          </a:prstGeom>
          <a:noFill/>
        </p:spPr>
        <p:txBody>
          <a:bodyPr wrap="square" anchor="ctr" lIns="0" rIns="0" tIns="0" bIns="0">
            <a:spAutoFit/>
          </a:bodyPr>
          <a:lstStyle/>
          <a:p>
            <a:pPr algn="l">
              <a:lnSpc>
                <a:spcPct val="105000"/>
              </a:lnSpc>
              <a:spcAft>
                <a:spcPts val="400"/>
              </a:spcAft>
            </a:pPr>
            <a:r>
              <a:rPr sz="1300" b="1" i="0">
                <a:solidFill>
                  <a:srgbClr val="FFFFFF"/>
                </a:solidFill>
                <a:latin typeface="Segoe UI"/>
              </a:rPr>
              <a:t>Personal to you</a:t>
            </a:r>
            <a:r>
              <a:rPr sz="1300" b="0" i="0">
                <a:solidFill>
                  <a:srgbClr val="FFFFFF"/>
                </a:solidFill>
                <a:latin typeface="Segoe UI"/>
              </a:rPr>
              <a:t> · type </a:t>
            </a:r>
            <a:r>
              <a:rPr sz="1300" b="1" i="0">
                <a:solidFill>
                  <a:srgbClr val="FFFFFF"/>
                </a:solidFill>
                <a:latin typeface="Segoe UI"/>
              </a:rPr>
              <a:t>/</a:t>
            </a:r>
            <a:r>
              <a:rPr sz="1300" b="0" i="0">
                <a:solidFill>
                  <a:srgbClr val="FFFFFF"/>
                </a:solidFill>
                <a:latin typeface="Segoe UI"/>
              </a:rPr>
              <a:t> to reference a file or person · up to ~20 KB, but </a:t>
            </a:r>
            <a:r>
              <a:rPr sz="1300" b="1" i="0">
                <a:solidFill>
                  <a:srgbClr val="FFFFFF"/>
                </a:solidFill>
                <a:latin typeface="Segoe UI"/>
              </a:rPr>
              <a:t>shorter is better</a:t>
            </a:r>
            <a:r>
              <a:rPr sz="1300" b="0" i="0">
                <a:solidFill>
                  <a:srgbClr val="FFFFFF"/>
                </a:solidFill>
                <a:latin typeface="Segoe UI"/>
              </a:rPr>
              <a:t> · Role samples: workbook step D</a:t>
            </a:r>
          </a:p>
        </p:txBody>
      </p:sp>
    </p:spTree>
    <p:extLst>
      <p:ext uri="{BB962C8B-B14F-4D97-AF65-F5344CB8AC3E}">
        <p14:creationId xmlns:p14="http://schemas.microsoft.com/office/powerpoint/2010/main" val="418314712"/>
      </p:ext>
    </p:extLst>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1690EC29-5E32-79B5-E29E-1E389EB1B83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1224B80-F0A8-232A-607E-25709F49219E}"/>
              </a:ext>
            </a:extLst>
          </p:cNvPr>
          <p:cNvSpPr txBox="1"/>
          <p:nvPr/>
        </p:nvSpPr>
        <p:spPr>
          <a:xfrm>
            <a:off x="502920" y="347472"/>
            <a:ext cx="11155680" cy="415498"/>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a:ln>
                  <a:noFill/>
                </a:ln>
                <a:solidFill>
                  <a:srgbClr val="242424"/>
                </a:solidFill>
                <a:effectLst/>
                <a:uLnTx/>
                <a:uFillTx/>
                <a:latin typeface="Segoe UI"/>
                <a:ea typeface="+mn-ea"/>
                <a:cs typeface="+mn-cs"/>
              </a:rPr>
              <a:t>Settings &amp; models</a:t>
            </a:r>
          </a:p>
        </p:txBody>
      </p:sp>
      <p:sp>
        <p:nvSpPr>
          <p:cNvPr id="3" name="TextBox 2">
            <a:extLst>
              <a:ext uri="{FF2B5EF4-FFF2-40B4-BE49-F238E27FC236}">
                <a16:creationId xmlns:a16="http://schemas.microsoft.com/office/drawing/2014/main" id="{C42FDF1E-C1D0-BD11-A7D1-CD7E8CECE583}"/>
              </a:ext>
            </a:extLst>
          </p:cNvPr>
          <p:cNvSpPr txBox="1"/>
          <p:nvPr/>
        </p:nvSpPr>
        <p:spPr>
          <a:xfrm>
            <a:off x="502920" y="932688"/>
            <a:ext cx="11064240" cy="215444"/>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616161"/>
                </a:solidFill>
                <a:effectLst/>
                <a:uLnTx/>
                <a:uFillTx/>
                <a:latin typeface="Segoe UI"/>
                <a:ea typeface="+mn-ea"/>
                <a:cs typeface="+mn-cs"/>
              </a:rPr>
              <a:t>Shape how Cowork works — you won’t change these every task.</a:t>
            </a:r>
          </a:p>
        </p:txBody>
      </p:sp>
      <p:sp>
        <p:nvSpPr>
          <p:cNvPr id="4" name="Rectangle 3">
            <a:extLst>
              <a:ext uri="{C183D7F6-B498-43B3-948B-1728B52AA6E4}">
                <ns0:decorative xmlns:ns0="http://schemas.microsoft.com/office/drawing/2017/decorative" val="1"/>
              </a:ext>
            </a:extLst>
          </p:cNvPr>
          <p:cNvSpPr/>
          <p:nvPr/>
        </p:nvSpPr>
        <p:spPr>
          <a:xfrm>
            <a:off x="502920" y="1463040"/>
            <a:ext cx="3611880" cy="155448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a:extLst>
              <a:ext uri="{C183D7F6-B498-43B3-948B-1728B52AA6E4}">
                <ns1:decorative xmlns:ns1="http://schemas.microsoft.com/office/drawing/2017/decorative" val="1"/>
              </a:ext>
            </a:extLst>
          </p:cNvPr>
          <p:cNvSpPr/>
          <p:nvPr/>
        </p:nvSpPr>
        <p:spPr>
          <a:xfrm>
            <a:off x="502920" y="1463040"/>
            <a:ext cx="3611880" cy="41148"/>
          </a:xfrm>
          <a:prstGeom prst="rect">
            <a:avLst/>
          </a:prstGeom>
          <a:solidFill>
            <a:srgbClr val="0F6C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49224" y="1645920"/>
            <a:ext cx="3319272" cy="365760"/>
          </a:xfrm>
          <a:prstGeom prst="rect">
            <a:avLst/>
          </a:prstGeom>
          <a:noFill/>
        </p:spPr>
        <p:txBody>
          <a:bodyPr wrap="square" anchor="t" lIns="0" rIns="0" tIns="0" bIns="0">
            <a:spAutoFit/>
          </a:bodyPr>
          <a:lstStyle/>
          <a:p>
            <a:pPr algn="l">
              <a:spcAft>
                <a:spcPts val="400"/>
              </a:spcAft>
            </a:pPr>
            <a:r>
              <a:rPr sz="1400" b="1" i="0">
                <a:solidFill>
                  <a:srgbClr val="0F6CBD"/>
                </a:solidFill>
                <a:latin typeface="Segoe UI"/>
              </a:rPr>
              <a:t>MODEL PICKER</a:t>
            </a:r>
          </a:p>
        </p:txBody>
      </p:sp>
      <p:sp>
        <p:nvSpPr>
          <p:cNvPr id="7" name="TextBox 6"/>
          <p:cNvSpPr txBox="1"/>
          <p:nvPr/>
        </p:nvSpPr>
        <p:spPr>
          <a:xfrm>
            <a:off x="649224" y="2084832"/>
            <a:ext cx="3319272" cy="822959"/>
          </a:xfrm>
          <a:prstGeom prst="rect">
            <a:avLst/>
          </a:prstGeom>
          <a:noFill/>
        </p:spPr>
        <p:txBody>
          <a:bodyPr wrap="square" anchor="t" lIns="0" rIns="0" tIns="0" bIns="0">
            <a:spAutoFit/>
          </a:bodyPr>
          <a:lstStyle/>
          <a:p>
            <a:pPr algn="l">
              <a:spcAft>
                <a:spcPts val="500"/>
              </a:spcAft>
            </a:pPr>
            <a:r>
              <a:rPr sz="1400" b="0" i="0">
                <a:solidFill>
                  <a:srgbClr val="242424"/>
                </a:solidFill>
                <a:latin typeface="Segoe UI"/>
              </a:rPr>
              <a:t>Pick a model or let Cowork decide (default).</a:t>
            </a:r>
          </a:p>
        </p:txBody>
      </p:sp>
      <p:sp>
        <p:nvSpPr>
          <p:cNvPr id="8" name="Rectangle 7">
            <a:extLst>
              <a:ext uri="{C183D7F6-B498-43B3-948B-1728B52AA6E4}">
                <ns2:decorative xmlns:ns2="http://schemas.microsoft.com/office/drawing/2017/decorative" val="1"/>
              </a:ext>
            </a:extLst>
          </p:cNvPr>
          <p:cNvSpPr/>
          <p:nvPr/>
        </p:nvSpPr>
        <p:spPr>
          <a:xfrm>
            <a:off x="4288536" y="1463040"/>
            <a:ext cx="3611880" cy="155448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a:extLst>
              <a:ext uri="{C183D7F6-B498-43B3-948B-1728B52AA6E4}">
                <ns3:decorative xmlns:ns3="http://schemas.microsoft.com/office/drawing/2017/decorative" val="1"/>
              </a:ext>
            </a:extLst>
          </p:cNvPr>
          <p:cNvSpPr/>
          <p:nvPr/>
        </p:nvSpPr>
        <p:spPr>
          <a:xfrm>
            <a:off x="4288536" y="1463040"/>
            <a:ext cx="3611880" cy="41148"/>
          </a:xfrm>
          <a:prstGeom prst="rect">
            <a:avLst/>
          </a:prstGeom>
          <a:solidFill>
            <a:srgbClr val="8064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434840" y="1645920"/>
            <a:ext cx="3319272" cy="365760"/>
          </a:xfrm>
          <a:prstGeom prst="rect">
            <a:avLst/>
          </a:prstGeom>
          <a:noFill/>
        </p:spPr>
        <p:txBody>
          <a:bodyPr wrap="square" anchor="t" lIns="0" rIns="0" tIns="0" bIns="0">
            <a:spAutoFit/>
          </a:bodyPr>
          <a:lstStyle/>
          <a:p>
            <a:pPr algn="l">
              <a:spcAft>
                <a:spcPts val="400"/>
              </a:spcAft>
            </a:pPr>
            <a:r>
              <a:rPr sz="1400" b="1" i="0">
                <a:solidFill>
                  <a:srgbClr val="8064A2"/>
                </a:solidFill>
                <a:latin typeface="Segoe UI"/>
              </a:rPr>
              <a:t>REASONING EFFORT</a:t>
            </a:r>
          </a:p>
        </p:txBody>
      </p:sp>
      <p:sp>
        <p:nvSpPr>
          <p:cNvPr id="11" name="TextBox 10"/>
          <p:cNvSpPr txBox="1"/>
          <p:nvPr/>
        </p:nvSpPr>
        <p:spPr>
          <a:xfrm>
            <a:off x="4434840" y="2084832"/>
            <a:ext cx="3319272" cy="822959"/>
          </a:xfrm>
          <a:prstGeom prst="rect">
            <a:avLst/>
          </a:prstGeom>
          <a:noFill/>
        </p:spPr>
        <p:txBody>
          <a:bodyPr wrap="square" anchor="t" lIns="0" rIns="0" tIns="0" bIns="0">
            <a:spAutoFit/>
          </a:bodyPr>
          <a:lstStyle/>
          <a:p>
            <a:pPr algn="l">
              <a:spcAft>
                <a:spcPts val="500"/>
              </a:spcAft>
            </a:pPr>
            <a:r>
              <a:rPr sz="1400" b="0" i="0">
                <a:solidFill>
                  <a:srgbClr val="242424"/>
                </a:solidFill>
                <a:latin typeface="Segoe UI"/>
              </a:rPr>
              <a:t>Balance quality, speed, and cost per task.</a:t>
            </a:r>
          </a:p>
        </p:txBody>
      </p:sp>
      <p:sp>
        <p:nvSpPr>
          <p:cNvPr id="12" name="Rectangle 11">
            <a:extLst>
              <a:ext uri="{C183D7F6-B498-43B3-948B-1728B52AA6E4}">
                <ns4:decorative xmlns:ns4="http://schemas.microsoft.com/office/drawing/2017/decorative" val="1"/>
              </a:ext>
            </a:extLst>
          </p:cNvPr>
          <p:cNvSpPr/>
          <p:nvPr/>
        </p:nvSpPr>
        <p:spPr>
          <a:xfrm>
            <a:off x="8074152" y="1463040"/>
            <a:ext cx="3611880" cy="155448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a:extLst>
              <a:ext uri="{C183D7F6-B498-43B3-948B-1728B52AA6E4}">
                <ns5:decorative xmlns:ns5="http://schemas.microsoft.com/office/drawing/2017/decorative" val="1"/>
              </a:ext>
            </a:extLst>
          </p:cNvPr>
          <p:cNvSpPr/>
          <p:nvPr/>
        </p:nvSpPr>
        <p:spPr>
          <a:xfrm>
            <a:off x="8074152" y="1463040"/>
            <a:ext cx="3611880" cy="41148"/>
          </a:xfrm>
          <a:prstGeom prst="rect">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220456" y="1645920"/>
            <a:ext cx="3319272" cy="365760"/>
          </a:xfrm>
          <a:prstGeom prst="rect">
            <a:avLst/>
          </a:prstGeom>
          <a:noFill/>
        </p:spPr>
        <p:txBody>
          <a:bodyPr wrap="square" anchor="t" lIns="0" rIns="0" tIns="0" bIns="0">
            <a:spAutoFit/>
          </a:bodyPr>
          <a:lstStyle/>
          <a:p>
            <a:pPr algn="l">
              <a:spcAft>
                <a:spcPts val="400"/>
              </a:spcAft>
            </a:pPr>
            <a:r>
              <a:rPr sz="1400" b="1" i="0">
                <a:solidFill>
                  <a:srgbClr val="107C10"/>
                </a:solidFill>
                <a:latin typeface="Segoe UI"/>
              </a:rPr>
              <a:t>CUSTOM INSTRUCTIONS</a:t>
            </a:r>
          </a:p>
        </p:txBody>
      </p:sp>
      <p:sp>
        <p:nvSpPr>
          <p:cNvPr id="15" name="TextBox 14"/>
          <p:cNvSpPr txBox="1"/>
          <p:nvPr/>
        </p:nvSpPr>
        <p:spPr>
          <a:xfrm>
            <a:off x="8220456" y="2084832"/>
            <a:ext cx="3319272" cy="822959"/>
          </a:xfrm>
          <a:prstGeom prst="rect">
            <a:avLst/>
          </a:prstGeom>
          <a:noFill/>
        </p:spPr>
        <p:txBody>
          <a:bodyPr wrap="square" anchor="t" lIns="0" rIns="0" tIns="0" bIns="0">
            <a:spAutoFit/>
          </a:bodyPr>
          <a:lstStyle/>
          <a:p>
            <a:pPr algn="l">
              <a:spcAft>
                <a:spcPts val="500"/>
              </a:spcAft>
            </a:pPr>
            <a:r>
              <a:rPr sz="1400" b="0" i="0">
                <a:solidFill>
                  <a:srgbClr val="242424"/>
                </a:solidFill>
                <a:latin typeface="Segoe UI"/>
              </a:rPr>
              <a:t>Preferences Cowork applies to every task.</a:t>
            </a:r>
          </a:p>
        </p:txBody>
      </p:sp>
      <p:sp>
        <p:nvSpPr>
          <p:cNvPr id="16" name="Rectangle 15">
            <a:extLst>
              <a:ext uri="{C183D7F6-B498-43B3-948B-1728B52AA6E4}">
                <ns6:decorative xmlns:ns6="http://schemas.microsoft.com/office/drawing/2017/decorative" val="1"/>
              </a:ext>
            </a:extLst>
          </p:cNvPr>
          <p:cNvSpPr/>
          <p:nvPr/>
        </p:nvSpPr>
        <p:spPr>
          <a:xfrm>
            <a:off x="502920" y="3154680"/>
            <a:ext cx="3611880" cy="155448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a:extLst>
              <a:ext uri="{C183D7F6-B498-43B3-948B-1728B52AA6E4}">
                <ns7:decorative xmlns:ns7="http://schemas.microsoft.com/office/drawing/2017/decorative" val="1"/>
              </a:ext>
            </a:extLst>
          </p:cNvPr>
          <p:cNvSpPr/>
          <p:nvPr/>
        </p:nvSpPr>
        <p:spPr>
          <a:xfrm>
            <a:off x="502920" y="3154680"/>
            <a:ext cx="3611880" cy="41148"/>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49224" y="3337560"/>
            <a:ext cx="3319272" cy="365760"/>
          </a:xfrm>
          <a:prstGeom prst="rect">
            <a:avLst/>
          </a:prstGeom>
          <a:noFill/>
        </p:spPr>
        <p:txBody>
          <a:bodyPr wrap="square" anchor="t" lIns="0" rIns="0" tIns="0" bIns="0">
            <a:spAutoFit/>
          </a:bodyPr>
          <a:lstStyle/>
          <a:p>
            <a:pPr algn="l">
              <a:spcAft>
                <a:spcPts val="400"/>
              </a:spcAft>
            </a:pPr>
            <a:r>
              <a:rPr sz="1400" b="1" i="0">
                <a:solidFill>
                  <a:srgbClr val="C0504D"/>
                </a:solidFill>
                <a:latin typeface="Segoe UI"/>
              </a:rPr>
              <a:t>PLUGINS</a:t>
            </a:r>
          </a:p>
        </p:txBody>
      </p:sp>
      <p:sp>
        <p:nvSpPr>
          <p:cNvPr id="19" name="TextBox 18"/>
          <p:cNvSpPr txBox="1"/>
          <p:nvPr/>
        </p:nvSpPr>
        <p:spPr>
          <a:xfrm>
            <a:off x="649224" y="3776472"/>
            <a:ext cx="3319272" cy="822959"/>
          </a:xfrm>
          <a:prstGeom prst="rect">
            <a:avLst/>
          </a:prstGeom>
          <a:noFill/>
        </p:spPr>
        <p:txBody>
          <a:bodyPr wrap="square" anchor="t" lIns="0" rIns="0" tIns="0" bIns="0">
            <a:spAutoFit/>
          </a:bodyPr>
          <a:lstStyle/>
          <a:p>
            <a:pPr algn="l">
              <a:spcAft>
                <a:spcPts val="500"/>
              </a:spcAft>
            </a:pPr>
            <a:r>
              <a:rPr sz="1400" b="0" i="0">
                <a:solidFill>
                  <a:srgbClr val="242424"/>
                </a:solidFill>
                <a:latin typeface="Segoe UI"/>
              </a:rPr>
              <a:t>Extend Cowork from the Microsoft 365 App Store.</a:t>
            </a:r>
          </a:p>
        </p:txBody>
      </p:sp>
      <p:sp>
        <p:nvSpPr>
          <p:cNvPr id="20" name="Rectangle 19">
            <a:extLst>
              <a:ext uri="{C183D7F6-B498-43B3-948B-1728B52AA6E4}">
                <ns8:decorative xmlns:ns8="http://schemas.microsoft.com/office/drawing/2017/decorative" val="1"/>
              </a:ext>
            </a:extLst>
          </p:cNvPr>
          <p:cNvSpPr/>
          <p:nvPr/>
        </p:nvSpPr>
        <p:spPr>
          <a:xfrm>
            <a:off x="4288536" y="3154680"/>
            <a:ext cx="3611880" cy="155448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a:extLst>
              <a:ext uri="{C183D7F6-B498-43B3-948B-1728B52AA6E4}">
                <ns9:decorative xmlns:ns9="http://schemas.microsoft.com/office/drawing/2017/decorative" val="1"/>
              </a:ext>
            </a:extLst>
          </p:cNvPr>
          <p:cNvSpPr/>
          <p:nvPr/>
        </p:nvSpPr>
        <p:spPr>
          <a:xfrm>
            <a:off x="4288536" y="3154680"/>
            <a:ext cx="3611880" cy="41148"/>
          </a:xfrm>
          <a:prstGeom prst="rect">
            <a:avLst/>
          </a:prstGeom>
          <a:solidFill>
            <a:srgbClr val="948A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434840" y="3337560"/>
            <a:ext cx="3319272" cy="365760"/>
          </a:xfrm>
          <a:prstGeom prst="rect">
            <a:avLst/>
          </a:prstGeom>
          <a:noFill/>
        </p:spPr>
        <p:txBody>
          <a:bodyPr wrap="square" anchor="t" lIns="0" rIns="0" tIns="0" bIns="0">
            <a:spAutoFit/>
          </a:bodyPr>
          <a:lstStyle/>
          <a:p>
            <a:pPr algn="l">
              <a:spcAft>
                <a:spcPts val="400"/>
              </a:spcAft>
            </a:pPr>
            <a:r>
              <a:rPr sz="1400" b="1" i="0">
                <a:solidFill>
                  <a:srgbClr val="948A54"/>
                </a:solidFill>
                <a:latin typeface="Segoe UI"/>
              </a:rPr>
              <a:t>AUTOMATIONS</a:t>
            </a:r>
          </a:p>
        </p:txBody>
      </p:sp>
      <p:sp>
        <p:nvSpPr>
          <p:cNvPr id="23" name="TextBox 22"/>
          <p:cNvSpPr txBox="1"/>
          <p:nvPr/>
        </p:nvSpPr>
        <p:spPr>
          <a:xfrm>
            <a:off x="4434840" y="3776472"/>
            <a:ext cx="3319272" cy="822959"/>
          </a:xfrm>
          <a:prstGeom prst="rect">
            <a:avLst/>
          </a:prstGeom>
          <a:noFill/>
        </p:spPr>
        <p:txBody>
          <a:bodyPr wrap="square" anchor="t" lIns="0" rIns="0" tIns="0" bIns="0">
            <a:spAutoFit/>
          </a:bodyPr>
          <a:lstStyle/>
          <a:p>
            <a:pPr algn="l">
              <a:spcAft>
                <a:spcPts val="500"/>
              </a:spcAft>
            </a:pPr>
            <a:r>
              <a:rPr sz="1400" b="0" i="0">
                <a:solidFill>
                  <a:srgbClr val="242424"/>
                </a:solidFill>
                <a:latin typeface="Segoe UI"/>
              </a:rPr>
              <a:t>Scheduled prompts and event-driven tasks.</a:t>
            </a:r>
          </a:p>
        </p:txBody>
      </p:sp>
      <p:sp>
        <p:nvSpPr>
          <p:cNvPr id="24" name="Rectangle 23">
            <a:extLst>
              <a:ext uri="{C183D7F6-B498-43B3-948B-1728B52AA6E4}">
                <ns10:decorative xmlns:ns10="http://schemas.microsoft.com/office/drawing/2017/decorative" val="1"/>
              </a:ext>
            </a:extLst>
          </p:cNvPr>
          <p:cNvSpPr/>
          <p:nvPr/>
        </p:nvSpPr>
        <p:spPr>
          <a:xfrm>
            <a:off x="8074152" y="3154680"/>
            <a:ext cx="3611880" cy="155448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a:extLst>
              <a:ext uri="{C183D7F6-B498-43B3-948B-1728B52AA6E4}">
                <ns11:decorative xmlns:ns11="http://schemas.microsoft.com/office/drawing/2017/decorative" val="1"/>
              </a:ext>
            </a:extLst>
          </p:cNvPr>
          <p:cNvSpPr/>
          <p:nvPr/>
        </p:nvSpPr>
        <p:spPr>
          <a:xfrm>
            <a:off x="8074152" y="3154680"/>
            <a:ext cx="3611880" cy="41148"/>
          </a:xfrm>
          <a:prstGeom prst="rect">
            <a:avLst/>
          </a:prstGeom>
          <a:solidFill>
            <a:srgbClr val="0F6C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220456" y="3337560"/>
            <a:ext cx="3319272" cy="365760"/>
          </a:xfrm>
          <a:prstGeom prst="rect">
            <a:avLst/>
          </a:prstGeom>
          <a:noFill/>
        </p:spPr>
        <p:txBody>
          <a:bodyPr wrap="square" anchor="t" lIns="0" rIns="0" tIns="0" bIns="0">
            <a:spAutoFit/>
          </a:bodyPr>
          <a:lstStyle/>
          <a:p>
            <a:pPr algn="l">
              <a:spcAft>
                <a:spcPts val="400"/>
              </a:spcAft>
            </a:pPr>
            <a:r>
              <a:rPr sz="1400" b="1" i="0">
                <a:solidFill>
                  <a:srgbClr val="0F6CBD"/>
                </a:solidFill>
                <a:latin typeface="Segoe UI"/>
              </a:rPr>
              <a:t>IMAGE GENERATION</a:t>
            </a:r>
          </a:p>
        </p:txBody>
      </p:sp>
      <p:sp>
        <p:nvSpPr>
          <p:cNvPr id="27" name="TextBox 26"/>
          <p:cNvSpPr txBox="1"/>
          <p:nvPr/>
        </p:nvSpPr>
        <p:spPr>
          <a:xfrm>
            <a:off x="8220456" y="3776472"/>
            <a:ext cx="3319272" cy="822959"/>
          </a:xfrm>
          <a:prstGeom prst="rect">
            <a:avLst/>
          </a:prstGeom>
          <a:noFill/>
        </p:spPr>
        <p:txBody>
          <a:bodyPr wrap="square" anchor="t" lIns="0" rIns="0" tIns="0" bIns="0">
            <a:spAutoFit/>
          </a:bodyPr>
          <a:lstStyle/>
          <a:p>
            <a:pPr algn="l">
              <a:spcAft>
                <a:spcPts val="500"/>
              </a:spcAft>
            </a:pPr>
            <a:r>
              <a:rPr sz="1400" b="0" i="0">
                <a:solidFill>
                  <a:srgbClr val="242424"/>
                </a:solidFill>
                <a:latin typeface="Segoe UI"/>
              </a:rPr>
              <a:t>Simple visuals for comms and slides.</a:t>
            </a:r>
          </a:p>
        </p:txBody>
      </p:sp>
      <p:sp>
        <p:nvSpPr>
          <p:cNvPr id="28" name="Rounded Rectangle 27">
            <a:extLst>
              <a:ext uri="{C183D7F6-B498-43B3-948B-1728B52AA6E4}">
                <ns12:decorative xmlns:ns12="http://schemas.microsoft.com/office/drawing/2017/decorative" val="1"/>
              </a:ext>
            </a:extLst>
          </p:cNvPr>
          <p:cNvSpPr/>
          <p:nvPr/>
        </p:nvSpPr>
        <p:spPr>
          <a:xfrm>
            <a:off x="502920" y="4983480"/>
            <a:ext cx="11183112" cy="1188720"/>
          </a:xfrm>
          <a:prstGeom prst="roundRect">
            <a:avLst>
              <a:gd name="adj" fmla="val 12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77240" y="4983480"/>
            <a:ext cx="10634472" cy="1188720"/>
          </a:xfrm>
          <a:prstGeom prst="rect">
            <a:avLst/>
          </a:prstGeom>
          <a:noFill/>
        </p:spPr>
        <p:txBody>
          <a:bodyPr wrap="square" anchor="ctr" lIns="0" rIns="0" tIns="0" bIns="0">
            <a:spAutoFit/>
          </a:bodyPr>
          <a:lstStyle/>
          <a:p>
            <a:pPr algn="l">
              <a:lnSpc>
                <a:spcPct val="105000"/>
              </a:lnSpc>
              <a:spcAft>
                <a:spcPts val="400"/>
              </a:spcAft>
            </a:pPr>
            <a:r>
              <a:rPr sz="1300" b="1" i="0">
                <a:solidFill>
                  <a:srgbClr val="323139"/>
                </a:solidFill>
                <a:latin typeface="Segoe UI"/>
              </a:rPr>
              <a:t>Tip:</a:t>
            </a:r>
            <a:r>
              <a:rPr sz="1300" b="0" i="0">
                <a:solidFill>
                  <a:srgbClr val="323139"/>
                </a:solidFill>
                <a:latin typeface="Segoe UI"/>
              </a:rPr>
              <a:t> for sensitive employee writing, use a higher-capability model and higher reasoning effort. For routine drafts, the defaults are fine. Cowork is usage-billed — match effort to the task.</a:t>
            </a:r>
          </a:p>
        </p:txBody>
      </p:sp>
    </p:spTree>
    <p:extLst>
      <p:ext uri="{BB962C8B-B14F-4D97-AF65-F5344CB8AC3E}">
        <p14:creationId xmlns:p14="http://schemas.microsoft.com/office/powerpoint/2010/main" val="418314712"/>
      </p:ext>
    </p:extLst>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1690EC29-5E32-79B5-E29E-1E389EB1B83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1224B80-F0A8-232A-607E-25709F49219E}"/>
              </a:ext>
            </a:extLst>
          </p:cNvPr>
          <p:cNvSpPr txBox="1"/>
          <p:nvPr/>
        </p:nvSpPr>
        <p:spPr>
          <a:xfrm>
            <a:off x="502920" y="347472"/>
            <a:ext cx="11155680" cy="415498"/>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a:ln>
                  <a:noFill/>
                </a:ln>
                <a:solidFill>
                  <a:srgbClr val="242424"/>
                </a:solidFill>
                <a:effectLst/>
                <a:uLnTx/>
                <a:uFillTx/>
                <a:latin typeface="Segoe UI"/>
                <a:ea typeface="+mn-ea"/>
                <a:cs typeface="+mn-cs"/>
              </a:rPr>
              <a:t>Skills — how Cowork gets work done</a:t>
            </a:r>
          </a:p>
        </p:txBody>
      </p:sp>
      <p:sp>
        <p:nvSpPr>
          <p:cNvPr id="3" name="TextBox 2">
            <a:extLst>
              <a:ext uri="{FF2B5EF4-FFF2-40B4-BE49-F238E27FC236}">
                <a16:creationId xmlns:a16="http://schemas.microsoft.com/office/drawing/2014/main" id="{C42FDF1E-C1D0-BD11-A7D1-CD7E8CECE583}"/>
              </a:ext>
            </a:extLst>
          </p:cNvPr>
          <p:cNvSpPr txBox="1"/>
          <p:nvPr/>
        </p:nvSpPr>
        <p:spPr>
          <a:xfrm>
            <a:off x="502920" y="932688"/>
            <a:ext cx="11064240" cy="215444"/>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616161"/>
                </a:solidFill>
                <a:effectLst/>
                <a:uLnTx/>
                <a:uFillTx/>
                <a:latin typeface="Segoe UI"/>
                <a:ea typeface="+mn-ea"/>
                <a:cs typeface="+mn-cs"/>
              </a:rPr>
              <a:t>Cowork loads skills automatically and shows them as chips in the side panel.</a:t>
            </a:r>
          </a:p>
        </p:txBody>
      </p:sp>
      <p:sp>
        <p:nvSpPr>
          <p:cNvPr id="4" name="Rectangle 3">
            <a:extLst>
              <a:ext uri="{C183D7F6-B498-43B3-948B-1728B52AA6E4}">
                <ns0:decorative xmlns:ns0="http://schemas.microsoft.com/office/drawing/2017/decorative" val="1"/>
              </a:ext>
            </a:extLst>
          </p:cNvPr>
          <p:cNvSpPr/>
          <p:nvPr/>
        </p:nvSpPr>
        <p:spPr>
          <a:xfrm>
            <a:off x="502920" y="1463040"/>
            <a:ext cx="2103120" cy="64008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a:extLst>
              <a:ext uri="{C183D7F6-B498-43B3-948B-1728B52AA6E4}">
                <ns1:decorative xmlns:ns1="http://schemas.microsoft.com/office/drawing/2017/decorative" val="1"/>
              </a:ext>
            </a:extLst>
          </p:cNvPr>
          <p:cNvSpPr/>
          <p:nvPr/>
        </p:nvSpPr>
        <p:spPr>
          <a:xfrm>
            <a:off x="502920" y="1463040"/>
            <a:ext cx="54864" cy="640080"/>
          </a:xfrm>
          <a:prstGeom prst="rect">
            <a:avLst/>
          </a:prstGeom>
          <a:solidFill>
            <a:srgbClr val="8064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85800" y="1463040"/>
            <a:ext cx="1828800" cy="640080"/>
          </a:xfrm>
          <a:prstGeom prst="rect">
            <a:avLst/>
          </a:prstGeom>
          <a:noFill/>
        </p:spPr>
        <p:txBody>
          <a:bodyPr wrap="square" anchor="ctr" lIns="0" rIns="0" tIns="0" bIns="0">
            <a:spAutoFit/>
          </a:bodyPr>
          <a:lstStyle/>
          <a:p>
            <a:pPr algn="l">
              <a:spcAft>
                <a:spcPts val="400"/>
              </a:spcAft>
            </a:pPr>
            <a:r>
              <a:rPr sz="1350" b="1" i="0">
                <a:solidFill>
                  <a:srgbClr val="242424"/>
                </a:solidFill>
                <a:latin typeface="Segoe UI"/>
              </a:rPr>
              <a:t>Word</a:t>
            </a:r>
          </a:p>
        </p:txBody>
      </p:sp>
      <p:sp>
        <p:nvSpPr>
          <p:cNvPr id="7" name="Rectangle 6">
            <a:extLst>
              <a:ext uri="{C183D7F6-B498-43B3-948B-1728B52AA6E4}">
                <ns2:decorative xmlns:ns2="http://schemas.microsoft.com/office/drawing/2017/decorative" val="1"/>
              </a:ext>
            </a:extLst>
          </p:cNvPr>
          <p:cNvSpPr/>
          <p:nvPr/>
        </p:nvSpPr>
        <p:spPr>
          <a:xfrm>
            <a:off x="2761488" y="1463040"/>
            <a:ext cx="2103120" cy="64008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a:extLst>
              <a:ext uri="{C183D7F6-B498-43B3-948B-1728B52AA6E4}">
                <ns3:decorative xmlns:ns3="http://schemas.microsoft.com/office/drawing/2017/decorative" val="1"/>
              </a:ext>
            </a:extLst>
          </p:cNvPr>
          <p:cNvSpPr/>
          <p:nvPr/>
        </p:nvSpPr>
        <p:spPr>
          <a:xfrm>
            <a:off x="2761488" y="1463040"/>
            <a:ext cx="54864" cy="640080"/>
          </a:xfrm>
          <a:prstGeom prst="rect">
            <a:avLst/>
          </a:prstGeom>
          <a:solidFill>
            <a:srgbClr val="8064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944368" y="1463040"/>
            <a:ext cx="1828800" cy="640080"/>
          </a:xfrm>
          <a:prstGeom prst="rect">
            <a:avLst/>
          </a:prstGeom>
          <a:noFill/>
        </p:spPr>
        <p:txBody>
          <a:bodyPr wrap="square" anchor="ctr" lIns="0" rIns="0" tIns="0" bIns="0">
            <a:spAutoFit/>
          </a:bodyPr>
          <a:lstStyle/>
          <a:p>
            <a:pPr algn="l">
              <a:spcAft>
                <a:spcPts val="400"/>
              </a:spcAft>
            </a:pPr>
            <a:r>
              <a:rPr sz="1350" b="1" i="0">
                <a:solidFill>
                  <a:srgbClr val="242424"/>
                </a:solidFill>
                <a:latin typeface="Segoe UI"/>
              </a:rPr>
              <a:t>Excel</a:t>
            </a:r>
          </a:p>
        </p:txBody>
      </p:sp>
      <p:sp>
        <p:nvSpPr>
          <p:cNvPr id="10" name="Rectangle 9">
            <a:extLst>
              <a:ext uri="{C183D7F6-B498-43B3-948B-1728B52AA6E4}">
                <ns4:decorative xmlns:ns4="http://schemas.microsoft.com/office/drawing/2017/decorative" val="1"/>
              </a:ext>
            </a:extLst>
          </p:cNvPr>
          <p:cNvSpPr/>
          <p:nvPr/>
        </p:nvSpPr>
        <p:spPr>
          <a:xfrm>
            <a:off x="5020056" y="1463040"/>
            <a:ext cx="2103120" cy="64008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a:extLst>
              <a:ext uri="{C183D7F6-B498-43B3-948B-1728B52AA6E4}">
                <ns5:decorative xmlns:ns5="http://schemas.microsoft.com/office/drawing/2017/decorative" val="1"/>
              </a:ext>
            </a:extLst>
          </p:cNvPr>
          <p:cNvSpPr/>
          <p:nvPr/>
        </p:nvSpPr>
        <p:spPr>
          <a:xfrm>
            <a:off x="5020056" y="1463040"/>
            <a:ext cx="54864" cy="640080"/>
          </a:xfrm>
          <a:prstGeom prst="rect">
            <a:avLst/>
          </a:prstGeom>
          <a:solidFill>
            <a:srgbClr val="8064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202936" y="1463040"/>
            <a:ext cx="1828800" cy="640080"/>
          </a:xfrm>
          <a:prstGeom prst="rect">
            <a:avLst/>
          </a:prstGeom>
          <a:noFill/>
        </p:spPr>
        <p:txBody>
          <a:bodyPr wrap="square" anchor="ctr" lIns="0" rIns="0" tIns="0" bIns="0">
            <a:spAutoFit/>
          </a:bodyPr>
          <a:lstStyle/>
          <a:p>
            <a:pPr algn="l">
              <a:spcAft>
                <a:spcPts val="400"/>
              </a:spcAft>
            </a:pPr>
            <a:r>
              <a:rPr sz="1350" b="1" i="0">
                <a:solidFill>
                  <a:srgbClr val="242424"/>
                </a:solidFill>
                <a:latin typeface="Segoe UI"/>
              </a:rPr>
              <a:t>PowerPoint</a:t>
            </a:r>
          </a:p>
        </p:txBody>
      </p:sp>
      <p:sp>
        <p:nvSpPr>
          <p:cNvPr id="13" name="Rectangle 12">
            <a:extLst>
              <a:ext uri="{C183D7F6-B498-43B3-948B-1728B52AA6E4}">
                <ns6:decorative xmlns:ns6="http://schemas.microsoft.com/office/drawing/2017/decorative" val="1"/>
              </a:ext>
            </a:extLst>
          </p:cNvPr>
          <p:cNvSpPr/>
          <p:nvPr/>
        </p:nvSpPr>
        <p:spPr>
          <a:xfrm>
            <a:off x="7278624" y="1463040"/>
            <a:ext cx="2103120" cy="64008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a:extLst>
              <a:ext uri="{C183D7F6-B498-43B3-948B-1728B52AA6E4}">
                <ns7:decorative xmlns:ns7="http://schemas.microsoft.com/office/drawing/2017/decorative" val="1"/>
              </a:ext>
            </a:extLst>
          </p:cNvPr>
          <p:cNvSpPr/>
          <p:nvPr/>
        </p:nvSpPr>
        <p:spPr>
          <a:xfrm>
            <a:off x="7278624" y="1463040"/>
            <a:ext cx="54864" cy="640080"/>
          </a:xfrm>
          <a:prstGeom prst="rect">
            <a:avLst/>
          </a:prstGeom>
          <a:solidFill>
            <a:srgbClr val="8A88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461504" y="1463040"/>
            <a:ext cx="1828800" cy="640080"/>
          </a:xfrm>
          <a:prstGeom prst="rect">
            <a:avLst/>
          </a:prstGeom>
          <a:noFill/>
        </p:spPr>
        <p:txBody>
          <a:bodyPr wrap="square" anchor="ctr" lIns="0" rIns="0" tIns="0" bIns="0">
            <a:spAutoFit/>
          </a:bodyPr>
          <a:lstStyle/>
          <a:p>
            <a:pPr algn="l">
              <a:spcAft>
                <a:spcPts val="400"/>
              </a:spcAft>
            </a:pPr>
            <a:r>
              <a:rPr sz="1350" b="1" i="0">
                <a:solidFill>
                  <a:srgbClr val="242424"/>
                </a:solidFill>
                <a:latin typeface="Segoe UI"/>
              </a:rPr>
              <a:t>PDF</a:t>
            </a:r>
          </a:p>
        </p:txBody>
      </p:sp>
      <p:sp>
        <p:nvSpPr>
          <p:cNvPr id="16" name="Rectangle 15">
            <a:extLst>
              <a:ext uri="{C183D7F6-B498-43B3-948B-1728B52AA6E4}">
                <ns8:decorative xmlns:ns8="http://schemas.microsoft.com/office/drawing/2017/decorative" val="1"/>
              </a:ext>
            </a:extLst>
          </p:cNvPr>
          <p:cNvSpPr/>
          <p:nvPr/>
        </p:nvSpPr>
        <p:spPr>
          <a:xfrm>
            <a:off x="9537192" y="1463040"/>
            <a:ext cx="2103120" cy="64008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a:extLst>
              <a:ext uri="{C183D7F6-B498-43B3-948B-1728B52AA6E4}">
                <ns9:decorative xmlns:ns9="http://schemas.microsoft.com/office/drawing/2017/decorative" val="1"/>
              </a:ext>
            </a:extLst>
          </p:cNvPr>
          <p:cNvSpPr/>
          <p:nvPr/>
        </p:nvSpPr>
        <p:spPr>
          <a:xfrm>
            <a:off x="9537192" y="1463040"/>
            <a:ext cx="54864" cy="640080"/>
          </a:xfrm>
          <a:prstGeom prst="rect">
            <a:avLst/>
          </a:prstGeom>
          <a:solidFill>
            <a:srgbClr val="8064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720072" y="1463040"/>
            <a:ext cx="1828800" cy="640080"/>
          </a:xfrm>
          <a:prstGeom prst="rect">
            <a:avLst/>
          </a:prstGeom>
          <a:noFill/>
        </p:spPr>
        <p:txBody>
          <a:bodyPr wrap="square" anchor="ctr" lIns="0" rIns="0" tIns="0" bIns="0">
            <a:spAutoFit/>
          </a:bodyPr>
          <a:lstStyle/>
          <a:p>
            <a:pPr algn="l">
              <a:spcAft>
                <a:spcPts val="400"/>
              </a:spcAft>
            </a:pPr>
            <a:r>
              <a:rPr sz="1350" b="1" i="0">
                <a:solidFill>
                  <a:srgbClr val="242424"/>
                </a:solidFill>
                <a:latin typeface="Segoe UI"/>
              </a:rPr>
              <a:t>Email</a:t>
            </a:r>
          </a:p>
        </p:txBody>
      </p:sp>
      <p:sp>
        <p:nvSpPr>
          <p:cNvPr id="19" name="Rectangle 18">
            <a:extLst>
              <a:ext uri="{C183D7F6-B498-43B3-948B-1728B52AA6E4}">
                <ns10:decorative xmlns:ns10="http://schemas.microsoft.com/office/drawing/2017/decorative" val="1"/>
              </a:ext>
            </a:extLst>
          </p:cNvPr>
          <p:cNvSpPr/>
          <p:nvPr/>
        </p:nvSpPr>
        <p:spPr>
          <a:xfrm>
            <a:off x="502920" y="2240280"/>
            <a:ext cx="2103120" cy="64008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a:extLst>
              <a:ext uri="{C183D7F6-B498-43B3-948B-1728B52AA6E4}">
                <ns11:decorative xmlns:ns11="http://schemas.microsoft.com/office/drawing/2017/decorative" val="1"/>
              </a:ext>
            </a:extLst>
          </p:cNvPr>
          <p:cNvSpPr/>
          <p:nvPr/>
        </p:nvSpPr>
        <p:spPr>
          <a:xfrm>
            <a:off x="502920" y="2240280"/>
            <a:ext cx="54864" cy="640080"/>
          </a:xfrm>
          <a:prstGeom prst="rect">
            <a:avLst/>
          </a:prstGeom>
          <a:solidFill>
            <a:srgbClr val="8064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85800" y="2240280"/>
            <a:ext cx="1828800" cy="640080"/>
          </a:xfrm>
          <a:prstGeom prst="rect">
            <a:avLst/>
          </a:prstGeom>
          <a:noFill/>
        </p:spPr>
        <p:txBody>
          <a:bodyPr wrap="square" anchor="ctr" lIns="0" rIns="0" tIns="0" bIns="0">
            <a:spAutoFit/>
          </a:bodyPr>
          <a:lstStyle/>
          <a:p>
            <a:pPr algn="l">
              <a:spcAft>
                <a:spcPts val="400"/>
              </a:spcAft>
            </a:pPr>
            <a:r>
              <a:rPr sz="1350" b="1" i="0">
                <a:solidFill>
                  <a:srgbClr val="242424"/>
                </a:solidFill>
                <a:latin typeface="Segoe UI"/>
              </a:rPr>
              <a:t>Scheduling</a:t>
            </a:r>
          </a:p>
        </p:txBody>
      </p:sp>
      <p:sp>
        <p:nvSpPr>
          <p:cNvPr id="22" name="Rectangle 21">
            <a:extLst>
              <a:ext uri="{C183D7F6-B498-43B3-948B-1728B52AA6E4}">
                <ns12:decorative xmlns:ns12="http://schemas.microsoft.com/office/drawing/2017/decorative" val="1"/>
              </a:ext>
            </a:extLst>
          </p:cNvPr>
          <p:cNvSpPr/>
          <p:nvPr/>
        </p:nvSpPr>
        <p:spPr>
          <a:xfrm>
            <a:off x="2761488" y="2240280"/>
            <a:ext cx="2103120" cy="64008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a:extLst>
              <a:ext uri="{C183D7F6-B498-43B3-948B-1728B52AA6E4}">
                <ns13:decorative xmlns:ns13="http://schemas.microsoft.com/office/drawing/2017/decorative" val="1"/>
              </a:ext>
            </a:extLst>
          </p:cNvPr>
          <p:cNvSpPr/>
          <p:nvPr/>
        </p:nvSpPr>
        <p:spPr>
          <a:xfrm>
            <a:off x="2761488" y="2240280"/>
            <a:ext cx="54864" cy="640080"/>
          </a:xfrm>
          <a:prstGeom prst="rect">
            <a:avLst/>
          </a:prstGeom>
          <a:solidFill>
            <a:srgbClr val="8064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2944368" y="2240280"/>
            <a:ext cx="1828800" cy="640080"/>
          </a:xfrm>
          <a:prstGeom prst="rect">
            <a:avLst/>
          </a:prstGeom>
          <a:noFill/>
        </p:spPr>
        <p:txBody>
          <a:bodyPr wrap="square" anchor="ctr" lIns="0" rIns="0" tIns="0" bIns="0">
            <a:spAutoFit/>
          </a:bodyPr>
          <a:lstStyle/>
          <a:p>
            <a:pPr algn="l">
              <a:spcAft>
                <a:spcPts val="400"/>
              </a:spcAft>
            </a:pPr>
            <a:r>
              <a:rPr sz="1350" b="1" i="0">
                <a:solidFill>
                  <a:srgbClr val="242424"/>
                </a:solidFill>
                <a:latin typeface="Segoe UI"/>
              </a:rPr>
              <a:t>Calendar</a:t>
            </a:r>
          </a:p>
        </p:txBody>
      </p:sp>
      <p:sp>
        <p:nvSpPr>
          <p:cNvPr id="25" name="Rectangle 24">
            <a:extLst>
              <a:ext uri="{C183D7F6-B498-43B3-948B-1728B52AA6E4}">
                <ns14:decorative xmlns:ns14="http://schemas.microsoft.com/office/drawing/2017/decorative" val="1"/>
              </a:ext>
            </a:extLst>
          </p:cNvPr>
          <p:cNvSpPr/>
          <p:nvPr/>
        </p:nvSpPr>
        <p:spPr>
          <a:xfrm>
            <a:off x="5020056" y="2240280"/>
            <a:ext cx="2103120" cy="64008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a:extLst>
              <a:ext uri="{C183D7F6-B498-43B3-948B-1728B52AA6E4}">
                <ns15:decorative xmlns:ns15="http://schemas.microsoft.com/office/drawing/2017/decorative" val="1"/>
              </a:ext>
            </a:extLst>
          </p:cNvPr>
          <p:cNvSpPr/>
          <p:nvPr/>
        </p:nvSpPr>
        <p:spPr>
          <a:xfrm>
            <a:off x="5020056" y="2240280"/>
            <a:ext cx="54864" cy="640080"/>
          </a:xfrm>
          <a:prstGeom prst="rect">
            <a:avLst/>
          </a:prstGeom>
          <a:solidFill>
            <a:srgbClr val="8A88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5202936" y="2240280"/>
            <a:ext cx="1828800" cy="640080"/>
          </a:xfrm>
          <a:prstGeom prst="rect">
            <a:avLst/>
          </a:prstGeom>
          <a:noFill/>
        </p:spPr>
        <p:txBody>
          <a:bodyPr wrap="square" anchor="ctr" lIns="0" rIns="0" tIns="0" bIns="0">
            <a:spAutoFit/>
          </a:bodyPr>
          <a:lstStyle/>
          <a:p>
            <a:pPr algn="l">
              <a:spcAft>
                <a:spcPts val="400"/>
              </a:spcAft>
            </a:pPr>
            <a:r>
              <a:rPr sz="1350" b="1" i="0">
                <a:solidFill>
                  <a:srgbClr val="242424"/>
                </a:solidFill>
                <a:latin typeface="Segoe UI"/>
              </a:rPr>
              <a:t>Meetings</a:t>
            </a:r>
          </a:p>
        </p:txBody>
      </p:sp>
      <p:sp>
        <p:nvSpPr>
          <p:cNvPr id="28" name="Rectangle 27">
            <a:extLst>
              <a:ext uri="{C183D7F6-B498-43B3-948B-1728B52AA6E4}">
                <ns16:decorative xmlns:ns16="http://schemas.microsoft.com/office/drawing/2017/decorative" val="1"/>
              </a:ext>
            </a:extLst>
          </p:cNvPr>
          <p:cNvSpPr/>
          <p:nvPr/>
        </p:nvSpPr>
        <p:spPr>
          <a:xfrm>
            <a:off x="7278624" y="2240280"/>
            <a:ext cx="2103120" cy="64008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a:extLst>
              <a:ext uri="{C183D7F6-B498-43B3-948B-1728B52AA6E4}">
                <ns17:decorative xmlns:ns17="http://schemas.microsoft.com/office/drawing/2017/decorative" val="1"/>
              </a:ext>
            </a:extLst>
          </p:cNvPr>
          <p:cNvSpPr/>
          <p:nvPr/>
        </p:nvSpPr>
        <p:spPr>
          <a:xfrm>
            <a:off x="7278624" y="2240280"/>
            <a:ext cx="54864" cy="640080"/>
          </a:xfrm>
          <a:prstGeom prst="rect">
            <a:avLst/>
          </a:prstGeom>
          <a:solidFill>
            <a:srgbClr val="8064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461504" y="2240280"/>
            <a:ext cx="1828800" cy="640080"/>
          </a:xfrm>
          <a:prstGeom prst="rect">
            <a:avLst/>
          </a:prstGeom>
          <a:noFill/>
        </p:spPr>
        <p:txBody>
          <a:bodyPr wrap="square" anchor="ctr" lIns="0" rIns="0" tIns="0" bIns="0">
            <a:spAutoFit/>
          </a:bodyPr>
          <a:lstStyle/>
          <a:p>
            <a:pPr algn="l">
              <a:spcAft>
                <a:spcPts val="400"/>
              </a:spcAft>
            </a:pPr>
            <a:r>
              <a:rPr sz="1350" b="1" i="0">
                <a:solidFill>
                  <a:srgbClr val="242424"/>
                </a:solidFill>
                <a:latin typeface="Segoe UI"/>
              </a:rPr>
              <a:t>Daily Briefing</a:t>
            </a:r>
          </a:p>
        </p:txBody>
      </p:sp>
      <p:sp>
        <p:nvSpPr>
          <p:cNvPr id="31" name="Rectangle 30">
            <a:extLst>
              <a:ext uri="{C183D7F6-B498-43B3-948B-1728B52AA6E4}">
                <ns18:decorative xmlns:ns18="http://schemas.microsoft.com/office/drawing/2017/decorative" val="1"/>
              </a:ext>
            </a:extLst>
          </p:cNvPr>
          <p:cNvSpPr/>
          <p:nvPr/>
        </p:nvSpPr>
        <p:spPr>
          <a:xfrm>
            <a:off x="9537192" y="2240280"/>
            <a:ext cx="2103120" cy="64008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a:extLst>
              <a:ext uri="{C183D7F6-B498-43B3-948B-1728B52AA6E4}">
                <ns19:decorative xmlns:ns19="http://schemas.microsoft.com/office/drawing/2017/decorative" val="1"/>
              </a:ext>
            </a:extLst>
          </p:cNvPr>
          <p:cNvSpPr/>
          <p:nvPr/>
        </p:nvSpPr>
        <p:spPr>
          <a:xfrm>
            <a:off x="9537192" y="2240280"/>
            <a:ext cx="54864" cy="640080"/>
          </a:xfrm>
          <a:prstGeom prst="rect">
            <a:avLst/>
          </a:prstGeom>
          <a:solidFill>
            <a:srgbClr val="8A88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9720072" y="2240280"/>
            <a:ext cx="1828800" cy="640080"/>
          </a:xfrm>
          <a:prstGeom prst="rect">
            <a:avLst/>
          </a:prstGeom>
          <a:noFill/>
        </p:spPr>
        <p:txBody>
          <a:bodyPr wrap="square" anchor="ctr" lIns="0" rIns="0" tIns="0" bIns="0">
            <a:spAutoFit/>
          </a:bodyPr>
          <a:lstStyle/>
          <a:p>
            <a:pPr algn="l">
              <a:spcAft>
                <a:spcPts val="400"/>
              </a:spcAft>
            </a:pPr>
            <a:r>
              <a:rPr sz="1350" b="1" i="0">
                <a:solidFill>
                  <a:srgbClr val="242424"/>
                </a:solidFill>
                <a:latin typeface="Segoe UI"/>
              </a:rPr>
              <a:t>Enterprise Search</a:t>
            </a:r>
          </a:p>
        </p:txBody>
      </p:sp>
      <p:sp>
        <p:nvSpPr>
          <p:cNvPr id="34" name="Rectangle 33">
            <a:extLst>
              <a:ext uri="{C183D7F6-B498-43B3-948B-1728B52AA6E4}">
                <ns20:decorative xmlns:ns20="http://schemas.microsoft.com/office/drawing/2017/decorative" val="1"/>
              </a:ext>
            </a:extLst>
          </p:cNvPr>
          <p:cNvSpPr/>
          <p:nvPr/>
        </p:nvSpPr>
        <p:spPr>
          <a:xfrm>
            <a:off x="502920" y="3017520"/>
            <a:ext cx="2103120" cy="64008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a:extLst>
              <a:ext uri="{C183D7F6-B498-43B3-948B-1728B52AA6E4}">
                <ns21:decorative xmlns:ns21="http://schemas.microsoft.com/office/drawing/2017/decorative" val="1"/>
              </a:ext>
            </a:extLst>
          </p:cNvPr>
          <p:cNvSpPr/>
          <p:nvPr/>
        </p:nvSpPr>
        <p:spPr>
          <a:xfrm>
            <a:off x="502920" y="3017520"/>
            <a:ext cx="54864" cy="640080"/>
          </a:xfrm>
          <a:prstGeom prst="rect">
            <a:avLst/>
          </a:prstGeom>
          <a:solidFill>
            <a:srgbClr val="8064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85800" y="3017520"/>
            <a:ext cx="1828800" cy="640080"/>
          </a:xfrm>
          <a:prstGeom prst="rect">
            <a:avLst/>
          </a:prstGeom>
          <a:noFill/>
        </p:spPr>
        <p:txBody>
          <a:bodyPr wrap="square" anchor="ctr" lIns="0" rIns="0" tIns="0" bIns="0">
            <a:spAutoFit/>
          </a:bodyPr>
          <a:lstStyle/>
          <a:p>
            <a:pPr algn="l">
              <a:spcAft>
                <a:spcPts val="400"/>
              </a:spcAft>
            </a:pPr>
            <a:r>
              <a:rPr sz="1350" b="1" i="0">
                <a:solidFill>
                  <a:srgbClr val="242424"/>
                </a:solidFill>
                <a:latin typeface="Segoe UI"/>
              </a:rPr>
              <a:t>Deep Research</a:t>
            </a:r>
          </a:p>
        </p:txBody>
      </p:sp>
      <p:sp>
        <p:nvSpPr>
          <p:cNvPr id="37" name="Rectangle 36">
            <a:extLst>
              <a:ext uri="{C183D7F6-B498-43B3-948B-1728B52AA6E4}">
                <ns22:decorative xmlns:ns22="http://schemas.microsoft.com/office/drawing/2017/decorative" val="1"/>
              </a:ext>
            </a:extLst>
          </p:cNvPr>
          <p:cNvSpPr/>
          <p:nvPr/>
        </p:nvSpPr>
        <p:spPr>
          <a:xfrm>
            <a:off x="2761488" y="3017520"/>
            <a:ext cx="2103120" cy="64008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a:extLst>
              <a:ext uri="{C183D7F6-B498-43B3-948B-1728B52AA6E4}">
                <ns23:decorative xmlns:ns23="http://schemas.microsoft.com/office/drawing/2017/decorative" val="1"/>
              </a:ext>
            </a:extLst>
          </p:cNvPr>
          <p:cNvSpPr/>
          <p:nvPr/>
        </p:nvSpPr>
        <p:spPr>
          <a:xfrm>
            <a:off x="2761488" y="3017520"/>
            <a:ext cx="54864" cy="640080"/>
          </a:xfrm>
          <a:prstGeom prst="rect">
            <a:avLst/>
          </a:prstGeom>
          <a:solidFill>
            <a:srgbClr val="8064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2944368" y="3017520"/>
            <a:ext cx="1828800" cy="640080"/>
          </a:xfrm>
          <a:prstGeom prst="rect">
            <a:avLst/>
          </a:prstGeom>
          <a:noFill/>
        </p:spPr>
        <p:txBody>
          <a:bodyPr wrap="square" anchor="ctr" lIns="0" rIns="0" tIns="0" bIns="0">
            <a:spAutoFit/>
          </a:bodyPr>
          <a:lstStyle/>
          <a:p>
            <a:pPr algn="l">
              <a:spcAft>
                <a:spcPts val="400"/>
              </a:spcAft>
            </a:pPr>
            <a:r>
              <a:rPr sz="1350" b="1" i="0">
                <a:solidFill>
                  <a:srgbClr val="242424"/>
                </a:solidFill>
                <a:latin typeface="Segoe UI"/>
              </a:rPr>
              <a:t>Communications</a:t>
            </a:r>
          </a:p>
        </p:txBody>
      </p:sp>
      <p:sp>
        <p:nvSpPr>
          <p:cNvPr id="40" name="Rectangle 39">
            <a:extLst>
              <a:ext uri="{C183D7F6-B498-43B3-948B-1728B52AA6E4}">
                <ns24:decorative xmlns:ns24="http://schemas.microsoft.com/office/drawing/2017/decorative" val="1"/>
              </a:ext>
            </a:extLst>
          </p:cNvPr>
          <p:cNvSpPr/>
          <p:nvPr/>
        </p:nvSpPr>
        <p:spPr>
          <a:xfrm>
            <a:off x="5020056" y="3017520"/>
            <a:ext cx="2103120" cy="64008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a:extLst>
              <a:ext uri="{C183D7F6-B498-43B3-948B-1728B52AA6E4}">
                <ns25:decorative xmlns:ns25="http://schemas.microsoft.com/office/drawing/2017/decorative" val="1"/>
              </a:ext>
            </a:extLst>
          </p:cNvPr>
          <p:cNvSpPr/>
          <p:nvPr/>
        </p:nvSpPr>
        <p:spPr>
          <a:xfrm>
            <a:off x="5020056" y="3017520"/>
            <a:ext cx="54864" cy="640080"/>
          </a:xfrm>
          <a:prstGeom prst="rect">
            <a:avLst/>
          </a:prstGeom>
          <a:solidFill>
            <a:srgbClr val="8A88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5202936" y="3017520"/>
            <a:ext cx="1828800" cy="640080"/>
          </a:xfrm>
          <a:prstGeom prst="rect">
            <a:avLst/>
          </a:prstGeom>
          <a:noFill/>
        </p:spPr>
        <p:txBody>
          <a:bodyPr wrap="square" anchor="ctr" lIns="0" rIns="0" tIns="0" bIns="0">
            <a:spAutoFit/>
          </a:bodyPr>
          <a:lstStyle/>
          <a:p>
            <a:pPr algn="l">
              <a:spcAft>
                <a:spcPts val="400"/>
              </a:spcAft>
            </a:pPr>
            <a:r>
              <a:rPr sz="1350" b="1" i="0">
                <a:solidFill>
                  <a:srgbClr val="242424"/>
                </a:solidFill>
                <a:latin typeface="Segoe UI"/>
              </a:rPr>
              <a:t>Adaptive Cards</a:t>
            </a:r>
          </a:p>
        </p:txBody>
      </p:sp>
      <p:sp>
        <p:nvSpPr>
          <p:cNvPr id="43" name="Rectangle 42">
            <a:extLst>
              <a:ext uri="{C183D7F6-B498-43B3-948B-1728B52AA6E4}">
                <ns26:decorative xmlns:ns26="http://schemas.microsoft.com/office/drawing/2017/decorative" val="1"/>
              </a:ext>
            </a:extLst>
          </p:cNvPr>
          <p:cNvSpPr/>
          <p:nvPr/>
        </p:nvSpPr>
        <p:spPr>
          <a:xfrm>
            <a:off x="7278624" y="3017520"/>
            <a:ext cx="2103120" cy="64008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a:extLst>
              <a:ext uri="{C183D7F6-B498-43B3-948B-1728B52AA6E4}">
                <ns27:decorative xmlns:ns27="http://schemas.microsoft.com/office/drawing/2017/decorative" val="1"/>
              </a:ext>
            </a:extLst>
          </p:cNvPr>
          <p:cNvSpPr/>
          <p:nvPr/>
        </p:nvSpPr>
        <p:spPr>
          <a:xfrm>
            <a:off x="7278624" y="3017520"/>
            <a:ext cx="54864" cy="640080"/>
          </a:xfrm>
          <a:prstGeom prst="rect">
            <a:avLst/>
          </a:prstGeom>
          <a:solidFill>
            <a:srgbClr val="8A88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7461504" y="3017520"/>
            <a:ext cx="1828800" cy="640080"/>
          </a:xfrm>
          <a:prstGeom prst="rect">
            <a:avLst/>
          </a:prstGeom>
          <a:noFill/>
        </p:spPr>
        <p:txBody>
          <a:bodyPr wrap="square" anchor="ctr" lIns="0" rIns="0" tIns="0" bIns="0">
            <a:spAutoFit/>
          </a:bodyPr>
          <a:lstStyle/>
          <a:p>
            <a:pPr algn="l">
              <a:spcAft>
                <a:spcPts val="400"/>
              </a:spcAft>
            </a:pPr>
            <a:r>
              <a:rPr sz="1350" b="1" i="0">
                <a:solidFill>
                  <a:srgbClr val="242424"/>
                </a:solidFill>
                <a:latin typeface="Segoe UI"/>
              </a:rPr>
              <a:t>App (Frontier)</a:t>
            </a:r>
          </a:p>
        </p:txBody>
      </p:sp>
      <p:sp>
        <p:nvSpPr>
          <p:cNvPr id="46" name="Rounded Rectangle 45">
            <a:extLst>
              <a:ext uri="{C183D7F6-B498-43B3-948B-1728B52AA6E4}">
                <ns28:decorative xmlns:ns28="http://schemas.microsoft.com/office/drawing/2017/decorative" val="1"/>
              </a:ext>
            </a:extLst>
          </p:cNvPr>
          <p:cNvSpPr/>
          <p:nvPr/>
        </p:nvSpPr>
        <p:spPr>
          <a:xfrm>
            <a:off x="502920" y="3977639"/>
            <a:ext cx="11183112" cy="1051560"/>
          </a:xfrm>
          <a:prstGeom prst="roundRect">
            <a:avLst>
              <a:gd name="adj" fmla="val 12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777240" y="3977639"/>
            <a:ext cx="10634472" cy="1051560"/>
          </a:xfrm>
          <a:prstGeom prst="rect">
            <a:avLst/>
          </a:prstGeom>
          <a:noFill/>
        </p:spPr>
        <p:txBody>
          <a:bodyPr wrap="square" anchor="ctr" lIns="0" rIns="0" tIns="0" bIns="0">
            <a:spAutoFit/>
          </a:bodyPr>
          <a:lstStyle/>
          <a:p>
            <a:pPr algn="l">
              <a:lnSpc>
                <a:spcPct val="105000"/>
              </a:lnSpc>
              <a:spcAft>
                <a:spcPts val="400"/>
              </a:spcAft>
            </a:pPr>
            <a:r>
              <a:rPr sz="1400" b="1" i="0">
                <a:solidFill>
                  <a:srgbClr val="323139"/>
                </a:solidFill>
                <a:latin typeface="Segoe UI"/>
              </a:rPr>
              <a:t>Three kinds of skills:</a:t>
            </a:r>
            <a:r>
              <a:rPr sz="1400" b="0" i="0">
                <a:solidFill>
                  <a:srgbClr val="323139"/>
                </a:solidFill>
                <a:latin typeface="Segoe UI"/>
              </a:rPr>
              <a:t> built-in (above) · </a:t>
            </a:r>
            <a:r>
              <a:rPr sz="1400" b="1" i="0">
                <a:solidFill>
                  <a:srgbClr val="323139"/>
                </a:solidFill>
                <a:latin typeface="Segoe UI"/>
              </a:rPr>
              <a:t>custom</a:t>
            </a:r>
            <a:r>
              <a:rPr sz="1400" b="0" i="0">
                <a:solidFill>
                  <a:srgbClr val="323139"/>
                </a:solidFill>
                <a:latin typeface="Segoe UI"/>
              </a:rPr>
              <a:t> (you build one in Exercise 4) · </a:t>
            </a:r>
            <a:r>
              <a:rPr sz="1400" b="1" i="0">
                <a:solidFill>
                  <a:srgbClr val="323139"/>
                </a:solidFill>
                <a:latin typeface="Segoe UI"/>
              </a:rPr>
              <a:t>plugins</a:t>
            </a:r>
            <a:r>
              <a:rPr sz="1400" b="0" i="0">
                <a:solidFill>
                  <a:srgbClr val="323139"/>
                </a:solidFill>
                <a:latin typeface="Segoe UI"/>
              </a:rPr>
              <a:t> from the Microsoft 365 App Store. Purple = used hands-on today.</a:t>
            </a:r>
          </a:p>
        </p:txBody>
      </p:sp>
      <p:sp>
        <p:nvSpPr>
          <p:cNvPr id="48" name="Rounded Rectangle 47">
            <a:extLst>
              <a:ext uri="{C183D7F6-B498-43B3-948B-1728B52AA6E4}">
                <ns29:decorative xmlns:ns29="http://schemas.microsoft.com/office/drawing/2017/decorative" val="1"/>
              </a:ext>
            </a:extLst>
          </p:cNvPr>
          <p:cNvSpPr/>
          <p:nvPr/>
        </p:nvSpPr>
        <p:spPr>
          <a:xfrm>
            <a:off x="502920" y="5212080"/>
            <a:ext cx="11183112" cy="960120"/>
          </a:xfrm>
          <a:prstGeom prst="roundRect">
            <a:avLst>
              <a:gd name="adj" fmla="val 12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777240" y="5212080"/>
            <a:ext cx="10634472" cy="960120"/>
          </a:xfrm>
          <a:prstGeom prst="rect">
            <a:avLst/>
          </a:prstGeom>
          <a:noFill/>
        </p:spPr>
        <p:txBody>
          <a:bodyPr wrap="square" anchor="ctr" lIns="0" rIns="0" tIns="0" bIns="0">
            <a:spAutoFit/>
          </a:bodyPr>
          <a:lstStyle/>
          <a:p>
            <a:pPr algn="l">
              <a:lnSpc>
                <a:spcPct val="105000"/>
              </a:lnSpc>
              <a:spcAft>
                <a:spcPts val="400"/>
              </a:spcAft>
            </a:pPr>
            <a:r>
              <a:rPr sz="1300" b="0" i="0">
                <a:solidFill>
                  <a:srgbClr val="616161"/>
                </a:solidFill>
                <a:latin typeface="Segoe UI"/>
              </a:rPr>
              <a:t>App (Frontier) requires the Frontier program — awareness only in this workshop.</a:t>
            </a:r>
          </a:p>
        </p:txBody>
      </p:sp>
    </p:spTree>
    <p:extLst>
      <p:ext uri="{BB962C8B-B14F-4D97-AF65-F5344CB8AC3E}">
        <p14:creationId xmlns:p14="http://schemas.microsoft.com/office/powerpoint/2010/main" val="418314712"/>
      </p:ext>
    </p:extLst>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1690EC29-5E32-79B5-E29E-1E389EB1B83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1224B80-F0A8-232A-607E-25709F49219E}"/>
              </a:ext>
            </a:extLst>
          </p:cNvPr>
          <p:cNvSpPr txBox="1"/>
          <p:nvPr/>
        </p:nvSpPr>
        <p:spPr>
          <a:xfrm>
            <a:off x="502920" y="347472"/>
            <a:ext cx="11155680" cy="415498"/>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a:ln>
                  <a:noFill/>
                </a:ln>
                <a:solidFill>
                  <a:srgbClr val="242424"/>
                </a:solidFill>
                <a:effectLst/>
                <a:uLnTx/>
                <a:uFillTx/>
                <a:latin typeface="Segoe UI"/>
                <a:ea typeface="+mn-ea"/>
                <a:cs typeface="+mn-cs"/>
              </a:rPr>
              <a:t>Responsible use — the golden rules</a:t>
            </a:r>
          </a:p>
        </p:txBody>
      </p:sp>
      <p:sp>
        <p:nvSpPr>
          <p:cNvPr id="3" name="TextBox 2">
            <a:extLst>
              <a:ext uri="{FF2B5EF4-FFF2-40B4-BE49-F238E27FC236}">
                <a16:creationId xmlns:a16="http://schemas.microsoft.com/office/drawing/2014/main" id="{C42FDF1E-C1D0-BD11-A7D1-CD7E8CECE583}"/>
              </a:ext>
            </a:extLst>
          </p:cNvPr>
          <p:cNvSpPr txBox="1"/>
          <p:nvPr/>
        </p:nvSpPr>
        <p:spPr>
          <a:xfrm>
            <a:off x="502920" y="932688"/>
            <a:ext cx="11064240" cy="215444"/>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616161"/>
                </a:solidFill>
                <a:effectLst/>
                <a:uLnTx/>
                <a:uFillTx/>
                <a:latin typeface="Segoe UI"/>
                <a:ea typeface="+mn-ea"/>
                <a:cs typeface="+mn-cs"/>
              </a:rPr>
              <a:t>HR handles sensitive people data. Make these non-negotiable.</a:t>
            </a:r>
          </a:p>
        </p:txBody>
      </p:sp>
      <p:sp>
        <p:nvSpPr>
          <p:cNvPr id="4" name="Rectangle 3">
            <a:extLst>
              <a:ext uri="{C183D7F6-B498-43B3-948B-1728B52AA6E4}">
                <ns0:decorative xmlns:ns0="http://schemas.microsoft.com/office/drawing/2017/decorative" val="1"/>
              </a:ext>
            </a:extLst>
          </p:cNvPr>
          <p:cNvSpPr/>
          <p:nvPr/>
        </p:nvSpPr>
        <p:spPr>
          <a:xfrm>
            <a:off x="502920" y="1463040"/>
            <a:ext cx="11183112" cy="841248"/>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a:extLst>
              <a:ext uri="{C183D7F6-B498-43B3-948B-1728B52AA6E4}">
                <ns1:decorative xmlns:ns1="http://schemas.microsoft.com/office/drawing/2017/decorative" val="1"/>
              </a:ext>
            </a:extLst>
          </p:cNvPr>
          <p:cNvSpPr/>
          <p:nvPr/>
        </p:nvSpPr>
        <p:spPr>
          <a:xfrm>
            <a:off x="502920" y="1463040"/>
            <a:ext cx="54864" cy="841248"/>
          </a:xfrm>
          <a:prstGeom prst="rect">
            <a:avLst/>
          </a:prstGeom>
          <a:solidFill>
            <a:srgbClr val="0F6C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31520" y="1463040"/>
            <a:ext cx="457200" cy="841248"/>
          </a:xfrm>
          <a:prstGeom prst="rect">
            <a:avLst/>
          </a:prstGeom>
          <a:noFill/>
        </p:spPr>
        <p:txBody>
          <a:bodyPr wrap="square" anchor="ctr" lIns="0" rIns="0" tIns="0" bIns="0">
            <a:spAutoFit/>
          </a:bodyPr>
          <a:lstStyle/>
          <a:p>
            <a:pPr algn="l">
              <a:spcAft>
                <a:spcPts val="400"/>
              </a:spcAft>
            </a:pPr>
            <a:r>
              <a:rPr sz="2200" b="1" i="0">
                <a:solidFill>
                  <a:srgbClr val="0F6CBD"/>
                </a:solidFill>
                <a:latin typeface="Segoe UI"/>
              </a:rPr>
              <a:t>1</a:t>
            </a:r>
          </a:p>
        </p:txBody>
      </p:sp>
      <p:sp>
        <p:nvSpPr>
          <p:cNvPr id="7" name="TextBox 6"/>
          <p:cNvSpPr txBox="1"/>
          <p:nvPr/>
        </p:nvSpPr>
        <p:spPr>
          <a:xfrm>
            <a:off x="1234440" y="1463040"/>
            <a:ext cx="3566160" cy="841248"/>
          </a:xfrm>
          <a:prstGeom prst="rect">
            <a:avLst/>
          </a:prstGeom>
          <a:noFill/>
        </p:spPr>
        <p:txBody>
          <a:bodyPr wrap="square" anchor="ctr" lIns="0" rIns="0" tIns="0" bIns="0">
            <a:spAutoFit/>
          </a:bodyPr>
          <a:lstStyle/>
          <a:p>
            <a:pPr algn="l">
              <a:spcAft>
                <a:spcPts val="400"/>
              </a:spcAft>
            </a:pPr>
            <a:r>
              <a:rPr sz="1600" b="1" i="0">
                <a:solidFill>
                  <a:srgbClr val="242424"/>
                </a:solidFill>
                <a:latin typeface="Segoe UI"/>
              </a:rPr>
              <a:t>Every output is a draft</a:t>
            </a:r>
          </a:p>
        </p:txBody>
      </p:sp>
      <p:sp>
        <p:nvSpPr>
          <p:cNvPr id="8" name="TextBox 7"/>
          <p:cNvSpPr txBox="1"/>
          <p:nvPr/>
        </p:nvSpPr>
        <p:spPr>
          <a:xfrm>
            <a:off x="4846320" y="1463040"/>
            <a:ext cx="6675120" cy="841248"/>
          </a:xfrm>
          <a:prstGeom prst="rect">
            <a:avLst/>
          </a:prstGeom>
          <a:noFill/>
        </p:spPr>
        <p:txBody>
          <a:bodyPr wrap="square" anchor="ctr" lIns="0" rIns="0" tIns="0" bIns="0">
            <a:spAutoFit/>
          </a:bodyPr>
          <a:lstStyle/>
          <a:p>
            <a:pPr algn="l">
              <a:spcAft>
                <a:spcPts val="400"/>
              </a:spcAft>
            </a:pPr>
            <a:r>
              <a:rPr sz="1400" b="0" i="0">
                <a:solidFill>
                  <a:srgbClr val="616161"/>
                </a:solidFill>
                <a:latin typeface="Segoe UI"/>
              </a:rPr>
              <a:t>Review before you send, share, or file — especially employee comms.</a:t>
            </a:r>
          </a:p>
        </p:txBody>
      </p:sp>
      <p:sp>
        <p:nvSpPr>
          <p:cNvPr id="9" name="Rectangle 8">
            <a:extLst>
              <a:ext uri="{C183D7F6-B498-43B3-948B-1728B52AA6E4}">
                <ns2:decorative xmlns:ns2="http://schemas.microsoft.com/office/drawing/2017/decorative" val="1"/>
              </a:ext>
            </a:extLst>
          </p:cNvPr>
          <p:cNvSpPr/>
          <p:nvPr/>
        </p:nvSpPr>
        <p:spPr>
          <a:xfrm>
            <a:off x="502920" y="2404872"/>
            <a:ext cx="11183112" cy="841248"/>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a:extLst>
              <a:ext uri="{C183D7F6-B498-43B3-948B-1728B52AA6E4}">
                <ns3:decorative xmlns:ns3="http://schemas.microsoft.com/office/drawing/2017/decorative" val="1"/>
              </a:ext>
            </a:extLst>
          </p:cNvPr>
          <p:cNvSpPr/>
          <p:nvPr/>
        </p:nvSpPr>
        <p:spPr>
          <a:xfrm>
            <a:off x="502920" y="2404872"/>
            <a:ext cx="54864" cy="841248"/>
          </a:xfrm>
          <a:prstGeom prst="rect">
            <a:avLst/>
          </a:prstGeom>
          <a:solidFill>
            <a:srgbClr val="8064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31520" y="2404872"/>
            <a:ext cx="457200" cy="841248"/>
          </a:xfrm>
          <a:prstGeom prst="rect">
            <a:avLst/>
          </a:prstGeom>
          <a:noFill/>
        </p:spPr>
        <p:txBody>
          <a:bodyPr wrap="square" anchor="ctr" lIns="0" rIns="0" tIns="0" bIns="0">
            <a:spAutoFit/>
          </a:bodyPr>
          <a:lstStyle/>
          <a:p>
            <a:pPr algn="l">
              <a:spcAft>
                <a:spcPts val="400"/>
              </a:spcAft>
            </a:pPr>
            <a:r>
              <a:rPr sz="2200" b="1" i="0">
                <a:solidFill>
                  <a:srgbClr val="8064A2"/>
                </a:solidFill>
                <a:latin typeface="Segoe UI"/>
              </a:rPr>
              <a:t>2</a:t>
            </a:r>
          </a:p>
        </p:txBody>
      </p:sp>
      <p:sp>
        <p:nvSpPr>
          <p:cNvPr id="12" name="TextBox 11"/>
          <p:cNvSpPr txBox="1"/>
          <p:nvPr/>
        </p:nvSpPr>
        <p:spPr>
          <a:xfrm>
            <a:off x="1234440" y="2404872"/>
            <a:ext cx="3566160" cy="841248"/>
          </a:xfrm>
          <a:prstGeom prst="rect">
            <a:avLst/>
          </a:prstGeom>
          <a:noFill/>
        </p:spPr>
        <p:txBody>
          <a:bodyPr wrap="square" anchor="ctr" lIns="0" rIns="0" tIns="0" bIns="0">
            <a:spAutoFit/>
          </a:bodyPr>
          <a:lstStyle/>
          <a:p>
            <a:pPr algn="l">
              <a:spcAft>
                <a:spcPts val="400"/>
              </a:spcAft>
            </a:pPr>
            <a:r>
              <a:rPr sz="1600" b="1" i="0">
                <a:solidFill>
                  <a:srgbClr val="242424"/>
                </a:solidFill>
                <a:latin typeface="Segoe UI"/>
              </a:rPr>
              <a:t>Approve at checkpoints</a:t>
            </a:r>
          </a:p>
        </p:txBody>
      </p:sp>
      <p:sp>
        <p:nvSpPr>
          <p:cNvPr id="13" name="TextBox 12"/>
          <p:cNvSpPr txBox="1"/>
          <p:nvPr/>
        </p:nvSpPr>
        <p:spPr>
          <a:xfrm>
            <a:off x="4846320" y="2404872"/>
            <a:ext cx="6675120" cy="841248"/>
          </a:xfrm>
          <a:prstGeom prst="rect">
            <a:avLst/>
          </a:prstGeom>
          <a:noFill/>
        </p:spPr>
        <p:txBody>
          <a:bodyPr wrap="square" anchor="ctr" lIns="0" rIns="0" tIns="0" bIns="0">
            <a:spAutoFit/>
          </a:bodyPr>
          <a:lstStyle/>
          <a:p>
            <a:pPr algn="l">
              <a:spcAft>
                <a:spcPts val="400"/>
              </a:spcAft>
            </a:pPr>
            <a:r>
              <a:rPr sz="1400" b="0" i="0">
                <a:solidFill>
                  <a:srgbClr val="616161"/>
                </a:solidFill>
                <a:latin typeface="Segoe UI"/>
              </a:rPr>
              <a:t>Cowork pauses before irreversible actions. Read before you confirm.</a:t>
            </a:r>
          </a:p>
        </p:txBody>
      </p:sp>
      <p:sp>
        <p:nvSpPr>
          <p:cNvPr id="14" name="Rectangle 13">
            <a:extLst>
              <a:ext uri="{C183D7F6-B498-43B3-948B-1728B52AA6E4}">
                <ns4:decorative xmlns:ns4="http://schemas.microsoft.com/office/drawing/2017/decorative" val="1"/>
              </a:ext>
            </a:extLst>
          </p:cNvPr>
          <p:cNvSpPr/>
          <p:nvPr/>
        </p:nvSpPr>
        <p:spPr>
          <a:xfrm>
            <a:off x="502920" y="3346704"/>
            <a:ext cx="11183112" cy="841248"/>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a:extLst>
              <a:ext uri="{C183D7F6-B498-43B3-948B-1728B52AA6E4}">
                <ns5:decorative xmlns:ns5="http://schemas.microsoft.com/office/drawing/2017/decorative" val="1"/>
              </a:ext>
            </a:extLst>
          </p:cNvPr>
          <p:cNvSpPr/>
          <p:nvPr/>
        </p:nvSpPr>
        <p:spPr>
          <a:xfrm>
            <a:off x="502920" y="3346704"/>
            <a:ext cx="54864" cy="841248"/>
          </a:xfrm>
          <a:prstGeom prst="rect">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31520" y="3346704"/>
            <a:ext cx="457200" cy="841248"/>
          </a:xfrm>
          <a:prstGeom prst="rect">
            <a:avLst/>
          </a:prstGeom>
          <a:noFill/>
        </p:spPr>
        <p:txBody>
          <a:bodyPr wrap="square" anchor="ctr" lIns="0" rIns="0" tIns="0" bIns="0">
            <a:spAutoFit/>
          </a:bodyPr>
          <a:lstStyle/>
          <a:p>
            <a:pPr algn="l">
              <a:spcAft>
                <a:spcPts val="400"/>
              </a:spcAft>
            </a:pPr>
            <a:r>
              <a:rPr sz="2200" b="1" i="0">
                <a:solidFill>
                  <a:srgbClr val="107C10"/>
                </a:solidFill>
                <a:latin typeface="Segoe UI"/>
              </a:rPr>
              <a:t>3</a:t>
            </a:r>
          </a:p>
        </p:txBody>
      </p:sp>
      <p:sp>
        <p:nvSpPr>
          <p:cNvPr id="17" name="TextBox 16"/>
          <p:cNvSpPr txBox="1"/>
          <p:nvPr/>
        </p:nvSpPr>
        <p:spPr>
          <a:xfrm>
            <a:off x="1234440" y="3346704"/>
            <a:ext cx="3566160" cy="841248"/>
          </a:xfrm>
          <a:prstGeom prst="rect">
            <a:avLst/>
          </a:prstGeom>
          <a:noFill/>
        </p:spPr>
        <p:txBody>
          <a:bodyPr wrap="square" anchor="ctr" lIns="0" rIns="0" tIns="0" bIns="0">
            <a:spAutoFit/>
          </a:bodyPr>
          <a:lstStyle/>
          <a:p>
            <a:pPr algn="l">
              <a:spcAft>
                <a:spcPts val="400"/>
              </a:spcAft>
            </a:pPr>
            <a:r>
              <a:rPr sz="1600" b="1" i="0">
                <a:solidFill>
                  <a:srgbClr val="242424"/>
                </a:solidFill>
                <a:latin typeface="Segoe UI"/>
              </a:rPr>
              <a:t>Use fictional data today</a:t>
            </a:r>
          </a:p>
        </p:txBody>
      </p:sp>
      <p:sp>
        <p:nvSpPr>
          <p:cNvPr id="18" name="TextBox 17"/>
          <p:cNvSpPr txBox="1"/>
          <p:nvPr/>
        </p:nvSpPr>
        <p:spPr>
          <a:xfrm>
            <a:off x="4846320" y="3346704"/>
            <a:ext cx="6675120" cy="841248"/>
          </a:xfrm>
          <a:prstGeom prst="rect">
            <a:avLst/>
          </a:prstGeom>
          <a:noFill/>
        </p:spPr>
        <p:txBody>
          <a:bodyPr wrap="square" anchor="ctr" lIns="0" rIns="0" tIns="0" bIns="0">
            <a:spAutoFit/>
          </a:bodyPr>
          <a:lstStyle/>
          <a:p>
            <a:pPr algn="l">
              <a:spcAft>
                <a:spcPts val="400"/>
              </a:spcAft>
            </a:pPr>
            <a:r>
              <a:rPr sz="1400" b="0" i="0">
                <a:solidFill>
                  <a:srgbClr val="616161"/>
                </a:solidFill>
                <a:latin typeface="Segoe UI"/>
              </a:rPr>
              <a:t>All sample files are the fictional Zava. No real PII.</a:t>
            </a:r>
          </a:p>
        </p:txBody>
      </p:sp>
      <p:sp>
        <p:nvSpPr>
          <p:cNvPr id="19" name="Rectangle 18">
            <a:extLst>
              <a:ext uri="{C183D7F6-B498-43B3-948B-1728B52AA6E4}">
                <ns6:decorative xmlns:ns6="http://schemas.microsoft.com/office/drawing/2017/decorative" val="1"/>
              </a:ext>
            </a:extLst>
          </p:cNvPr>
          <p:cNvSpPr/>
          <p:nvPr/>
        </p:nvSpPr>
        <p:spPr>
          <a:xfrm>
            <a:off x="502920" y="4288536"/>
            <a:ext cx="11183112" cy="841248"/>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a:extLst>
              <a:ext uri="{C183D7F6-B498-43B3-948B-1728B52AA6E4}">
                <ns7:decorative xmlns:ns7="http://schemas.microsoft.com/office/drawing/2017/decorative" val="1"/>
              </a:ext>
            </a:extLst>
          </p:cNvPr>
          <p:cNvSpPr/>
          <p:nvPr/>
        </p:nvSpPr>
        <p:spPr>
          <a:xfrm>
            <a:off x="502920" y="4288536"/>
            <a:ext cx="54864" cy="841248"/>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31520" y="4288536"/>
            <a:ext cx="457200" cy="841248"/>
          </a:xfrm>
          <a:prstGeom prst="rect">
            <a:avLst/>
          </a:prstGeom>
          <a:noFill/>
        </p:spPr>
        <p:txBody>
          <a:bodyPr wrap="square" anchor="ctr" lIns="0" rIns="0" tIns="0" bIns="0">
            <a:spAutoFit/>
          </a:bodyPr>
          <a:lstStyle/>
          <a:p>
            <a:pPr algn="l">
              <a:spcAft>
                <a:spcPts val="400"/>
              </a:spcAft>
            </a:pPr>
            <a:r>
              <a:rPr sz="2200" b="1" i="0">
                <a:solidFill>
                  <a:srgbClr val="C0504D"/>
                </a:solidFill>
                <a:latin typeface="Segoe UI"/>
              </a:rPr>
              <a:t>4</a:t>
            </a:r>
          </a:p>
        </p:txBody>
      </p:sp>
      <p:sp>
        <p:nvSpPr>
          <p:cNvPr id="22" name="TextBox 21"/>
          <p:cNvSpPr txBox="1"/>
          <p:nvPr/>
        </p:nvSpPr>
        <p:spPr>
          <a:xfrm>
            <a:off x="1234440" y="4288536"/>
            <a:ext cx="3566160" cy="841248"/>
          </a:xfrm>
          <a:prstGeom prst="rect">
            <a:avLst/>
          </a:prstGeom>
          <a:noFill/>
        </p:spPr>
        <p:txBody>
          <a:bodyPr wrap="square" anchor="ctr" lIns="0" rIns="0" tIns="0" bIns="0">
            <a:spAutoFit/>
          </a:bodyPr>
          <a:lstStyle/>
          <a:p>
            <a:pPr algn="l">
              <a:spcAft>
                <a:spcPts val="400"/>
              </a:spcAft>
            </a:pPr>
            <a:r>
              <a:rPr sz="1600" b="1" i="0">
                <a:solidFill>
                  <a:srgbClr val="242424"/>
                </a:solidFill>
                <a:latin typeface="Segoe UI"/>
              </a:rPr>
              <a:t>Cite &amp; confirm</a:t>
            </a:r>
          </a:p>
        </p:txBody>
      </p:sp>
      <p:sp>
        <p:nvSpPr>
          <p:cNvPr id="23" name="TextBox 22"/>
          <p:cNvSpPr txBox="1"/>
          <p:nvPr/>
        </p:nvSpPr>
        <p:spPr>
          <a:xfrm>
            <a:off x="4846320" y="4288536"/>
            <a:ext cx="6675120" cy="841248"/>
          </a:xfrm>
          <a:prstGeom prst="rect">
            <a:avLst/>
          </a:prstGeom>
          <a:noFill/>
        </p:spPr>
        <p:txBody>
          <a:bodyPr wrap="square" anchor="ctr" lIns="0" rIns="0" tIns="0" bIns="0">
            <a:spAutoFit/>
          </a:bodyPr>
          <a:lstStyle/>
          <a:p>
            <a:pPr algn="l">
              <a:spcAft>
                <a:spcPts val="400"/>
              </a:spcAft>
            </a:pPr>
            <a:r>
              <a:rPr sz="1400" b="0" i="0">
                <a:solidFill>
                  <a:srgbClr val="616161"/>
                </a:solidFill>
                <a:latin typeface="Segoe UI"/>
              </a:rPr>
              <a:t>For policy answers, name the source and note HR should confirm.</a:t>
            </a:r>
          </a:p>
        </p:txBody>
      </p:sp>
      <p:sp>
        <p:nvSpPr>
          <p:cNvPr id="24" name="Rectangle 23">
            <a:extLst>
              <a:ext uri="{C183D7F6-B498-43B3-948B-1728B52AA6E4}">
                <ns8:decorative xmlns:ns8="http://schemas.microsoft.com/office/drawing/2017/decorative" val="1"/>
              </a:ext>
            </a:extLst>
          </p:cNvPr>
          <p:cNvSpPr/>
          <p:nvPr/>
        </p:nvSpPr>
        <p:spPr>
          <a:xfrm>
            <a:off x="502920" y="5230368"/>
            <a:ext cx="11183112" cy="841248"/>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a:extLst>
              <a:ext uri="{C183D7F6-B498-43B3-948B-1728B52AA6E4}">
                <ns9:decorative xmlns:ns9="http://schemas.microsoft.com/office/drawing/2017/decorative" val="1"/>
              </a:ext>
            </a:extLst>
          </p:cNvPr>
          <p:cNvSpPr/>
          <p:nvPr/>
        </p:nvSpPr>
        <p:spPr>
          <a:xfrm>
            <a:off x="502920" y="5230368"/>
            <a:ext cx="54864" cy="841248"/>
          </a:xfrm>
          <a:prstGeom prst="rect">
            <a:avLst/>
          </a:prstGeom>
          <a:solidFill>
            <a:srgbClr val="948A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31520" y="5230368"/>
            <a:ext cx="457200" cy="841248"/>
          </a:xfrm>
          <a:prstGeom prst="rect">
            <a:avLst/>
          </a:prstGeom>
          <a:noFill/>
        </p:spPr>
        <p:txBody>
          <a:bodyPr wrap="square" anchor="ctr" lIns="0" rIns="0" tIns="0" bIns="0">
            <a:spAutoFit/>
          </a:bodyPr>
          <a:lstStyle/>
          <a:p>
            <a:pPr algn="l">
              <a:spcAft>
                <a:spcPts val="400"/>
              </a:spcAft>
            </a:pPr>
            <a:r>
              <a:rPr sz="2200" b="1" i="0">
                <a:solidFill>
                  <a:srgbClr val="948A54"/>
                </a:solidFill>
                <a:latin typeface="Segoe UI"/>
              </a:rPr>
              <a:t>5</a:t>
            </a:r>
          </a:p>
        </p:txBody>
      </p:sp>
      <p:sp>
        <p:nvSpPr>
          <p:cNvPr id="27" name="TextBox 26"/>
          <p:cNvSpPr txBox="1"/>
          <p:nvPr/>
        </p:nvSpPr>
        <p:spPr>
          <a:xfrm>
            <a:off x="1234440" y="5230368"/>
            <a:ext cx="3566160" cy="841248"/>
          </a:xfrm>
          <a:prstGeom prst="rect">
            <a:avLst/>
          </a:prstGeom>
          <a:noFill/>
        </p:spPr>
        <p:txBody>
          <a:bodyPr wrap="square" anchor="ctr" lIns="0" rIns="0" tIns="0" bIns="0">
            <a:spAutoFit/>
          </a:bodyPr>
          <a:lstStyle/>
          <a:p>
            <a:pPr algn="l">
              <a:spcAft>
                <a:spcPts val="400"/>
              </a:spcAft>
            </a:pPr>
            <a:r>
              <a:rPr sz="1600" b="1" i="0">
                <a:solidFill>
                  <a:srgbClr val="242424"/>
                </a:solidFill>
                <a:latin typeface="Segoe UI"/>
              </a:rPr>
              <a:t>Right person, right data</a:t>
            </a:r>
          </a:p>
        </p:txBody>
      </p:sp>
      <p:sp>
        <p:nvSpPr>
          <p:cNvPr id="28" name="TextBox 27"/>
          <p:cNvSpPr txBox="1"/>
          <p:nvPr/>
        </p:nvSpPr>
        <p:spPr>
          <a:xfrm>
            <a:off x="4846320" y="5230368"/>
            <a:ext cx="6675120" cy="841248"/>
          </a:xfrm>
          <a:prstGeom prst="rect">
            <a:avLst/>
          </a:prstGeom>
          <a:noFill/>
        </p:spPr>
        <p:txBody>
          <a:bodyPr wrap="square" anchor="ctr" lIns="0" rIns="0" tIns="0" bIns="0">
            <a:spAutoFit/>
          </a:bodyPr>
          <a:lstStyle/>
          <a:p>
            <a:pPr algn="l">
              <a:spcAft>
                <a:spcPts val="400"/>
              </a:spcAft>
            </a:pPr>
            <a:r>
              <a:rPr sz="1400" b="0" i="0">
                <a:solidFill>
                  <a:srgbClr val="616161"/>
                </a:solidFill>
                <a:latin typeface="Segoe UI"/>
              </a:rPr>
              <a:t>Cowork only reaches content you already have permission to see.</a:t>
            </a:r>
          </a:p>
        </p:txBody>
      </p:sp>
    </p:spTree>
    <p:extLst>
      <p:ext uri="{BB962C8B-B14F-4D97-AF65-F5344CB8AC3E}">
        <p14:creationId xmlns:p14="http://schemas.microsoft.com/office/powerpoint/2010/main" val="418314712"/>
      </p:ext>
    </p:extLst>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blipFill dpi="0" rotWithShape="1">
          <a:blip r:embed="rId5">
            <a:alphaModFix amt="70000"/>
            <a:lum/>
          </a:blip>
          <a:srcRect/>
          <a:stretch>
            <a:fillRect l="-2000" r="-2000"/>
          </a:stretch>
        </a:blipFill>
        <a:effectLst/>
      </p:bgPr>
    </p:bg>
    <p:spTree>
      <p:nvGrpSpPr>
        <p:cNvPr id="1" name="">
          <a:extLst>
            <a:ext uri="{FF2B5EF4-FFF2-40B4-BE49-F238E27FC236}">
              <a16:creationId xmlns:a16="http://schemas.microsoft.com/office/drawing/2014/main" id="{CC810B06-9C60-9BCB-DF49-73D043B037F2}"/>
            </a:ext>
          </a:extLst>
        </p:cNvPr>
        <p:cNvGrpSpPr/>
        <p:nvPr/>
      </p:nvGrpSpPr>
      <p:grpSpPr>
        <a:xfrm>
          <a:off x="0" y="0"/>
          <a:ext cx="0" cy="0"/>
          <a:chOff x="0" y="0"/>
          <a:chExt cx="0" cy="0"/>
        </a:xfrm>
      </p:grpSpPr>
      <p:sp>
        <p:nvSpPr>
          <p:cNvPr id="27" name="Title 3">
            <a:extLst>
              <a:ext uri="{FF2B5EF4-FFF2-40B4-BE49-F238E27FC236}">
                <a16:creationId xmlns:a16="http://schemas.microsoft.com/office/drawing/2014/main" id="{3EF2C483-DB46-D975-7E0E-09A75642D76B}"/>
              </a:ext>
            </a:extLst>
          </p:cNvPr>
          <p:cNvSpPr txBox="1">
            <a:spLocks/>
          </p:cNvSpPr>
          <p:nvPr/>
        </p:nvSpPr>
        <p:spPr>
          <a:xfrm>
            <a:off x="1925908" y="293473"/>
            <a:ext cx="7070725" cy="430887"/>
          </a:xfrm>
          <a:prstGeom prst="rect">
            <a:avLst/>
          </a:prstGeom>
        </p:spPr>
        <p:txBody>
          <a:bodyPr vert="horz" wrap="square" lIns="0" tIns="0" rIns="0" bIns="0" rtlCol="0" anchor="t">
            <a:spAutoFit/>
          </a:bodyPr>
          <a:lstStyle>
            <a:lvl1pPr algn="l" defTabSz="769520" rtl="0" eaLnBrk="1" latinLnBrk="0" hangingPunct="1">
              <a:lnSpc>
                <a:spcPct val="100000"/>
              </a:lnSpc>
              <a:spcBef>
                <a:spcPct val="0"/>
              </a:spcBef>
              <a:buNone/>
              <a:defRPr lang="en-US" sz="2000" b="0" kern="1200" cap="none" spc="0" baseline="0">
                <a:ln w="3175">
                  <a:noFill/>
                </a:ln>
                <a:solidFill>
                  <a:schemeClr val="tx1"/>
                </a:solidFill>
                <a:effectLst/>
                <a:latin typeface="+mj-lt"/>
                <a:ea typeface="+mn-ea"/>
                <a:cs typeface="Segoe Sans Display" pitchFamily="2" charset="0"/>
              </a:defRPr>
            </a:lvl1pPr>
          </a:lstStyle>
          <a:p>
            <a:pPr marL="0" marR="0" lvl="0" indent="0" algn="l" defTabSz="769520" rtl="0" eaLnBrk="1" fontAlgn="auto" latinLnBrk="0" hangingPunct="1">
              <a:lnSpc>
                <a:spcPct val="100000"/>
              </a:lnSpc>
              <a:spcBef>
                <a:spcPct val="0"/>
              </a:spcBef>
              <a:spcAft>
                <a:spcPts val="0"/>
              </a:spcAft>
              <a:buClrTx/>
              <a:buSzTx/>
              <a:buFontTx/>
              <a:buNone/>
              <a:tabLst/>
              <a:defRPr/>
            </a:pPr>
            <a:r>
              <a:rPr kumimoji="0" lang="en-US" sz="2800" b="0" i="0" u="none" strike="noStrike" kern="1200" cap="none" spc="0" normalizeH="0" baseline="0" noProof="0">
                <a:ln w="3175">
                  <a:noFill/>
                </a:ln>
                <a:solidFill>
                  <a:srgbClr val="323139"/>
                </a:solidFill>
                <a:effectLst/>
                <a:uLnTx/>
                <a:uFillTx/>
                <a:latin typeface="Segoe Sans Display" pitchFamily="2" charset="0"/>
                <a:ea typeface="+mn-ea"/>
                <a:cs typeface="Segoe Sans Display" pitchFamily="2" charset="0"/>
              </a:rPr>
              <a:t>How to read an exercise card</a:t>
            </a:r>
          </a:p>
        </p:txBody>
      </p:sp>
      <p:sp>
        <p:nvSpPr>
          <p:cNvPr id="28" name="NavPill_SitesPages">
            <a:extLst>
              <a:ext uri="{FF2B5EF4-FFF2-40B4-BE49-F238E27FC236}">
                <a16:creationId xmlns:a16="http://schemas.microsoft.com/office/drawing/2014/main" id="{57BB7AF5-33B6-DA4A-ABA7-2573FB8050B2}"/>
              </a:ext>
            </a:extLst>
          </p:cNvPr>
          <p:cNvSpPr/>
          <p:nvPr/>
        </p:nvSpPr>
        <p:spPr>
          <a:xfrm>
            <a:off x="350837" y="342900"/>
            <a:ext cx="1419239" cy="337762"/>
          </a:xfrm>
          <a:prstGeom prst="roundRect">
            <a:avLst>
              <a:gd name="adj" fmla="val 50000"/>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207091" rtl="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Guide</a:t>
            </a:r>
          </a:p>
        </p:txBody>
      </p:sp>
      <p:sp>
        <p:nvSpPr>
          <p:cNvPr id="33" name="Rectangle: Rounded Corners 32">
            <a:extLst>
              <a:ext uri="{FF2B5EF4-FFF2-40B4-BE49-F238E27FC236}">
                <a16:creationId xmlns:a16="http://schemas.microsoft.com/office/drawing/2014/main" id="{8D56FF72-D759-DB8C-C791-1089618B3EE4}"/>
              </a:ext>
            </a:extLst>
          </p:cNvPr>
          <p:cNvSpPr/>
          <p:nvPr/>
        </p:nvSpPr>
        <p:spPr bwMode="auto">
          <a:xfrm>
            <a:off x="424382" y="954763"/>
            <a:ext cx="3621360" cy="1127147"/>
          </a:xfrm>
          <a:prstGeom prst="roundRect">
            <a:avLst>
              <a:gd name="adj" fmla="val 9646"/>
            </a:avLst>
          </a:prstGeom>
          <a:solidFill>
            <a:srgbClr val="FFFC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Goal</a:t>
            </a:r>
            <a:r>
              <a:rPr kumimoji="0" lang="en-US" sz="1100" b="0" i="0" u="none" strike="noStrike" kern="0" cap="none" spc="0" normalizeH="0" baseline="0" noProof="0">
                <a:ln w="3175">
                  <a:noFill/>
                </a:ln>
                <a:solidFill>
                  <a:srgbClr val="323139"/>
                </a:solidFill>
                <a:effectLst/>
                <a:uLnTx/>
                <a:uFillTx/>
                <a:latin typeface="Segoe Sans Display Semibold" pitchFamily="2" charset="0"/>
                <a:ea typeface="+mn-ea"/>
                <a:cs typeface="Segoe Sans Display Semibold" pitchFamily="2" charset="0"/>
              </a:rPr>
              <a:t>: </a:t>
            </a:r>
            <a:r>
              <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rPr>
              <a:t>What you’ll accomplish — the business outcome in one sentence.</a:t>
            </a:r>
          </a:p>
        </p:txBody>
      </p:sp>
      <p:sp>
        <p:nvSpPr>
          <p:cNvPr id="34" name="Rectangle: Rounded Corners 33">
            <a:extLst>
              <a:ext uri="{FF2B5EF4-FFF2-40B4-BE49-F238E27FC236}">
                <a16:creationId xmlns:a16="http://schemas.microsoft.com/office/drawing/2014/main" id="{58B7C25E-B49B-24B7-8F32-A2823589DFF3}"/>
              </a:ext>
            </a:extLst>
          </p:cNvPr>
          <p:cNvSpPr/>
          <p:nvPr/>
        </p:nvSpPr>
        <p:spPr bwMode="auto">
          <a:xfrm>
            <a:off x="4372822" y="978410"/>
            <a:ext cx="3621360" cy="1107187"/>
          </a:xfrm>
          <a:prstGeom prst="roundRect">
            <a:avLst>
              <a:gd name="adj" fmla="val 10584"/>
            </a:avLst>
          </a:prstGeom>
          <a:solidFill>
            <a:srgbClr val="FFFC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noProof="0">
                <a:ln w="3175">
                  <a:noFill/>
                </a:ln>
                <a:blipFill>
                  <a:blip r:embed="rId4"/>
                  <a:stretch>
                    <a:fillRect t="-26822" b="-26822"/>
                  </a:stretch>
                </a:blipFill>
                <a:effectLst/>
                <a:uLnTx/>
                <a:uFillTx/>
                <a:latin typeface="Segoe Sans Display Semibold"/>
                <a:ea typeface="+mn-ea"/>
                <a:cs typeface="Segoe Sans Display Semibold" pitchFamily="2" charset="0"/>
              </a:rPr>
              <a:t>Output</a:t>
            </a:r>
            <a:r>
              <a:rPr kumimoji="0" lang="en-US" sz="1100" b="0" i="0" u="none" strike="noStrike" kern="0" cap="none" spc="0" normalizeH="0" baseline="0" noProof="0">
                <a:ln w="3175">
                  <a:noFill/>
                </a:ln>
                <a:solidFill>
                  <a:srgbClr val="323139"/>
                </a:solidFill>
                <a:effectLst/>
                <a:uLnTx/>
                <a:uFillTx/>
                <a:latin typeface="Segoe Sans Display Semibold"/>
                <a:ea typeface="+mn-ea"/>
                <a:cs typeface="Segoe Sans Display Semibold" pitchFamily="2" charset="0"/>
              </a:rPr>
              <a:t>: </a:t>
            </a:r>
            <a:r>
              <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rPr>
              <a:t>The finished artifact Cowork hands back: a document, dashboard, email, schedule, or agent.</a:t>
            </a:r>
          </a:p>
        </p:txBody>
      </p:sp>
      <p:sp>
        <p:nvSpPr>
          <p:cNvPr id="30" name="TextBox 29">
            <a:extLst>
              <a:ext uri="{FF2B5EF4-FFF2-40B4-BE49-F238E27FC236}">
                <a16:creationId xmlns:a16="http://schemas.microsoft.com/office/drawing/2014/main" id="{4519738B-A618-91E3-CAC4-D99F7E54632B}"/>
              </a:ext>
              <a:ext uri="{C183D7F6-B498-43B3-948B-1728B52AA6E4}">
                <ns0:decorative xmlns:ns0="http://schemas.microsoft.com/office/drawing/2017/decorative" val="1"/>
              </a:ext>
            </a:extLst>
          </p:cNvPr>
          <p:cNvSpPr txBox="1"/>
          <p:nvPr/>
        </p:nvSpPr>
        <p:spPr>
          <a:xfrm>
            <a:off x="8867052" y="119383"/>
            <a:ext cx="3092209" cy="338554"/>
          </a:xfrm>
          <a:prstGeom prst="roundRect">
            <a:avLst>
              <a:gd name="adj" fmla="val 19537"/>
            </a:avLst>
          </a:prstGeom>
          <a:solidFill>
            <a:srgbClr val="CB85FF">
              <a:lumMod val="20000"/>
              <a:lumOff val="80000"/>
            </a:srgbClr>
          </a:solidFill>
        </p:spPr>
        <p:txBody>
          <a:bodyPr wrap="square" lIns="1188720" tIns="45720" rIns="0" bIns="45720" anchor="ctr">
            <a:noAutofit/>
          </a:bodyPr>
          <a:lstStyle>
            <a:defPPr>
              <a:defRPr lang="en-US"/>
            </a:defPPr>
            <a:lvl1pPr>
              <a:spcAft>
                <a:spcPts val="776"/>
              </a:spcAft>
              <a:defRPr sz="1200">
                <a:latin typeface="+mj-lt"/>
                <a:cs typeface="Segoe Sans Display Semibold" pitchFamily="2" charset="0"/>
              </a:defRPr>
            </a:lvl1pPr>
          </a:lstStyle>
          <a:p>
            <a:pPr marL="0" marR="0" lvl="0" indent="0" algn="l" defTabSz="914294" rtl="0" eaLnBrk="1" fontAlgn="auto" latinLnBrk="0" hangingPunct="1">
              <a:lnSpc>
                <a:spcPct val="100000"/>
              </a:lnSpc>
              <a:spcBef>
                <a:spcPts val="0"/>
              </a:spcBef>
              <a:spcAft>
                <a:spcPts val="776"/>
              </a:spcAft>
              <a:buClrTx/>
              <a:buSzTx/>
              <a:buFontTx/>
              <a:buNone/>
              <a:tabLst/>
              <a:defRPr/>
            </a:pPr>
            <a:endParaRPr kumimoji="0" lang="en-US" sz="1200" b="0" i="0" u="none" strike="noStrike" kern="0" cap="none" spc="0" normalizeH="0" baseline="0" noProof="0">
              <a:ln>
                <a:noFill/>
              </a:ln>
              <a:solidFill>
                <a:srgbClr val="323139"/>
              </a:solidFill>
              <a:effectLst/>
              <a:uLnTx/>
              <a:uFillTx/>
              <a:latin typeface="Segoe Sans Display"/>
              <a:ea typeface="+mn-ea"/>
              <a:cs typeface="Segoe Sans Display Semibold" pitchFamily="2" charset="0"/>
            </a:endParaRPr>
          </a:p>
        </p:txBody>
      </p:sp>
      <p:sp>
        <p:nvSpPr>
          <p:cNvPr id="31" name="TextBox 30">
            <a:extLst>
              <a:ext uri="{FF2B5EF4-FFF2-40B4-BE49-F238E27FC236}">
                <a16:creationId xmlns:a16="http://schemas.microsoft.com/office/drawing/2014/main" id="{4B310F6E-1BD3-CF01-32AD-647BCF12AC0F}"/>
              </a:ext>
            </a:extLst>
          </p:cNvPr>
          <p:cNvSpPr txBox="1"/>
          <p:nvPr/>
        </p:nvSpPr>
        <p:spPr>
          <a:xfrm>
            <a:off x="8942688" y="173878"/>
            <a:ext cx="1280160" cy="233352"/>
          </a:xfrm>
          <a:prstGeom prst="roundRect">
            <a:avLst>
              <a:gd name="adj" fmla="val 16151"/>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5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defRPr lang="en-US"/>
            </a:defPPr>
            <a:lvl1pPr algn="ctr" defTabSz="932765" fontAlgn="base">
              <a:spcBef>
                <a:spcPct val="0"/>
              </a:spcBef>
              <a:spcAft>
                <a:spcPct val="0"/>
              </a:spcAft>
              <a:defRPr sz="1600">
                <a:solidFill>
                  <a:schemeClr val="accent1"/>
                </a:solidFill>
                <a:latin typeface="+mj-lt"/>
                <a:cs typeface="Segoe Sans Display Semibold" pitchFamily="2" charset="0"/>
              </a:defRPr>
            </a:lvl1pPr>
          </a:lstStyle>
          <a:p>
            <a:pPr marL="0" marR="0" lvl="0" indent="0" algn="l" defTabSz="932765" rtl="0" eaLnBrk="1" fontAlgn="base" latinLnBrk="0" hangingPunct="1">
              <a:lnSpc>
                <a:spcPct val="100000"/>
              </a:lnSpc>
              <a:spcBef>
                <a:spcPct val="0"/>
              </a:spcBef>
              <a:spcAft>
                <a:spcPct val="0"/>
              </a:spcAft>
              <a:buClrTx/>
              <a:buSzTx/>
              <a:buFontTx/>
              <a:buNone/>
              <a:tabLst/>
              <a:defRPr/>
            </a:pPr>
            <a:r>
              <a:rPr kumimoji="0" lang="en-IN" sz="1050" b="0" i="0" u="none" strike="noStrike" kern="0" cap="none" spc="0" normalizeH="0" baseline="0" noProof="0">
                <a:ln>
                  <a:noFill/>
                </a:ln>
                <a:solidFill>
                  <a:srgbClr val="323139"/>
                </a:solidFill>
                <a:effectLst/>
                <a:uLnTx/>
                <a:uFillTx/>
                <a:latin typeface="Segoe Sans Display"/>
                <a:ea typeface="+mn-ea"/>
                <a:cs typeface="Segoe Sans Display Semibold" pitchFamily="2" charset="0"/>
              </a:rPr>
              <a:t>Format</a:t>
            </a:r>
          </a:p>
        </p:txBody>
      </p:sp>
      <p:sp>
        <p:nvSpPr>
          <p:cNvPr id="50" name="TextBox 49">
            <a:extLst>
              <a:ext uri="{FF2B5EF4-FFF2-40B4-BE49-F238E27FC236}">
                <a16:creationId xmlns:a16="http://schemas.microsoft.com/office/drawing/2014/main" id="{0CE10D15-83B7-7915-49A3-0BD3A21E9731}"/>
              </a:ext>
            </a:extLst>
          </p:cNvPr>
          <p:cNvSpPr txBox="1"/>
          <p:nvPr/>
        </p:nvSpPr>
        <p:spPr>
          <a:xfrm>
            <a:off x="10298483" y="173490"/>
            <a:ext cx="1668779" cy="253916"/>
          </a:xfrm>
          <a:prstGeom prst="rect">
            <a:avLst/>
          </a:prstGeom>
          <a:noFill/>
        </p:spPr>
        <p:txBody>
          <a:bodyPr wrap="square">
            <a:spAutoFit/>
          </a:bodyPr>
          <a:lstStyle/>
          <a:p>
            <a:pPr marL="0" marR="0" lvl="0" indent="0" algn="l" defTabSz="914294"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323139"/>
                </a:solidFill>
                <a:effectLst/>
                <a:uLnTx/>
                <a:uFillTx/>
                <a:latin typeface="Segoe Sans Display"/>
                <a:ea typeface="+mn-ea"/>
                <a:cs typeface="Segoe Sans Display"/>
              </a:rPr>
              <a:t>Every exercise</a:t>
            </a:r>
          </a:p>
        </p:txBody>
      </p:sp>
      <p:sp>
        <p:nvSpPr>
          <p:cNvPr id="59" name="Rectangle: Rounded Corners 58">
            <a:extLst>
              <a:ext uri="{FF2B5EF4-FFF2-40B4-BE49-F238E27FC236}">
                <a16:creationId xmlns:a16="http://schemas.microsoft.com/office/drawing/2014/main" id="{4A73329A-1917-C156-E817-2B9E2D56CBE1}"/>
              </a:ext>
              <a:ext uri="{C183D7F6-B498-43B3-948B-1728B52AA6E4}">
                <ns1:decorative xmlns:ns1="http://schemas.microsoft.com/office/drawing/2017/decorative" val="1"/>
              </a:ext>
            </a:extLst>
          </p:cNvPr>
          <p:cNvSpPr/>
          <p:nvPr/>
        </p:nvSpPr>
        <p:spPr bwMode="auto">
          <a:xfrm>
            <a:off x="424381" y="2312313"/>
            <a:ext cx="7171849" cy="4327573"/>
          </a:xfrm>
          <a:prstGeom prst="roundRect">
            <a:avLst>
              <a:gd name="adj" fmla="val 1683"/>
            </a:avLst>
          </a:prstGeom>
          <a:solidFill>
            <a:srgbClr val="FFF9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B553FF"/>
              </a:solidFill>
              <a:effectLst/>
              <a:uLnTx/>
              <a:uFillTx/>
              <a:latin typeface="Segoe Sans Display Semibold" pitchFamily="2" charset="0"/>
              <a:ea typeface="+mn-ea"/>
              <a:cs typeface="Segoe Sans Display Semibold" pitchFamily="2" charset="0"/>
            </a:endParaRPr>
          </a:p>
        </p:txBody>
      </p:sp>
      <p:grpSp>
        <p:nvGrpSpPr>
          <p:cNvPr id="79" name="Group 78">
            <a:extLst>
              <a:ext uri="{FF2B5EF4-FFF2-40B4-BE49-F238E27FC236}">
                <a16:creationId xmlns:a16="http://schemas.microsoft.com/office/drawing/2014/main" id="{B857CF20-AAD8-92CD-98E7-73BD8662071B}"/>
              </a:ext>
            </a:extLst>
          </p:cNvPr>
          <p:cNvGrpSpPr/>
          <p:nvPr/>
        </p:nvGrpSpPr>
        <p:grpSpPr>
          <a:xfrm>
            <a:off x="199916" y="775485"/>
            <a:ext cx="398477" cy="398477"/>
            <a:chOff x="3403308" y="1083220"/>
            <a:chExt cx="398477" cy="398477"/>
          </a:xfrm>
        </p:grpSpPr>
        <p:sp>
          <p:nvSpPr>
            <p:cNvPr id="76" name="Oval 75">
              <a:extLst>
                <a:ext uri="{FF2B5EF4-FFF2-40B4-BE49-F238E27FC236}">
                  <a16:creationId xmlns:a16="http://schemas.microsoft.com/office/drawing/2014/main" id="{159C5AC1-FC57-57FC-51C9-4DC5847B88F1}"/>
                </a:ext>
                <a:ext uri="{C183D7F6-B498-43B3-948B-1728B52AA6E4}">
                  <ns2:decorative xmlns:ns2="http://schemas.microsoft.com/office/drawing/2017/decorative" val="1"/>
                </a:ext>
              </a:extLst>
            </p:cNvPr>
            <p:cNvSpPr/>
            <p:nvPr/>
          </p:nvSpPr>
          <p:spPr>
            <a:xfrm>
              <a:off x="3403308" y="1083220"/>
              <a:ext cx="398477" cy="398477"/>
            </a:xfrm>
            <a:prstGeom prst="ellipse">
              <a:avLst/>
            </a:prstGeom>
            <a:solidFill>
              <a:srgbClr val="FFF9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2" name="Graphic 5">
              <a:extLst>
                <a:ext uri="{FF2B5EF4-FFF2-40B4-BE49-F238E27FC236}">
                  <a16:creationId xmlns:a16="http://schemas.microsoft.com/office/drawing/2014/main" id="{9F306AE4-27E6-F02E-E553-1EF2C3FBAF65}"/>
                </a:ext>
                <a:ext uri="{C183D7F6-B498-43B3-948B-1728B52AA6E4}">
                  <adec:decorative xmlns:adec="http://schemas.microsoft.com/office/drawing/2017/decorative" val="1"/>
                </a:ext>
              </a:extLst>
            </p:cNvPr>
            <p:cNvSpPr>
              <a:spLocks/>
            </p:cNvSpPr>
            <p:nvPr/>
          </p:nvSpPr>
          <p:spPr>
            <a:xfrm>
              <a:off x="3474676" y="1157049"/>
              <a:ext cx="250822" cy="250818"/>
            </a:xfrm>
            <a:custGeom>
              <a:avLst/>
              <a:gdLst>
                <a:gd name="csX0" fmla="*/ 188408 w 190501"/>
                <a:gd name="csY0" fmla="*/ 45534 h 190500"/>
                <a:gd name="csX1" fmla="*/ 189957 w 190501"/>
                <a:gd name="csY1" fmla="*/ 37748 h 190500"/>
                <a:gd name="csX2" fmla="*/ 183357 w 190501"/>
                <a:gd name="csY2" fmla="*/ 33338 h 190500"/>
                <a:gd name="csX3" fmla="*/ 157162 w 190501"/>
                <a:gd name="csY3" fmla="*/ 33338 h 190500"/>
                <a:gd name="csX4" fmla="*/ 157162 w 190501"/>
                <a:gd name="csY4" fmla="*/ 7144 h 190500"/>
                <a:gd name="csX5" fmla="*/ 152751 w 190501"/>
                <a:gd name="csY5" fmla="*/ 544 h 190500"/>
                <a:gd name="csX6" fmla="*/ 144967 w 190501"/>
                <a:gd name="csY6" fmla="*/ 2093 h 190500"/>
                <a:gd name="csX7" fmla="*/ 121155 w 190501"/>
                <a:gd name="csY7" fmla="*/ 25906 h 190500"/>
                <a:gd name="csX8" fmla="*/ 119063 w 190501"/>
                <a:gd name="csY8" fmla="*/ 30957 h 190500"/>
                <a:gd name="csX9" fmla="*/ 119063 w 190501"/>
                <a:gd name="csY9" fmla="*/ 57967 h 190500"/>
                <a:gd name="csX10" fmla="*/ 100185 w 190501"/>
                <a:gd name="csY10" fmla="*/ 76846 h 190500"/>
                <a:gd name="csX11" fmla="*/ 95250 w 190501"/>
                <a:gd name="csY11" fmla="*/ 76201 h 190500"/>
                <a:gd name="csX12" fmla="*/ 76200 w 190501"/>
                <a:gd name="csY12" fmla="*/ 95251 h 190500"/>
                <a:gd name="csX13" fmla="*/ 95250 w 190501"/>
                <a:gd name="csY13" fmla="*/ 114301 h 190500"/>
                <a:gd name="csX14" fmla="*/ 114300 w 190501"/>
                <a:gd name="csY14" fmla="*/ 95251 h 190500"/>
                <a:gd name="csX15" fmla="*/ 113655 w 190501"/>
                <a:gd name="csY15" fmla="*/ 90316 h 190500"/>
                <a:gd name="csX16" fmla="*/ 132533 w 190501"/>
                <a:gd name="csY16" fmla="*/ 71438 h 190500"/>
                <a:gd name="csX17" fmla="*/ 159545 w 190501"/>
                <a:gd name="csY17" fmla="*/ 71438 h 190500"/>
                <a:gd name="csX18" fmla="*/ 164596 w 190501"/>
                <a:gd name="csY18" fmla="*/ 69346 h 190500"/>
                <a:gd name="csX19" fmla="*/ 188408 w 190501"/>
                <a:gd name="csY19" fmla="*/ 45534 h 190500"/>
                <a:gd name="csX20" fmla="*/ 95250 w 190501"/>
                <a:gd name="csY20" fmla="*/ 1 h 190500"/>
                <a:gd name="csX21" fmla="*/ 127860 w 190501"/>
                <a:gd name="csY21" fmla="*/ 5729 h 190500"/>
                <a:gd name="csX22" fmla="*/ 114419 w 190501"/>
                <a:gd name="csY22" fmla="*/ 19170 h 190500"/>
                <a:gd name="csX23" fmla="*/ 112781 w 190501"/>
                <a:gd name="csY23" fmla="*/ 21077 h 190500"/>
                <a:gd name="csX24" fmla="*/ 95250 w 190501"/>
                <a:gd name="csY24" fmla="*/ 19051 h 190500"/>
                <a:gd name="csX25" fmla="*/ 19050 w 190501"/>
                <a:gd name="csY25" fmla="*/ 95251 h 190500"/>
                <a:gd name="csX26" fmla="*/ 95250 w 190501"/>
                <a:gd name="csY26" fmla="*/ 171451 h 190500"/>
                <a:gd name="csX27" fmla="*/ 171450 w 190501"/>
                <a:gd name="csY27" fmla="*/ 95251 h 190500"/>
                <a:gd name="csX28" fmla="*/ 169424 w 190501"/>
                <a:gd name="csY28" fmla="*/ 77720 h 190500"/>
                <a:gd name="csX29" fmla="*/ 171331 w 190501"/>
                <a:gd name="csY29" fmla="*/ 76081 h 190500"/>
                <a:gd name="csX30" fmla="*/ 184772 w 190501"/>
                <a:gd name="csY30" fmla="*/ 62641 h 190500"/>
                <a:gd name="csX31" fmla="*/ 190500 w 190501"/>
                <a:gd name="csY31" fmla="*/ 95251 h 190500"/>
                <a:gd name="csX32" fmla="*/ 95250 w 190501"/>
                <a:gd name="csY32" fmla="*/ 190501 h 190500"/>
                <a:gd name="csX33" fmla="*/ 0 w 190501"/>
                <a:gd name="csY33" fmla="*/ 95251 h 190500"/>
                <a:gd name="csX34" fmla="*/ 95250 w 190501"/>
                <a:gd name="csY34" fmla="*/ 1 h 190500"/>
                <a:gd name="csX35" fmla="*/ 95250 w 190501"/>
                <a:gd name="csY35" fmla="*/ 38101 h 190500"/>
                <a:gd name="csX36" fmla="*/ 109538 w 190501"/>
                <a:gd name="csY36" fmla="*/ 39901 h 190500"/>
                <a:gd name="csX37" fmla="*/ 109538 w 190501"/>
                <a:gd name="csY37" fmla="*/ 54021 h 190500"/>
                <a:gd name="csX38" fmla="*/ 105592 w 190501"/>
                <a:gd name="csY38" fmla="*/ 57968 h 190500"/>
                <a:gd name="csX39" fmla="*/ 105131 w 190501"/>
                <a:gd name="csY39" fmla="*/ 58444 h 190500"/>
                <a:gd name="csX40" fmla="*/ 95250 w 190501"/>
                <a:gd name="csY40" fmla="*/ 57151 h 190500"/>
                <a:gd name="csX41" fmla="*/ 57150 w 190501"/>
                <a:gd name="csY41" fmla="*/ 95251 h 190500"/>
                <a:gd name="csX42" fmla="*/ 95250 w 190501"/>
                <a:gd name="csY42" fmla="*/ 133351 h 190500"/>
                <a:gd name="csX43" fmla="*/ 133350 w 190501"/>
                <a:gd name="csY43" fmla="*/ 95251 h 190500"/>
                <a:gd name="csX44" fmla="*/ 132057 w 190501"/>
                <a:gd name="csY44" fmla="*/ 85369 h 190500"/>
                <a:gd name="csX45" fmla="*/ 132533 w 190501"/>
                <a:gd name="csY45" fmla="*/ 84909 h 190500"/>
                <a:gd name="csX46" fmla="*/ 136478 w 190501"/>
                <a:gd name="csY46" fmla="*/ 80963 h 190500"/>
                <a:gd name="csX47" fmla="*/ 150600 w 190501"/>
                <a:gd name="csY47" fmla="*/ 80963 h 190500"/>
                <a:gd name="csX48" fmla="*/ 152400 w 190501"/>
                <a:gd name="csY48" fmla="*/ 95251 h 190500"/>
                <a:gd name="csX49" fmla="*/ 95250 w 190501"/>
                <a:gd name="csY49" fmla="*/ 152401 h 190500"/>
                <a:gd name="csX50" fmla="*/ 38100 w 190501"/>
                <a:gd name="csY50" fmla="*/ 95251 h 190500"/>
                <a:gd name="csX51" fmla="*/ 95250 w 190501"/>
                <a:gd name="csY51" fmla="*/ 38101 h 190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Lst>
              <a:rect l="l" t="t" r="r" b="b"/>
              <a:pathLst>
                <a:path w="190501" h="190500">
                  <a:moveTo>
                    <a:pt x="188408" y="45534"/>
                  </a:moveTo>
                  <a:cubicBezTo>
                    <a:pt x="190452" y="43491"/>
                    <a:pt x="191063" y="40418"/>
                    <a:pt x="189957" y="37748"/>
                  </a:cubicBezTo>
                  <a:cubicBezTo>
                    <a:pt x="188852" y="35079"/>
                    <a:pt x="186247" y="33338"/>
                    <a:pt x="183357" y="33338"/>
                  </a:cubicBezTo>
                  <a:lnTo>
                    <a:pt x="157162" y="33338"/>
                  </a:lnTo>
                  <a:lnTo>
                    <a:pt x="157162" y="7144"/>
                  </a:lnTo>
                  <a:cubicBezTo>
                    <a:pt x="157162" y="4255"/>
                    <a:pt x="155421" y="1650"/>
                    <a:pt x="152751" y="544"/>
                  </a:cubicBezTo>
                  <a:cubicBezTo>
                    <a:pt x="150083" y="-562"/>
                    <a:pt x="147010" y="50"/>
                    <a:pt x="144967" y="2093"/>
                  </a:cubicBezTo>
                  <a:lnTo>
                    <a:pt x="121155" y="25906"/>
                  </a:lnTo>
                  <a:cubicBezTo>
                    <a:pt x="119815" y="27246"/>
                    <a:pt x="119063" y="29063"/>
                    <a:pt x="119063" y="30957"/>
                  </a:cubicBezTo>
                  <a:lnTo>
                    <a:pt x="119063" y="57967"/>
                  </a:lnTo>
                  <a:lnTo>
                    <a:pt x="100185" y="76846"/>
                  </a:lnTo>
                  <a:cubicBezTo>
                    <a:pt x="98610" y="76425"/>
                    <a:pt x="96957" y="76201"/>
                    <a:pt x="95250" y="76201"/>
                  </a:cubicBezTo>
                  <a:cubicBezTo>
                    <a:pt x="84729" y="76201"/>
                    <a:pt x="76200" y="84730"/>
                    <a:pt x="76200" y="95251"/>
                  </a:cubicBezTo>
                  <a:cubicBezTo>
                    <a:pt x="76200" y="105771"/>
                    <a:pt x="84729" y="114301"/>
                    <a:pt x="95250" y="114301"/>
                  </a:cubicBezTo>
                  <a:cubicBezTo>
                    <a:pt x="105771" y="114301"/>
                    <a:pt x="114300" y="105771"/>
                    <a:pt x="114300" y="95251"/>
                  </a:cubicBezTo>
                  <a:cubicBezTo>
                    <a:pt x="114300" y="93544"/>
                    <a:pt x="114075" y="91891"/>
                    <a:pt x="113655" y="90316"/>
                  </a:cubicBezTo>
                  <a:lnTo>
                    <a:pt x="132533" y="71438"/>
                  </a:lnTo>
                  <a:lnTo>
                    <a:pt x="159545" y="71438"/>
                  </a:lnTo>
                  <a:cubicBezTo>
                    <a:pt x="161439" y="71438"/>
                    <a:pt x="163256" y="70686"/>
                    <a:pt x="164596" y="69346"/>
                  </a:cubicBezTo>
                  <a:lnTo>
                    <a:pt x="188408" y="45534"/>
                  </a:lnTo>
                  <a:close/>
                  <a:moveTo>
                    <a:pt x="95250" y="1"/>
                  </a:moveTo>
                  <a:cubicBezTo>
                    <a:pt x="106705" y="1"/>
                    <a:pt x="117687" y="2023"/>
                    <a:pt x="127860" y="5729"/>
                  </a:cubicBezTo>
                  <a:lnTo>
                    <a:pt x="114419" y="19170"/>
                  </a:lnTo>
                  <a:cubicBezTo>
                    <a:pt x="113823" y="19767"/>
                    <a:pt x="113275" y="20405"/>
                    <a:pt x="112781" y="21077"/>
                  </a:cubicBezTo>
                  <a:cubicBezTo>
                    <a:pt x="107152" y="19752"/>
                    <a:pt x="101283" y="19051"/>
                    <a:pt x="95250" y="19051"/>
                  </a:cubicBezTo>
                  <a:cubicBezTo>
                    <a:pt x="53166" y="19051"/>
                    <a:pt x="19050" y="53166"/>
                    <a:pt x="19050" y="95251"/>
                  </a:cubicBezTo>
                  <a:cubicBezTo>
                    <a:pt x="19050" y="137334"/>
                    <a:pt x="53166" y="171451"/>
                    <a:pt x="95250" y="171451"/>
                  </a:cubicBezTo>
                  <a:cubicBezTo>
                    <a:pt x="137334" y="171451"/>
                    <a:pt x="171450" y="137334"/>
                    <a:pt x="171450" y="95251"/>
                  </a:cubicBezTo>
                  <a:cubicBezTo>
                    <a:pt x="171450" y="89218"/>
                    <a:pt x="170749" y="83348"/>
                    <a:pt x="169424" y="77720"/>
                  </a:cubicBezTo>
                  <a:cubicBezTo>
                    <a:pt x="170096" y="77226"/>
                    <a:pt x="170734" y="76678"/>
                    <a:pt x="171331" y="76081"/>
                  </a:cubicBezTo>
                  <a:lnTo>
                    <a:pt x="184772" y="62641"/>
                  </a:lnTo>
                  <a:cubicBezTo>
                    <a:pt x="188478" y="72813"/>
                    <a:pt x="190500" y="83796"/>
                    <a:pt x="190500" y="95251"/>
                  </a:cubicBezTo>
                  <a:cubicBezTo>
                    <a:pt x="190500" y="147856"/>
                    <a:pt x="147855" y="190501"/>
                    <a:pt x="95250" y="190501"/>
                  </a:cubicBezTo>
                  <a:cubicBezTo>
                    <a:pt x="42645" y="190501"/>
                    <a:pt x="0" y="147856"/>
                    <a:pt x="0" y="95251"/>
                  </a:cubicBezTo>
                  <a:cubicBezTo>
                    <a:pt x="0" y="42645"/>
                    <a:pt x="42645" y="1"/>
                    <a:pt x="95250" y="1"/>
                  </a:cubicBezTo>
                  <a:close/>
                  <a:moveTo>
                    <a:pt x="95250" y="38101"/>
                  </a:moveTo>
                  <a:cubicBezTo>
                    <a:pt x="100184" y="38101"/>
                    <a:pt x="104971" y="38726"/>
                    <a:pt x="109538" y="39901"/>
                  </a:cubicBezTo>
                  <a:lnTo>
                    <a:pt x="109538" y="54021"/>
                  </a:lnTo>
                  <a:lnTo>
                    <a:pt x="105592" y="57968"/>
                  </a:lnTo>
                  <a:cubicBezTo>
                    <a:pt x="105435" y="58125"/>
                    <a:pt x="105282" y="58284"/>
                    <a:pt x="105131" y="58444"/>
                  </a:cubicBezTo>
                  <a:cubicBezTo>
                    <a:pt x="101980" y="57601"/>
                    <a:pt x="98668" y="57151"/>
                    <a:pt x="95250" y="57151"/>
                  </a:cubicBezTo>
                  <a:cubicBezTo>
                    <a:pt x="74208" y="57151"/>
                    <a:pt x="57150" y="74208"/>
                    <a:pt x="57150" y="95251"/>
                  </a:cubicBezTo>
                  <a:cubicBezTo>
                    <a:pt x="57150" y="116293"/>
                    <a:pt x="74208" y="133351"/>
                    <a:pt x="95250" y="133351"/>
                  </a:cubicBezTo>
                  <a:cubicBezTo>
                    <a:pt x="116292" y="133351"/>
                    <a:pt x="133350" y="116293"/>
                    <a:pt x="133350" y="95251"/>
                  </a:cubicBezTo>
                  <a:cubicBezTo>
                    <a:pt x="133350" y="91833"/>
                    <a:pt x="132900" y="88521"/>
                    <a:pt x="132057" y="85369"/>
                  </a:cubicBezTo>
                  <a:cubicBezTo>
                    <a:pt x="132217" y="85219"/>
                    <a:pt x="132376" y="85065"/>
                    <a:pt x="132533" y="84909"/>
                  </a:cubicBezTo>
                  <a:lnTo>
                    <a:pt x="136478" y="80963"/>
                  </a:lnTo>
                  <a:lnTo>
                    <a:pt x="150600" y="80963"/>
                  </a:lnTo>
                  <a:cubicBezTo>
                    <a:pt x="151775" y="85530"/>
                    <a:pt x="152400" y="90317"/>
                    <a:pt x="152400" y="95251"/>
                  </a:cubicBezTo>
                  <a:cubicBezTo>
                    <a:pt x="152400" y="126814"/>
                    <a:pt x="126813" y="152401"/>
                    <a:pt x="95250" y="152401"/>
                  </a:cubicBezTo>
                  <a:cubicBezTo>
                    <a:pt x="63687" y="152401"/>
                    <a:pt x="38100" y="126814"/>
                    <a:pt x="38100" y="95251"/>
                  </a:cubicBezTo>
                  <a:cubicBezTo>
                    <a:pt x="38100" y="63687"/>
                    <a:pt x="63687" y="38101"/>
                    <a:pt x="95250" y="38101"/>
                  </a:cubicBezTo>
                  <a:close/>
                </a:path>
              </a:pathLst>
            </a:custGeom>
            <a:solidFill>
              <a:srgbClr val="323139"/>
            </a:solidFill>
            <a:ln w="10477" cap="flat" cmpd="sng" algn="ctr">
              <a:noFill/>
              <a:prstDash val="solid"/>
              <a:miter/>
            </a:ln>
            <a:effectLst/>
          </p:spPr>
          <p:txBody>
            <a:bodyPr rot="0" spcFirstLastPara="0" vertOverflow="overflow" horzOverflow="overflow" vert="horz" wrap="square" lIns="338011" tIns="270406" rIns="338011" bIns="270406" numCol="1" spcCol="0" rtlCol="0" fromWordArt="0" anchor="t" anchorCtr="0" forceAA="0" compatLnSpc="1">
              <a:prstTxWarp prst="textNoShape">
                <a:avLst/>
              </a:prstTxWarp>
              <a:noAutofit/>
            </a:bodyPr>
            <a:lstStyle/>
            <a:p>
              <a:pPr marL="0" marR="0" lvl="0" indent="0" algn="l" defTabSz="1722411" rtl="0" eaLnBrk="1" fontAlgn="base" latinLnBrk="0" hangingPunct="1">
                <a:lnSpc>
                  <a:spcPct val="100000"/>
                </a:lnSpc>
                <a:spcBef>
                  <a:spcPct val="0"/>
                </a:spcBef>
                <a:spcAft>
                  <a:spcPct val="0"/>
                </a:spcAft>
                <a:buClrTx/>
                <a:buSzTx/>
                <a:buFontTx/>
                <a:buNone/>
                <a:tabLst/>
                <a:defRPr/>
              </a:pPr>
              <a:endParaRPr kumimoji="0" lang="en-US" sz="3622" b="1" i="0" u="none" strike="noStrike" kern="0" cap="none" spc="0" normalizeH="0" baseline="0" noProof="0">
                <a:ln>
                  <a:noFill/>
                </a:ln>
                <a:noFill/>
                <a:effectLst/>
                <a:uLnTx/>
                <a:uFillTx/>
                <a:latin typeface="Segoe UI Variable Display Semibold" pitchFamily="2" charset="0"/>
                <a:ea typeface="+mn-ea"/>
                <a:cs typeface="Segoe UI" pitchFamily="34" charset="0"/>
              </a:endParaRPr>
            </a:p>
          </p:txBody>
        </p:sp>
      </p:grpSp>
      <p:sp>
        <p:nvSpPr>
          <p:cNvPr id="78" name="Oval 77">
            <a:extLst>
              <a:ext uri="{FF2B5EF4-FFF2-40B4-BE49-F238E27FC236}">
                <a16:creationId xmlns:a16="http://schemas.microsoft.com/office/drawing/2014/main" id="{7ABF2AEF-7824-DEF7-C92E-0915DEF41F17}"/>
              </a:ext>
              <a:ext uri="{C183D7F6-B498-43B3-948B-1728B52AA6E4}">
                <ns3:decorative xmlns:ns3="http://schemas.microsoft.com/office/drawing/2017/decorative" val="1"/>
              </a:ext>
            </a:extLst>
          </p:cNvPr>
          <p:cNvSpPr/>
          <p:nvPr/>
        </p:nvSpPr>
        <p:spPr>
          <a:xfrm>
            <a:off x="4122028" y="779171"/>
            <a:ext cx="398477" cy="398477"/>
          </a:xfrm>
          <a:prstGeom prst="ellipse">
            <a:avLst/>
          </a:prstGeom>
          <a:solidFill>
            <a:srgbClr val="FFF9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6" name="Graphic 15">
            <a:extLst>
              <a:ext uri="{FF2B5EF4-FFF2-40B4-BE49-F238E27FC236}">
                <a16:creationId xmlns:a16="http://schemas.microsoft.com/office/drawing/2014/main" id="{09721564-91C5-D7C7-A65B-CFCBCAAA8285}"/>
              </a:ext>
              <a:ext uri="{C183D7F6-B498-43B3-948B-1728B52AA6E4}">
                <adec:decorative xmlns:adec="http://schemas.microsoft.com/office/drawing/2017/decorative" val="1"/>
              </a:ext>
            </a:extLst>
          </p:cNvPr>
          <p:cNvSpPr>
            <a:spLocks/>
          </p:cNvSpPr>
          <p:nvPr/>
        </p:nvSpPr>
        <p:spPr>
          <a:xfrm>
            <a:off x="4172482" y="836452"/>
            <a:ext cx="297568" cy="252931"/>
          </a:xfrm>
          <a:custGeom>
            <a:avLst/>
            <a:gdLst>
              <a:gd name="csX0" fmla="*/ 147926 w 190499"/>
              <a:gd name="csY0" fmla="*/ 2092 h 161924"/>
              <a:gd name="csX1" fmla="*/ 137824 w 190499"/>
              <a:gd name="csY1" fmla="*/ 2092 h 161924"/>
              <a:gd name="csX2" fmla="*/ 137824 w 190499"/>
              <a:gd name="csY2" fmla="*/ 12195 h 161924"/>
              <a:gd name="csX3" fmla="*/ 166109 w 190499"/>
              <a:gd name="csY3" fmla="*/ 40481 h 161924"/>
              <a:gd name="csX4" fmla="*/ 119063 w 190499"/>
              <a:gd name="csY4" fmla="*/ 40481 h 161924"/>
              <a:gd name="csX5" fmla="*/ 88106 w 190499"/>
              <a:gd name="csY5" fmla="*/ 71437 h 161924"/>
              <a:gd name="csX6" fmla="*/ 88106 w 190499"/>
              <a:gd name="csY6" fmla="*/ 100012 h 161924"/>
              <a:gd name="csX7" fmla="*/ 75437 w 190499"/>
              <a:gd name="csY7" fmla="*/ 116198 h 161924"/>
              <a:gd name="csX8" fmla="*/ 38100 w 190499"/>
              <a:gd name="csY8" fmla="*/ 85725 h 161924"/>
              <a:gd name="csX9" fmla="*/ 0 w 190499"/>
              <a:gd name="csY9" fmla="*/ 123825 h 161924"/>
              <a:gd name="csX10" fmla="*/ 38100 w 190499"/>
              <a:gd name="csY10" fmla="*/ 161925 h 161924"/>
              <a:gd name="csX11" fmla="*/ 75582 w 190499"/>
              <a:gd name="csY11" fmla="*/ 130693 h 161924"/>
              <a:gd name="csX12" fmla="*/ 102394 w 190499"/>
              <a:gd name="csY12" fmla="*/ 100012 h 161924"/>
              <a:gd name="csX13" fmla="*/ 102394 w 190499"/>
              <a:gd name="csY13" fmla="*/ 71437 h 161924"/>
              <a:gd name="csX14" fmla="*/ 119063 w 190499"/>
              <a:gd name="csY14" fmla="*/ 54769 h 161924"/>
              <a:gd name="csX15" fmla="*/ 166109 w 190499"/>
              <a:gd name="csY15" fmla="*/ 54769 h 161924"/>
              <a:gd name="csX16" fmla="*/ 137824 w 190499"/>
              <a:gd name="csY16" fmla="*/ 83055 h 161924"/>
              <a:gd name="csX17" fmla="*/ 137824 w 190499"/>
              <a:gd name="csY17" fmla="*/ 93157 h 161924"/>
              <a:gd name="csX18" fmla="*/ 147926 w 190499"/>
              <a:gd name="csY18" fmla="*/ 93157 h 161924"/>
              <a:gd name="csX19" fmla="*/ 188407 w 190499"/>
              <a:gd name="csY19" fmla="*/ 52676 h 161924"/>
              <a:gd name="csX20" fmla="*/ 188407 w 190499"/>
              <a:gd name="csY20" fmla="*/ 42574 h 161924"/>
              <a:gd name="csX21" fmla="*/ 147926 w 190499"/>
              <a:gd name="csY21" fmla="*/ 2092 h 1619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190499" h="161924">
                <a:moveTo>
                  <a:pt x="147926" y="2092"/>
                </a:moveTo>
                <a:cubicBezTo>
                  <a:pt x="145136" y="-697"/>
                  <a:pt x="140614" y="-697"/>
                  <a:pt x="137824" y="2092"/>
                </a:cubicBezTo>
                <a:cubicBezTo>
                  <a:pt x="135034" y="4882"/>
                  <a:pt x="135034" y="9405"/>
                  <a:pt x="137824" y="12195"/>
                </a:cubicBezTo>
                <a:lnTo>
                  <a:pt x="166109" y="40481"/>
                </a:lnTo>
                <a:lnTo>
                  <a:pt x="119063" y="40481"/>
                </a:lnTo>
                <a:cubicBezTo>
                  <a:pt x="101966" y="40481"/>
                  <a:pt x="88106" y="54341"/>
                  <a:pt x="88106" y="71437"/>
                </a:cubicBezTo>
                <a:lnTo>
                  <a:pt x="88106" y="100012"/>
                </a:lnTo>
                <a:cubicBezTo>
                  <a:pt x="88106" y="107840"/>
                  <a:pt x="82711" y="114408"/>
                  <a:pt x="75437" y="116198"/>
                </a:cubicBezTo>
                <a:cubicBezTo>
                  <a:pt x="71904" y="98811"/>
                  <a:pt x="56530" y="85725"/>
                  <a:pt x="38100" y="85725"/>
                </a:cubicBezTo>
                <a:cubicBezTo>
                  <a:pt x="17058" y="85725"/>
                  <a:pt x="0" y="102783"/>
                  <a:pt x="0" y="123825"/>
                </a:cubicBezTo>
                <a:cubicBezTo>
                  <a:pt x="0" y="144867"/>
                  <a:pt x="17058" y="161925"/>
                  <a:pt x="38100" y="161925"/>
                </a:cubicBezTo>
                <a:cubicBezTo>
                  <a:pt x="56797" y="161925"/>
                  <a:pt x="72348" y="148458"/>
                  <a:pt x="75582" y="130693"/>
                </a:cubicBezTo>
                <a:cubicBezTo>
                  <a:pt x="90719" y="128668"/>
                  <a:pt x="102394" y="115704"/>
                  <a:pt x="102394" y="100012"/>
                </a:cubicBezTo>
                <a:lnTo>
                  <a:pt x="102394" y="71437"/>
                </a:lnTo>
                <a:cubicBezTo>
                  <a:pt x="102394" y="62232"/>
                  <a:pt x="109857" y="54769"/>
                  <a:pt x="119063" y="54769"/>
                </a:cubicBezTo>
                <a:lnTo>
                  <a:pt x="166109" y="54769"/>
                </a:lnTo>
                <a:lnTo>
                  <a:pt x="137824" y="83055"/>
                </a:lnTo>
                <a:cubicBezTo>
                  <a:pt x="135034" y="85845"/>
                  <a:pt x="135034" y="90367"/>
                  <a:pt x="137824" y="93157"/>
                </a:cubicBezTo>
                <a:cubicBezTo>
                  <a:pt x="140614" y="95947"/>
                  <a:pt x="145136" y="95947"/>
                  <a:pt x="147926" y="93157"/>
                </a:cubicBezTo>
                <a:lnTo>
                  <a:pt x="188407" y="52676"/>
                </a:lnTo>
                <a:cubicBezTo>
                  <a:pt x="191197" y="49887"/>
                  <a:pt x="191197" y="45363"/>
                  <a:pt x="188407" y="42574"/>
                </a:cubicBezTo>
                <a:lnTo>
                  <a:pt x="147926" y="2092"/>
                </a:lnTo>
                <a:close/>
              </a:path>
            </a:pathLst>
          </a:custGeom>
          <a:solidFill>
            <a:srgbClr val="323139"/>
          </a:solidFill>
          <a:ln w="10477" cap="flat" cmpd="sng" algn="ctr">
            <a:noFill/>
            <a:prstDash val="solid"/>
            <a:miter/>
          </a:ln>
          <a:effectLst/>
        </p:spPr>
        <p:txBody>
          <a:bodyPr rot="0" spcFirstLastPara="0" vertOverflow="overflow" horzOverflow="overflow" vert="horz" wrap="square" lIns="338011" tIns="270406" rIns="338011" bIns="270406" numCol="1" spcCol="0" rtlCol="0" fromWordArt="0" anchor="t" anchorCtr="0" forceAA="0" compatLnSpc="1">
            <a:prstTxWarp prst="textNoShape">
              <a:avLst/>
            </a:prstTxWarp>
            <a:noAutofit/>
          </a:bodyPr>
          <a:lstStyle/>
          <a:p>
            <a:pPr marL="0" marR="0" lvl="0" indent="0" algn="l" defTabSz="1722411" rtl="0" eaLnBrk="1" fontAlgn="base" latinLnBrk="0" hangingPunct="1">
              <a:lnSpc>
                <a:spcPct val="100000"/>
              </a:lnSpc>
              <a:spcBef>
                <a:spcPct val="0"/>
              </a:spcBef>
              <a:spcAft>
                <a:spcPct val="0"/>
              </a:spcAft>
              <a:buClrTx/>
              <a:buSzTx/>
              <a:buFontTx/>
              <a:buNone/>
              <a:tabLst/>
              <a:defRPr/>
            </a:pPr>
            <a:endParaRPr kumimoji="0" lang="en-US" sz="3622" b="1" i="0" u="none" strike="noStrike" kern="0" cap="none" spc="0" normalizeH="0" baseline="0" noProof="0">
              <a:ln>
                <a:noFill/>
              </a:ln>
              <a:noFill/>
              <a:effectLst/>
              <a:uLnTx/>
              <a:uFillTx/>
              <a:latin typeface="Segoe UI Variable Display Semibold" pitchFamily="2" charset="0"/>
              <a:ea typeface="+mn-ea"/>
              <a:cs typeface="Segoe UI" pitchFamily="34" charset="0"/>
            </a:endParaRPr>
          </a:p>
        </p:txBody>
      </p:sp>
      <p:grpSp>
        <p:nvGrpSpPr>
          <p:cNvPr id="83" name="Group 82">
            <a:extLst>
              <a:ext uri="{FF2B5EF4-FFF2-40B4-BE49-F238E27FC236}">
                <a16:creationId xmlns:a16="http://schemas.microsoft.com/office/drawing/2014/main" id="{5A0CBAFC-5DED-D3E2-18ED-E34B74CAE926}"/>
              </a:ext>
            </a:extLst>
          </p:cNvPr>
          <p:cNvGrpSpPr/>
          <p:nvPr/>
        </p:nvGrpSpPr>
        <p:grpSpPr>
          <a:xfrm>
            <a:off x="3261739" y="2189487"/>
            <a:ext cx="1534355" cy="276999"/>
            <a:chOff x="3261739" y="2189487"/>
            <a:chExt cx="1534355" cy="276999"/>
          </a:xfrm>
        </p:grpSpPr>
        <p:sp>
          <p:nvSpPr>
            <p:cNvPr id="82" name="Rectangle: Rounded Corners 81">
              <a:extLst>
                <a:ext uri="{FF2B5EF4-FFF2-40B4-BE49-F238E27FC236}">
                  <a16:creationId xmlns:a16="http://schemas.microsoft.com/office/drawing/2014/main" id="{A21A551A-DE36-A716-13EE-21F822622FD5}"/>
                </a:ext>
                <a:ext uri="{C183D7F6-B498-43B3-948B-1728B52AA6E4}">
                  <ns4:decorative xmlns:ns4="http://schemas.microsoft.com/office/drawing/2017/decorative" val="1"/>
                </a:ext>
              </a:extLst>
            </p:cNvPr>
            <p:cNvSpPr/>
            <p:nvPr/>
          </p:nvSpPr>
          <p:spPr bwMode="auto">
            <a:xfrm>
              <a:off x="3261739" y="2213019"/>
              <a:ext cx="1534355" cy="244283"/>
            </a:xfrm>
            <a:prstGeom prst="roundRect">
              <a:avLst>
                <a:gd name="adj" fmla="val 50000"/>
              </a:avLst>
            </a:prstGeom>
            <a:solidFill>
              <a:srgbClr val="F3E5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endParaRPr>
            </a:p>
          </p:txBody>
        </p:sp>
        <p:sp>
          <p:nvSpPr>
            <p:cNvPr id="63" name="TextBox 62">
              <a:extLst>
                <a:ext uri="{FF2B5EF4-FFF2-40B4-BE49-F238E27FC236}">
                  <a16:creationId xmlns:a16="http://schemas.microsoft.com/office/drawing/2014/main" id="{197D0AEB-8A07-B4D6-7F33-85429D49214C}"/>
                </a:ext>
              </a:extLst>
            </p:cNvPr>
            <p:cNvSpPr txBox="1"/>
            <p:nvPr/>
          </p:nvSpPr>
          <p:spPr>
            <a:xfrm>
              <a:off x="3655077" y="2189487"/>
              <a:ext cx="710452"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Prompt</a:t>
              </a:r>
              <a:endParaRPr kumimoji="0" lang="en-IN" sz="12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endParaRPr>
            </a:p>
          </p:txBody>
        </p:sp>
      </p:grpSp>
      <p:sp>
        <p:nvSpPr>
          <p:cNvPr id="98" name="Rectangle: Rounded Corners 97">
            <a:extLst>
              <a:ext uri="{FF2B5EF4-FFF2-40B4-BE49-F238E27FC236}">
                <a16:creationId xmlns:a16="http://schemas.microsoft.com/office/drawing/2014/main" id="{AEBB3E1D-C5FB-7FC9-829F-F4815362ABD2}"/>
              </a:ext>
            </a:extLst>
          </p:cNvPr>
          <p:cNvSpPr/>
          <p:nvPr/>
        </p:nvSpPr>
        <p:spPr bwMode="auto">
          <a:xfrm>
            <a:off x="8334509" y="968486"/>
            <a:ext cx="3621360" cy="1107187"/>
          </a:xfrm>
          <a:prstGeom prst="roundRect">
            <a:avLst>
              <a:gd name="adj" fmla="val 10584"/>
            </a:avLst>
          </a:prstGeom>
          <a:solidFill>
            <a:srgbClr val="341434"/>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r>
              <a:rPr kumimoji="0" lang="en-US" sz="1100" b="1" i="0" u="none" strike="noStrike" kern="0" cap="none" spc="0" normalizeH="0" baseline="0" noProof="0">
                <a:ln>
                  <a:noFill/>
                </a:ln>
                <a:solidFill>
                  <a:prstClr val="white"/>
                </a:solidFill>
                <a:effectLst/>
                <a:uLnTx/>
                <a:uFillTx/>
                <a:latin typeface="Segoe Sans Display Semilight" pitchFamily="2" charset="0"/>
                <a:ea typeface="+mn-ea"/>
                <a:cs typeface="Segoe Sans Display Semilight" pitchFamily="2" charset="0"/>
              </a:rPr>
              <a:t>Why Cowork?: </a:t>
            </a:r>
            <a:r>
              <a:rPr kumimoji="0" lang="en-US" sz="1100" b="0" i="0" u="none" strike="noStrike" kern="0" cap="none" spc="0" normalizeH="0" baseline="0" noProof="0">
                <a:ln>
                  <a:noFill/>
                </a:ln>
                <a:solidFill>
                  <a:prstClr val="white"/>
                </a:solidFill>
                <a:effectLst/>
                <a:uLnTx/>
                <a:uFillTx/>
                <a:latin typeface="Segoe Sans Display Semilight" pitchFamily="2" charset="0"/>
                <a:ea typeface="+mn-ea"/>
                <a:cs typeface="Segoe Sans Display Semilight" pitchFamily="2" charset="0"/>
              </a:rPr>
              <a:t>Why this is a Cowork job — the multi-step, cross-app work it orchestrates, and where it pauses for your approval.</a:t>
            </a:r>
            <a:endParaRPr kumimoji="0" lang="en-US" sz="1100" i="0" u="none" strike="noStrike" kern="0" cap="none" spc="0" normalizeH="0" baseline="0" noProof="0">
              <a:ln w="3175">
                <a:noFill/>
              </a:ln>
              <a:solidFill>
                <a:prstClr val="white"/>
              </a:solidFill>
              <a:effectLst/>
              <a:uLnTx/>
              <a:uFillTx/>
              <a:latin typeface="Segoe Sans Display Semilight" pitchFamily="2" charset="0"/>
              <a:cs typeface="Segoe Sans Display Semilight" pitchFamily="2" charset="0"/>
            </a:endParaRPr>
          </a:p>
        </p:txBody>
      </p:sp>
      <p:sp>
        <p:nvSpPr>
          <p:cNvPr id="100" name="Oval 99">
            <a:extLst>
              <a:ext uri="{FF2B5EF4-FFF2-40B4-BE49-F238E27FC236}">
                <a16:creationId xmlns:a16="http://schemas.microsoft.com/office/drawing/2014/main" id="{82CA9355-2BD9-0408-CC03-CCAC40D6F6BE}"/>
              </a:ext>
              <a:ext uri="{C183D7F6-B498-43B3-948B-1728B52AA6E4}">
                <ns5:decorative xmlns:ns5="http://schemas.microsoft.com/office/drawing/2017/decorative" val="1"/>
              </a:ext>
            </a:extLst>
          </p:cNvPr>
          <p:cNvSpPr/>
          <p:nvPr/>
        </p:nvSpPr>
        <p:spPr>
          <a:xfrm>
            <a:off x="8054943" y="775485"/>
            <a:ext cx="398477" cy="398477"/>
          </a:xfrm>
          <a:prstGeom prst="ellipse">
            <a:avLst/>
          </a:prstGeom>
          <a:solidFill>
            <a:srgbClr val="FFF9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11" name="Icon Question Mark"/>
          <p:cNvSpPr txBox="1"/>
          <p:nvPr/>
        </p:nvSpPr>
        <p:spPr>
          <a:xfrm>
            <a:off x="8054943" y="775485"/>
            <a:ext cx="252134" cy="398477"/>
          </a:xfrm>
          <a:prstGeom prst="rect">
            <a:avLst/>
          </a:prstGeom>
          <a:noFill/>
        </p:spPr>
        <p:txBody>
          <a:bodyPr wrap="none" lIns="0" tIns="0" rIns="0" bIns="0" anchor="ctr" anchorCtr="1">
            <a:normAutofit/>
          </a:bodyPr>
          <a:lstStyle/>
          <a:p>
            <a:pPr algn="ctr"/>
            <a:r>
              <a:rPr lang="en-US" sz="1800" b="1">
                <a:solidFill>
                  <a:srgbClr val="3B1041"/>
                </a:solidFill>
                <a:latin typeface="Segoe UI" pitchFamily="34" charset="0"/>
                <a:cs typeface="Segoe UI" pitchFamily="34" charset="0"/>
              </a:rPr>
              <a:t>?</a:t>
            </a:r>
            <a:endParaRPr lang="en-US" sz="1800" b="1"/>
          </a:p>
        </p:txBody>
      </p:sp>
      <p:grpSp>
        <p:nvGrpSpPr>
          <p:cNvPr id="8" name="Group 7">
            <a:extLst>
              <a:ext uri="{FF2B5EF4-FFF2-40B4-BE49-F238E27FC236}">
                <a16:creationId xmlns:a16="http://schemas.microsoft.com/office/drawing/2014/main" id="{1722D180-2D5E-7D8C-B4A2-59B15C0453BA}"/>
              </a:ext>
            </a:extLst>
          </p:cNvPr>
          <p:cNvGrpSpPr/>
          <p:nvPr/>
        </p:nvGrpSpPr>
        <p:grpSpPr>
          <a:xfrm>
            <a:off x="7762717" y="2189487"/>
            <a:ext cx="4227030" cy="2010821"/>
            <a:chOff x="7762717" y="4071694"/>
            <a:chExt cx="4227030" cy="2010821"/>
          </a:xfrm>
        </p:grpSpPr>
        <p:sp>
          <p:nvSpPr>
            <p:cNvPr id="12" name="Rectangle: Rounded Corners 11">
              <a:extLst>
                <a:ext uri="{FF2B5EF4-FFF2-40B4-BE49-F238E27FC236}">
                  <a16:creationId xmlns:a16="http://schemas.microsoft.com/office/drawing/2014/main" id="{D0A30958-8A91-8F1F-EAED-DFB3605D650E}"/>
                </a:ext>
                <a:ext uri="{C183D7F6-B498-43B3-948B-1728B52AA6E4}">
                  <ns6:decorative xmlns:ns6="http://schemas.microsoft.com/office/drawing/2017/decorative" val="1"/>
                </a:ext>
              </a:extLst>
            </p:cNvPr>
            <p:cNvSpPr/>
            <p:nvPr/>
          </p:nvSpPr>
          <p:spPr bwMode="auto">
            <a:xfrm>
              <a:off x="7762717" y="4194834"/>
              <a:ext cx="4227030" cy="1887681"/>
            </a:xfrm>
            <a:prstGeom prst="roundRect">
              <a:avLst>
                <a:gd name="adj" fmla="val 1683"/>
              </a:avLst>
            </a:prstGeom>
            <a:solidFill>
              <a:srgbClr val="FFF9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B553FF"/>
                </a:solidFill>
                <a:effectLst/>
                <a:uLnTx/>
                <a:uFillTx/>
                <a:latin typeface="Segoe Sans Display Semibold" pitchFamily="2" charset="0"/>
                <a:ea typeface="+mn-ea"/>
                <a:cs typeface="Segoe Sans Display Semibold" pitchFamily="2" charset="0"/>
              </a:endParaRPr>
            </a:p>
          </p:txBody>
        </p:sp>
        <p:grpSp>
          <p:nvGrpSpPr>
            <p:cNvPr id="14" name="Group 13">
              <a:extLst>
                <a:ext uri="{FF2B5EF4-FFF2-40B4-BE49-F238E27FC236}">
                  <a16:creationId xmlns:a16="http://schemas.microsoft.com/office/drawing/2014/main" id="{FF30221B-5C85-22FC-F18F-7F0E26EEB0E2}"/>
                </a:ext>
              </a:extLst>
            </p:cNvPr>
            <p:cNvGrpSpPr/>
            <p:nvPr/>
          </p:nvGrpSpPr>
          <p:grpSpPr>
            <a:xfrm>
              <a:off x="9064660" y="4071694"/>
              <a:ext cx="1534355" cy="339147"/>
              <a:chOff x="3261739" y="2198151"/>
              <a:chExt cx="1534355" cy="276999"/>
            </a:xfrm>
          </p:grpSpPr>
          <p:sp>
            <p:nvSpPr>
              <p:cNvPr id="15" name="Rectangle: Rounded Corners 14">
                <a:extLst>
                  <a:ext uri="{FF2B5EF4-FFF2-40B4-BE49-F238E27FC236}">
                    <a16:creationId xmlns:a16="http://schemas.microsoft.com/office/drawing/2014/main" id="{0B857C90-B398-E232-66D0-F3E7E6CB19FB}"/>
                  </a:ext>
                  <a:ext uri="{C183D7F6-B498-43B3-948B-1728B52AA6E4}">
                    <ns7:decorative xmlns:ns7="http://schemas.microsoft.com/office/drawing/2017/decorative" val="1"/>
                  </a:ext>
                </a:extLst>
              </p:cNvPr>
              <p:cNvSpPr/>
              <p:nvPr/>
            </p:nvSpPr>
            <p:spPr bwMode="auto">
              <a:xfrm>
                <a:off x="3261739" y="2213019"/>
                <a:ext cx="1534355" cy="244283"/>
              </a:xfrm>
              <a:prstGeom prst="roundRect">
                <a:avLst>
                  <a:gd name="adj" fmla="val 50000"/>
                </a:avLst>
              </a:prstGeom>
              <a:solidFill>
                <a:srgbClr val="F3E5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endParaRPr>
              </a:p>
            </p:txBody>
          </p:sp>
          <p:sp>
            <p:nvSpPr>
              <p:cNvPr id="16" name="TextBox 15">
                <a:extLst>
                  <a:ext uri="{FF2B5EF4-FFF2-40B4-BE49-F238E27FC236}">
                    <a16:creationId xmlns:a16="http://schemas.microsoft.com/office/drawing/2014/main" id="{7130A025-6B78-DCFA-A21F-4C83E42E79DB}"/>
                  </a:ext>
                </a:extLst>
              </p:cNvPr>
              <p:cNvSpPr txBox="1"/>
              <p:nvPr/>
            </p:nvSpPr>
            <p:spPr>
              <a:xfrm>
                <a:off x="3594912" y="2198151"/>
                <a:ext cx="864339"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Workflow</a:t>
                </a:r>
              </a:p>
            </p:txBody>
          </p:sp>
        </p:grpSp>
        <p:sp>
          <p:nvSpPr>
            <p:cNvPr id="57" name="TextBox 56">
              <a:extLst>
                <a:ext uri="{FF2B5EF4-FFF2-40B4-BE49-F238E27FC236}">
                  <a16:creationId xmlns:a16="http://schemas.microsoft.com/office/drawing/2014/main" id="{D4B4634D-9BFA-FCEC-CFE2-4FD4315DDD1A}"/>
                </a:ext>
              </a:extLst>
            </p:cNvPr>
            <p:cNvSpPr txBox="1"/>
            <p:nvPr/>
          </p:nvSpPr>
          <p:spPr>
            <a:xfrm>
              <a:off x="8001952" y="4410841"/>
              <a:ext cx="3756431" cy="1074461"/>
            </a:xfrm>
            <a:prstGeom prst="rect">
              <a:avLst/>
            </a:prstGeom>
            <a:noFill/>
          </p:spPr>
          <p:txBody>
            <a:bodyPr wrap="square" rtlCol="0">
              <a:spAutoFit/>
            </a:bodyPr>
            <a:lstStyle/>
            <a:p>
              <a:pPr marL="228600" indent="-228600">
                <a:lnSpc>
                  <a:spcPct val="150000"/>
                </a:lnSpc>
                <a:buFont typeface="+mj-lt"/>
                <a:buAutoNum type="arabicPeriod"/>
                <a:defRPr/>
              </a:pPr>
              <a:r>
                <a:rPr lang="en-US" sz="1100" b="1">
                  <a:solidFill>
                    <a:prstClr val="black"/>
                  </a:solidFill>
                  <a:latin typeface="Segoe Sans Display" pitchFamily="2" charset="0"/>
                  <a:cs typeface="Segoe Sans Display" pitchFamily="2" charset="0"/>
                </a:rPr>
                <a:t>Gather</a:t>
              </a:r>
              <a:r>
                <a:rPr lang="en-US" sz="1100">
                  <a:solidFill>
                    <a:prstClr val="black"/>
                  </a:solidFill>
                  <a:latin typeface="Segoe Sans Display" pitchFamily="2" charset="0"/>
                  <a:cs typeface="Segoe Sans Display" pitchFamily="2" charset="0"/>
                </a:rPr>
                <a:t> → Cowork pulls context through Work IQ</a:t>
              </a:r>
              <a:endParaRPr kumimoji="0" lang="en-US" sz="1100" b="1"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a:p>
              <a:pPr marL="228600" indent="-228600">
                <a:lnSpc>
                  <a:spcPct val="150000"/>
                </a:lnSpc>
                <a:buFont typeface="+mj-lt"/>
                <a:buAutoNum type="arabicPeriod"/>
                <a:defRPr/>
              </a:pPr>
              <a:r>
                <a:rPr lang="en-US" sz="1100" b="1">
                  <a:solidFill>
                    <a:prstClr val="black"/>
                  </a:solidFill>
                  <a:latin typeface="Segoe Sans Display" pitchFamily="2" charset="0"/>
                  <a:cs typeface="Segoe Sans Display" pitchFamily="2" charset="0"/>
                </a:rPr>
                <a:t>Analyze</a:t>
              </a:r>
              <a:r>
                <a:rPr lang="en-US" sz="1100">
                  <a:solidFill>
                    <a:prstClr val="black"/>
                  </a:solidFill>
                  <a:latin typeface="Segoe Sans Display" pitchFamily="2" charset="0"/>
                  <a:cs typeface="Segoe Sans Display" pitchFamily="2" charset="0"/>
                </a:rPr>
                <a:t> → It reasons over what it found</a:t>
              </a:r>
              <a:endParaRPr kumimoji="0" lang="en-US" sz="1100" b="1"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a:p>
              <a:pPr marL="228600" indent="-228600">
                <a:lnSpc>
                  <a:spcPct val="150000"/>
                </a:lnSpc>
                <a:buFont typeface="+mj-lt"/>
                <a:buAutoNum type="arabicPeriod"/>
                <a:defRPr/>
              </a:pPr>
              <a:r>
                <a:rPr lang="en-US" sz="1100" b="1">
                  <a:solidFill>
                    <a:prstClr val="black"/>
                  </a:solidFill>
                  <a:latin typeface="Segoe Sans Display" pitchFamily="2" charset="0"/>
                  <a:cs typeface="Segoe Sans Display" pitchFamily="2" charset="0"/>
                </a:rPr>
                <a:t>Build</a:t>
              </a:r>
              <a:r>
                <a:rPr lang="en-US" sz="1100">
                  <a:solidFill>
                    <a:prstClr val="black"/>
                  </a:solidFill>
                  <a:latin typeface="Segoe Sans Display" pitchFamily="2" charset="0"/>
                  <a:cs typeface="Segoe Sans Display" pitchFamily="2" charset="0"/>
                </a:rPr>
                <a:t> → It creates the artifact</a:t>
              </a:r>
              <a:endParaRPr kumimoji="0" lang="en-US" sz="1100" b="1"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a:p>
              <a:pPr marL="228600" indent="-228600">
                <a:lnSpc>
                  <a:spcPct val="150000"/>
                </a:lnSpc>
                <a:buFont typeface="+mj-lt"/>
                <a:buAutoNum type="arabicPeriod"/>
                <a:defRPr/>
              </a:pPr>
              <a:r>
                <a:rPr lang="en-US" sz="1100" b="1">
                  <a:solidFill>
                    <a:prstClr val="black"/>
                  </a:solidFill>
                  <a:latin typeface="Segoe Sans Display" pitchFamily="2" charset="0"/>
                  <a:cs typeface="Segoe Sans Display" pitchFamily="2" charset="0"/>
                </a:rPr>
                <a:t>Deliver</a:t>
              </a:r>
              <a:r>
                <a:rPr lang="en-US" sz="1100">
                  <a:solidFill>
                    <a:prstClr val="black"/>
                  </a:solidFill>
                  <a:latin typeface="Segoe Sans Display" pitchFamily="2" charset="0"/>
                  <a:cs typeface="Segoe Sans Display" pitchFamily="2" charset="0"/>
                </a:rPr>
                <a:t> → It pauses for approval, then acts</a:t>
              </a:r>
              <a:endParaRPr kumimoji="0" lang="en-US" sz="1100" b="1"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p:txBody>
        </p:sp>
      </p:grpSp>
      <p:sp>
        <p:nvSpPr>
          <p:cNvPr id="3" name="Text 25">
            <a:extLst>
              <a:ext uri="{FF2B5EF4-FFF2-40B4-BE49-F238E27FC236}">
                <a16:creationId xmlns:a16="http://schemas.microsoft.com/office/drawing/2014/main" id="{41B60886-5E17-E589-2FF8-1DDB98962F30}"/>
              </a:ext>
            </a:extLst>
          </p:cNvPr>
          <p:cNvSpPr/>
          <p:nvPr/>
        </p:nvSpPr>
        <p:spPr>
          <a:xfrm>
            <a:off x="632004" y="2684018"/>
            <a:ext cx="6734710" cy="3632476"/>
          </a:xfrm>
          <a:prstGeom prst="rect">
            <a:avLst/>
          </a:prstGeom>
          <a:noFill/>
          <a:ln/>
        </p:spPr>
        <p:txBody>
          <a:bodyPr wrap="square" lIns="0" tIns="0" rIns="0" bIns="0"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This panel holds the exact prompt you’ll paste into Cowork.</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Before you run it: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30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Replace any [placeholders], such as [Priority Folder] or [time]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30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Keep “save as a draft” wording — never send to real people in class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30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Watch the side panel: skill chips, files, and schedules appear as Cowork works</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After it runs: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30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Review every output as a draft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30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Approve or decline each checkpoint deliberately</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30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Use the hands-on slide that follows for steps, the checkpoint, and a stretch</a:t>
            </a:r>
          </a:p>
        </p:txBody>
      </p:sp>
      <p:grpSp>
        <p:nvGrpSpPr>
          <p:cNvPr id="17" name="Group 16">
            <a:extLst>
              <a:ext uri="{FF2B5EF4-FFF2-40B4-BE49-F238E27FC236}">
                <a16:creationId xmlns:a16="http://schemas.microsoft.com/office/drawing/2014/main" id="{317BDD88-DD13-C157-9D0C-376C7050CA18}"/>
              </a:ext>
            </a:extLst>
          </p:cNvPr>
          <p:cNvGrpSpPr/>
          <p:nvPr/>
        </p:nvGrpSpPr>
        <p:grpSpPr>
          <a:xfrm>
            <a:off x="7756139" y="4421568"/>
            <a:ext cx="1534355" cy="276999"/>
            <a:chOff x="3261739" y="2198151"/>
            <a:chExt cx="1534355" cy="276999"/>
          </a:xfrm>
        </p:grpSpPr>
        <p:sp>
          <p:nvSpPr>
            <p:cNvPr id="18" name="Rectangle: Rounded Corners 17">
              <a:extLst>
                <a:ext uri="{FF2B5EF4-FFF2-40B4-BE49-F238E27FC236}">
                  <a16:creationId xmlns:a16="http://schemas.microsoft.com/office/drawing/2014/main" id="{3E986E19-9FEA-1F60-BCDA-008D13564D09}"/>
                </a:ext>
                <a:ext uri="{C183D7F6-B498-43B3-948B-1728B52AA6E4}">
                  <ns8:decorative xmlns:ns8="http://schemas.microsoft.com/office/drawing/2017/decorative" val="1"/>
                </a:ext>
              </a:extLst>
            </p:cNvPr>
            <p:cNvSpPr/>
            <p:nvPr/>
          </p:nvSpPr>
          <p:spPr bwMode="auto">
            <a:xfrm>
              <a:off x="3261739" y="2213019"/>
              <a:ext cx="1534355" cy="244283"/>
            </a:xfrm>
            <a:prstGeom prst="roundRect">
              <a:avLst>
                <a:gd name="adj" fmla="val 50000"/>
              </a:avLst>
            </a:prstGeom>
            <a:solidFill>
              <a:srgbClr val="F3E5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endParaRPr>
            </a:p>
          </p:txBody>
        </p:sp>
        <p:sp>
          <p:nvSpPr>
            <p:cNvPr id="19" name="TextBox 18">
              <a:extLst>
                <a:ext uri="{FF2B5EF4-FFF2-40B4-BE49-F238E27FC236}">
                  <a16:creationId xmlns:a16="http://schemas.microsoft.com/office/drawing/2014/main" id="{66387F56-2C11-A4AD-4E15-4442F2454D48}"/>
                </a:ext>
              </a:extLst>
            </p:cNvPr>
            <p:cNvSpPr txBox="1"/>
            <p:nvPr/>
          </p:nvSpPr>
          <p:spPr>
            <a:xfrm>
              <a:off x="3472286" y="2198151"/>
              <a:ext cx="1109599"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Data Sources</a:t>
              </a:r>
            </a:p>
          </p:txBody>
        </p:sp>
      </p:grpSp>
      <p:grpSp>
        <p:nvGrpSpPr>
          <p:cNvPr id="13" name="Group 12">
            <a:extLst>
              <a:ext uri="{FF2B5EF4-FFF2-40B4-BE49-F238E27FC236}">
                <a16:creationId xmlns:a16="http://schemas.microsoft.com/office/drawing/2014/main" id="{6DC82203-C40E-B229-3216-8513934D28BD}"/>
              </a:ext>
            </a:extLst>
          </p:cNvPr>
          <p:cNvGrpSpPr/>
          <p:nvPr/>
        </p:nvGrpSpPr>
        <p:grpSpPr>
          <a:xfrm>
            <a:off x="9121309" y="4421568"/>
            <a:ext cx="1200156" cy="488252"/>
            <a:chOff x="10558227" y="4421568"/>
            <a:chExt cx="1200156" cy="488252"/>
          </a:xfrm>
        </p:grpSpPr>
        <p:pic>
          <p:nvPicPr>
            <p:cNvPr id="7" name="Picture 6" descr="Microsoft 365 data icon">
              <a:extLst>
                <a:ext uri="{FF2B5EF4-FFF2-40B4-BE49-F238E27FC236}">
                  <a16:creationId xmlns:a16="http://schemas.microsoft.com/office/drawing/2014/main" id="{8B0F26AD-79AC-E75B-C2DA-E6BBA636792A}"/>
                </a:ext>
              </a:extLst>
            </p:cNvPr>
            <p:cNvPicPr>
              <a:picLocks noChangeAspect="1"/>
            </p:cNvPicPr>
            <p:nvPr/>
          </p:nvPicPr>
          <p:blipFill>
            <a:blip r:embed="rId3"/>
            <a:stretch>
              <a:fillRect/>
            </a:stretch>
          </p:blipFill>
          <p:spPr>
            <a:xfrm>
              <a:off x="11014657" y="4421568"/>
              <a:ext cx="287296" cy="287296"/>
            </a:xfrm>
            <a:prstGeom prst="rect">
              <a:avLst/>
            </a:prstGeom>
          </p:spPr>
        </p:pic>
        <p:sp>
          <p:nvSpPr>
            <p:cNvPr id="9" name="TextBox 8">
              <a:extLst>
                <a:ext uri="{FF2B5EF4-FFF2-40B4-BE49-F238E27FC236}">
                  <a16:creationId xmlns:a16="http://schemas.microsoft.com/office/drawing/2014/main" id="{FE07ADF1-F66F-E626-BAE0-23ADC3E6D92F}"/>
                </a:ext>
              </a:extLst>
            </p:cNvPr>
            <p:cNvSpPr txBox="1"/>
            <p:nvPr/>
          </p:nvSpPr>
          <p:spPr>
            <a:xfrm>
              <a:off x="10558227" y="4678988"/>
              <a:ext cx="1200156"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rPr>
                <a:t>M365 Data</a:t>
              </a:r>
              <a:endParaRPr kumimoji="0" lang="en-IN" sz="900" b="0"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p:txBody>
        </p:sp>
      </p:grpSp>
      <p:grpSp>
        <p:nvGrpSpPr>
          <p:cNvPr id="912" name="Group 12">
            <a:extLst>
              <a:ext uri="{FF2B5EF4-FFF2-40B4-BE49-F238E27FC236}">
                <a16:creationId xmlns:a16="http://schemas.microsoft.com/office/drawing/2014/main" id="{6DC82203-C40E-B229-3216-8513934D28BD}"/>
              </a:ext>
            </a:extLst>
          </p:cNvPr>
          <p:cNvGrpSpPr/>
          <p:nvPr/>
        </p:nvGrpSpPr>
        <p:grpSpPr>
          <a:xfrm>
            <a:off x="10035709" y="4421568"/>
            <a:ext cx="1200156" cy="488252"/>
            <a:chOff x="10558227" y="4421568"/>
            <a:chExt cx="1200156" cy="488252"/>
          </a:xfrm>
        </p:grpSpPr>
        <p:pic>
          <p:nvPicPr>
            <p:cNvPr id="913" name="Picture 6" descr="Web icon">
              <a:extLst>
                <a:ext uri="{FF2B5EF4-FFF2-40B4-BE49-F238E27FC236}">
                  <a16:creationId xmlns:a16="http://schemas.microsoft.com/office/drawing/2014/main" id="{8B0F26AD-79AC-E75B-C2DA-E6BBA636792A}"/>
                </a:ext>
              </a:extLst>
            </p:cNvPr>
            <p:cNvPicPr>
              <a:picLocks noChangeAspect="1"/>
            </p:cNvPicPr>
            <p:nvPr/>
          </p:nvPicPr>
          <p:blipFill>
            <a:blip r:embed="rId6"/>
            <a:stretch>
              <a:fillRect/>
            </a:stretch>
          </p:blipFill>
          <p:spPr>
            <a:xfrm>
              <a:off x="11014657" y="4421568"/>
              <a:ext cx="287296" cy="287296"/>
            </a:xfrm>
            <a:prstGeom prst="rect">
              <a:avLst/>
            </a:prstGeom>
          </p:spPr>
        </p:pic>
        <p:sp>
          <p:nvSpPr>
            <p:cNvPr id="914" name="TextBox 8">
              <a:extLst>
                <a:ext uri="{FF2B5EF4-FFF2-40B4-BE49-F238E27FC236}">
                  <a16:creationId xmlns:a16="http://schemas.microsoft.com/office/drawing/2014/main" id="{FE07ADF1-F66F-E626-BAE0-23ADC3E6D92F}"/>
                </a:ext>
              </a:extLst>
            </p:cNvPr>
            <p:cNvSpPr txBox="1"/>
            <p:nvPr/>
          </p:nvSpPr>
          <p:spPr>
            <a:xfrm>
              <a:off x="10558227" y="4678988"/>
              <a:ext cx="1200156"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rPr>
                <a:t>Web</a:t>
              </a:r>
              <a:endParaRPr kumimoji="0" lang="en-IN" sz="900" b="0"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p:txBody>
        </p:sp>
      </p:grpSp>
      <p:grpSp>
        <p:nvGrpSpPr>
          <p:cNvPr id="915" name="Group 12">
            <a:extLst>
              <a:ext uri="{FF2B5EF4-FFF2-40B4-BE49-F238E27FC236}">
                <a16:creationId xmlns:a16="http://schemas.microsoft.com/office/drawing/2014/main" id="{6DC82203-C40E-B229-3216-8513934D28BD}"/>
              </a:ext>
            </a:extLst>
          </p:cNvPr>
          <p:cNvGrpSpPr/>
          <p:nvPr/>
        </p:nvGrpSpPr>
        <p:grpSpPr>
          <a:xfrm>
            <a:off x="10950109" y="4421568"/>
            <a:ext cx="1200156" cy="488252"/>
            <a:chOff x="10558227" y="4421568"/>
            <a:chExt cx="1200156" cy="488252"/>
          </a:xfrm>
        </p:grpSpPr>
        <p:pic>
          <p:nvPicPr>
            <p:cNvPr id="916" name="Picture 6" descr="OneDrive icon">
              <a:extLst>
                <a:ext uri="{FF2B5EF4-FFF2-40B4-BE49-F238E27FC236}">
                  <a16:creationId xmlns:a16="http://schemas.microsoft.com/office/drawing/2014/main" id="{8B0F26AD-79AC-E75B-C2DA-E6BBA636792A}"/>
                </a:ext>
              </a:extLst>
            </p:cNvPr>
            <p:cNvPicPr>
              <a:picLocks noChangeAspect="1"/>
            </p:cNvPicPr>
            <p:nvPr/>
          </p:nvPicPr>
          <p:blipFill>
            <a:blip r:embed="rId7"/>
            <a:stretch>
              <a:fillRect/>
            </a:stretch>
          </p:blipFill>
          <p:spPr>
            <a:xfrm>
              <a:off x="11014657" y="4421568"/>
              <a:ext cx="287296" cy="287296"/>
            </a:xfrm>
            <a:prstGeom prst="rect">
              <a:avLst/>
            </a:prstGeom>
          </p:spPr>
        </p:pic>
        <p:sp>
          <p:nvSpPr>
            <p:cNvPr id="917" name="TextBox 8">
              <a:extLst>
                <a:ext uri="{FF2B5EF4-FFF2-40B4-BE49-F238E27FC236}">
                  <a16:creationId xmlns:a16="http://schemas.microsoft.com/office/drawing/2014/main" id="{FE07ADF1-F66F-E626-BAE0-23ADC3E6D92F}"/>
                </a:ext>
              </a:extLst>
            </p:cNvPr>
            <p:cNvSpPr txBox="1"/>
            <p:nvPr/>
          </p:nvSpPr>
          <p:spPr>
            <a:xfrm>
              <a:off x="10558227" y="4678988"/>
              <a:ext cx="1200156"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rPr>
                <a:t>OneDrive</a:t>
              </a:r>
              <a:endParaRPr kumimoji="0" lang="en-IN" sz="900" b="0"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p:txBody>
        </p:sp>
      </p:grpSp>
    </p:spTree>
    <p:extLst>
      <p:ext uri="{BB962C8B-B14F-4D97-AF65-F5344CB8AC3E}">
        <p14:creationId xmlns:p14="http://schemas.microsoft.com/office/powerpoint/2010/main" val="1649947486"/>
      </p:ext>
    </p:extLst>
  </p:cSld>
  <p:clrMapOvr>
    <a:overrideClrMapping bg1="lt1" tx1="dk1" bg2="lt2" tx2="dk2" accent1="accent1" accent2="accent2" accent3="accent3" accent4="accent4" accent5="accent5" accent6="accent6" hlink="hlink" folHlink="folHlink"/>
  </p:clrMapOvr>
</p:sld>
</file>

<file path=ppt/slides/slide31.xml><?xml version="1.0" encoding="utf-8"?>
<p:sld xmlns:a="http://schemas.openxmlformats.org/drawingml/2006/main" xmlns:p="http://schemas.openxmlformats.org/presentationml/2006/main" xmlns:r="http://schemas.openxmlformats.org/officeDocument/2006/relationships">
  <p:cSld>
    <p:bg>
      <p:bgPr>
        <a:blipFill dpi="0" rotWithShape="1">
          <a:blip r:embed="rId5">
            <a:alphaModFix amt="70000"/>
            <a:lum/>
          </a:blip>
          <a:srcRect/>
          <a:stretch>
            <a:fillRect l="-2000" r="-2000"/>
          </a:stretch>
        </a:blipFill>
        <a:effectLst/>
      </p:bgPr>
    </p:bg>
    <p:spTree>
      <p:nvGrpSpPr>
        <p:cNvPr id="1" name="">
          <a:extLst>
            <a:ext uri="{FF2B5EF4-FFF2-40B4-BE49-F238E27FC236}">
              <a16:creationId xmlns:a16="http://schemas.microsoft.com/office/drawing/2014/main" id="{CC810B06-9C60-9BCB-DF49-73D043B037F2}"/>
            </a:ext>
          </a:extLst>
        </p:cNvPr>
        <p:cNvGrpSpPr/>
        <p:nvPr/>
      </p:nvGrpSpPr>
      <p:grpSpPr>
        <a:xfrm>
          <a:off x="0" y="0"/>
          <a:ext cx="0" cy="0"/>
          <a:chOff x="0" y="0"/>
          <a:chExt cx="0" cy="0"/>
        </a:xfrm>
      </p:grpSpPr>
      <p:sp>
        <p:nvSpPr>
          <p:cNvPr id="27" name="Title 3">
            <a:extLst>
              <a:ext uri="{FF2B5EF4-FFF2-40B4-BE49-F238E27FC236}">
                <a16:creationId xmlns:a16="http://schemas.microsoft.com/office/drawing/2014/main" id="{3EF2C483-DB46-D975-7E0E-09A75642D76B}"/>
              </a:ext>
            </a:extLst>
          </p:cNvPr>
          <p:cNvSpPr txBox="1">
            <a:spLocks/>
          </p:cNvSpPr>
          <p:nvPr/>
        </p:nvSpPr>
        <p:spPr>
          <a:xfrm>
            <a:off x="1925908" y="293473"/>
            <a:ext cx="7070725" cy="430887"/>
          </a:xfrm>
          <a:prstGeom prst="rect">
            <a:avLst/>
          </a:prstGeom>
        </p:spPr>
        <p:txBody>
          <a:bodyPr vert="horz" wrap="square" lIns="0" tIns="0" rIns="0" bIns="0" rtlCol="0" anchor="t">
            <a:spAutoFit/>
          </a:bodyPr>
          <a:lstStyle>
            <a:lvl1pPr algn="l" defTabSz="769520" rtl="0" eaLnBrk="1" latinLnBrk="0" hangingPunct="1">
              <a:lnSpc>
                <a:spcPct val="100000"/>
              </a:lnSpc>
              <a:spcBef>
                <a:spcPct val="0"/>
              </a:spcBef>
              <a:buNone/>
              <a:defRPr lang="en-US" sz="2000" b="0" kern="1200" cap="none" spc="0" baseline="0">
                <a:ln w="3175">
                  <a:noFill/>
                </a:ln>
                <a:solidFill>
                  <a:schemeClr val="tx1"/>
                </a:solidFill>
                <a:effectLst/>
                <a:latin typeface="+mj-lt"/>
                <a:ea typeface="+mn-ea"/>
                <a:cs typeface="Segoe Sans Display" pitchFamily="2" charset="0"/>
              </a:defRPr>
            </a:lvl1pPr>
          </a:lstStyle>
          <a:p>
            <a:pPr marL="0" marR="0" lvl="0" indent="0" algn="l" defTabSz="769520" rtl="0" eaLnBrk="1" fontAlgn="auto" latinLnBrk="0" hangingPunct="1">
              <a:lnSpc>
                <a:spcPct val="100000"/>
              </a:lnSpc>
              <a:spcBef>
                <a:spcPct val="0"/>
              </a:spcBef>
              <a:spcAft>
                <a:spcPts val="0"/>
              </a:spcAft>
              <a:buClrTx/>
              <a:buSzTx/>
              <a:buFontTx/>
              <a:buNone/>
              <a:tabLst/>
              <a:defRPr/>
            </a:pPr>
            <a:r>
              <a:rPr kumimoji="0" lang="en-US" sz="2800" b="0" i="0" u="none" strike="noStrike" kern="1200" cap="none" spc="0" normalizeH="0" baseline="0" noProof="0">
                <a:ln w="3175">
                  <a:noFill/>
                </a:ln>
                <a:solidFill>
                  <a:srgbClr val="323139"/>
                </a:solidFill>
                <a:effectLst/>
                <a:uLnTx/>
                <a:uFillTx/>
                <a:latin typeface="Segoe Sans Display" pitchFamily="2" charset="0"/>
                <a:ea typeface="+mn-ea"/>
                <a:cs typeface="Segoe Sans Display" pitchFamily="2" charset="0"/>
              </a:rPr>
              <a:t>Executive Command Center</a:t>
            </a:r>
          </a:p>
        </p:txBody>
      </p:sp>
      <p:sp>
        <p:nvSpPr>
          <p:cNvPr id="28" name="NavPill_SitesPages">
            <a:extLst>
              <a:ext uri="{FF2B5EF4-FFF2-40B4-BE49-F238E27FC236}">
                <a16:creationId xmlns:a16="http://schemas.microsoft.com/office/drawing/2014/main" id="{57BB7AF5-33B6-DA4A-ABA7-2573FB8050B2}"/>
              </a:ext>
            </a:extLst>
          </p:cNvPr>
          <p:cNvSpPr/>
          <p:nvPr/>
        </p:nvSpPr>
        <p:spPr>
          <a:xfrm>
            <a:off x="350837" y="342900"/>
            <a:ext cx="1419239" cy="337762"/>
          </a:xfrm>
          <a:prstGeom prst="roundRect">
            <a:avLst>
              <a:gd name="adj" fmla="val 50000"/>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207091" rtl="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Ex 01</a:t>
            </a:r>
          </a:p>
        </p:txBody>
      </p:sp>
      <p:sp>
        <p:nvSpPr>
          <p:cNvPr id="33" name="Rectangle: Rounded Corners 32">
            <a:extLst>
              <a:ext uri="{FF2B5EF4-FFF2-40B4-BE49-F238E27FC236}">
                <a16:creationId xmlns:a16="http://schemas.microsoft.com/office/drawing/2014/main" id="{8D56FF72-D759-DB8C-C791-1089618B3EE4}"/>
              </a:ext>
            </a:extLst>
          </p:cNvPr>
          <p:cNvSpPr/>
          <p:nvPr/>
        </p:nvSpPr>
        <p:spPr bwMode="auto">
          <a:xfrm>
            <a:off x="424382" y="954763"/>
            <a:ext cx="3621360" cy="1127147"/>
          </a:xfrm>
          <a:prstGeom prst="roundRect">
            <a:avLst>
              <a:gd name="adj" fmla="val 9646"/>
            </a:avLst>
          </a:prstGeom>
          <a:solidFill>
            <a:srgbClr val="FFFC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Goal</a:t>
            </a:r>
            <a:r>
              <a:rPr kumimoji="0" lang="en-US" sz="1100" b="0" i="0" u="none" strike="noStrike" kern="0" cap="none" spc="0" normalizeH="0" baseline="0" noProof="0">
                <a:ln w="3175">
                  <a:noFill/>
                </a:ln>
                <a:solidFill>
                  <a:srgbClr val="323139"/>
                </a:solidFill>
                <a:effectLst/>
                <a:uLnTx/>
                <a:uFillTx/>
                <a:latin typeface="Segoe Sans Display Semibold" pitchFamily="2" charset="0"/>
                <a:ea typeface="+mn-ea"/>
                <a:cs typeface="Segoe Sans Display Semibold" pitchFamily="2" charset="0"/>
              </a:rPr>
              <a:t>: </a:t>
            </a:r>
            <a:r>
              <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rPr>
              <a:t>Turn your calendar, communications, and priority work into a daily executive view of decisions, risks, and actions requiring attention.</a:t>
            </a:r>
          </a:p>
        </p:txBody>
      </p:sp>
      <p:sp>
        <p:nvSpPr>
          <p:cNvPr id="34" name="Rectangle: Rounded Corners 33">
            <a:extLst>
              <a:ext uri="{FF2B5EF4-FFF2-40B4-BE49-F238E27FC236}">
                <a16:creationId xmlns:a16="http://schemas.microsoft.com/office/drawing/2014/main" id="{58B7C25E-B49B-24B7-8F32-A2823589DFF3}"/>
              </a:ext>
            </a:extLst>
          </p:cNvPr>
          <p:cNvSpPr/>
          <p:nvPr/>
        </p:nvSpPr>
        <p:spPr bwMode="auto">
          <a:xfrm>
            <a:off x="4372822" y="978410"/>
            <a:ext cx="3621360" cy="1107187"/>
          </a:xfrm>
          <a:prstGeom prst="roundRect">
            <a:avLst>
              <a:gd name="adj" fmla="val 10584"/>
            </a:avLst>
          </a:prstGeom>
          <a:solidFill>
            <a:srgbClr val="FFFC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noProof="0">
                <a:ln w="3175">
                  <a:noFill/>
                </a:ln>
                <a:blipFill>
                  <a:blip r:embed="rId4"/>
                  <a:stretch>
                    <a:fillRect t="-26822" b="-26822"/>
                  </a:stretch>
                </a:blipFill>
                <a:effectLst/>
                <a:uLnTx/>
                <a:uFillTx/>
                <a:latin typeface="Segoe Sans Display Semibold"/>
                <a:ea typeface="+mn-ea"/>
                <a:cs typeface="Segoe Sans Display Semibold" pitchFamily="2" charset="0"/>
              </a:rPr>
              <a:t>Output</a:t>
            </a:r>
            <a:r>
              <a:rPr kumimoji="0" lang="en-US" sz="1100" b="0" i="0" u="none" strike="noStrike" kern="0" cap="none" spc="0" normalizeH="0" baseline="0" noProof="0">
                <a:ln w="3175">
                  <a:noFill/>
                </a:ln>
                <a:solidFill>
                  <a:srgbClr val="323139"/>
                </a:solidFill>
                <a:effectLst/>
                <a:uLnTx/>
                <a:uFillTx/>
                <a:latin typeface="Segoe Sans Display Semibold"/>
                <a:ea typeface="+mn-ea"/>
                <a:cs typeface="Segoe Sans Display Semibold" pitchFamily="2" charset="0"/>
              </a:rPr>
              <a:t>: </a:t>
            </a:r>
            <a:r>
              <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rPr>
              <a:t>An interactive executive command center covering meetings, priorities, and org pulse, with labeled recommendations and links to supporting context.</a:t>
            </a:r>
          </a:p>
        </p:txBody>
      </p:sp>
      <p:sp>
        <p:nvSpPr>
          <p:cNvPr id="30" name="TextBox 29">
            <a:extLst>
              <a:ext uri="{FF2B5EF4-FFF2-40B4-BE49-F238E27FC236}">
                <a16:creationId xmlns:a16="http://schemas.microsoft.com/office/drawing/2014/main" id="{4519738B-A618-91E3-CAC4-D99F7E54632B}"/>
              </a:ext>
              <a:ext uri="{C183D7F6-B498-43B3-948B-1728B52AA6E4}">
                <ns0:decorative xmlns:ns0="http://schemas.microsoft.com/office/drawing/2017/decorative" val="1"/>
              </a:ext>
            </a:extLst>
          </p:cNvPr>
          <p:cNvSpPr txBox="1"/>
          <p:nvPr/>
        </p:nvSpPr>
        <p:spPr>
          <a:xfrm>
            <a:off x="8867052" y="119383"/>
            <a:ext cx="3092209" cy="338554"/>
          </a:xfrm>
          <a:prstGeom prst="roundRect">
            <a:avLst>
              <a:gd name="adj" fmla="val 19537"/>
            </a:avLst>
          </a:prstGeom>
          <a:solidFill>
            <a:srgbClr val="CB85FF">
              <a:lumMod val="20000"/>
              <a:lumOff val="80000"/>
            </a:srgbClr>
          </a:solidFill>
        </p:spPr>
        <p:txBody>
          <a:bodyPr wrap="square" lIns="1188720" tIns="45720" rIns="0" bIns="45720" anchor="ctr">
            <a:noAutofit/>
          </a:bodyPr>
          <a:lstStyle>
            <a:defPPr>
              <a:defRPr lang="en-US"/>
            </a:defPPr>
            <a:lvl1pPr>
              <a:spcAft>
                <a:spcPts val="776"/>
              </a:spcAft>
              <a:defRPr sz="1200">
                <a:latin typeface="+mj-lt"/>
                <a:cs typeface="Segoe Sans Display Semibold" pitchFamily="2" charset="0"/>
              </a:defRPr>
            </a:lvl1pPr>
          </a:lstStyle>
          <a:p>
            <a:pPr marL="0" marR="0" lvl="0" indent="0" algn="l" defTabSz="914294" rtl="0" eaLnBrk="1" fontAlgn="auto" latinLnBrk="0" hangingPunct="1">
              <a:lnSpc>
                <a:spcPct val="100000"/>
              </a:lnSpc>
              <a:spcBef>
                <a:spcPts val="0"/>
              </a:spcBef>
              <a:spcAft>
                <a:spcPts val="776"/>
              </a:spcAft>
              <a:buClrTx/>
              <a:buSzTx/>
              <a:buFontTx/>
              <a:buNone/>
              <a:tabLst/>
              <a:defRPr/>
            </a:pPr>
            <a:endParaRPr kumimoji="0" lang="en-US" sz="1200" b="0" i="0" u="none" strike="noStrike" kern="0" cap="none" spc="0" normalizeH="0" baseline="0" noProof="0">
              <a:ln>
                <a:noFill/>
              </a:ln>
              <a:solidFill>
                <a:srgbClr val="323139"/>
              </a:solidFill>
              <a:effectLst/>
              <a:uLnTx/>
              <a:uFillTx/>
              <a:latin typeface="Segoe Sans Display"/>
              <a:ea typeface="+mn-ea"/>
              <a:cs typeface="Segoe Sans Display Semibold" pitchFamily="2" charset="0"/>
            </a:endParaRPr>
          </a:p>
        </p:txBody>
      </p:sp>
      <p:sp>
        <p:nvSpPr>
          <p:cNvPr id="31" name="TextBox 30">
            <a:extLst>
              <a:ext uri="{FF2B5EF4-FFF2-40B4-BE49-F238E27FC236}">
                <a16:creationId xmlns:a16="http://schemas.microsoft.com/office/drawing/2014/main" id="{4B310F6E-1BD3-CF01-32AD-647BCF12AC0F}"/>
              </a:ext>
            </a:extLst>
          </p:cNvPr>
          <p:cNvSpPr txBox="1"/>
          <p:nvPr/>
        </p:nvSpPr>
        <p:spPr>
          <a:xfrm>
            <a:off x="8942688" y="173878"/>
            <a:ext cx="1280160" cy="233352"/>
          </a:xfrm>
          <a:prstGeom prst="roundRect">
            <a:avLst>
              <a:gd name="adj" fmla="val 16151"/>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5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defRPr lang="en-US"/>
            </a:defPPr>
            <a:lvl1pPr algn="ctr" defTabSz="932765" fontAlgn="base">
              <a:spcBef>
                <a:spcPct val="0"/>
              </a:spcBef>
              <a:spcAft>
                <a:spcPct val="0"/>
              </a:spcAft>
              <a:defRPr sz="1600">
                <a:solidFill>
                  <a:schemeClr val="accent1"/>
                </a:solidFill>
                <a:latin typeface="+mj-lt"/>
                <a:cs typeface="Segoe Sans Display Semibold" pitchFamily="2" charset="0"/>
              </a:defRPr>
            </a:lvl1pPr>
          </a:lstStyle>
          <a:p>
            <a:pPr marL="0" marR="0" lvl="0" indent="0" algn="l" defTabSz="932765" rtl="0" eaLnBrk="1" fontAlgn="base" latinLnBrk="0" hangingPunct="1">
              <a:lnSpc>
                <a:spcPct val="100000"/>
              </a:lnSpc>
              <a:spcBef>
                <a:spcPct val="0"/>
              </a:spcBef>
              <a:spcAft>
                <a:spcPct val="0"/>
              </a:spcAft>
              <a:buClrTx/>
              <a:buSzTx/>
              <a:buFontTx/>
              <a:buNone/>
              <a:tabLst/>
              <a:defRPr/>
            </a:pPr>
            <a:r>
              <a:rPr kumimoji="0" lang="en-IN" sz="1050" b="0" i="0" u="none" strike="noStrike" kern="0" cap="none" spc="0" normalizeH="0" baseline="0" noProof="0">
                <a:ln>
                  <a:noFill/>
                </a:ln>
                <a:solidFill>
                  <a:srgbClr val="323139"/>
                </a:solidFill>
                <a:effectLst/>
                <a:uLnTx/>
                <a:uFillTx/>
                <a:latin typeface="Segoe Sans Display"/>
                <a:ea typeface="+mn-ea"/>
                <a:cs typeface="Segoe Sans Display Semibold" pitchFamily="2" charset="0"/>
              </a:rPr>
              <a:t>Function</a:t>
            </a:r>
          </a:p>
        </p:txBody>
      </p:sp>
      <p:sp>
        <p:nvSpPr>
          <p:cNvPr id="50" name="TextBox 49">
            <a:extLst>
              <a:ext uri="{FF2B5EF4-FFF2-40B4-BE49-F238E27FC236}">
                <a16:creationId xmlns:a16="http://schemas.microsoft.com/office/drawing/2014/main" id="{0CE10D15-83B7-7915-49A3-0BD3A21E9731}"/>
              </a:ext>
            </a:extLst>
          </p:cNvPr>
          <p:cNvSpPr txBox="1"/>
          <p:nvPr/>
        </p:nvSpPr>
        <p:spPr>
          <a:xfrm>
            <a:off x="10298483" y="173490"/>
            <a:ext cx="1668779" cy="253916"/>
          </a:xfrm>
          <a:prstGeom prst="rect">
            <a:avLst/>
          </a:prstGeom>
          <a:noFill/>
        </p:spPr>
        <p:txBody>
          <a:bodyPr wrap="square">
            <a:spAutoFit/>
          </a:bodyPr>
          <a:lstStyle/>
          <a:p>
            <a:pPr marL="0" marR="0" lvl="0" indent="0" algn="l" defTabSz="914294"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323139"/>
                </a:solidFill>
                <a:effectLst/>
                <a:uLnTx/>
                <a:uFillTx/>
                <a:latin typeface="Segoe Sans Display"/>
                <a:ea typeface="+mn-ea"/>
                <a:cs typeface="Segoe Sans Display"/>
              </a:rPr>
              <a:t>Executive</a:t>
            </a:r>
          </a:p>
        </p:txBody>
      </p:sp>
      <p:sp>
        <p:nvSpPr>
          <p:cNvPr id="59" name="Rectangle: Rounded Corners 58">
            <a:extLst>
              <a:ext uri="{FF2B5EF4-FFF2-40B4-BE49-F238E27FC236}">
                <a16:creationId xmlns:a16="http://schemas.microsoft.com/office/drawing/2014/main" id="{4A73329A-1917-C156-E817-2B9E2D56CBE1}"/>
              </a:ext>
              <a:ext uri="{C183D7F6-B498-43B3-948B-1728B52AA6E4}">
                <ns1:decorative xmlns:ns1="http://schemas.microsoft.com/office/drawing/2017/decorative" val="1"/>
              </a:ext>
            </a:extLst>
          </p:cNvPr>
          <p:cNvSpPr/>
          <p:nvPr/>
        </p:nvSpPr>
        <p:spPr bwMode="auto">
          <a:xfrm>
            <a:off x="424381" y="2312313"/>
            <a:ext cx="7171849" cy="4327573"/>
          </a:xfrm>
          <a:prstGeom prst="roundRect">
            <a:avLst>
              <a:gd name="adj" fmla="val 1683"/>
            </a:avLst>
          </a:prstGeom>
          <a:solidFill>
            <a:srgbClr val="FFF9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B553FF"/>
              </a:solidFill>
              <a:effectLst/>
              <a:uLnTx/>
              <a:uFillTx/>
              <a:latin typeface="Segoe Sans Display Semibold" pitchFamily="2" charset="0"/>
              <a:ea typeface="+mn-ea"/>
              <a:cs typeface="Segoe Sans Display Semibold" pitchFamily="2" charset="0"/>
            </a:endParaRPr>
          </a:p>
        </p:txBody>
      </p:sp>
      <p:grpSp>
        <p:nvGrpSpPr>
          <p:cNvPr id="79" name="Group 78">
            <a:extLst>
              <a:ext uri="{FF2B5EF4-FFF2-40B4-BE49-F238E27FC236}">
                <a16:creationId xmlns:a16="http://schemas.microsoft.com/office/drawing/2014/main" id="{B857CF20-AAD8-92CD-98E7-73BD8662071B}"/>
              </a:ext>
            </a:extLst>
          </p:cNvPr>
          <p:cNvGrpSpPr/>
          <p:nvPr/>
        </p:nvGrpSpPr>
        <p:grpSpPr>
          <a:xfrm>
            <a:off x="199916" y="775485"/>
            <a:ext cx="398477" cy="398477"/>
            <a:chOff x="3403308" y="1083220"/>
            <a:chExt cx="398477" cy="398477"/>
          </a:xfrm>
        </p:grpSpPr>
        <p:sp>
          <p:nvSpPr>
            <p:cNvPr id="76" name="Oval 75">
              <a:extLst>
                <a:ext uri="{FF2B5EF4-FFF2-40B4-BE49-F238E27FC236}">
                  <a16:creationId xmlns:a16="http://schemas.microsoft.com/office/drawing/2014/main" id="{159C5AC1-FC57-57FC-51C9-4DC5847B88F1}"/>
                </a:ext>
                <a:ext uri="{C183D7F6-B498-43B3-948B-1728B52AA6E4}">
                  <ns2:decorative xmlns:ns2="http://schemas.microsoft.com/office/drawing/2017/decorative" val="1"/>
                </a:ext>
              </a:extLst>
            </p:cNvPr>
            <p:cNvSpPr/>
            <p:nvPr/>
          </p:nvSpPr>
          <p:spPr>
            <a:xfrm>
              <a:off x="3403308" y="1083220"/>
              <a:ext cx="398477" cy="398477"/>
            </a:xfrm>
            <a:prstGeom prst="ellipse">
              <a:avLst/>
            </a:prstGeom>
            <a:solidFill>
              <a:srgbClr val="FFF9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2" name="Graphic 5">
              <a:extLst>
                <a:ext uri="{FF2B5EF4-FFF2-40B4-BE49-F238E27FC236}">
                  <a16:creationId xmlns:a16="http://schemas.microsoft.com/office/drawing/2014/main" id="{9F306AE4-27E6-F02E-E553-1EF2C3FBAF65}"/>
                </a:ext>
                <a:ext uri="{C183D7F6-B498-43B3-948B-1728B52AA6E4}">
                  <adec:decorative xmlns:adec="http://schemas.microsoft.com/office/drawing/2017/decorative" val="1"/>
                </a:ext>
              </a:extLst>
            </p:cNvPr>
            <p:cNvSpPr>
              <a:spLocks/>
            </p:cNvSpPr>
            <p:nvPr/>
          </p:nvSpPr>
          <p:spPr>
            <a:xfrm>
              <a:off x="3474676" y="1157049"/>
              <a:ext cx="250822" cy="250818"/>
            </a:xfrm>
            <a:custGeom>
              <a:avLst/>
              <a:gdLst>
                <a:gd name="csX0" fmla="*/ 188408 w 190501"/>
                <a:gd name="csY0" fmla="*/ 45534 h 190500"/>
                <a:gd name="csX1" fmla="*/ 189957 w 190501"/>
                <a:gd name="csY1" fmla="*/ 37748 h 190500"/>
                <a:gd name="csX2" fmla="*/ 183357 w 190501"/>
                <a:gd name="csY2" fmla="*/ 33338 h 190500"/>
                <a:gd name="csX3" fmla="*/ 157162 w 190501"/>
                <a:gd name="csY3" fmla="*/ 33338 h 190500"/>
                <a:gd name="csX4" fmla="*/ 157162 w 190501"/>
                <a:gd name="csY4" fmla="*/ 7144 h 190500"/>
                <a:gd name="csX5" fmla="*/ 152751 w 190501"/>
                <a:gd name="csY5" fmla="*/ 544 h 190500"/>
                <a:gd name="csX6" fmla="*/ 144967 w 190501"/>
                <a:gd name="csY6" fmla="*/ 2093 h 190500"/>
                <a:gd name="csX7" fmla="*/ 121155 w 190501"/>
                <a:gd name="csY7" fmla="*/ 25906 h 190500"/>
                <a:gd name="csX8" fmla="*/ 119063 w 190501"/>
                <a:gd name="csY8" fmla="*/ 30957 h 190500"/>
                <a:gd name="csX9" fmla="*/ 119063 w 190501"/>
                <a:gd name="csY9" fmla="*/ 57967 h 190500"/>
                <a:gd name="csX10" fmla="*/ 100185 w 190501"/>
                <a:gd name="csY10" fmla="*/ 76846 h 190500"/>
                <a:gd name="csX11" fmla="*/ 95250 w 190501"/>
                <a:gd name="csY11" fmla="*/ 76201 h 190500"/>
                <a:gd name="csX12" fmla="*/ 76200 w 190501"/>
                <a:gd name="csY12" fmla="*/ 95251 h 190500"/>
                <a:gd name="csX13" fmla="*/ 95250 w 190501"/>
                <a:gd name="csY13" fmla="*/ 114301 h 190500"/>
                <a:gd name="csX14" fmla="*/ 114300 w 190501"/>
                <a:gd name="csY14" fmla="*/ 95251 h 190500"/>
                <a:gd name="csX15" fmla="*/ 113655 w 190501"/>
                <a:gd name="csY15" fmla="*/ 90316 h 190500"/>
                <a:gd name="csX16" fmla="*/ 132533 w 190501"/>
                <a:gd name="csY16" fmla="*/ 71438 h 190500"/>
                <a:gd name="csX17" fmla="*/ 159545 w 190501"/>
                <a:gd name="csY17" fmla="*/ 71438 h 190500"/>
                <a:gd name="csX18" fmla="*/ 164596 w 190501"/>
                <a:gd name="csY18" fmla="*/ 69346 h 190500"/>
                <a:gd name="csX19" fmla="*/ 188408 w 190501"/>
                <a:gd name="csY19" fmla="*/ 45534 h 190500"/>
                <a:gd name="csX20" fmla="*/ 95250 w 190501"/>
                <a:gd name="csY20" fmla="*/ 1 h 190500"/>
                <a:gd name="csX21" fmla="*/ 127860 w 190501"/>
                <a:gd name="csY21" fmla="*/ 5729 h 190500"/>
                <a:gd name="csX22" fmla="*/ 114419 w 190501"/>
                <a:gd name="csY22" fmla="*/ 19170 h 190500"/>
                <a:gd name="csX23" fmla="*/ 112781 w 190501"/>
                <a:gd name="csY23" fmla="*/ 21077 h 190500"/>
                <a:gd name="csX24" fmla="*/ 95250 w 190501"/>
                <a:gd name="csY24" fmla="*/ 19051 h 190500"/>
                <a:gd name="csX25" fmla="*/ 19050 w 190501"/>
                <a:gd name="csY25" fmla="*/ 95251 h 190500"/>
                <a:gd name="csX26" fmla="*/ 95250 w 190501"/>
                <a:gd name="csY26" fmla="*/ 171451 h 190500"/>
                <a:gd name="csX27" fmla="*/ 171450 w 190501"/>
                <a:gd name="csY27" fmla="*/ 95251 h 190500"/>
                <a:gd name="csX28" fmla="*/ 169424 w 190501"/>
                <a:gd name="csY28" fmla="*/ 77720 h 190500"/>
                <a:gd name="csX29" fmla="*/ 171331 w 190501"/>
                <a:gd name="csY29" fmla="*/ 76081 h 190500"/>
                <a:gd name="csX30" fmla="*/ 184772 w 190501"/>
                <a:gd name="csY30" fmla="*/ 62641 h 190500"/>
                <a:gd name="csX31" fmla="*/ 190500 w 190501"/>
                <a:gd name="csY31" fmla="*/ 95251 h 190500"/>
                <a:gd name="csX32" fmla="*/ 95250 w 190501"/>
                <a:gd name="csY32" fmla="*/ 190501 h 190500"/>
                <a:gd name="csX33" fmla="*/ 0 w 190501"/>
                <a:gd name="csY33" fmla="*/ 95251 h 190500"/>
                <a:gd name="csX34" fmla="*/ 95250 w 190501"/>
                <a:gd name="csY34" fmla="*/ 1 h 190500"/>
                <a:gd name="csX35" fmla="*/ 95250 w 190501"/>
                <a:gd name="csY35" fmla="*/ 38101 h 190500"/>
                <a:gd name="csX36" fmla="*/ 109538 w 190501"/>
                <a:gd name="csY36" fmla="*/ 39901 h 190500"/>
                <a:gd name="csX37" fmla="*/ 109538 w 190501"/>
                <a:gd name="csY37" fmla="*/ 54021 h 190500"/>
                <a:gd name="csX38" fmla="*/ 105592 w 190501"/>
                <a:gd name="csY38" fmla="*/ 57968 h 190500"/>
                <a:gd name="csX39" fmla="*/ 105131 w 190501"/>
                <a:gd name="csY39" fmla="*/ 58444 h 190500"/>
                <a:gd name="csX40" fmla="*/ 95250 w 190501"/>
                <a:gd name="csY40" fmla="*/ 57151 h 190500"/>
                <a:gd name="csX41" fmla="*/ 57150 w 190501"/>
                <a:gd name="csY41" fmla="*/ 95251 h 190500"/>
                <a:gd name="csX42" fmla="*/ 95250 w 190501"/>
                <a:gd name="csY42" fmla="*/ 133351 h 190500"/>
                <a:gd name="csX43" fmla="*/ 133350 w 190501"/>
                <a:gd name="csY43" fmla="*/ 95251 h 190500"/>
                <a:gd name="csX44" fmla="*/ 132057 w 190501"/>
                <a:gd name="csY44" fmla="*/ 85369 h 190500"/>
                <a:gd name="csX45" fmla="*/ 132533 w 190501"/>
                <a:gd name="csY45" fmla="*/ 84909 h 190500"/>
                <a:gd name="csX46" fmla="*/ 136478 w 190501"/>
                <a:gd name="csY46" fmla="*/ 80963 h 190500"/>
                <a:gd name="csX47" fmla="*/ 150600 w 190501"/>
                <a:gd name="csY47" fmla="*/ 80963 h 190500"/>
                <a:gd name="csX48" fmla="*/ 152400 w 190501"/>
                <a:gd name="csY48" fmla="*/ 95251 h 190500"/>
                <a:gd name="csX49" fmla="*/ 95250 w 190501"/>
                <a:gd name="csY49" fmla="*/ 152401 h 190500"/>
                <a:gd name="csX50" fmla="*/ 38100 w 190501"/>
                <a:gd name="csY50" fmla="*/ 95251 h 190500"/>
                <a:gd name="csX51" fmla="*/ 95250 w 190501"/>
                <a:gd name="csY51" fmla="*/ 38101 h 190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Lst>
              <a:rect l="l" t="t" r="r" b="b"/>
              <a:pathLst>
                <a:path w="190501" h="190500">
                  <a:moveTo>
                    <a:pt x="188408" y="45534"/>
                  </a:moveTo>
                  <a:cubicBezTo>
                    <a:pt x="190452" y="43491"/>
                    <a:pt x="191063" y="40418"/>
                    <a:pt x="189957" y="37748"/>
                  </a:cubicBezTo>
                  <a:cubicBezTo>
                    <a:pt x="188852" y="35079"/>
                    <a:pt x="186247" y="33338"/>
                    <a:pt x="183357" y="33338"/>
                  </a:cubicBezTo>
                  <a:lnTo>
                    <a:pt x="157162" y="33338"/>
                  </a:lnTo>
                  <a:lnTo>
                    <a:pt x="157162" y="7144"/>
                  </a:lnTo>
                  <a:cubicBezTo>
                    <a:pt x="157162" y="4255"/>
                    <a:pt x="155421" y="1650"/>
                    <a:pt x="152751" y="544"/>
                  </a:cubicBezTo>
                  <a:cubicBezTo>
                    <a:pt x="150083" y="-562"/>
                    <a:pt x="147010" y="50"/>
                    <a:pt x="144967" y="2093"/>
                  </a:cubicBezTo>
                  <a:lnTo>
                    <a:pt x="121155" y="25906"/>
                  </a:lnTo>
                  <a:cubicBezTo>
                    <a:pt x="119815" y="27246"/>
                    <a:pt x="119063" y="29063"/>
                    <a:pt x="119063" y="30957"/>
                  </a:cubicBezTo>
                  <a:lnTo>
                    <a:pt x="119063" y="57967"/>
                  </a:lnTo>
                  <a:lnTo>
                    <a:pt x="100185" y="76846"/>
                  </a:lnTo>
                  <a:cubicBezTo>
                    <a:pt x="98610" y="76425"/>
                    <a:pt x="96957" y="76201"/>
                    <a:pt x="95250" y="76201"/>
                  </a:cubicBezTo>
                  <a:cubicBezTo>
                    <a:pt x="84729" y="76201"/>
                    <a:pt x="76200" y="84730"/>
                    <a:pt x="76200" y="95251"/>
                  </a:cubicBezTo>
                  <a:cubicBezTo>
                    <a:pt x="76200" y="105771"/>
                    <a:pt x="84729" y="114301"/>
                    <a:pt x="95250" y="114301"/>
                  </a:cubicBezTo>
                  <a:cubicBezTo>
                    <a:pt x="105771" y="114301"/>
                    <a:pt x="114300" y="105771"/>
                    <a:pt x="114300" y="95251"/>
                  </a:cubicBezTo>
                  <a:cubicBezTo>
                    <a:pt x="114300" y="93544"/>
                    <a:pt x="114075" y="91891"/>
                    <a:pt x="113655" y="90316"/>
                  </a:cubicBezTo>
                  <a:lnTo>
                    <a:pt x="132533" y="71438"/>
                  </a:lnTo>
                  <a:lnTo>
                    <a:pt x="159545" y="71438"/>
                  </a:lnTo>
                  <a:cubicBezTo>
                    <a:pt x="161439" y="71438"/>
                    <a:pt x="163256" y="70686"/>
                    <a:pt x="164596" y="69346"/>
                  </a:cubicBezTo>
                  <a:lnTo>
                    <a:pt x="188408" y="45534"/>
                  </a:lnTo>
                  <a:close/>
                  <a:moveTo>
                    <a:pt x="95250" y="1"/>
                  </a:moveTo>
                  <a:cubicBezTo>
                    <a:pt x="106705" y="1"/>
                    <a:pt x="117687" y="2023"/>
                    <a:pt x="127860" y="5729"/>
                  </a:cubicBezTo>
                  <a:lnTo>
                    <a:pt x="114419" y="19170"/>
                  </a:lnTo>
                  <a:cubicBezTo>
                    <a:pt x="113823" y="19767"/>
                    <a:pt x="113275" y="20405"/>
                    <a:pt x="112781" y="21077"/>
                  </a:cubicBezTo>
                  <a:cubicBezTo>
                    <a:pt x="107152" y="19752"/>
                    <a:pt x="101283" y="19051"/>
                    <a:pt x="95250" y="19051"/>
                  </a:cubicBezTo>
                  <a:cubicBezTo>
                    <a:pt x="53166" y="19051"/>
                    <a:pt x="19050" y="53166"/>
                    <a:pt x="19050" y="95251"/>
                  </a:cubicBezTo>
                  <a:cubicBezTo>
                    <a:pt x="19050" y="137334"/>
                    <a:pt x="53166" y="171451"/>
                    <a:pt x="95250" y="171451"/>
                  </a:cubicBezTo>
                  <a:cubicBezTo>
                    <a:pt x="137334" y="171451"/>
                    <a:pt x="171450" y="137334"/>
                    <a:pt x="171450" y="95251"/>
                  </a:cubicBezTo>
                  <a:cubicBezTo>
                    <a:pt x="171450" y="89218"/>
                    <a:pt x="170749" y="83348"/>
                    <a:pt x="169424" y="77720"/>
                  </a:cubicBezTo>
                  <a:cubicBezTo>
                    <a:pt x="170096" y="77226"/>
                    <a:pt x="170734" y="76678"/>
                    <a:pt x="171331" y="76081"/>
                  </a:cubicBezTo>
                  <a:lnTo>
                    <a:pt x="184772" y="62641"/>
                  </a:lnTo>
                  <a:cubicBezTo>
                    <a:pt x="188478" y="72813"/>
                    <a:pt x="190500" y="83796"/>
                    <a:pt x="190500" y="95251"/>
                  </a:cubicBezTo>
                  <a:cubicBezTo>
                    <a:pt x="190500" y="147856"/>
                    <a:pt x="147855" y="190501"/>
                    <a:pt x="95250" y="190501"/>
                  </a:cubicBezTo>
                  <a:cubicBezTo>
                    <a:pt x="42645" y="190501"/>
                    <a:pt x="0" y="147856"/>
                    <a:pt x="0" y="95251"/>
                  </a:cubicBezTo>
                  <a:cubicBezTo>
                    <a:pt x="0" y="42645"/>
                    <a:pt x="42645" y="1"/>
                    <a:pt x="95250" y="1"/>
                  </a:cubicBezTo>
                  <a:close/>
                  <a:moveTo>
                    <a:pt x="95250" y="38101"/>
                  </a:moveTo>
                  <a:cubicBezTo>
                    <a:pt x="100184" y="38101"/>
                    <a:pt x="104971" y="38726"/>
                    <a:pt x="109538" y="39901"/>
                  </a:cubicBezTo>
                  <a:lnTo>
                    <a:pt x="109538" y="54021"/>
                  </a:lnTo>
                  <a:lnTo>
                    <a:pt x="105592" y="57968"/>
                  </a:lnTo>
                  <a:cubicBezTo>
                    <a:pt x="105435" y="58125"/>
                    <a:pt x="105282" y="58284"/>
                    <a:pt x="105131" y="58444"/>
                  </a:cubicBezTo>
                  <a:cubicBezTo>
                    <a:pt x="101980" y="57601"/>
                    <a:pt x="98668" y="57151"/>
                    <a:pt x="95250" y="57151"/>
                  </a:cubicBezTo>
                  <a:cubicBezTo>
                    <a:pt x="74208" y="57151"/>
                    <a:pt x="57150" y="74208"/>
                    <a:pt x="57150" y="95251"/>
                  </a:cubicBezTo>
                  <a:cubicBezTo>
                    <a:pt x="57150" y="116293"/>
                    <a:pt x="74208" y="133351"/>
                    <a:pt x="95250" y="133351"/>
                  </a:cubicBezTo>
                  <a:cubicBezTo>
                    <a:pt x="116292" y="133351"/>
                    <a:pt x="133350" y="116293"/>
                    <a:pt x="133350" y="95251"/>
                  </a:cubicBezTo>
                  <a:cubicBezTo>
                    <a:pt x="133350" y="91833"/>
                    <a:pt x="132900" y="88521"/>
                    <a:pt x="132057" y="85369"/>
                  </a:cubicBezTo>
                  <a:cubicBezTo>
                    <a:pt x="132217" y="85219"/>
                    <a:pt x="132376" y="85065"/>
                    <a:pt x="132533" y="84909"/>
                  </a:cubicBezTo>
                  <a:lnTo>
                    <a:pt x="136478" y="80963"/>
                  </a:lnTo>
                  <a:lnTo>
                    <a:pt x="150600" y="80963"/>
                  </a:lnTo>
                  <a:cubicBezTo>
                    <a:pt x="151775" y="85530"/>
                    <a:pt x="152400" y="90317"/>
                    <a:pt x="152400" y="95251"/>
                  </a:cubicBezTo>
                  <a:cubicBezTo>
                    <a:pt x="152400" y="126814"/>
                    <a:pt x="126813" y="152401"/>
                    <a:pt x="95250" y="152401"/>
                  </a:cubicBezTo>
                  <a:cubicBezTo>
                    <a:pt x="63687" y="152401"/>
                    <a:pt x="38100" y="126814"/>
                    <a:pt x="38100" y="95251"/>
                  </a:cubicBezTo>
                  <a:cubicBezTo>
                    <a:pt x="38100" y="63687"/>
                    <a:pt x="63687" y="38101"/>
                    <a:pt x="95250" y="38101"/>
                  </a:cubicBezTo>
                  <a:close/>
                </a:path>
              </a:pathLst>
            </a:custGeom>
            <a:solidFill>
              <a:srgbClr val="323139"/>
            </a:solidFill>
            <a:ln w="10477" cap="flat" cmpd="sng" algn="ctr">
              <a:noFill/>
              <a:prstDash val="solid"/>
              <a:miter/>
            </a:ln>
            <a:effectLst/>
          </p:spPr>
          <p:txBody>
            <a:bodyPr rot="0" spcFirstLastPara="0" vertOverflow="overflow" horzOverflow="overflow" vert="horz" wrap="square" lIns="338011" tIns="270406" rIns="338011" bIns="270406" numCol="1" spcCol="0" rtlCol="0" fromWordArt="0" anchor="t" anchorCtr="0" forceAA="0" compatLnSpc="1">
              <a:prstTxWarp prst="textNoShape">
                <a:avLst/>
              </a:prstTxWarp>
              <a:noAutofit/>
            </a:bodyPr>
            <a:lstStyle/>
            <a:p>
              <a:pPr marL="0" marR="0" lvl="0" indent="0" algn="l" defTabSz="1722411" rtl="0" eaLnBrk="1" fontAlgn="base" latinLnBrk="0" hangingPunct="1">
                <a:lnSpc>
                  <a:spcPct val="100000"/>
                </a:lnSpc>
                <a:spcBef>
                  <a:spcPct val="0"/>
                </a:spcBef>
                <a:spcAft>
                  <a:spcPct val="0"/>
                </a:spcAft>
                <a:buClrTx/>
                <a:buSzTx/>
                <a:buFontTx/>
                <a:buNone/>
                <a:tabLst/>
                <a:defRPr/>
              </a:pPr>
              <a:endParaRPr kumimoji="0" lang="en-US" sz="3622" b="1" i="0" u="none" strike="noStrike" kern="0" cap="none" spc="0" normalizeH="0" baseline="0" noProof="0">
                <a:ln>
                  <a:noFill/>
                </a:ln>
                <a:noFill/>
                <a:effectLst/>
                <a:uLnTx/>
                <a:uFillTx/>
                <a:latin typeface="Segoe UI Variable Display Semibold" pitchFamily="2" charset="0"/>
                <a:ea typeface="+mn-ea"/>
                <a:cs typeface="Segoe UI" pitchFamily="34" charset="0"/>
              </a:endParaRPr>
            </a:p>
          </p:txBody>
        </p:sp>
      </p:grpSp>
      <p:sp>
        <p:nvSpPr>
          <p:cNvPr id="78" name="Oval 77">
            <a:extLst>
              <a:ext uri="{FF2B5EF4-FFF2-40B4-BE49-F238E27FC236}">
                <a16:creationId xmlns:a16="http://schemas.microsoft.com/office/drawing/2014/main" id="{7ABF2AEF-7824-DEF7-C92E-0915DEF41F17}"/>
              </a:ext>
              <a:ext uri="{C183D7F6-B498-43B3-948B-1728B52AA6E4}">
                <ns3:decorative xmlns:ns3="http://schemas.microsoft.com/office/drawing/2017/decorative" val="1"/>
              </a:ext>
            </a:extLst>
          </p:cNvPr>
          <p:cNvSpPr/>
          <p:nvPr/>
        </p:nvSpPr>
        <p:spPr>
          <a:xfrm>
            <a:off x="4122028" y="779171"/>
            <a:ext cx="398477" cy="398477"/>
          </a:xfrm>
          <a:prstGeom prst="ellipse">
            <a:avLst/>
          </a:prstGeom>
          <a:solidFill>
            <a:srgbClr val="FFF9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6" name="Graphic 15">
            <a:extLst>
              <a:ext uri="{FF2B5EF4-FFF2-40B4-BE49-F238E27FC236}">
                <a16:creationId xmlns:a16="http://schemas.microsoft.com/office/drawing/2014/main" id="{09721564-91C5-D7C7-A65B-CFCBCAAA8285}"/>
              </a:ext>
              <a:ext uri="{C183D7F6-B498-43B3-948B-1728B52AA6E4}">
                <adec:decorative xmlns:adec="http://schemas.microsoft.com/office/drawing/2017/decorative" val="1"/>
              </a:ext>
            </a:extLst>
          </p:cNvPr>
          <p:cNvSpPr>
            <a:spLocks/>
          </p:cNvSpPr>
          <p:nvPr/>
        </p:nvSpPr>
        <p:spPr>
          <a:xfrm>
            <a:off x="4172482" y="836452"/>
            <a:ext cx="297568" cy="252931"/>
          </a:xfrm>
          <a:custGeom>
            <a:avLst/>
            <a:gdLst>
              <a:gd name="csX0" fmla="*/ 147926 w 190499"/>
              <a:gd name="csY0" fmla="*/ 2092 h 161924"/>
              <a:gd name="csX1" fmla="*/ 137824 w 190499"/>
              <a:gd name="csY1" fmla="*/ 2092 h 161924"/>
              <a:gd name="csX2" fmla="*/ 137824 w 190499"/>
              <a:gd name="csY2" fmla="*/ 12195 h 161924"/>
              <a:gd name="csX3" fmla="*/ 166109 w 190499"/>
              <a:gd name="csY3" fmla="*/ 40481 h 161924"/>
              <a:gd name="csX4" fmla="*/ 119063 w 190499"/>
              <a:gd name="csY4" fmla="*/ 40481 h 161924"/>
              <a:gd name="csX5" fmla="*/ 88106 w 190499"/>
              <a:gd name="csY5" fmla="*/ 71437 h 161924"/>
              <a:gd name="csX6" fmla="*/ 88106 w 190499"/>
              <a:gd name="csY6" fmla="*/ 100012 h 161924"/>
              <a:gd name="csX7" fmla="*/ 75437 w 190499"/>
              <a:gd name="csY7" fmla="*/ 116198 h 161924"/>
              <a:gd name="csX8" fmla="*/ 38100 w 190499"/>
              <a:gd name="csY8" fmla="*/ 85725 h 161924"/>
              <a:gd name="csX9" fmla="*/ 0 w 190499"/>
              <a:gd name="csY9" fmla="*/ 123825 h 161924"/>
              <a:gd name="csX10" fmla="*/ 38100 w 190499"/>
              <a:gd name="csY10" fmla="*/ 161925 h 161924"/>
              <a:gd name="csX11" fmla="*/ 75582 w 190499"/>
              <a:gd name="csY11" fmla="*/ 130693 h 161924"/>
              <a:gd name="csX12" fmla="*/ 102394 w 190499"/>
              <a:gd name="csY12" fmla="*/ 100012 h 161924"/>
              <a:gd name="csX13" fmla="*/ 102394 w 190499"/>
              <a:gd name="csY13" fmla="*/ 71437 h 161924"/>
              <a:gd name="csX14" fmla="*/ 119063 w 190499"/>
              <a:gd name="csY14" fmla="*/ 54769 h 161924"/>
              <a:gd name="csX15" fmla="*/ 166109 w 190499"/>
              <a:gd name="csY15" fmla="*/ 54769 h 161924"/>
              <a:gd name="csX16" fmla="*/ 137824 w 190499"/>
              <a:gd name="csY16" fmla="*/ 83055 h 161924"/>
              <a:gd name="csX17" fmla="*/ 137824 w 190499"/>
              <a:gd name="csY17" fmla="*/ 93157 h 161924"/>
              <a:gd name="csX18" fmla="*/ 147926 w 190499"/>
              <a:gd name="csY18" fmla="*/ 93157 h 161924"/>
              <a:gd name="csX19" fmla="*/ 188407 w 190499"/>
              <a:gd name="csY19" fmla="*/ 52676 h 161924"/>
              <a:gd name="csX20" fmla="*/ 188407 w 190499"/>
              <a:gd name="csY20" fmla="*/ 42574 h 161924"/>
              <a:gd name="csX21" fmla="*/ 147926 w 190499"/>
              <a:gd name="csY21" fmla="*/ 2092 h 1619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190499" h="161924">
                <a:moveTo>
                  <a:pt x="147926" y="2092"/>
                </a:moveTo>
                <a:cubicBezTo>
                  <a:pt x="145136" y="-697"/>
                  <a:pt x="140614" y="-697"/>
                  <a:pt x="137824" y="2092"/>
                </a:cubicBezTo>
                <a:cubicBezTo>
                  <a:pt x="135034" y="4882"/>
                  <a:pt x="135034" y="9405"/>
                  <a:pt x="137824" y="12195"/>
                </a:cubicBezTo>
                <a:lnTo>
                  <a:pt x="166109" y="40481"/>
                </a:lnTo>
                <a:lnTo>
                  <a:pt x="119063" y="40481"/>
                </a:lnTo>
                <a:cubicBezTo>
                  <a:pt x="101966" y="40481"/>
                  <a:pt x="88106" y="54341"/>
                  <a:pt x="88106" y="71437"/>
                </a:cubicBezTo>
                <a:lnTo>
                  <a:pt x="88106" y="100012"/>
                </a:lnTo>
                <a:cubicBezTo>
                  <a:pt x="88106" y="107840"/>
                  <a:pt x="82711" y="114408"/>
                  <a:pt x="75437" y="116198"/>
                </a:cubicBezTo>
                <a:cubicBezTo>
                  <a:pt x="71904" y="98811"/>
                  <a:pt x="56530" y="85725"/>
                  <a:pt x="38100" y="85725"/>
                </a:cubicBezTo>
                <a:cubicBezTo>
                  <a:pt x="17058" y="85725"/>
                  <a:pt x="0" y="102783"/>
                  <a:pt x="0" y="123825"/>
                </a:cubicBezTo>
                <a:cubicBezTo>
                  <a:pt x="0" y="144867"/>
                  <a:pt x="17058" y="161925"/>
                  <a:pt x="38100" y="161925"/>
                </a:cubicBezTo>
                <a:cubicBezTo>
                  <a:pt x="56797" y="161925"/>
                  <a:pt x="72348" y="148458"/>
                  <a:pt x="75582" y="130693"/>
                </a:cubicBezTo>
                <a:cubicBezTo>
                  <a:pt x="90719" y="128668"/>
                  <a:pt x="102394" y="115704"/>
                  <a:pt x="102394" y="100012"/>
                </a:cubicBezTo>
                <a:lnTo>
                  <a:pt x="102394" y="71437"/>
                </a:lnTo>
                <a:cubicBezTo>
                  <a:pt x="102394" y="62232"/>
                  <a:pt x="109857" y="54769"/>
                  <a:pt x="119063" y="54769"/>
                </a:cubicBezTo>
                <a:lnTo>
                  <a:pt x="166109" y="54769"/>
                </a:lnTo>
                <a:lnTo>
                  <a:pt x="137824" y="83055"/>
                </a:lnTo>
                <a:cubicBezTo>
                  <a:pt x="135034" y="85845"/>
                  <a:pt x="135034" y="90367"/>
                  <a:pt x="137824" y="93157"/>
                </a:cubicBezTo>
                <a:cubicBezTo>
                  <a:pt x="140614" y="95947"/>
                  <a:pt x="145136" y="95947"/>
                  <a:pt x="147926" y="93157"/>
                </a:cubicBezTo>
                <a:lnTo>
                  <a:pt x="188407" y="52676"/>
                </a:lnTo>
                <a:cubicBezTo>
                  <a:pt x="191197" y="49887"/>
                  <a:pt x="191197" y="45363"/>
                  <a:pt x="188407" y="42574"/>
                </a:cubicBezTo>
                <a:lnTo>
                  <a:pt x="147926" y="2092"/>
                </a:lnTo>
                <a:close/>
              </a:path>
            </a:pathLst>
          </a:custGeom>
          <a:solidFill>
            <a:srgbClr val="323139"/>
          </a:solidFill>
          <a:ln w="10477" cap="flat" cmpd="sng" algn="ctr">
            <a:noFill/>
            <a:prstDash val="solid"/>
            <a:miter/>
          </a:ln>
          <a:effectLst/>
        </p:spPr>
        <p:txBody>
          <a:bodyPr rot="0" spcFirstLastPara="0" vertOverflow="overflow" horzOverflow="overflow" vert="horz" wrap="square" lIns="338011" tIns="270406" rIns="338011" bIns="270406" numCol="1" spcCol="0" rtlCol="0" fromWordArt="0" anchor="t" anchorCtr="0" forceAA="0" compatLnSpc="1">
            <a:prstTxWarp prst="textNoShape">
              <a:avLst/>
            </a:prstTxWarp>
            <a:noAutofit/>
          </a:bodyPr>
          <a:lstStyle/>
          <a:p>
            <a:pPr marL="0" marR="0" lvl="0" indent="0" algn="l" defTabSz="1722411" rtl="0" eaLnBrk="1" fontAlgn="base" latinLnBrk="0" hangingPunct="1">
              <a:lnSpc>
                <a:spcPct val="100000"/>
              </a:lnSpc>
              <a:spcBef>
                <a:spcPct val="0"/>
              </a:spcBef>
              <a:spcAft>
                <a:spcPct val="0"/>
              </a:spcAft>
              <a:buClrTx/>
              <a:buSzTx/>
              <a:buFontTx/>
              <a:buNone/>
              <a:tabLst/>
              <a:defRPr/>
            </a:pPr>
            <a:endParaRPr kumimoji="0" lang="en-US" sz="3622" b="1" i="0" u="none" strike="noStrike" kern="0" cap="none" spc="0" normalizeH="0" baseline="0" noProof="0">
              <a:ln>
                <a:noFill/>
              </a:ln>
              <a:noFill/>
              <a:effectLst/>
              <a:uLnTx/>
              <a:uFillTx/>
              <a:latin typeface="Segoe UI Variable Display Semibold" pitchFamily="2" charset="0"/>
              <a:ea typeface="+mn-ea"/>
              <a:cs typeface="Segoe UI" pitchFamily="34" charset="0"/>
            </a:endParaRPr>
          </a:p>
        </p:txBody>
      </p:sp>
      <p:grpSp>
        <p:nvGrpSpPr>
          <p:cNvPr id="83" name="Group 82">
            <a:extLst>
              <a:ext uri="{FF2B5EF4-FFF2-40B4-BE49-F238E27FC236}">
                <a16:creationId xmlns:a16="http://schemas.microsoft.com/office/drawing/2014/main" id="{5A0CBAFC-5DED-D3E2-18ED-E34B74CAE926}"/>
              </a:ext>
            </a:extLst>
          </p:cNvPr>
          <p:cNvGrpSpPr/>
          <p:nvPr/>
        </p:nvGrpSpPr>
        <p:grpSpPr>
          <a:xfrm>
            <a:off x="3261739" y="2189487"/>
            <a:ext cx="1534355" cy="276999"/>
            <a:chOff x="3261739" y="2189487"/>
            <a:chExt cx="1534355" cy="276999"/>
          </a:xfrm>
        </p:grpSpPr>
        <p:sp>
          <p:nvSpPr>
            <p:cNvPr id="82" name="Rectangle: Rounded Corners 81">
              <a:extLst>
                <a:ext uri="{FF2B5EF4-FFF2-40B4-BE49-F238E27FC236}">
                  <a16:creationId xmlns:a16="http://schemas.microsoft.com/office/drawing/2014/main" id="{A21A551A-DE36-A716-13EE-21F822622FD5}"/>
                </a:ext>
                <a:ext uri="{C183D7F6-B498-43B3-948B-1728B52AA6E4}">
                  <ns4:decorative xmlns:ns4="http://schemas.microsoft.com/office/drawing/2017/decorative" val="1"/>
                </a:ext>
              </a:extLst>
            </p:cNvPr>
            <p:cNvSpPr/>
            <p:nvPr/>
          </p:nvSpPr>
          <p:spPr bwMode="auto">
            <a:xfrm>
              <a:off x="3261739" y="2213019"/>
              <a:ext cx="1534355" cy="244283"/>
            </a:xfrm>
            <a:prstGeom prst="roundRect">
              <a:avLst>
                <a:gd name="adj" fmla="val 50000"/>
              </a:avLst>
            </a:prstGeom>
            <a:solidFill>
              <a:srgbClr val="F3E5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endParaRPr>
            </a:p>
          </p:txBody>
        </p:sp>
        <p:sp>
          <p:nvSpPr>
            <p:cNvPr id="63" name="TextBox 62">
              <a:extLst>
                <a:ext uri="{FF2B5EF4-FFF2-40B4-BE49-F238E27FC236}">
                  <a16:creationId xmlns:a16="http://schemas.microsoft.com/office/drawing/2014/main" id="{197D0AEB-8A07-B4D6-7F33-85429D49214C}"/>
                </a:ext>
              </a:extLst>
            </p:cNvPr>
            <p:cNvSpPr txBox="1"/>
            <p:nvPr/>
          </p:nvSpPr>
          <p:spPr>
            <a:xfrm>
              <a:off x="3655077" y="2189487"/>
              <a:ext cx="710452"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Prompt</a:t>
              </a:r>
              <a:endParaRPr kumimoji="0" lang="en-IN" sz="12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endParaRPr>
            </a:p>
          </p:txBody>
        </p:sp>
      </p:grpSp>
      <p:sp>
        <p:nvSpPr>
          <p:cNvPr id="98" name="Rectangle: Rounded Corners 97">
            <a:extLst>
              <a:ext uri="{FF2B5EF4-FFF2-40B4-BE49-F238E27FC236}">
                <a16:creationId xmlns:a16="http://schemas.microsoft.com/office/drawing/2014/main" id="{AEBB3E1D-C5FB-7FC9-829F-F4815362ABD2}"/>
              </a:ext>
            </a:extLst>
          </p:cNvPr>
          <p:cNvSpPr/>
          <p:nvPr/>
        </p:nvSpPr>
        <p:spPr bwMode="auto">
          <a:xfrm>
            <a:off x="8334509" y="968486"/>
            <a:ext cx="3621360" cy="1107187"/>
          </a:xfrm>
          <a:prstGeom prst="roundRect">
            <a:avLst>
              <a:gd name="adj" fmla="val 10584"/>
            </a:avLst>
          </a:prstGeom>
          <a:solidFill>
            <a:srgbClr val="341434"/>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r>
              <a:rPr kumimoji="0" lang="en-US" sz="1100" b="1" i="0" u="none" strike="noStrike" kern="0" cap="none" spc="0" normalizeH="0" baseline="0" noProof="0">
                <a:ln>
                  <a:noFill/>
                </a:ln>
                <a:solidFill>
                  <a:prstClr val="white"/>
                </a:solidFill>
                <a:effectLst/>
                <a:uLnTx/>
                <a:uFillTx/>
                <a:latin typeface="Segoe Sans Display Semilight" pitchFamily="2" charset="0"/>
                <a:ea typeface="+mn-ea"/>
                <a:cs typeface="Segoe Sans Display Semilight" pitchFamily="2" charset="0"/>
              </a:rPr>
              <a:t>Why Cowork?: </a:t>
            </a:r>
            <a:r>
              <a:rPr kumimoji="0" lang="en-US" sz="1100" b="0" i="0" u="none" strike="noStrike" kern="0" cap="none" spc="0" normalizeH="0" baseline="0" noProof="0">
                <a:ln>
                  <a:noFill/>
                </a:ln>
                <a:solidFill>
                  <a:prstClr val="white"/>
                </a:solidFill>
                <a:effectLst/>
                <a:uLnTx/>
                <a:uFillTx/>
                <a:latin typeface="Segoe Sans Display Semilight" pitchFamily="2" charset="0"/>
                <a:ea typeface="+mn-ea"/>
                <a:cs typeface="Segoe Sans Display Semilight" pitchFamily="2" charset="0"/>
              </a:rPr>
              <a:t>What needs your attention is scattered across calendar, email, chats, and documents. Cowork combines: calendar and priority documents, emails, chats and transcripts, signal detection across workstreams, and an interactive daily dashboard, into one recurring workflow.</a:t>
            </a:r>
            <a:endParaRPr kumimoji="0" lang="en-US" sz="1100" i="0" u="none" strike="noStrike" kern="0" cap="none" spc="0" normalizeH="0" baseline="0" noProof="0">
              <a:ln w="3175">
                <a:noFill/>
              </a:ln>
              <a:solidFill>
                <a:prstClr val="white"/>
              </a:solidFill>
              <a:effectLst/>
              <a:uLnTx/>
              <a:uFillTx/>
              <a:latin typeface="Segoe Sans Display Semilight" pitchFamily="2" charset="0"/>
              <a:cs typeface="Segoe Sans Display Semilight" pitchFamily="2" charset="0"/>
            </a:endParaRPr>
          </a:p>
        </p:txBody>
      </p:sp>
      <p:sp>
        <p:nvSpPr>
          <p:cNvPr id="100" name="Oval 99">
            <a:extLst>
              <a:ext uri="{FF2B5EF4-FFF2-40B4-BE49-F238E27FC236}">
                <a16:creationId xmlns:a16="http://schemas.microsoft.com/office/drawing/2014/main" id="{82CA9355-2BD9-0408-CC03-CCAC40D6F6BE}"/>
              </a:ext>
              <a:ext uri="{C183D7F6-B498-43B3-948B-1728B52AA6E4}">
                <ns5:decorative xmlns:ns5="http://schemas.microsoft.com/office/drawing/2017/decorative" val="1"/>
              </a:ext>
            </a:extLst>
          </p:cNvPr>
          <p:cNvSpPr/>
          <p:nvPr/>
        </p:nvSpPr>
        <p:spPr>
          <a:xfrm>
            <a:off x="8054943" y="775485"/>
            <a:ext cx="398477" cy="398477"/>
          </a:xfrm>
          <a:prstGeom prst="ellipse">
            <a:avLst/>
          </a:prstGeom>
          <a:solidFill>
            <a:srgbClr val="FFF9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11" name="Icon Question Mark"/>
          <p:cNvSpPr txBox="1"/>
          <p:nvPr/>
        </p:nvSpPr>
        <p:spPr>
          <a:xfrm>
            <a:off x="8054943" y="775485"/>
            <a:ext cx="252134" cy="398477"/>
          </a:xfrm>
          <a:prstGeom prst="rect">
            <a:avLst/>
          </a:prstGeom>
          <a:noFill/>
        </p:spPr>
        <p:txBody>
          <a:bodyPr wrap="none" lIns="0" tIns="0" rIns="0" bIns="0" anchor="ctr" anchorCtr="1">
            <a:normAutofit/>
          </a:bodyPr>
          <a:lstStyle/>
          <a:p>
            <a:pPr algn="ctr"/>
            <a:r>
              <a:rPr lang="en-US" sz="1800" b="1">
                <a:solidFill>
                  <a:srgbClr val="3B1041"/>
                </a:solidFill>
                <a:latin typeface="Segoe UI" pitchFamily="34" charset="0"/>
                <a:cs typeface="Segoe UI" pitchFamily="34" charset="0"/>
              </a:rPr>
              <a:t>?</a:t>
            </a:r>
            <a:endParaRPr lang="en-US" sz="1800" b="1"/>
          </a:p>
        </p:txBody>
      </p:sp>
      <p:grpSp>
        <p:nvGrpSpPr>
          <p:cNvPr id="8" name="Group 7">
            <a:extLst>
              <a:ext uri="{FF2B5EF4-FFF2-40B4-BE49-F238E27FC236}">
                <a16:creationId xmlns:a16="http://schemas.microsoft.com/office/drawing/2014/main" id="{1722D180-2D5E-7D8C-B4A2-59B15C0453BA}"/>
              </a:ext>
            </a:extLst>
          </p:cNvPr>
          <p:cNvGrpSpPr/>
          <p:nvPr/>
        </p:nvGrpSpPr>
        <p:grpSpPr>
          <a:xfrm>
            <a:off x="7762717" y="2189487"/>
            <a:ext cx="4227030" cy="2010821"/>
            <a:chOff x="7762717" y="4071694"/>
            <a:chExt cx="4227030" cy="2010821"/>
          </a:xfrm>
        </p:grpSpPr>
        <p:sp>
          <p:nvSpPr>
            <p:cNvPr id="12" name="Rectangle: Rounded Corners 11">
              <a:extLst>
                <a:ext uri="{FF2B5EF4-FFF2-40B4-BE49-F238E27FC236}">
                  <a16:creationId xmlns:a16="http://schemas.microsoft.com/office/drawing/2014/main" id="{D0A30958-8A91-8F1F-EAED-DFB3605D650E}"/>
                </a:ext>
                <a:ext uri="{C183D7F6-B498-43B3-948B-1728B52AA6E4}">
                  <ns6:decorative xmlns:ns6="http://schemas.microsoft.com/office/drawing/2017/decorative" val="1"/>
                </a:ext>
              </a:extLst>
            </p:cNvPr>
            <p:cNvSpPr/>
            <p:nvPr/>
          </p:nvSpPr>
          <p:spPr bwMode="auto">
            <a:xfrm>
              <a:off x="7762717" y="4194834"/>
              <a:ext cx="4227030" cy="1887681"/>
            </a:xfrm>
            <a:prstGeom prst="roundRect">
              <a:avLst>
                <a:gd name="adj" fmla="val 1683"/>
              </a:avLst>
            </a:prstGeom>
            <a:solidFill>
              <a:srgbClr val="FFF9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B553FF"/>
                </a:solidFill>
                <a:effectLst/>
                <a:uLnTx/>
                <a:uFillTx/>
                <a:latin typeface="Segoe Sans Display Semibold" pitchFamily="2" charset="0"/>
                <a:ea typeface="+mn-ea"/>
                <a:cs typeface="Segoe Sans Display Semibold" pitchFamily="2" charset="0"/>
              </a:endParaRPr>
            </a:p>
          </p:txBody>
        </p:sp>
        <p:grpSp>
          <p:nvGrpSpPr>
            <p:cNvPr id="14" name="Group 13">
              <a:extLst>
                <a:ext uri="{FF2B5EF4-FFF2-40B4-BE49-F238E27FC236}">
                  <a16:creationId xmlns:a16="http://schemas.microsoft.com/office/drawing/2014/main" id="{FF30221B-5C85-22FC-F18F-7F0E26EEB0E2}"/>
                </a:ext>
              </a:extLst>
            </p:cNvPr>
            <p:cNvGrpSpPr/>
            <p:nvPr/>
          </p:nvGrpSpPr>
          <p:grpSpPr>
            <a:xfrm>
              <a:off x="9064660" y="4071694"/>
              <a:ext cx="1534355" cy="339147"/>
              <a:chOff x="3261739" y="2198151"/>
              <a:chExt cx="1534355" cy="276999"/>
            </a:xfrm>
          </p:grpSpPr>
          <p:sp>
            <p:nvSpPr>
              <p:cNvPr id="15" name="Rectangle: Rounded Corners 14">
                <a:extLst>
                  <a:ext uri="{FF2B5EF4-FFF2-40B4-BE49-F238E27FC236}">
                    <a16:creationId xmlns:a16="http://schemas.microsoft.com/office/drawing/2014/main" id="{0B857C90-B398-E232-66D0-F3E7E6CB19FB}"/>
                  </a:ext>
                  <a:ext uri="{C183D7F6-B498-43B3-948B-1728B52AA6E4}">
                    <ns7:decorative xmlns:ns7="http://schemas.microsoft.com/office/drawing/2017/decorative" val="1"/>
                  </a:ext>
                </a:extLst>
              </p:cNvPr>
              <p:cNvSpPr/>
              <p:nvPr/>
            </p:nvSpPr>
            <p:spPr bwMode="auto">
              <a:xfrm>
                <a:off x="3261739" y="2213019"/>
                <a:ext cx="1534355" cy="244283"/>
              </a:xfrm>
              <a:prstGeom prst="roundRect">
                <a:avLst>
                  <a:gd name="adj" fmla="val 50000"/>
                </a:avLst>
              </a:prstGeom>
              <a:solidFill>
                <a:srgbClr val="F3E5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endParaRPr>
              </a:p>
            </p:txBody>
          </p:sp>
          <p:sp>
            <p:nvSpPr>
              <p:cNvPr id="16" name="TextBox 15">
                <a:extLst>
                  <a:ext uri="{FF2B5EF4-FFF2-40B4-BE49-F238E27FC236}">
                    <a16:creationId xmlns:a16="http://schemas.microsoft.com/office/drawing/2014/main" id="{7130A025-6B78-DCFA-A21F-4C83E42E79DB}"/>
                  </a:ext>
                </a:extLst>
              </p:cNvPr>
              <p:cNvSpPr txBox="1"/>
              <p:nvPr/>
            </p:nvSpPr>
            <p:spPr>
              <a:xfrm>
                <a:off x="3594912" y="2198151"/>
                <a:ext cx="864339"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Workflow</a:t>
                </a:r>
              </a:p>
            </p:txBody>
          </p:sp>
        </p:grpSp>
        <p:sp>
          <p:nvSpPr>
            <p:cNvPr id="57" name="TextBox 56">
              <a:extLst>
                <a:ext uri="{FF2B5EF4-FFF2-40B4-BE49-F238E27FC236}">
                  <a16:creationId xmlns:a16="http://schemas.microsoft.com/office/drawing/2014/main" id="{D4B4634D-9BFA-FCEC-CFE2-4FD4315DDD1A}"/>
                </a:ext>
              </a:extLst>
            </p:cNvPr>
            <p:cNvSpPr txBox="1"/>
            <p:nvPr/>
          </p:nvSpPr>
          <p:spPr>
            <a:xfrm>
              <a:off x="8001952" y="4410841"/>
              <a:ext cx="3756431" cy="1074461"/>
            </a:xfrm>
            <a:prstGeom prst="rect">
              <a:avLst/>
            </a:prstGeom>
            <a:noFill/>
          </p:spPr>
          <p:txBody>
            <a:bodyPr wrap="square" rtlCol="0">
              <a:spAutoFit/>
            </a:bodyPr>
            <a:lstStyle/>
            <a:p>
              <a:pPr marL="228600" indent="-228600">
                <a:lnSpc>
                  <a:spcPct val="150000"/>
                </a:lnSpc>
                <a:buFont typeface="+mj-lt"/>
                <a:buAutoNum type="arabicPeriod"/>
                <a:defRPr/>
              </a:pPr>
              <a:r>
                <a:rPr lang="en-US" sz="1100" b="1">
                  <a:solidFill>
                    <a:prstClr val="black"/>
                  </a:solidFill>
                  <a:latin typeface="Segoe Sans Display" pitchFamily="2" charset="0"/>
                  <a:cs typeface="Segoe Sans Display" pitchFamily="2" charset="0"/>
                </a:rPr>
                <a:t>Work IQ</a:t>
              </a:r>
              <a:r>
                <a:rPr lang="en-US" sz="1100">
                  <a:solidFill>
                    <a:prstClr val="black"/>
                  </a:solidFill>
                  <a:latin typeface="Segoe Sans Display" pitchFamily="2" charset="0"/>
                  <a:cs typeface="Segoe Sans Display" pitchFamily="2" charset="0"/>
                </a:rPr>
                <a:t> → Gather calendar, emails, chats, documents</a:t>
              </a:r>
              <a:endParaRPr kumimoji="0" lang="en-US" sz="1100" b="1"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a:p>
              <a:pPr marL="228600" indent="-228600">
                <a:lnSpc>
                  <a:spcPct val="150000"/>
                </a:lnSpc>
                <a:buFont typeface="+mj-lt"/>
                <a:buAutoNum type="arabicPeriod"/>
                <a:defRPr/>
              </a:pPr>
              <a:r>
                <a:rPr lang="en-US" sz="1100" b="1">
                  <a:solidFill>
                    <a:prstClr val="black"/>
                  </a:solidFill>
                  <a:latin typeface="Segoe Sans Display" pitchFamily="2" charset="0"/>
                  <a:cs typeface="Segoe Sans Display" pitchFamily="2" charset="0"/>
                </a:rPr>
                <a:t>Analyze</a:t>
              </a:r>
              <a:r>
                <a:rPr lang="en-US" sz="1100">
                  <a:solidFill>
                    <a:prstClr val="black"/>
                  </a:solidFill>
                  <a:latin typeface="Segoe Sans Display" pitchFamily="2" charset="0"/>
                  <a:cs typeface="Segoe Sans Display" pitchFamily="2" charset="0"/>
                </a:rPr>
                <a:t> → Surface urgent items, blockers, quiet signals</a:t>
              </a:r>
              <a:endParaRPr kumimoji="0" lang="en-US" sz="1100" b="1"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a:p>
              <a:pPr marL="228600" indent="-228600">
                <a:lnSpc>
                  <a:spcPct val="150000"/>
                </a:lnSpc>
                <a:buFont typeface="+mj-lt"/>
                <a:buAutoNum type="arabicPeriod"/>
                <a:defRPr/>
              </a:pPr>
              <a:r>
                <a:rPr lang="en-US" sz="1100" b="1">
                  <a:solidFill>
                    <a:prstClr val="black"/>
                  </a:solidFill>
                  <a:latin typeface="Segoe Sans Display" pitchFamily="2" charset="0"/>
                  <a:cs typeface="Segoe Sans Display" pitchFamily="2" charset="0"/>
                </a:rPr>
                <a:t>Build</a:t>
              </a:r>
              <a:r>
                <a:rPr lang="en-US" sz="1100">
                  <a:solidFill>
                    <a:prstClr val="black"/>
                  </a:solidFill>
                  <a:latin typeface="Segoe Sans Display" pitchFamily="2" charset="0"/>
                  <a:cs typeface="Segoe Sans Display" pitchFamily="2" charset="0"/>
                </a:rPr>
                <a:t> → Interactive HTML command center</a:t>
              </a:r>
              <a:endParaRPr kumimoji="0" lang="en-US" sz="1100" b="1"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a:p>
              <a:pPr marL="228600" indent="-228600">
                <a:lnSpc>
                  <a:spcPct val="150000"/>
                </a:lnSpc>
                <a:buFont typeface="+mj-lt"/>
                <a:buAutoNum type="arabicPeriod"/>
                <a:defRPr/>
              </a:pPr>
              <a:r>
                <a:rPr lang="en-US" sz="1100" b="1">
                  <a:solidFill>
                    <a:prstClr val="black"/>
                  </a:solidFill>
                  <a:latin typeface="Segoe Sans Display" pitchFamily="2" charset="0"/>
                  <a:cs typeface="Segoe Sans Display" pitchFamily="2" charset="0"/>
                </a:rPr>
                <a:t>Schedule</a:t>
              </a:r>
              <a:r>
                <a:rPr lang="en-US" sz="1100">
                  <a:solidFill>
                    <a:prstClr val="black"/>
                  </a:solidFill>
                  <a:latin typeface="Segoe Sans Display" pitchFamily="2" charset="0"/>
                  <a:cs typeface="Segoe Sans Display" pitchFamily="2" charset="0"/>
                </a:rPr>
                <a:t> → Daily run every weekday morning</a:t>
              </a:r>
              <a:endParaRPr kumimoji="0" lang="en-US" sz="1100" b="1"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p:txBody>
        </p:sp>
      </p:grpSp>
      <p:sp>
        <p:nvSpPr>
          <p:cNvPr id="3" name="Text 25">
            <a:extLst>
              <a:ext uri="{FF2B5EF4-FFF2-40B4-BE49-F238E27FC236}">
                <a16:creationId xmlns:a16="http://schemas.microsoft.com/office/drawing/2014/main" id="{41B60886-5E17-E589-2FF8-1DDB98962F30}"/>
              </a:ext>
            </a:extLst>
          </p:cNvPr>
          <p:cNvSpPr/>
          <p:nvPr/>
        </p:nvSpPr>
        <p:spPr>
          <a:xfrm>
            <a:off x="632004" y="2684018"/>
            <a:ext cx="6734710" cy="3632476"/>
          </a:xfrm>
          <a:prstGeom prst="rect">
            <a:avLst/>
          </a:prstGeom>
          <a:noFill/>
          <a:ln/>
        </p:spPr>
        <p:txBody>
          <a:bodyPr wrap="square" lIns="0" tIns="0" rIns="0" bIns="0"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Build an interactive HTML Executive Command Center that shows what requires my attention today and this week.</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9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Use my calendar, recent emails, Teams conversations, meeting transcripts, and priority documents from [Priority Folder]. Focus on decisions, commitments, risks, and workstreams where my involvement could change the outcome.</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9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At the top, show:</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One or two urgent items requiring action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Today’s most important meeting or priority</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My busiest day this week</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Remaining working days this week</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9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Organize the command center into three views: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Meetings: Key meetings, preparation needed, conflicts, and follow-ups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Priorities: Active commitments, approaching deadlines, blockers, and decisions waiting on me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Org pulse: Workstreams receiving significant attention, areas with limited recent activity, and important commitments that may have gone quiet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9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For each recommended action, label it: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Lean in; OR, Delegate; OR, Re-engage; OR, Protect time</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9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Explain the signal behind the recommendation and give me one clear next action. Keep recommendations focused on workstreams, decisions, and commitments rather than evaluating individual people. Make the dashboard executive-ready and easy to scan, with expandable sections, traffic-light indicators, and links to the supporting emails, meetings, chats, and files. The most important content should answer: What needs my attention, and what should I do differently today?</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9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Save this as a skill named [Executive Command Center] and schedule it to run every weekday at [time], using the latest available context.</a:t>
            </a:r>
          </a:p>
        </p:txBody>
      </p:sp>
      <p:grpSp>
        <p:nvGrpSpPr>
          <p:cNvPr id="17" name="Group 16">
            <a:extLst>
              <a:ext uri="{FF2B5EF4-FFF2-40B4-BE49-F238E27FC236}">
                <a16:creationId xmlns:a16="http://schemas.microsoft.com/office/drawing/2014/main" id="{317BDD88-DD13-C157-9D0C-376C7050CA18}"/>
              </a:ext>
            </a:extLst>
          </p:cNvPr>
          <p:cNvGrpSpPr/>
          <p:nvPr/>
        </p:nvGrpSpPr>
        <p:grpSpPr>
          <a:xfrm>
            <a:off x="7756139" y="4421568"/>
            <a:ext cx="1534355" cy="276999"/>
            <a:chOff x="3261739" y="2198151"/>
            <a:chExt cx="1534355" cy="276999"/>
          </a:xfrm>
        </p:grpSpPr>
        <p:sp>
          <p:nvSpPr>
            <p:cNvPr id="18" name="Rectangle: Rounded Corners 17">
              <a:extLst>
                <a:ext uri="{FF2B5EF4-FFF2-40B4-BE49-F238E27FC236}">
                  <a16:creationId xmlns:a16="http://schemas.microsoft.com/office/drawing/2014/main" id="{3E986E19-9FEA-1F60-BCDA-008D13564D09}"/>
                </a:ext>
                <a:ext uri="{C183D7F6-B498-43B3-948B-1728B52AA6E4}">
                  <ns8:decorative xmlns:ns8="http://schemas.microsoft.com/office/drawing/2017/decorative" val="1"/>
                </a:ext>
              </a:extLst>
            </p:cNvPr>
            <p:cNvSpPr/>
            <p:nvPr/>
          </p:nvSpPr>
          <p:spPr bwMode="auto">
            <a:xfrm>
              <a:off x="3261739" y="2213019"/>
              <a:ext cx="1534355" cy="244283"/>
            </a:xfrm>
            <a:prstGeom prst="roundRect">
              <a:avLst>
                <a:gd name="adj" fmla="val 50000"/>
              </a:avLst>
            </a:prstGeom>
            <a:solidFill>
              <a:srgbClr val="F3E5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endParaRPr>
            </a:p>
          </p:txBody>
        </p:sp>
        <p:sp>
          <p:nvSpPr>
            <p:cNvPr id="19" name="TextBox 18">
              <a:extLst>
                <a:ext uri="{FF2B5EF4-FFF2-40B4-BE49-F238E27FC236}">
                  <a16:creationId xmlns:a16="http://schemas.microsoft.com/office/drawing/2014/main" id="{66387F56-2C11-A4AD-4E15-4442F2454D48}"/>
                </a:ext>
              </a:extLst>
            </p:cNvPr>
            <p:cNvSpPr txBox="1"/>
            <p:nvPr/>
          </p:nvSpPr>
          <p:spPr>
            <a:xfrm>
              <a:off x="3472286" y="2198151"/>
              <a:ext cx="1109599"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Data Sources</a:t>
              </a:r>
            </a:p>
          </p:txBody>
        </p:sp>
      </p:grpSp>
      <p:grpSp>
        <p:nvGrpSpPr>
          <p:cNvPr id="13" name="Group 12">
            <a:extLst>
              <a:ext uri="{FF2B5EF4-FFF2-40B4-BE49-F238E27FC236}">
                <a16:creationId xmlns:a16="http://schemas.microsoft.com/office/drawing/2014/main" id="{6DC82203-C40E-B229-3216-8513934D28BD}"/>
              </a:ext>
            </a:extLst>
          </p:cNvPr>
          <p:cNvGrpSpPr/>
          <p:nvPr/>
        </p:nvGrpSpPr>
        <p:grpSpPr>
          <a:xfrm>
            <a:off x="9121309" y="4421568"/>
            <a:ext cx="1200156" cy="488252"/>
            <a:chOff x="10558227" y="4421568"/>
            <a:chExt cx="1200156" cy="488252"/>
          </a:xfrm>
        </p:grpSpPr>
        <p:pic>
          <p:nvPicPr>
            <p:cNvPr id="7" name="Picture 6" descr="Microsoft 365 data icon">
              <a:extLst>
                <a:ext uri="{FF2B5EF4-FFF2-40B4-BE49-F238E27FC236}">
                  <a16:creationId xmlns:a16="http://schemas.microsoft.com/office/drawing/2014/main" id="{8B0F26AD-79AC-E75B-C2DA-E6BBA636792A}"/>
                </a:ext>
              </a:extLst>
            </p:cNvPr>
            <p:cNvPicPr>
              <a:picLocks noChangeAspect="1"/>
            </p:cNvPicPr>
            <p:nvPr/>
          </p:nvPicPr>
          <p:blipFill>
            <a:blip r:embed="rId3"/>
            <a:stretch>
              <a:fillRect/>
            </a:stretch>
          </p:blipFill>
          <p:spPr>
            <a:xfrm>
              <a:off x="11014657" y="4421568"/>
              <a:ext cx="287296" cy="287296"/>
            </a:xfrm>
            <a:prstGeom prst="rect">
              <a:avLst/>
            </a:prstGeom>
          </p:spPr>
        </p:pic>
        <p:sp>
          <p:nvSpPr>
            <p:cNvPr id="9" name="TextBox 8">
              <a:extLst>
                <a:ext uri="{FF2B5EF4-FFF2-40B4-BE49-F238E27FC236}">
                  <a16:creationId xmlns:a16="http://schemas.microsoft.com/office/drawing/2014/main" id="{FE07ADF1-F66F-E626-BAE0-23ADC3E6D92F}"/>
                </a:ext>
              </a:extLst>
            </p:cNvPr>
            <p:cNvSpPr txBox="1"/>
            <p:nvPr/>
          </p:nvSpPr>
          <p:spPr>
            <a:xfrm>
              <a:off x="10558227" y="4678988"/>
              <a:ext cx="1200156"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rPr>
                <a:t>M365 Data</a:t>
              </a:r>
              <a:endParaRPr kumimoji="0" lang="en-IN" sz="900" b="0"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p:txBody>
        </p:sp>
      </p:grpSp>
    </p:spTree>
    <p:extLst>
      <p:ext uri="{BB962C8B-B14F-4D97-AF65-F5344CB8AC3E}">
        <p14:creationId xmlns:p14="http://schemas.microsoft.com/office/powerpoint/2010/main" val="1649947486"/>
      </p:ext>
    </p:extLst>
  </p:cSld>
  <p:clrMapOvr>
    <a:overrideClrMapping bg1="lt1" tx1="dk1" bg2="lt2" tx2="dk2" accent1="accent1" accent2="accent2" accent3="accent3" accent4="accent4" accent5="accent5" accent6="accent6" hlink="hlink" folHlink="folHlink"/>
  </p:clrMapOvr>
</p:sld>
</file>

<file path=ppt/slides/slide32.xml><?xml version="1.0" encoding="utf-8"?>
<p:sld xmlns:a="http://schemas.openxmlformats.org/drawingml/2006/main" xmlns:p="http://schemas.openxmlformats.org/presentationml/2006/main" xmlns:r="http://schemas.openxmlformats.org/officeDocument/2006/relationships">
  <p:cSld>
    <p:bg>
      <p:bgPr>
        <a:blipFill dpi="0" rotWithShape="1">
          <a:blip r:embed="rId5">
            <a:alphaModFix amt="70000"/>
            <a:lum/>
          </a:blip>
          <a:srcRect/>
          <a:stretch>
            <a:fillRect l="-2000" r="-2000"/>
          </a:stretch>
        </a:blipFill>
        <a:effectLst/>
      </p:bgPr>
    </p:bg>
    <p:spTree>
      <p:nvGrpSpPr>
        <p:cNvPr id="1" name="">
          <a:extLst>
            <a:ext uri="{FF2B5EF4-FFF2-40B4-BE49-F238E27FC236}">
              <a16:creationId xmlns:a16="http://schemas.microsoft.com/office/drawing/2014/main" id="{CC810B06-9C60-9BCB-DF49-73D043B037F2}"/>
            </a:ext>
          </a:extLst>
        </p:cNvPr>
        <p:cNvGrpSpPr/>
        <p:nvPr/>
      </p:nvGrpSpPr>
      <p:grpSpPr>
        <a:xfrm>
          <a:off x="0" y="0"/>
          <a:ext cx="0" cy="0"/>
          <a:chOff x="0" y="0"/>
          <a:chExt cx="0" cy="0"/>
        </a:xfrm>
      </p:grpSpPr>
      <p:sp>
        <p:nvSpPr>
          <p:cNvPr id="27" name="Title 3">
            <a:extLst>
              <a:ext uri="{FF2B5EF4-FFF2-40B4-BE49-F238E27FC236}">
                <a16:creationId xmlns:a16="http://schemas.microsoft.com/office/drawing/2014/main" id="{3EF2C483-DB46-D975-7E0E-09A75642D76B}"/>
              </a:ext>
            </a:extLst>
          </p:cNvPr>
          <p:cNvSpPr txBox="1">
            <a:spLocks/>
          </p:cNvSpPr>
          <p:nvPr/>
        </p:nvSpPr>
        <p:spPr>
          <a:xfrm>
            <a:off x="1925908" y="293473"/>
            <a:ext cx="7070725" cy="430887"/>
          </a:xfrm>
          <a:prstGeom prst="rect">
            <a:avLst/>
          </a:prstGeom>
        </p:spPr>
        <p:txBody>
          <a:bodyPr vert="horz" wrap="square" lIns="0" tIns="0" rIns="0" bIns="0" rtlCol="0" anchor="t">
            <a:spAutoFit/>
          </a:bodyPr>
          <a:lstStyle>
            <a:lvl1pPr algn="l" defTabSz="769520" rtl="0" eaLnBrk="1" latinLnBrk="0" hangingPunct="1">
              <a:lnSpc>
                <a:spcPct val="100000"/>
              </a:lnSpc>
              <a:spcBef>
                <a:spcPct val="0"/>
              </a:spcBef>
              <a:buNone/>
              <a:defRPr lang="en-US" sz="2000" b="0" kern="1200" cap="none" spc="0" baseline="0">
                <a:ln w="3175">
                  <a:noFill/>
                </a:ln>
                <a:solidFill>
                  <a:schemeClr val="tx1"/>
                </a:solidFill>
                <a:effectLst/>
                <a:latin typeface="+mj-lt"/>
                <a:ea typeface="+mn-ea"/>
                <a:cs typeface="Segoe Sans Display" pitchFamily="2" charset="0"/>
              </a:defRPr>
            </a:lvl1pPr>
          </a:lstStyle>
          <a:p>
            <a:pPr marL="0" marR="0" lvl="0" indent="0" algn="l" defTabSz="769520" rtl="0" eaLnBrk="1" fontAlgn="auto" latinLnBrk="0" hangingPunct="1">
              <a:lnSpc>
                <a:spcPct val="100000"/>
              </a:lnSpc>
              <a:spcBef>
                <a:spcPct val="0"/>
              </a:spcBef>
              <a:spcAft>
                <a:spcPts val="0"/>
              </a:spcAft>
              <a:buClrTx/>
              <a:buSzTx/>
              <a:buFontTx/>
              <a:buNone/>
              <a:tabLst/>
              <a:defRPr/>
            </a:pPr>
            <a:r>
              <a:rPr kumimoji="0" lang="en-US" sz="2800" b="0" i="0" u="none" strike="noStrike" kern="1200" cap="none" spc="0" normalizeH="0" baseline="0" noProof="0">
                <a:ln w="3175">
                  <a:noFill/>
                </a:ln>
                <a:solidFill>
                  <a:srgbClr val="323139"/>
                </a:solidFill>
                <a:effectLst/>
                <a:uLnTx/>
                <a:uFillTx/>
                <a:latin typeface="Segoe Sans Display" pitchFamily="2" charset="0"/>
                <a:ea typeface="+mn-ea"/>
                <a:cs typeface="Segoe Sans Display" pitchFamily="2" charset="0"/>
              </a:rPr>
              <a:t>Hands-on · Executive Command Center</a:t>
            </a:r>
          </a:p>
        </p:txBody>
      </p:sp>
      <p:sp>
        <p:nvSpPr>
          <p:cNvPr id="28" name="NavPill_SitesPages">
            <a:extLst>
              <a:ext uri="{FF2B5EF4-FFF2-40B4-BE49-F238E27FC236}">
                <a16:creationId xmlns:a16="http://schemas.microsoft.com/office/drawing/2014/main" id="{57BB7AF5-33B6-DA4A-ABA7-2573FB8050B2}"/>
              </a:ext>
            </a:extLst>
          </p:cNvPr>
          <p:cNvSpPr/>
          <p:nvPr/>
        </p:nvSpPr>
        <p:spPr>
          <a:xfrm>
            <a:off x="350837" y="342900"/>
            <a:ext cx="1419239" cy="337762"/>
          </a:xfrm>
          <a:prstGeom prst="roundRect">
            <a:avLst>
              <a:gd name="adj" fmla="val 50000"/>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207091" rtl="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Ex 01</a:t>
            </a:r>
          </a:p>
        </p:txBody>
      </p:sp>
      <p:sp>
        <p:nvSpPr>
          <p:cNvPr id="30" name="TextBox 29">
            <a:extLst>
              <a:ext uri="{FF2B5EF4-FFF2-40B4-BE49-F238E27FC236}">
                <a16:creationId xmlns:a16="http://schemas.microsoft.com/office/drawing/2014/main" id="{4519738B-A618-91E3-CAC4-D99F7E54632B}"/>
              </a:ext>
              <a:ext uri="{C183D7F6-B498-43B3-948B-1728B52AA6E4}">
                <ns0:decorative xmlns:ns0="http://schemas.microsoft.com/office/drawing/2017/decorative" val="1"/>
              </a:ext>
            </a:extLst>
          </p:cNvPr>
          <p:cNvSpPr txBox="1"/>
          <p:nvPr/>
        </p:nvSpPr>
        <p:spPr>
          <a:xfrm>
            <a:off x="8867052" y="119383"/>
            <a:ext cx="3092209" cy="338554"/>
          </a:xfrm>
          <a:prstGeom prst="roundRect">
            <a:avLst>
              <a:gd name="adj" fmla="val 19537"/>
            </a:avLst>
          </a:prstGeom>
          <a:solidFill>
            <a:srgbClr val="CB85FF">
              <a:lumMod val="20000"/>
              <a:lumOff val="80000"/>
            </a:srgbClr>
          </a:solidFill>
        </p:spPr>
        <p:txBody>
          <a:bodyPr wrap="square" lIns="1188720" tIns="45720" rIns="0" bIns="45720" anchor="ctr">
            <a:noAutofit/>
          </a:bodyPr>
          <a:lstStyle>
            <a:defPPr>
              <a:defRPr lang="en-US"/>
            </a:defPPr>
            <a:lvl1pPr>
              <a:spcAft>
                <a:spcPts val="776"/>
              </a:spcAft>
              <a:defRPr sz="1200">
                <a:latin typeface="+mj-lt"/>
                <a:cs typeface="Segoe Sans Display Semibold" pitchFamily="2" charset="0"/>
              </a:defRPr>
            </a:lvl1pPr>
          </a:lstStyle>
          <a:p>
            <a:pPr marL="0" marR="0" lvl="0" indent="0" algn="l" defTabSz="914294" rtl="0" eaLnBrk="1" fontAlgn="auto" latinLnBrk="0" hangingPunct="1">
              <a:lnSpc>
                <a:spcPct val="100000"/>
              </a:lnSpc>
              <a:spcBef>
                <a:spcPts val="0"/>
              </a:spcBef>
              <a:spcAft>
                <a:spcPts val="776"/>
              </a:spcAft>
              <a:buClrTx/>
              <a:buSzTx/>
              <a:buFontTx/>
              <a:buNone/>
              <a:tabLst/>
              <a:defRPr/>
            </a:pPr>
            <a:endParaRPr kumimoji="0" lang="en-US" sz="1200" b="0" i="0" u="none" strike="noStrike" kern="0" cap="none" spc="0" normalizeH="0" baseline="0" noProof="0">
              <a:ln>
                <a:noFill/>
              </a:ln>
              <a:solidFill>
                <a:srgbClr val="323139"/>
              </a:solidFill>
              <a:effectLst/>
              <a:uLnTx/>
              <a:uFillTx/>
              <a:latin typeface="Segoe Sans Display"/>
              <a:ea typeface="+mn-ea"/>
              <a:cs typeface="Segoe Sans Display Semibold" pitchFamily="2" charset="0"/>
            </a:endParaRPr>
          </a:p>
        </p:txBody>
      </p:sp>
      <p:sp>
        <p:nvSpPr>
          <p:cNvPr id="31" name="TextBox 30">
            <a:extLst>
              <a:ext uri="{FF2B5EF4-FFF2-40B4-BE49-F238E27FC236}">
                <a16:creationId xmlns:a16="http://schemas.microsoft.com/office/drawing/2014/main" id="{4B310F6E-1BD3-CF01-32AD-647BCF12AC0F}"/>
              </a:ext>
            </a:extLst>
          </p:cNvPr>
          <p:cNvSpPr txBox="1"/>
          <p:nvPr/>
        </p:nvSpPr>
        <p:spPr>
          <a:xfrm>
            <a:off x="8942688" y="173878"/>
            <a:ext cx="1280160" cy="233352"/>
          </a:xfrm>
          <a:prstGeom prst="roundRect">
            <a:avLst>
              <a:gd name="adj" fmla="val 16151"/>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5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defRPr lang="en-US"/>
            </a:defPPr>
            <a:lvl1pPr algn="ctr" defTabSz="932765" fontAlgn="base">
              <a:spcBef>
                <a:spcPct val="0"/>
              </a:spcBef>
              <a:spcAft>
                <a:spcPct val="0"/>
              </a:spcAft>
              <a:defRPr sz="1600">
                <a:solidFill>
                  <a:schemeClr val="accent1"/>
                </a:solidFill>
                <a:latin typeface="+mj-lt"/>
                <a:cs typeface="Segoe Sans Display Semibold" pitchFamily="2" charset="0"/>
              </a:defRPr>
            </a:lvl1pPr>
          </a:lstStyle>
          <a:p>
            <a:pPr marL="0" marR="0" lvl="0" indent="0" algn="l" defTabSz="932765" rtl="0" eaLnBrk="1" fontAlgn="base" latinLnBrk="0" hangingPunct="1">
              <a:lnSpc>
                <a:spcPct val="100000"/>
              </a:lnSpc>
              <a:spcBef>
                <a:spcPct val="0"/>
              </a:spcBef>
              <a:spcAft>
                <a:spcPct val="0"/>
              </a:spcAft>
              <a:buClrTx/>
              <a:buSzTx/>
              <a:buFontTx/>
              <a:buNone/>
              <a:tabLst/>
              <a:defRPr/>
            </a:pPr>
            <a:r>
              <a:rPr kumimoji="0" lang="en-IN" sz="1050" b="0" i="0" u="none" strike="noStrike" kern="0" cap="none" spc="0" normalizeH="0" baseline="0" noProof="0">
                <a:ln>
                  <a:noFill/>
                </a:ln>
                <a:solidFill>
                  <a:srgbClr val="323139"/>
                </a:solidFill>
                <a:effectLst/>
                <a:uLnTx/>
                <a:uFillTx/>
                <a:latin typeface="Segoe Sans Display"/>
                <a:ea typeface="+mn-ea"/>
                <a:cs typeface="Segoe Sans Display Semibold" pitchFamily="2" charset="0"/>
              </a:rPr>
              <a:t>Time</a:t>
            </a:r>
          </a:p>
        </p:txBody>
      </p:sp>
      <p:sp>
        <p:nvSpPr>
          <p:cNvPr id="50" name="TextBox 49">
            <a:extLst>
              <a:ext uri="{FF2B5EF4-FFF2-40B4-BE49-F238E27FC236}">
                <a16:creationId xmlns:a16="http://schemas.microsoft.com/office/drawing/2014/main" id="{0CE10D15-83B7-7915-49A3-0BD3A21E9731}"/>
              </a:ext>
            </a:extLst>
          </p:cNvPr>
          <p:cNvSpPr txBox="1"/>
          <p:nvPr/>
        </p:nvSpPr>
        <p:spPr>
          <a:xfrm>
            <a:off x="10298483" y="173490"/>
            <a:ext cx="1668779" cy="253916"/>
          </a:xfrm>
          <a:prstGeom prst="rect">
            <a:avLst/>
          </a:prstGeom>
          <a:noFill/>
        </p:spPr>
        <p:txBody>
          <a:bodyPr wrap="square">
            <a:spAutoFit/>
          </a:bodyPr>
          <a:lstStyle/>
          <a:p>
            <a:pPr marL="0" marR="0" lvl="0" indent="0" algn="l" defTabSz="914294"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323139"/>
                </a:solidFill>
                <a:effectLst/>
                <a:uLnTx/>
                <a:uFillTx/>
                <a:latin typeface="Segoe Sans Display"/>
                <a:ea typeface="+mn-ea"/>
                <a:cs typeface="Segoe Sans Display"/>
              </a:rPr>
              <a:t>25 min</a:t>
            </a:r>
          </a:p>
        </p:txBody>
      </p:sp>
      <p:sp>
        <p:nvSpPr>
          <p:cNvPr id="51" name="Rounded Rectangle 50">
            <a:extLst>
              <a:ext uri="{C183D7F6-B498-43B3-948B-1728B52AA6E4}">
                <ns1:decorative xmlns:ns1="http://schemas.microsoft.com/office/drawing/2017/decorative" val="1"/>
              </a:ext>
            </a:extLst>
          </p:cNvPr>
          <p:cNvSpPr/>
          <p:nvPr/>
        </p:nvSpPr>
        <p:spPr>
          <a:xfrm>
            <a:off x="420624" y="1188720"/>
            <a:ext cx="7168896" cy="3611880"/>
          </a:xfrm>
          <a:prstGeom prst="roundRect">
            <a:avLst>
              <a:gd name="adj" fmla="val 5000"/>
            </a:avLst>
          </a:prstGeom>
          <a:solidFill>
            <a:srgbClr val="FFF9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ounded Rectangle 51">
            <a:extLst>
              <a:ext uri="{C183D7F6-B498-43B3-948B-1728B52AA6E4}">
                <ns2:decorative xmlns:ns2="http://schemas.microsoft.com/office/drawing/2017/decorative" val="1"/>
              </a:ext>
            </a:extLst>
          </p:cNvPr>
          <p:cNvSpPr/>
          <p:nvPr/>
        </p:nvSpPr>
        <p:spPr>
          <a:xfrm>
            <a:off x="3236976" y="1051560"/>
            <a:ext cx="15361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3236976" y="1051560"/>
            <a:ext cx="1536192" cy="274320"/>
          </a:xfrm>
          <a:prstGeom prst="rect">
            <a:avLst/>
          </a:prstGeom>
          <a:noFill/>
        </p:spPr>
        <p:txBody>
          <a:bodyPr wrap="square" anchor="ctr" lIns="0" rIns="0" tIns="0" bIns="0">
            <a:spAutoFit/>
          </a:bodyPr>
          <a:lstStyle/>
          <a:p>
            <a:pPr algn="ctr">
              <a:spcAft>
                <a:spcPts val="400"/>
              </a:spcAft>
            </a:pPr>
            <a:r>
              <a:rPr sz="1200" b="0" i="0">
                <a:solidFill>
                  <a:srgbClr val="323139"/>
                </a:solidFill>
                <a:latin typeface="Segoe Sans Display Semibold"/>
              </a:rPr>
              <a:t>Steps</a:t>
            </a:r>
          </a:p>
        </p:txBody>
      </p:sp>
      <p:sp>
        <p:nvSpPr>
          <p:cNvPr id="54" name="TextBox 53"/>
          <p:cNvSpPr txBox="1"/>
          <p:nvPr/>
        </p:nvSpPr>
        <p:spPr>
          <a:xfrm>
            <a:off x="777240" y="1572768"/>
            <a:ext cx="6492240" cy="3154680"/>
          </a:xfrm>
          <a:prstGeom prst="rect">
            <a:avLst/>
          </a:prstGeom>
          <a:noFill/>
        </p:spPr>
        <p:txBody>
          <a:bodyPr wrap="square" anchor="t" lIns="0" rIns="0" tIns="0" bIns="0">
            <a:spAutoFit/>
          </a:bodyPr>
          <a:lstStyle/>
          <a:p>
            <a:pPr algn="l" marL="237744" indent="-237744">
              <a:lnSpc>
                <a:spcPct val="105000"/>
              </a:lnSpc>
              <a:spcAft>
                <a:spcPts val="900"/>
              </a:spcAft>
              <a:buFont typeface="+mj-lt"/>
              <a:buAutoNum type="arabicPeriod"/>
            </a:pPr>
            <a:r>
              <a:rPr sz="1500" b="0" i="0">
                <a:solidFill>
                  <a:srgbClr val="323139"/>
                </a:solidFill>
                <a:latin typeface="Segoe UI"/>
              </a:rPr>
              <a:t>Fill </a:t>
            </a:r>
            <a:r>
              <a:rPr sz="1500" b="1" i="0">
                <a:solidFill>
                  <a:srgbClr val="323139"/>
                </a:solidFill>
                <a:latin typeface="Segoe UI"/>
              </a:rPr>
              <a:t>[Priority Folder]</a:t>
            </a:r>
            <a:r>
              <a:rPr sz="1500" b="0" i="0">
                <a:solidFill>
                  <a:srgbClr val="323139"/>
                </a:solidFill>
                <a:latin typeface="Segoe UI"/>
              </a:rPr>
              <a:t> (your OneDrive folder with the Zava files) and </a:t>
            </a:r>
            <a:r>
              <a:rPr sz="1500" b="1" i="0">
                <a:solidFill>
                  <a:srgbClr val="323139"/>
                </a:solidFill>
                <a:latin typeface="Segoe UI"/>
              </a:rPr>
              <a:t>[time]</a:t>
            </a:r>
            <a:r>
              <a:rPr sz="1500" b="0" i="0">
                <a:solidFill>
                  <a:srgbClr val="323139"/>
                </a:solidFill>
                <a:latin typeface="Segoe UI"/>
              </a:rPr>
              <a:t> (e.g., 8:00 AM).</a:t>
            </a:r>
          </a:p>
          <a:p>
            <a:pPr algn="l" marL="237744" indent="-237744">
              <a:lnSpc>
                <a:spcPct val="105000"/>
              </a:lnSpc>
              <a:spcAft>
                <a:spcPts val="900"/>
              </a:spcAft>
              <a:buFont typeface="+mj-lt"/>
              <a:buAutoNum type="arabicPeriod"/>
            </a:pPr>
            <a:r>
              <a:rPr sz="1500" b="1" i="0">
                <a:solidFill>
                  <a:srgbClr val="323139"/>
                </a:solidFill>
                <a:latin typeface="Segoe UI"/>
              </a:rPr>
              <a:t>New task</a:t>
            </a:r>
            <a:r>
              <a:rPr sz="1500" b="0" i="0">
                <a:solidFill>
                  <a:srgbClr val="323139"/>
                </a:solidFill>
                <a:latin typeface="Segoe UI"/>
              </a:rPr>
              <a:t> → paste the Executive Command Center prompt.</a:t>
            </a:r>
          </a:p>
          <a:p>
            <a:pPr algn="l" marL="237744" indent="-237744">
              <a:lnSpc>
                <a:spcPct val="105000"/>
              </a:lnSpc>
              <a:spcAft>
                <a:spcPts val="900"/>
              </a:spcAft>
              <a:buFont typeface="+mj-lt"/>
              <a:buAutoNum type="arabicPeriod"/>
            </a:pPr>
            <a:r>
              <a:rPr sz="1500" b="1" i="0">
                <a:solidFill>
                  <a:srgbClr val="323139"/>
                </a:solidFill>
                <a:latin typeface="Segoe UI"/>
              </a:rPr>
              <a:t>Side panel → Output folder → Preview</a:t>
            </a:r>
            <a:r>
              <a:rPr sz="1500" b="0" i="0">
                <a:solidFill>
                  <a:srgbClr val="323139"/>
                </a:solidFill>
                <a:latin typeface="Segoe UI"/>
              </a:rPr>
              <a:t> the HTML dashboard (see the next slide).</a:t>
            </a:r>
          </a:p>
          <a:p>
            <a:pPr algn="l" marL="237744" indent="-237744">
              <a:lnSpc>
                <a:spcPct val="105000"/>
              </a:lnSpc>
              <a:spcAft>
                <a:spcPts val="900"/>
              </a:spcAft>
              <a:buFont typeface="+mj-lt"/>
              <a:buAutoNum type="arabicPeriod"/>
            </a:pPr>
            <a:r>
              <a:rPr sz="1500" b="0" i="0">
                <a:solidFill>
                  <a:srgbClr val="323139"/>
                </a:solidFill>
                <a:latin typeface="Segoe UI"/>
              </a:rPr>
              <a:t>Check the top summary, the three views, the action labels, and the links.</a:t>
            </a:r>
          </a:p>
          <a:p>
            <a:pPr algn="l" marL="237744" indent="-237744">
              <a:lnSpc>
                <a:spcPct val="105000"/>
              </a:lnSpc>
              <a:spcAft>
                <a:spcPts val="900"/>
              </a:spcAft>
              <a:buFont typeface="+mj-lt"/>
              <a:buAutoNum type="arabicPeriod"/>
            </a:pPr>
            <a:r>
              <a:rPr sz="1500" b="1" i="0">
                <a:solidFill>
                  <a:srgbClr val="323139"/>
                </a:solidFill>
                <a:latin typeface="Segoe UI"/>
              </a:rPr>
              <a:t>Approve</a:t>
            </a:r>
            <a:r>
              <a:rPr sz="1500" b="0" i="0">
                <a:solidFill>
                  <a:srgbClr val="323139"/>
                </a:solidFill>
                <a:latin typeface="Segoe UI"/>
              </a:rPr>
              <a:t> the skill save and weekday schedule — confirm in Customize and Automations.</a:t>
            </a:r>
          </a:p>
        </p:txBody>
      </p:sp>
      <p:sp>
        <p:nvSpPr>
          <p:cNvPr id="55" name="Rounded Rectangle 54">
            <a:extLst>
              <a:ext uri="{C183D7F6-B498-43B3-948B-1728B52AA6E4}">
                <ns3:decorative xmlns:ns3="http://schemas.microsoft.com/office/drawing/2017/decorative" val="1"/>
              </a:ext>
            </a:extLst>
          </p:cNvPr>
          <p:cNvSpPr/>
          <p:nvPr/>
        </p:nvSpPr>
        <p:spPr>
          <a:xfrm>
            <a:off x="420624" y="5074920"/>
            <a:ext cx="7168896" cy="1371600"/>
          </a:xfrm>
          <a:prstGeom prst="roundRect">
            <a:avLst>
              <a:gd name="adj" fmla="val 10000"/>
            </a:avLst>
          </a:prstGeom>
          <a:solidFill>
            <a:srgbClr val="FFF9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Rounded Rectangle 55">
            <a:extLst>
              <a:ext uri="{C183D7F6-B498-43B3-948B-1728B52AA6E4}">
                <ns4:decorative xmlns:ns4="http://schemas.microsoft.com/office/drawing/2017/decorative" val="1"/>
              </a:ext>
            </a:extLst>
          </p:cNvPr>
          <p:cNvSpPr/>
          <p:nvPr/>
        </p:nvSpPr>
        <p:spPr>
          <a:xfrm>
            <a:off x="3236976" y="4937760"/>
            <a:ext cx="15361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3236976" y="4937760"/>
            <a:ext cx="1536192" cy="274320"/>
          </a:xfrm>
          <a:prstGeom prst="rect">
            <a:avLst/>
          </a:prstGeom>
          <a:noFill/>
        </p:spPr>
        <p:txBody>
          <a:bodyPr wrap="square" anchor="ctr" lIns="0" rIns="0" tIns="0" bIns="0">
            <a:spAutoFit/>
          </a:bodyPr>
          <a:lstStyle/>
          <a:p>
            <a:pPr algn="ctr">
              <a:spcAft>
                <a:spcPts val="400"/>
              </a:spcAft>
            </a:pPr>
            <a:r>
              <a:rPr sz="1200" b="0" i="0">
                <a:solidFill>
                  <a:srgbClr val="323139"/>
                </a:solidFill>
                <a:latin typeface="Segoe Sans Display Semibold"/>
              </a:rPr>
              <a:t>Discuss</a:t>
            </a:r>
          </a:p>
        </p:txBody>
      </p:sp>
      <p:sp>
        <p:nvSpPr>
          <p:cNvPr id="58" name="TextBox 57"/>
          <p:cNvSpPr txBox="1"/>
          <p:nvPr/>
        </p:nvSpPr>
        <p:spPr>
          <a:xfrm>
            <a:off x="777240" y="5303520"/>
            <a:ext cx="6492240" cy="1005840"/>
          </a:xfrm>
          <a:prstGeom prst="rect">
            <a:avLst/>
          </a:prstGeom>
          <a:noFill/>
        </p:spPr>
        <p:txBody>
          <a:bodyPr wrap="square" anchor="ctr" lIns="0" rIns="0" tIns="0" bIns="0">
            <a:spAutoFit/>
          </a:bodyPr>
          <a:lstStyle/>
          <a:p>
            <a:pPr algn="l">
              <a:lnSpc>
                <a:spcPct val="105000"/>
              </a:lnSpc>
              <a:spcAft>
                <a:spcPts val="400"/>
              </a:spcAft>
            </a:pPr>
            <a:r>
              <a:rPr sz="1400" b="0" i="0">
                <a:solidFill>
                  <a:srgbClr val="323139"/>
                </a:solidFill>
                <a:latin typeface="Segoe Sans Display"/>
              </a:rPr>
              <a:t>Which recommendations would you trust? What would an </a:t>
            </a:r>
            <a:r>
              <a:rPr sz="1400" b="1" i="0">
                <a:solidFill>
                  <a:srgbClr val="323139"/>
                </a:solidFill>
                <a:latin typeface="Segoe Sans Display"/>
              </a:rPr>
              <a:t>HR-leader</a:t>
            </a:r>
            <a:r>
              <a:rPr sz="1400" b="0" i="0">
                <a:solidFill>
                  <a:srgbClr val="323139"/>
                </a:solidFill>
                <a:latin typeface="Segoe Sans Display"/>
              </a:rPr>
              <a:t> version track — open reqs, ER cases, policy deadlines?</a:t>
            </a:r>
          </a:p>
        </p:txBody>
      </p:sp>
      <p:sp>
        <p:nvSpPr>
          <p:cNvPr id="59" name="Rounded Rectangle 58">
            <a:extLst>
              <a:ext uri="{C183D7F6-B498-43B3-948B-1728B52AA6E4}">
                <ns5:decorative xmlns:ns5="http://schemas.microsoft.com/office/drawing/2017/decorative" val="1"/>
              </a:ext>
            </a:extLst>
          </p:cNvPr>
          <p:cNvSpPr/>
          <p:nvPr/>
        </p:nvSpPr>
        <p:spPr>
          <a:xfrm>
            <a:off x="7763256" y="1188720"/>
            <a:ext cx="4224528" cy="2194560"/>
          </a:xfrm>
          <a:prstGeom prst="roundRect">
            <a:avLst>
              <a:gd name="adj" fmla="val 6000"/>
            </a:avLst>
          </a:prstGeom>
          <a:solidFill>
            <a:srgbClr val="FFF9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Rounded Rectangle 59">
            <a:extLst>
              <a:ext uri="{C183D7F6-B498-43B3-948B-1728B52AA6E4}">
                <ns6:decorative xmlns:ns6="http://schemas.microsoft.com/office/drawing/2017/decorative" val="1"/>
              </a:ext>
            </a:extLst>
          </p:cNvPr>
          <p:cNvSpPr/>
          <p:nvPr/>
        </p:nvSpPr>
        <p:spPr>
          <a:xfrm>
            <a:off x="9107424" y="1051560"/>
            <a:ext cx="15361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TextBox 60"/>
          <p:cNvSpPr txBox="1"/>
          <p:nvPr/>
        </p:nvSpPr>
        <p:spPr>
          <a:xfrm>
            <a:off x="9107424" y="1051560"/>
            <a:ext cx="1536192" cy="274320"/>
          </a:xfrm>
          <a:prstGeom prst="rect">
            <a:avLst/>
          </a:prstGeom>
          <a:noFill/>
        </p:spPr>
        <p:txBody>
          <a:bodyPr wrap="square" anchor="ctr" lIns="0" rIns="0" tIns="0" bIns="0">
            <a:spAutoFit/>
          </a:bodyPr>
          <a:lstStyle/>
          <a:p>
            <a:pPr algn="ctr">
              <a:spcAft>
                <a:spcPts val="400"/>
              </a:spcAft>
            </a:pPr>
            <a:r>
              <a:rPr sz="1200" b="0" i="0">
                <a:solidFill>
                  <a:srgbClr val="323139"/>
                </a:solidFill>
                <a:latin typeface="Segoe Sans Display Semibold"/>
              </a:rPr>
              <a:t>Watch for</a:t>
            </a:r>
          </a:p>
        </p:txBody>
      </p:sp>
      <p:sp>
        <p:nvSpPr>
          <p:cNvPr id="62" name="TextBox 61"/>
          <p:cNvSpPr txBox="1"/>
          <p:nvPr/>
        </p:nvSpPr>
        <p:spPr>
          <a:xfrm>
            <a:off x="8001000" y="1572768"/>
            <a:ext cx="3794760" cy="1737360"/>
          </a:xfrm>
          <a:prstGeom prst="rect">
            <a:avLst/>
          </a:prstGeom>
          <a:noFill/>
        </p:spPr>
        <p:txBody>
          <a:bodyPr wrap="square" anchor="t" lIns="0" rIns="0" tIns="0" bIns="0">
            <a:spAutoFit/>
          </a:bodyPr>
          <a:lstStyle/>
          <a:p>
            <a:pPr algn="l" marL="182880" indent="-182880">
              <a:spcAft>
                <a:spcPts val="400"/>
              </a:spcAft>
              <a:buFont typeface="Arial"/>
              <a:buChar char="•"/>
            </a:pPr>
            <a:r>
              <a:rPr sz="1150" b="0" i="0">
                <a:solidFill>
                  <a:srgbClr val="323139"/>
                </a:solidFill>
                <a:latin typeface="Segoe UI"/>
              </a:rPr>
              <a:t>Work IQ gathering calendar, mail, chats, and files</a:t>
            </a:r>
          </a:p>
          <a:p>
            <a:pPr algn="l" marL="182880" indent="-182880">
              <a:spcAft>
                <a:spcPts val="400"/>
              </a:spcAft>
              <a:buFont typeface="Arial"/>
              <a:buChar char="•"/>
            </a:pPr>
            <a:r>
              <a:rPr sz="1150" b="0" i="0">
                <a:solidFill>
                  <a:srgbClr val="323139"/>
                </a:solidFill>
                <a:latin typeface="Segoe UI"/>
              </a:rPr>
              <a:t>Labels: Lean in · Delegate · Re-engage · Protect time</a:t>
            </a:r>
          </a:p>
          <a:p>
            <a:pPr algn="l" marL="182880" indent="-182880">
              <a:spcAft>
                <a:spcPts val="400"/>
              </a:spcAft>
              <a:buFont typeface="Arial"/>
              <a:buChar char="•"/>
            </a:pPr>
            <a:r>
              <a:rPr sz="1150" b="0" i="0">
                <a:solidFill>
                  <a:srgbClr val="323139"/>
                </a:solidFill>
                <a:latin typeface="Segoe UI"/>
              </a:rPr>
              <a:t>Focus on workstreams — not on evaluating people</a:t>
            </a:r>
          </a:p>
          <a:p>
            <a:pPr algn="l" marL="182880" indent="-182880">
              <a:spcAft>
                <a:spcPts val="400"/>
              </a:spcAft>
              <a:buFont typeface="Arial"/>
              <a:buChar char="•"/>
            </a:pPr>
            <a:r>
              <a:rPr sz="1150" b="0" i="0">
                <a:solidFill>
                  <a:srgbClr val="323139"/>
                </a:solidFill>
                <a:latin typeface="Segoe UI"/>
              </a:rPr>
              <a:t>Light data in new accounts is expected</a:t>
            </a:r>
          </a:p>
        </p:txBody>
      </p:sp>
      <p:sp>
        <p:nvSpPr>
          <p:cNvPr id="63" name="Rounded Rectangle 62">
            <a:extLst>
              <a:ext uri="{C183D7F6-B498-43B3-948B-1728B52AA6E4}">
                <ns7:decorative xmlns:ns7="http://schemas.microsoft.com/office/drawing/2017/decorative" val="1"/>
              </a:ext>
            </a:extLst>
          </p:cNvPr>
          <p:cNvSpPr/>
          <p:nvPr/>
        </p:nvSpPr>
        <p:spPr>
          <a:xfrm>
            <a:off x="7763256" y="3611880"/>
            <a:ext cx="4224528" cy="1691640"/>
          </a:xfrm>
          <a:prstGeom prst="roundRect">
            <a:avLst>
              <a:gd name="adj" fmla="val 8000"/>
            </a:avLst>
          </a:prstGeom>
          <a:solidFill>
            <a:srgbClr val="3414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Oval 63">
            <a:extLst>
              <a:ext uri="{C183D7F6-B498-43B3-948B-1728B52AA6E4}">
                <ns8:decorative xmlns:ns8="http://schemas.microsoft.com/office/drawing/2017/decorative" val="1"/>
              </a:ext>
            </a:extLst>
          </p:cNvPr>
          <p:cNvSpPr/>
          <p:nvPr/>
        </p:nvSpPr>
        <p:spPr>
          <a:xfrm>
            <a:off x="7543800" y="3401568"/>
            <a:ext cx="402336" cy="402336"/>
          </a:xfrm>
          <a:prstGeom prst="ellipse">
            <a:avLst/>
          </a:prstGeom>
          <a:solidFill>
            <a:srgbClr val="FFFFFF"/>
          </a:solidFill>
          <a:ln>
            <a:no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TextBox 64"/>
          <p:cNvSpPr txBox="1"/>
          <p:nvPr/>
        </p:nvSpPr>
        <p:spPr>
          <a:xfrm>
            <a:off x="7543800" y="3401568"/>
            <a:ext cx="402336" cy="402336"/>
          </a:xfrm>
          <a:prstGeom prst="rect">
            <a:avLst/>
          </a:prstGeom>
          <a:noFill/>
        </p:spPr>
        <p:txBody>
          <a:bodyPr wrap="square" anchor="ctr" lIns="0" rIns="0" tIns="0" bIns="0">
            <a:spAutoFit/>
          </a:bodyPr>
          <a:lstStyle/>
          <a:p>
            <a:pPr algn="ctr">
              <a:spcAft>
                <a:spcPts val="400"/>
              </a:spcAft>
            </a:pPr>
            <a:r>
              <a:rPr sz="1600" b="1" i="0">
                <a:solidFill>
                  <a:srgbClr val="3B1041"/>
                </a:solidFill>
                <a:latin typeface="Segoe UI"/>
              </a:rPr>
              <a:t>✓</a:t>
            </a:r>
          </a:p>
        </p:txBody>
      </p:sp>
      <p:sp>
        <p:nvSpPr>
          <p:cNvPr id="66" name="TextBox 65"/>
          <p:cNvSpPr txBox="1"/>
          <p:nvPr/>
        </p:nvSpPr>
        <p:spPr>
          <a:xfrm>
            <a:off x="8001000" y="3749039"/>
            <a:ext cx="3794760" cy="1463040"/>
          </a:xfrm>
          <a:prstGeom prst="rect">
            <a:avLst/>
          </a:prstGeom>
          <a:noFill/>
        </p:spPr>
        <p:txBody>
          <a:bodyPr wrap="square" anchor="ctr" lIns="0" rIns="0" tIns="0" bIns="0">
            <a:spAutoFit/>
          </a:bodyPr>
          <a:lstStyle/>
          <a:p>
            <a:pPr algn="l">
              <a:lnSpc>
                <a:spcPct val="105000"/>
              </a:lnSpc>
              <a:spcAft>
                <a:spcPts val="400"/>
              </a:spcAft>
            </a:pPr>
            <a:r>
              <a:rPr sz="1200" b="1" i="0">
                <a:solidFill>
                  <a:srgbClr val="FFFFFF"/>
                </a:solidFill>
                <a:latin typeface="Segoe Sans Display Semibold"/>
              </a:rPr>
              <a:t>Checkpoint: </a:t>
            </a:r>
            <a:r>
              <a:rPr sz="1200" b="0" i="0">
                <a:solidFill>
                  <a:srgbClr val="FFFFFF"/>
                </a:solidFill>
                <a:latin typeface="Segoe Sans Display"/>
              </a:rPr>
              <a:t>An HTML command center opened from the Output folder and found in OneDrive → Cowork, a saved skill, and a weekday schedule. Pause it after class.</a:t>
            </a:r>
          </a:p>
        </p:txBody>
      </p:sp>
      <p:sp>
        <p:nvSpPr>
          <p:cNvPr id="67" name="Rounded Rectangle 66">
            <a:extLst>
              <a:ext uri="{C183D7F6-B498-43B3-948B-1728B52AA6E4}">
                <ns9:decorative xmlns:ns9="http://schemas.microsoft.com/office/drawing/2017/decorative" val="1"/>
              </a:ext>
            </a:extLst>
          </p:cNvPr>
          <p:cNvSpPr/>
          <p:nvPr/>
        </p:nvSpPr>
        <p:spPr>
          <a:xfrm>
            <a:off x="7763256" y="5486400"/>
            <a:ext cx="4224528" cy="960120"/>
          </a:xfrm>
          <a:prstGeom prst="roundRect">
            <a:avLst>
              <a:gd name="adj" fmla="val 10000"/>
            </a:avLst>
          </a:prstGeom>
          <a:solidFill>
            <a:srgbClr val="FFF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Box 67"/>
          <p:cNvSpPr txBox="1"/>
          <p:nvPr/>
        </p:nvSpPr>
        <p:spPr>
          <a:xfrm>
            <a:off x="8001000" y="5486400"/>
            <a:ext cx="3794760" cy="960120"/>
          </a:xfrm>
          <a:prstGeom prst="rect">
            <a:avLst/>
          </a:prstGeom>
          <a:noFill/>
        </p:spPr>
        <p:txBody>
          <a:bodyPr wrap="square" anchor="ctr" lIns="0" rIns="0" tIns="0" bIns="0">
            <a:spAutoFit/>
          </a:bodyPr>
          <a:lstStyle/>
          <a:p>
            <a:pPr algn="l">
              <a:lnSpc>
                <a:spcPct val="103000"/>
              </a:lnSpc>
              <a:spcAft>
                <a:spcPts val="400"/>
              </a:spcAft>
            </a:pPr>
            <a:r>
              <a:rPr sz="1100" b="1" i="0">
                <a:solidFill>
                  <a:srgbClr val="323139"/>
                </a:solidFill>
                <a:latin typeface="Segoe Sans Display Semibold"/>
              </a:rPr>
              <a:t>Stretch: </a:t>
            </a:r>
            <a:r>
              <a:rPr sz="1100" b="0" i="0">
                <a:solidFill>
                  <a:srgbClr val="323139"/>
                </a:solidFill>
                <a:latin typeface="Segoe Sans Display"/>
              </a:rPr>
              <a:t>Make an HR Leader variant with a view for open requisitions and HR ticket trends.</a:t>
            </a:r>
          </a:p>
        </p:txBody>
      </p:sp>
    </p:spTree>
    <p:extLst>
      <p:ext uri="{BB962C8B-B14F-4D97-AF65-F5344CB8AC3E}">
        <p14:creationId xmlns:p14="http://schemas.microsoft.com/office/powerpoint/2010/main" val="1649947486"/>
      </p:ext>
    </p:extLst>
  </p:cSld>
  <p:clrMapOvr>
    <a:overrideClrMapping bg1="lt1" tx1="dk1" bg2="lt2" tx2="dk2" accent1="accent1" accent2="accent2" accent3="accent3" accent4="accent4" accent5="accent5" accent6="accent6" hlink="hlink" folHlink="folHlink"/>
  </p:clrMapOvr>
</p:sld>
</file>

<file path=ppt/slides/slide33.xml><?xml version="1.0" encoding="utf-8"?>
<p:sld xmlns:a="http://schemas.openxmlformats.org/drawingml/2006/main" xmlns:p="http://schemas.openxmlformats.org/presentationml/2006/main" xmlns:r="http://schemas.openxmlformats.org/officeDocument/2006/relationships">
  <p:cSld>
    <p:bg>
      <p:bgPr>
        <a:blipFill dpi="0" rotWithShape="1">
          <a:blip r:embed="rId5">
            <a:alphaModFix amt="70000"/>
            <a:lum/>
          </a:blip>
          <a:srcRect/>
          <a:stretch>
            <a:fillRect l="-2000" r="-2000"/>
          </a:stretch>
        </a:blipFill>
        <a:effectLst/>
      </p:bgPr>
    </p:bg>
    <p:spTree>
      <p:nvGrpSpPr>
        <p:cNvPr id="1" name="">
          <a:extLst>
            <a:ext uri="{FF2B5EF4-FFF2-40B4-BE49-F238E27FC236}">
              <a16:creationId xmlns:a16="http://schemas.microsoft.com/office/drawing/2014/main" id="{CC810B06-9C60-9BCB-DF49-73D043B037F2}"/>
            </a:ext>
          </a:extLst>
        </p:cNvPr>
        <p:cNvGrpSpPr/>
        <p:nvPr/>
      </p:nvGrpSpPr>
      <p:grpSpPr>
        <a:xfrm>
          <a:off x="0" y="0"/>
          <a:ext cx="0" cy="0"/>
          <a:chOff x="0" y="0"/>
          <a:chExt cx="0" cy="0"/>
        </a:xfrm>
      </p:grpSpPr>
      <p:sp>
        <p:nvSpPr>
          <p:cNvPr id="27" name="Title 3">
            <a:extLst>
              <a:ext uri="{FF2B5EF4-FFF2-40B4-BE49-F238E27FC236}">
                <a16:creationId xmlns:a16="http://schemas.microsoft.com/office/drawing/2014/main" id="{3EF2C483-DB46-D975-7E0E-09A75642D76B}"/>
              </a:ext>
            </a:extLst>
          </p:cNvPr>
          <p:cNvSpPr txBox="1">
            <a:spLocks/>
          </p:cNvSpPr>
          <p:nvPr/>
        </p:nvSpPr>
        <p:spPr>
          <a:xfrm>
            <a:off x="1925908" y="293473"/>
            <a:ext cx="7070725" cy="430887"/>
          </a:xfrm>
          <a:prstGeom prst="rect">
            <a:avLst/>
          </a:prstGeom>
        </p:spPr>
        <p:txBody>
          <a:bodyPr vert="horz" wrap="square" lIns="0" tIns="0" rIns="0" bIns="0" rtlCol="0" anchor="t">
            <a:spAutoFit/>
          </a:bodyPr>
          <a:lstStyle>
            <a:lvl1pPr algn="l" defTabSz="769520" rtl="0" eaLnBrk="1" latinLnBrk="0" hangingPunct="1">
              <a:lnSpc>
                <a:spcPct val="100000"/>
              </a:lnSpc>
              <a:spcBef>
                <a:spcPct val="0"/>
              </a:spcBef>
              <a:buNone/>
              <a:defRPr lang="en-US" sz="2000" b="0" kern="1200" cap="none" spc="0" baseline="0">
                <a:ln w="3175">
                  <a:noFill/>
                </a:ln>
                <a:solidFill>
                  <a:schemeClr val="tx1"/>
                </a:solidFill>
                <a:effectLst/>
                <a:latin typeface="+mj-lt"/>
                <a:ea typeface="+mn-ea"/>
                <a:cs typeface="Segoe Sans Display" pitchFamily="2" charset="0"/>
              </a:defRPr>
            </a:lvl1pPr>
          </a:lstStyle>
          <a:p>
            <a:pPr marL="0" marR="0" lvl="0" indent="0" algn="l" defTabSz="769520" rtl="0" eaLnBrk="1" fontAlgn="auto" latinLnBrk="0" hangingPunct="1">
              <a:lnSpc>
                <a:spcPct val="100000"/>
              </a:lnSpc>
              <a:spcBef>
                <a:spcPct val="0"/>
              </a:spcBef>
              <a:spcAft>
                <a:spcPts val="0"/>
              </a:spcAft>
              <a:buClrTx/>
              <a:buSzTx/>
              <a:buFontTx/>
              <a:buNone/>
              <a:tabLst/>
              <a:defRPr/>
            </a:pPr>
            <a:r>
              <a:rPr kumimoji="0" lang="en-US" sz="2800" b="0" i="0" u="none" strike="noStrike" kern="1200" cap="none" spc="0" normalizeH="0" baseline="0" noProof="0">
                <a:ln w="3175">
                  <a:noFill/>
                </a:ln>
                <a:solidFill>
                  <a:srgbClr val="323139"/>
                </a:solidFill>
                <a:effectLst/>
                <a:uLnTx/>
                <a:uFillTx/>
                <a:latin typeface="Segoe Sans Display" pitchFamily="2" charset="0"/>
                <a:ea typeface="+mn-ea"/>
                <a:cs typeface="Segoe Sans Display" pitchFamily="2" charset="0"/>
              </a:rPr>
              <a:t>Find your outputs · the Output folder</a:t>
            </a:r>
          </a:p>
        </p:txBody>
      </p:sp>
      <p:sp>
        <p:nvSpPr>
          <p:cNvPr id="28" name="NavPill_SitesPages">
            <a:extLst>
              <a:ext uri="{FF2B5EF4-FFF2-40B4-BE49-F238E27FC236}">
                <a16:creationId xmlns:a16="http://schemas.microsoft.com/office/drawing/2014/main" id="{57BB7AF5-33B6-DA4A-ABA7-2573FB8050B2}"/>
              </a:ext>
            </a:extLst>
          </p:cNvPr>
          <p:cNvSpPr/>
          <p:nvPr/>
        </p:nvSpPr>
        <p:spPr>
          <a:xfrm>
            <a:off x="350837" y="342900"/>
            <a:ext cx="1419239" cy="337762"/>
          </a:xfrm>
          <a:prstGeom prst="roundRect">
            <a:avLst>
              <a:gd name="adj" fmla="val 50000"/>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207091" rtl="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Ex 01</a:t>
            </a:r>
          </a:p>
        </p:txBody>
      </p:sp>
      <p:sp>
        <p:nvSpPr>
          <p:cNvPr id="30" name="TextBox 29">
            <a:extLst>
              <a:ext uri="{FF2B5EF4-FFF2-40B4-BE49-F238E27FC236}">
                <a16:creationId xmlns:a16="http://schemas.microsoft.com/office/drawing/2014/main" id="{4519738B-A618-91E3-CAC4-D99F7E54632B}"/>
              </a:ext>
              <a:ext uri="{C183D7F6-B498-43B3-948B-1728B52AA6E4}">
                <ns0:decorative xmlns:ns0="http://schemas.microsoft.com/office/drawing/2017/decorative" val="1"/>
              </a:ext>
            </a:extLst>
          </p:cNvPr>
          <p:cNvSpPr txBox="1"/>
          <p:nvPr/>
        </p:nvSpPr>
        <p:spPr>
          <a:xfrm>
            <a:off x="8867052" y="119383"/>
            <a:ext cx="3092209" cy="338554"/>
          </a:xfrm>
          <a:prstGeom prst="roundRect">
            <a:avLst>
              <a:gd name="adj" fmla="val 19537"/>
            </a:avLst>
          </a:prstGeom>
          <a:solidFill>
            <a:srgbClr val="CB85FF">
              <a:lumMod val="20000"/>
              <a:lumOff val="80000"/>
            </a:srgbClr>
          </a:solidFill>
        </p:spPr>
        <p:txBody>
          <a:bodyPr wrap="square" lIns="1188720" tIns="45720" rIns="0" bIns="45720" anchor="ctr">
            <a:noAutofit/>
          </a:bodyPr>
          <a:lstStyle>
            <a:defPPr>
              <a:defRPr lang="en-US"/>
            </a:defPPr>
            <a:lvl1pPr>
              <a:spcAft>
                <a:spcPts val="776"/>
              </a:spcAft>
              <a:defRPr sz="1200">
                <a:latin typeface="+mj-lt"/>
                <a:cs typeface="Segoe Sans Display Semibold" pitchFamily="2" charset="0"/>
              </a:defRPr>
            </a:lvl1pPr>
          </a:lstStyle>
          <a:p>
            <a:pPr marL="0" marR="0" lvl="0" indent="0" algn="l" defTabSz="914294" rtl="0" eaLnBrk="1" fontAlgn="auto" latinLnBrk="0" hangingPunct="1">
              <a:lnSpc>
                <a:spcPct val="100000"/>
              </a:lnSpc>
              <a:spcBef>
                <a:spcPts val="0"/>
              </a:spcBef>
              <a:spcAft>
                <a:spcPts val="776"/>
              </a:spcAft>
              <a:buClrTx/>
              <a:buSzTx/>
              <a:buFontTx/>
              <a:buNone/>
              <a:tabLst/>
              <a:defRPr/>
            </a:pPr>
            <a:endParaRPr kumimoji="0" lang="en-US" sz="1200" b="0" i="0" u="none" strike="noStrike" kern="0" cap="none" spc="0" normalizeH="0" baseline="0" noProof="0">
              <a:ln>
                <a:noFill/>
              </a:ln>
              <a:solidFill>
                <a:srgbClr val="323139"/>
              </a:solidFill>
              <a:effectLst/>
              <a:uLnTx/>
              <a:uFillTx/>
              <a:latin typeface="Segoe Sans Display"/>
              <a:ea typeface="+mn-ea"/>
              <a:cs typeface="Segoe Sans Display Semibold" pitchFamily="2" charset="0"/>
            </a:endParaRPr>
          </a:p>
        </p:txBody>
      </p:sp>
      <p:sp>
        <p:nvSpPr>
          <p:cNvPr id="31" name="TextBox 30">
            <a:extLst>
              <a:ext uri="{FF2B5EF4-FFF2-40B4-BE49-F238E27FC236}">
                <a16:creationId xmlns:a16="http://schemas.microsoft.com/office/drawing/2014/main" id="{4B310F6E-1BD3-CF01-32AD-647BCF12AC0F}"/>
              </a:ext>
            </a:extLst>
          </p:cNvPr>
          <p:cNvSpPr txBox="1"/>
          <p:nvPr/>
        </p:nvSpPr>
        <p:spPr>
          <a:xfrm>
            <a:off x="8942688" y="173878"/>
            <a:ext cx="1280160" cy="233352"/>
          </a:xfrm>
          <a:prstGeom prst="roundRect">
            <a:avLst>
              <a:gd name="adj" fmla="val 16151"/>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5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defRPr lang="en-US"/>
            </a:defPPr>
            <a:lvl1pPr algn="ctr" defTabSz="932765" fontAlgn="base">
              <a:spcBef>
                <a:spcPct val="0"/>
              </a:spcBef>
              <a:spcAft>
                <a:spcPct val="0"/>
              </a:spcAft>
              <a:defRPr sz="1600">
                <a:solidFill>
                  <a:schemeClr val="accent1"/>
                </a:solidFill>
                <a:latin typeface="+mj-lt"/>
                <a:cs typeface="Segoe Sans Display Semibold" pitchFamily="2" charset="0"/>
              </a:defRPr>
            </a:lvl1pPr>
          </a:lstStyle>
          <a:p>
            <a:pPr marL="0" marR="0" lvl="0" indent="0" algn="l" defTabSz="932765" rtl="0" eaLnBrk="1" fontAlgn="base" latinLnBrk="0" hangingPunct="1">
              <a:lnSpc>
                <a:spcPct val="100000"/>
              </a:lnSpc>
              <a:spcBef>
                <a:spcPct val="0"/>
              </a:spcBef>
              <a:spcAft>
                <a:spcPct val="0"/>
              </a:spcAft>
              <a:buClrTx/>
              <a:buSzTx/>
              <a:buFontTx/>
              <a:buNone/>
              <a:tabLst/>
              <a:defRPr/>
            </a:pPr>
            <a:r>
              <a:rPr kumimoji="0" lang="en-IN" sz="1050" b="0" i="0" u="none" strike="noStrike" kern="0" cap="none" spc="0" normalizeH="0" baseline="0" noProof="0">
                <a:ln>
                  <a:noFill/>
                </a:ln>
                <a:solidFill>
                  <a:srgbClr val="323139"/>
                </a:solidFill>
                <a:effectLst/>
                <a:uLnTx/>
                <a:uFillTx/>
                <a:latin typeface="Segoe Sans Display"/>
                <a:ea typeface="+mn-ea"/>
                <a:cs typeface="Segoe Sans Display Semibold" pitchFamily="2" charset="0"/>
              </a:rPr>
              <a:t>Time</a:t>
            </a:r>
          </a:p>
        </p:txBody>
      </p:sp>
      <p:sp>
        <p:nvSpPr>
          <p:cNvPr id="50" name="TextBox 49">
            <a:extLst>
              <a:ext uri="{FF2B5EF4-FFF2-40B4-BE49-F238E27FC236}">
                <a16:creationId xmlns:a16="http://schemas.microsoft.com/office/drawing/2014/main" id="{0CE10D15-83B7-7915-49A3-0BD3A21E9731}"/>
              </a:ext>
            </a:extLst>
          </p:cNvPr>
          <p:cNvSpPr txBox="1"/>
          <p:nvPr/>
        </p:nvSpPr>
        <p:spPr>
          <a:xfrm>
            <a:off x="10298483" y="173490"/>
            <a:ext cx="1668779" cy="253916"/>
          </a:xfrm>
          <a:prstGeom prst="rect">
            <a:avLst/>
          </a:prstGeom>
          <a:noFill/>
        </p:spPr>
        <p:txBody>
          <a:bodyPr wrap="square">
            <a:spAutoFit/>
          </a:bodyPr>
          <a:lstStyle/>
          <a:p>
            <a:pPr marL="0" marR="0" lvl="0" indent="0" algn="l" defTabSz="914294"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323139"/>
                </a:solidFill>
                <a:effectLst/>
                <a:uLnTx/>
                <a:uFillTx/>
                <a:latin typeface="Segoe Sans Display"/>
                <a:ea typeface="+mn-ea"/>
                <a:cs typeface="Segoe Sans Display"/>
              </a:rPr>
              <a:t>3 min</a:t>
            </a:r>
          </a:p>
        </p:txBody>
      </p:sp>
      <p:sp>
        <p:nvSpPr>
          <p:cNvPr id="51" name="Rounded Rectangle 50">
            <a:extLst>
              <a:ext uri="{C183D7F6-B498-43B3-948B-1728B52AA6E4}">
                <ns1:decorative xmlns:ns1="http://schemas.microsoft.com/office/drawing/2017/decorative" val="1"/>
              </a:ext>
            </a:extLst>
          </p:cNvPr>
          <p:cNvSpPr/>
          <p:nvPr/>
        </p:nvSpPr>
        <p:spPr>
          <a:xfrm>
            <a:off x="420624" y="1188720"/>
            <a:ext cx="6675120" cy="5257800"/>
          </a:xfrm>
          <a:prstGeom prst="roundRect">
            <a:avLst>
              <a:gd name="adj" fmla="val 4000"/>
            </a:avLst>
          </a:prstGeom>
          <a:solidFill>
            <a:srgbClr val="FFF9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ounded Rectangle 51">
            <a:extLst>
              <a:ext uri="{C183D7F6-B498-43B3-948B-1728B52AA6E4}">
                <ns2:decorative xmlns:ns2="http://schemas.microsoft.com/office/drawing/2017/decorative" val="1"/>
              </a:ext>
            </a:extLst>
          </p:cNvPr>
          <p:cNvSpPr/>
          <p:nvPr/>
        </p:nvSpPr>
        <p:spPr>
          <a:xfrm>
            <a:off x="2990088" y="1051560"/>
            <a:ext cx="15361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2990088" y="1051560"/>
            <a:ext cx="1536192" cy="274320"/>
          </a:xfrm>
          <a:prstGeom prst="rect">
            <a:avLst/>
          </a:prstGeom>
          <a:noFill/>
        </p:spPr>
        <p:txBody>
          <a:bodyPr wrap="square" anchor="ctr" lIns="0" rIns="0" tIns="0" bIns="0">
            <a:spAutoFit/>
          </a:bodyPr>
          <a:lstStyle/>
          <a:p>
            <a:pPr algn="ctr">
              <a:spcAft>
                <a:spcPts val="400"/>
              </a:spcAft>
            </a:pPr>
            <a:r>
              <a:rPr sz="1200" b="0" i="0">
                <a:solidFill>
                  <a:srgbClr val="323139"/>
                </a:solidFill>
                <a:latin typeface="Segoe Sans Display Semibold"/>
              </a:rPr>
              <a:t>Show the room</a:t>
            </a:r>
          </a:p>
        </p:txBody>
      </p:sp>
      <p:sp>
        <p:nvSpPr>
          <p:cNvPr id="54" name="TextBox 53"/>
          <p:cNvSpPr txBox="1"/>
          <p:nvPr/>
        </p:nvSpPr>
        <p:spPr>
          <a:xfrm>
            <a:off x="777240" y="1572768"/>
            <a:ext cx="6035040" cy="3749039"/>
          </a:xfrm>
          <a:prstGeom prst="rect">
            <a:avLst/>
          </a:prstGeom>
          <a:noFill/>
        </p:spPr>
        <p:txBody>
          <a:bodyPr wrap="square" anchor="t" lIns="0" rIns="0" tIns="0" bIns="0">
            <a:spAutoFit/>
          </a:bodyPr>
          <a:lstStyle/>
          <a:p>
            <a:pPr algn="l" marL="237744" indent="-237744">
              <a:lnSpc>
                <a:spcPct val="105000"/>
              </a:lnSpc>
              <a:spcAft>
                <a:spcPts val="800"/>
              </a:spcAft>
              <a:buFont typeface="+mj-lt"/>
              <a:buAutoNum type="arabicPeriod"/>
            </a:pPr>
            <a:r>
              <a:rPr sz="1400" b="1" i="0">
                <a:solidFill>
                  <a:srgbClr val="323139"/>
                </a:solidFill>
                <a:latin typeface="Segoe UI"/>
              </a:rPr>
              <a:t>Open the side panel</a:t>
            </a:r>
            <a:r>
              <a:rPr sz="1400" b="0" i="0">
                <a:solidFill>
                  <a:srgbClr val="323139"/>
                </a:solidFill>
                <a:latin typeface="Segoe UI"/>
              </a:rPr>
              <a:t> — select the side panel toggle at the right of the session.</a:t>
            </a:r>
          </a:p>
          <a:p>
            <a:pPr algn="l" marL="237744" indent="-237744">
              <a:lnSpc>
                <a:spcPct val="105000"/>
              </a:lnSpc>
              <a:spcAft>
                <a:spcPts val="800"/>
              </a:spcAft>
              <a:buFont typeface="+mj-lt"/>
              <a:buAutoNum type="arabicPeriod"/>
            </a:pPr>
            <a:r>
              <a:rPr sz="1400" b="1" i="0">
                <a:solidFill>
                  <a:srgbClr val="323139"/>
                </a:solidFill>
                <a:latin typeface="Segoe UI"/>
              </a:rPr>
              <a:t>Input folder</a:t>
            </a:r>
            <a:r>
              <a:rPr sz="1400" b="0" i="0">
                <a:solidFill>
                  <a:srgbClr val="323139"/>
                </a:solidFill>
                <a:latin typeface="Segoe UI"/>
              </a:rPr>
              <a:t> = files you attached. </a:t>
            </a:r>
            <a:r>
              <a:rPr sz="1400" b="1" i="0">
                <a:solidFill>
                  <a:srgbClr val="323139"/>
                </a:solidFill>
                <a:latin typeface="Segoe UI"/>
              </a:rPr>
              <a:t>Output folder</a:t>
            </a:r>
            <a:r>
              <a:rPr sz="1400" b="0" i="0">
                <a:solidFill>
                  <a:srgbClr val="323139"/>
                </a:solidFill>
                <a:latin typeface="Segoe UI"/>
              </a:rPr>
              <a:t> = files Cowork created.</a:t>
            </a:r>
          </a:p>
          <a:p>
            <a:pPr algn="l" marL="237744" indent="-237744">
              <a:lnSpc>
                <a:spcPct val="105000"/>
              </a:lnSpc>
              <a:spcAft>
                <a:spcPts val="800"/>
              </a:spcAft>
              <a:buFont typeface="+mj-lt"/>
              <a:buAutoNum type="arabicPeriod"/>
            </a:pPr>
            <a:r>
              <a:rPr sz="1400" b="0" i="0">
                <a:solidFill>
                  <a:srgbClr val="323139"/>
                </a:solidFill>
                <a:latin typeface="Segoe UI"/>
              </a:rPr>
              <a:t>Select </a:t>
            </a:r>
            <a:r>
              <a:rPr sz="1400" b="1" i="0">
                <a:solidFill>
                  <a:srgbClr val="323139"/>
                </a:solidFill>
                <a:latin typeface="Segoe UI"/>
              </a:rPr>
              <a:t>Preview</a:t>
            </a:r>
            <a:r>
              <a:rPr sz="1400" b="0" i="0">
                <a:solidFill>
                  <a:srgbClr val="323139"/>
                </a:solidFill>
                <a:latin typeface="Segoe UI"/>
              </a:rPr>
              <a:t> on the HTML dashboard: it opens in a </a:t>
            </a:r>
            <a:r>
              <a:rPr sz="1400" b="1" i="0">
                <a:solidFill>
                  <a:srgbClr val="323139"/>
                </a:solidFill>
                <a:latin typeface="Segoe UI"/>
              </a:rPr>
              <a:t>split view</a:t>
            </a:r>
            <a:r>
              <a:rPr sz="1400" b="0" i="0">
                <a:solidFill>
                  <a:srgbClr val="323139"/>
                </a:solidFill>
                <a:latin typeface="Segoe UI"/>
              </a:rPr>
              <a:t>. Try the </a:t>
            </a:r>
            <a:r>
              <a:rPr sz="1400" b="1" i="0">
                <a:solidFill>
                  <a:srgbClr val="323139"/>
                </a:solidFill>
                <a:latin typeface="Segoe UI"/>
              </a:rPr>
              <a:t>full-screen toggle</a:t>
            </a:r>
            <a:r>
              <a:rPr sz="1400" b="0" i="0">
                <a:solidFill>
                  <a:srgbClr val="323139"/>
                </a:solidFill>
                <a:latin typeface="Segoe UI"/>
              </a:rPr>
              <a:t> and </a:t>
            </a:r>
            <a:r>
              <a:rPr sz="1400" b="1" i="0">
                <a:solidFill>
                  <a:srgbClr val="323139"/>
                </a:solidFill>
                <a:latin typeface="Segoe UI"/>
              </a:rPr>
              <a:t>Open in native app</a:t>
            </a:r>
            <a:r>
              <a:rPr sz="1400" b="0" i="0">
                <a:solidFill>
                  <a:srgbClr val="323139"/>
                </a:solidFill>
                <a:latin typeface="Segoe UI"/>
              </a:rPr>
              <a:t>.</a:t>
            </a:r>
          </a:p>
          <a:p>
            <a:pPr algn="l" marL="237744" indent="-237744">
              <a:lnSpc>
                <a:spcPct val="105000"/>
              </a:lnSpc>
              <a:spcAft>
                <a:spcPts val="800"/>
              </a:spcAft>
              <a:buFont typeface="+mj-lt"/>
              <a:buAutoNum type="arabicPeriod"/>
            </a:pPr>
            <a:r>
              <a:rPr sz="1400" b="1" i="0">
                <a:solidFill>
                  <a:srgbClr val="323139"/>
                </a:solidFill>
                <a:latin typeface="Segoe UI"/>
              </a:rPr>
              <a:t>Download</a:t>
            </a:r>
            <a:r>
              <a:rPr sz="1400" b="0" i="0">
                <a:solidFill>
                  <a:srgbClr val="323139"/>
                </a:solidFill>
                <a:latin typeface="Segoe UI"/>
              </a:rPr>
              <a:t> saves one file; </a:t>
            </a:r>
            <a:r>
              <a:rPr sz="1400" b="1" i="0">
                <a:solidFill>
                  <a:srgbClr val="323139"/>
                </a:solidFill>
                <a:latin typeface="Segoe UI"/>
              </a:rPr>
              <a:t>Download All</a:t>
            </a:r>
            <a:r>
              <a:rPr sz="1400" b="0" i="0">
                <a:solidFill>
                  <a:srgbClr val="323139"/>
                </a:solidFill>
                <a:latin typeface="Segoe UI"/>
              </a:rPr>
              <a:t> saves every output as a zip.</a:t>
            </a:r>
          </a:p>
          <a:p>
            <a:pPr algn="l" marL="237744" indent="-237744">
              <a:lnSpc>
                <a:spcPct val="105000"/>
              </a:lnSpc>
              <a:spcAft>
                <a:spcPts val="800"/>
              </a:spcAft>
              <a:buFont typeface="+mj-lt"/>
              <a:buAutoNum type="arabicPeriod"/>
            </a:pPr>
            <a:r>
              <a:rPr sz="1400" b="0" i="0">
                <a:solidFill>
                  <a:srgbClr val="323139"/>
                </a:solidFill>
                <a:latin typeface="Segoe UI"/>
              </a:rPr>
              <a:t>Open </a:t>
            </a:r>
            <a:r>
              <a:rPr sz="1400" b="1" i="0">
                <a:solidFill>
                  <a:srgbClr val="323139"/>
                </a:solidFill>
                <a:latin typeface="Segoe UI"/>
              </a:rPr>
              <a:t>OneDrive → Cowork</a:t>
            </a:r>
            <a:r>
              <a:rPr sz="1400" b="0" i="0">
                <a:solidFill>
                  <a:srgbClr val="323139"/>
                </a:solidFill>
                <a:latin typeface="Segoe UI"/>
              </a:rPr>
              <a:t> in a new tab: every output is saved there too.</a:t>
            </a:r>
          </a:p>
          <a:p>
            <a:pPr algn="l" marL="237744" indent="-237744">
              <a:lnSpc>
                <a:spcPct val="105000"/>
              </a:lnSpc>
              <a:spcAft>
                <a:spcPts val="800"/>
              </a:spcAft>
              <a:buFont typeface="+mj-lt"/>
              <a:buAutoNum type="arabicPeriod"/>
            </a:pPr>
            <a:r>
              <a:rPr sz="1400" b="0" i="0">
                <a:solidFill>
                  <a:srgbClr val="323139"/>
                </a:solidFill>
                <a:latin typeface="Segoe UI"/>
              </a:rPr>
              <a:t>Now </a:t>
            </a:r>
            <a:r>
              <a:rPr sz="1400" b="1" i="0">
                <a:solidFill>
                  <a:srgbClr val="323139"/>
                </a:solidFill>
                <a:latin typeface="Segoe UI"/>
              </a:rPr>
              <a:t>everyone</a:t>
            </a:r>
            <a:r>
              <a:rPr sz="1400" b="0" i="0">
                <a:solidFill>
                  <a:srgbClr val="323139"/>
                </a:solidFill>
                <a:latin typeface="Segoe UI"/>
              </a:rPr>
              <a:t> does it before we move on.</a:t>
            </a:r>
          </a:p>
        </p:txBody>
      </p:sp>
      <p:sp>
        <p:nvSpPr>
          <p:cNvPr id="55" name="Rounded Rectangle 54">
            <a:extLst>
              <a:ext uri="{C183D7F6-B498-43B3-948B-1728B52AA6E4}">
                <ns3:decorative xmlns:ns3="http://schemas.microsoft.com/office/drawing/2017/decorative" val="1"/>
              </a:ext>
            </a:extLst>
          </p:cNvPr>
          <p:cNvSpPr/>
          <p:nvPr/>
        </p:nvSpPr>
        <p:spPr>
          <a:xfrm>
            <a:off x="685800" y="5440680"/>
            <a:ext cx="6144768" cy="822960"/>
          </a:xfrm>
          <a:prstGeom prst="roundRect">
            <a:avLst>
              <a:gd name="adj" fmla="val 12000"/>
            </a:avLst>
          </a:prstGeom>
          <a:solidFill>
            <a:srgbClr val="3414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914400" y="5440680"/>
            <a:ext cx="5760720" cy="822960"/>
          </a:xfrm>
          <a:prstGeom prst="rect">
            <a:avLst/>
          </a:prstGeom>
          <a:noFill/>
        </p:spPr>
        <p:txBody>
          <a:bodyPr wrap="square" anchor="ctr" lIns="0" rIns="0" tIns="0" bIns="0">
            <a:spAutoFit/>
          </a:bodyPr>
          <a:lstStyle/>
          <a:p>
            <a:pPr algn="l">
              <a:lnSpc>
                <a:spcPct val="103000"/>
              </a:lnSpc>
              <a:spcAft>
                <a:spcPts val="400"/>
              </a:spcAft>
            </a:pPr>
            <a:r>
              <a:rPr sz="1250" b="1" i="0">
                <a:solidFill>
                  <a:srgbClr val="FFFFFF"/>
                </a:solidFill>
                <a:latin typeface="Segoe Sans Display Semibold"/>
              </a:rPr>
              <a:t>Every exercise that creates a file ends here. </a:t>
            </a:r>
            <a:r>
              <a:rPr sz="1250" b="0" i="0">
                <a:solidFill>
                  <a:srgbClr val="FFFFFF"/>
                </a:solidFill>
                <a:latin typeface="Segoe Sans Display"/>
              </a:rPr>
              <a:t>Can’t find it? Side panel toggle → Output folder, or OneDrive → Cowork.</a:t>
            </a:r>
          </a:p>
        </p:txBody>
      </p:sp>
      <p:sp>
        <p:nvSpPr>
          <p:cNvPr id="57" name="Rounded Rectangle 56">
            <a:extLst>
              <a:ext uri="{C183D7F6-B498-43B3-948B-1728B52AA6E4}">
                <ns4:decorative xmlns:ns4="http://schemas.microsoft.com/office/drawing/2017/decorative" val="1"/>
              </a:ext>
            </a:extLst>
          </p:cNvPr>
          <p:cNvSpPr/>
          <p:nvPr/>
        </p:nvSpPr>
        <p:spPr>
          <a:xfrm>
            <a:off x="7498079" y="1188720"/>
            <a:ext cx="4480560" cy="5257800"/>
          </a:xfrm>
          <a:prstGeom prst="roundRect">
            <a:avLst>
              <a:gd name="adj" fmla="val 3000"/>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7726679" y="1298448"/>
            <a:ext cx="4023360" cy="320040"/>
          </a:xfrm>
          <a:prstGeom prst="rect">
            <a:avLst/>
          </a:prstGeom>
          <a:noFill/>
        </p:spPr>
        <p:txBody>
          <a:bodyPr wrap="square" anchor="t" lIns="0" rIns="0" tIns="0" bIns="0">
            <a:spAutoFit/>
          </a:bodyPr>
          <a:lstStyle/>
          <a:p>
            <a:pPr algn="l">
              <a:spcAft>
                <a:spcPts val="400"/>
              </a:spcAft>
            </a:pPr>
            <a:r>
              <a:rPr sz="1200" b="1" i="0">
                <a:solidFill>
                  <a:srgbClr val="616161"/>
                </a:solidFill>
                <a:latin typeface="Segoe UI"/>
              </a:rPr>
              <a:t>Side panel</a:t>
            </a:r>
          </a:p>
        </p:txBody>
      </p:sp>
      <p:sp>
        <p:nvSpPr>
          <p:cNvPr id="59" name="TextBox 58"/>
          <p:cNvSpPr txBox="1"/>
          <p:nvPr/>
        </p:nvSpPr>
        <p:spPr>
          <a:xfrm>
            <a:off x="7772400" y="1746504"/>
            <a:ext cx="3931920" cy="274320"/>
          </a:xfrm>
          <a:prstGeom prst="rect">
            <a:avLst/>
          </a:prstGeom>
          <a:noFill/>
        </p:spPr>
        <p:txBody>
          <a:bodyPr wrap="square" anchor="t" lIns="0" rIns="0" tIns="0" bIns="0">
            <a:spAutoFit/>
          </a:bodyPr>
          <a:lstStyle/>
          <a:p>
            <a:pPr algn="l">
              <a:spcAft>
                <a:spcPts val="400"/>
              </a:spcAft>
            </a:pPr>
            <a:r>
              <a:rPr sz="1150" b="1" i="0">
                <a:solidFill>
                  <a:srgbClr val="242424"/>
                </a:solidFill>
                <a:latin typeface="Segoe UI"/>
              </a:rPr>
              <a:t>Progress</a:t>
            </a:r>
          </a:p>
        </p:txBody>
      </p:sp>
      <p:sp>
        <p:nvSpPr>
          <p:cNvPr id="60" name="TextBox 59"/>
          <p:cNvSpPr txBox="1"/>
          <p:nvPr/>
        </p:nvSpPr>
        <p:spPr>
          <a:xfrm>
            <a:off x="7772400" y="2002536"/>
            <a:ext cx="3931920" cy="256032"/>
          </a:xfrm>
          <a:prstGeom prst="rect">
            <a:avLst/>
          </a:prstGeom>
          <a:noFill/>
        </p:spPr>
        <p:txBody>
          <a:bodyPr wrap="square" anchor="t" lIns="0" rIns="0" tIns="0" bIns="0">
            <a:spAutoFit/>
          </a:bodyPr>
          <a:lstStyle/>
          <a:p>
            <a:pPr algn="l">
              <a:spcAft>
                <a:spcPts val="400"/>
              </a:spcAft>
            </a:pPr>
            <a:r>
              <a:rPr sz="950" b="0" i="0">
                <a:solidFill>
                  <a:srgbClr val="616161"/>
                </a:solidFill>
                <a:latin typeface="Segoe UI"/>
              </a:rPr>
              <a:t>Progress bar and step-by-step log</a:t>
            </a:r>
          </a:p>
        </p:txBody>
      </p:sp>
      <p:sp>
        <p:nvSpPr>
          <p:cNvPr id="61" name="TextBox 60"/>
          <p:cNvSpPr txBox="1"/>
          <p:nvPr/>
        </p:nvSpPr>
        <p:spPr>
          <a:xfrm>
            <a:off x="7772400" y="2441448"/>
            <a:ext cx="3931920" cy="274320"/>
          </a:xfrm>
          <a:prstGeom prst="rect">
            <a:avLst/>
          </a:prstGeom>
          <a:noFill/>
        </p:spPr>
        <p:txBody>
          <a:bodyPr wrap="square" anchor="t" lIns="0" rIns="0" tIns="0" bIns="0">
            <a:spAutoFit/>
          </a:bodyPr>
          <a:lstStyle/>
          <a:p>
            <a:pPr algn="l">
              <a:spcAft>
                <a:spcPts val="400"/>
              </a:spcAft>
            </a:pPr>
            <a:r>
              <a:rPr sz="1150" b="1" i="0">
                <a:solidFill>
                  <a:srgbClr val="242424"/>
                </a:solidFill>
                <a:latin typeface="Segoe UI"/>
              </a:rPr>
              <a:t>Input folder</a:t>
            </a:r>
          </a:p>
        </p:txBody>
      </p:sp>
      <p:sp>
        <p:nvSpPr>
          <p:cNvPr id="62" name="TextBox 61"/>
          <p:cNvSpPr txBox="1"/>
          <p:nvPr/>
        </p:nvSpPr>
        <p:spPr>
          <a:xfrm>
            <a:off x="7772400" y="2697480"/>
            <a:ext cx="3931920" cy="256032"/>
          </a:xfrm>
          <a:prstGeom prst="rect">
            <a:avLst/>
          </a:prstGeom>
          <a:noFill/>
        </p:spPr>
        <p:txBody>
          <a:bodyPr wrap="square" anchor="t" lIns="0" rIns="0" tIns="0" bIns="0">
            <a:spAutoFit/>
          </a:bodyPr>
          <a:lstStyle/>
          <a:p>
            <a:pPr algn="l">
              <a:spcAft>
                <a:spcPts val="400"/>
              </a:spcAft>
            </a:pPr>
            <a:r>
              <a:rPr sz="950" b="0" i="0">
                <a:solidFill>
                  <a:srgbClr val="616161"/>
                </a:solidFill>
                <a:latin typeface="Segoe UI"/>
              </a:rPr>
              <a:t>Files you attached</a:t>
            </a:r>
          </a:p>
        </p:txBody>
      </p:sp>
      <p:sp>
        <p:nvSpPr>
          <p:cNvPr id="63" name="Rounded Rectangle 62">
            <a:extLst>
              <a:ext uri="{C183D7F6-B498-43B3-948B-1728B52AA6E4}">
                <ns5:decorative xmlns:ns5="http://schemas.microsoft.com/office/drawing/2017/decorative" val="1"/>
              </a:ext>
            </a:extLst>
          </p:cNvPr>
          <p:cNvSpPr/>
          <p:nvPr/>
        </p:nvSpPr>
        <p:spPr>
          <a:xfrm>
            <a:off x="7635240" y="3081528"/>
            <a:ext cx="4206240" cy="1051560"/>
          </a:xfrm>
          <a:prstGeom prst="roundRect">
            <a:avLst>
              <a:gd name="adj" fmla="val 8000"/>
            </a:avLst>
          </a:prstGeom>
          <a:solidFill>
            <a:srgbClr val="FBF6FD"/>
          </a:solidFill>
          <a:ln w="9525">
            <a:solidFill>
              <a:srgbClr val="8064A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Box 63"/>
          <p:cNvSpPr txBox="1"/>
          <p:nvPr/>
        </p:nvSpPr>
        <p:spPr>
          <a:xfrm>
            <a:off x="10561319" y="3154680"/>
            <a:ext cx="1097280" cy="256032"/>
          </a:xfrm>
          <a:prstGeom prst="rect">
            <a:avLst/>
          </a:prstGeom>
          <a:noFill/>
        </p:spPr>
        <p:txBody>
          <a:bodyPr wrap="square" anchor="t" lIns="0" rIns="0" tIns="0" bIns="0">
            <a:spAutoFit/>
          </a:bodyPr>
          <a:lstStyle/>
          <a:p>
            <a:pPr algn="r">
              <a:spcAft>
                <a:spcPts val="400"/>
              </a:spcAft>
            </a:pPr>
            <a:r>
              <a:rPr sz="900" b="1" i="0">
                <a:solidFill>
                  <a:srgbClr val="0F6CBD"/>
                </a:solidFill>
                <a:latin typeface="Segoe UI"/>
              </a:rPr>
              <a:t>Download All</a:t>
            </a:r>
          </a:p>
        </p:txBody>
      </p:sp>
      <p:sp>
        <p:nvSpPr>
          <p:cNvPr id="65" name="TextBox 64"/>
          <p:cNvSpPr txBox="1"/>
          <p:nvPr/>
        </p:nvSpPr>
        <p:spPr>
          <a:xfrm>
            <a:off x="7772400" y="3136392"/>
            <a:ext cx="3931920" cy="274320"/>
          </a:xfrm>
          <a:prstGeom prst="rect">
            <a:avLst/>
          </a:prstGeom>
          <a:noFill/>
        </p:spPr>
        <p:txBody>
          <a:bodyPr wrap="square" anchor="t" lIns="0" rIns="0" tIns="0" bIns="0">
            <a:spAutoFit/>
          </a:bodyPr>
          <a:lstStyle/>
          <a:p>
            <a:pPr algn="l">
              <a:spcAft>
                <a:spcPts val="400"/>
              </a:spcAft>
            </a:pPr>
            <a:r>
              <a:rPr sz="1150" b="1" i="0">
                <a:solidFill>
                  <a:srgbClr val="8064A2"/>
                </a:solidFill>
                <a:latin typeface="Segoe UI"/>
              </a:rPr>
              <a:t>Output folder</a:t>
            </a:r>
          </a:p>
        </p:txBody>
      </p:sp>
      <p:sp>
        <p:nvSpPr>
          <p:cNvPr id="66" name="Rectangle 65">
            <a:extLst>
              <a:ext uri="{C183D7F6-B498-43B3-948B-1728B52AA6E4}">
                <ns6:decorative xmlns:ns6="http://schemas.microsoft.com/office/drawing/2017/decorative" val="1"/>
              </a:ext>
            </a:extLst>
          </p:cNvPr>
          <p:cNvSpPr/>
          <p:nvPr/>
        </p:nvSpPr>
        <p:spPr>
          <a:xfrm>
            <a:off x="7772400" y="3502152"/>
            <a:ext cx="3931920" cy="475488"/>
          </a:xfrm>
          <a:prstGeom prst="rect">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TextBox 66"/>
          <p:cNvSpPr txBox="1"/>
          <p:nvPr/>
        </p:nvSpPr>
        <p:spPr>
          <a:xfrm>
            <a:off x="7882127" y="3502152"/>
            <a:ext cx="2286000" cy="475488"/>
          </a:xfrm>
          <a:prstGeom prst="rect">
            <a:avLst/>
          </a:prstGeom>
          <a:noFill/>
        </p:spPr>
        <p:txBody>
          <a:bodyPr wrap="square" anchor="ctr" lIns="0" rIns="0" tIns="0" bIns="0">
            <a:spAutoFit/>
          </a:bodyPr>
          <a:lstStyle/>
          <a:p>
            <a:pPr algn="l">
              <a:spcAft>
                <a:spcPts val="400"/>
              </a:spcAft>
            </a:pPr>
            <a:r>
              <a:rPr sz="950" b="0" i="0">
                <a:solidFill>
                  <a:srgbClr val="242424"/>
                </a:solidFill>
                <a:latin typeface="Segoe UI"/>
              </a:rPr>
              <a:t>executive-command-center.html</a:t>
            </a:r>
          </a:p>
        </p:txBody>
      </p:sp>
      <p:sp>
        <p:nvSpPr>
          <p:cNvPr id="68" name="Rounded Rectangle 67">
            <a:extLst>
              <a:ext uri="{C183D7F6-B498-43B3-948B-1728B52AA6E4}">
                <ns7:decorative xmlns:ns7="http://schemas.microsoft.com/office/drawing/2017/decorative" val="1"/>
              </a:ext>
            </a:extLst>
          </p:cNvPr>
          <p:cNvSpPr/>
          <p:nvPr/>
        </p:nvSpPr>
        <p:spPr>
          <a:xfrm>
            <a:off x="10241280" y="3602736"/>
            <a:ext cx="694944" cy="274320"/>
          </a:xfrm>
          <a:prstGeom prst="roundRect">
            <a:avLst>
              <a:gd name="adj" fmla="val 4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TextBox 68"/>
          <p:cNvSpPr txBox="1"/>
          <p:nvPr/>
        </p:nvSpPr>
        <p:spPr>
          <a:xfrm>
            <a:off x="10241280" y="3602736"/>
            <a:ext cx="694944" cy="274320"/>
          </a:xfrm>
          <a:prstGeom prst="rect">
            <a:avLst/>
          </a:prstGeom>
          <a:noFill/>
        </p:spPr>
        <p:txBody>
          <a:bodyPr wrap="square" anchor="ctr" lIns="0" rIns="0" tIns="0" bIns="0">
            <a:spAutoFit/>
          </a:bodyPr>
          <a:lstStyle/>
          <a:p>
            <a:pPr algn="ctr">
              <a:spcAft>
                <a:spcPts val="400"/>
              </a:spcAft>
            </a:pPr>
            <a:r>
              <a:rPr sz="850" b="1" i="0">
                <a:solidFill>
                  <a:srgbClr val="323139"/>
                </a:solidFill>
                <a:latin typeface="Segoe UI"/>
              </a:rPr>
              <a:t>Preview</a:t>
            </a:r>
          </a:p>
        </p:txBody>
      </p:sp>
      <p:sp>
        <p:nvSpPr>
          <p:cNvPr id="70" name="Rounded Rectangle 69">
            <a:extLst>
              <a:ext uri="{C183D7F6-B498-43B3-948B-1728B52AA6E4}">
                <ns8:decorative xmlns:ns8="http://schemas.microsoft.com/office/drawing/2017/decorative" val="1"/>
              </a:ext>
            </a:extLst>
          </p:cNvPr>
          <p:cNvSpPr/>
          <p:nvPr/>
        </p:nvSpPr>
        <p:spPr>
          <a:xfrm>
            <a:off x="10991088" y="3602736"/>
            <a:ext cx="694944" cy="274320"/>
          </a:xfrm>
          <a:prstGeom prst="roundRect">
            <a:avLst>
              <a:gd name="adj" fmla="val 4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TextBox 70"/>
          <p:cNvSpPr txBox="1"/>
          <p:nvPr/>
        </p:nvSpPr>
        <p:spPr>
          <a:xfrm>
            <a:off x="10991088" y="3602736"/>
            <a:ext cx="694944" cy="274320"/>
          </a:xfrm>
          <a:prstGeom prst="rect">
            <a:avLst/>
          </a:prstGeom>
          <a:noFill/>
        </p:spPr>
        <p:txBody>
          <a:bodyPr wrap="square" anchor="ctr" lIns="0" rIns="0" tIns="0" bIns="0">
            <a:spAutoFit/>
          </a:bodyPr>
          <a:lstStyle/>
          <a:p>
            <a:pPr algn="ctr">
              <a:spcAft>
                <a:spcPts val="400"/>
              </a:spcAft>
            </a:pPr>
            <a:r>
              <a:rPr sz="850" b="1" i="0">
                <a:solidFill>
                  <a:srgbClr val="323139"/>
                </a:solidFill>
                <a:latin typeface="Segoe UI"/>
              </a:rPr>
              <a:t>Download</a:t>
            </a:r>
          </a:p>
        </p:txBody>
      </p:sp>
      <p:sp>
        <p:nvSpPr>
          <p:cNvPr id="72" name="TextBox 71"/>
          <p:cNvSpPr txBox="1"/>
          <p:nvPr/>
        </p:nvSpPr>
        <p:spPr>
          <a:xfrm>
            <a:off x="7772400" y="4279392"/>
            <a:ext cx="3931920" cy="274320"/>
          </a:xfrm>
          <a:prstGeom prst="rect">
            <a:avLst/>
          </a:prstGeom>
          <a:noFill/>
        </p:spPr>
        <p:txBody>
          <a:bodyPr wrap="square" anchor="t" lIns="0" rIns="0" tIns="0" bIns="0">
            <a:spAutoFit/>
          </a:bodyPr>
          <a:lstStyle/>
          <a:p>
            <a:pPr algn="l">
              <a:spcAft>
                <a:spcPts val="400"/>
              </a:spcAft>
            </a:pPr>
            <a:r>
              <a:rPr sz="1150" b="1" i="0">
                <a:solidFill>
                  <a:srgbClr val="242424"/>
                </a:solidFill>
                <a:latin typeface="Segoe UI"/>
              </a:rPr>
              <a:t>Skills</a:t>
            </a:r>
          </a:p>
        </p:txBody>
      </p:sp>
      <p:sp>
        <p:nvSpPr>
          <p:cNvPr id="73" name="TextBox 72"/>
          <p:cNvSpPr txBox="1"/>
          <p:nvPr/>
        </p:nvSpPr>
        <p:spPr>
          <a:xfrm>
            <a:off x="7772400" y="4535424"/>
            <a:ext cx="3931920" cy="256032"/>
          </a:xfrm>
          <a:prstGeom prst="rect">
            <a:avLst/>
          </a:prstGeom>
          <a:noFill/>
        </p:spPr>
        <p:txBody>
          <a:bodyPr wrap="square" anchor="t" lIns="0" rIns="0" tIns="0" bIns="0">
            <a:spAutoFit/>
          </a:bodyPr>
          <a:lstStyle/>
          <a:p>
            <a:pPr algn="l">
              <a:spcAft>
                <a:spcPts val="400"/>
              </a:spcAft>
            </a:pPr>
            <a:r>
              <a:rPr sz="950" b="0" i="0">
                <a:solidFill>
                  <a:srgbClr val="616161"/>
                </a:solidFill>
                <a:latin typeface="Segoe UI"/>
              </a:rPr>
              <a:t>Chips for the skills Cowork loaded</a:t>
            </a:r>
          </a:p>
        </p:txBody>
      </p:sp>
      <p:sp>
        <p:nvSpPr>
          <p:cNvPr id="74" name="TextBox 73"/>
          <p:cNvSpPr txBox="1"/>
          <p:nvPr/>
        </p:nvSpPr>
        <p:spPr>
          <a:xfrm>
            <a:off x="7772400" y="4974336"/>
            <a:ext cx="3931920" cy="274320"/>
          </a:xfrm>
          <a:prstGeom prst="rect">
            <a:avLst/>
          </a:prstGeom>
          <a:noFill/>
        </p:spPr>
        <p:txBody>
          <a:bodyPr wrap="square" anchor="t" lIns="0" rIns="0" tIns="0" bIns="0">
            <a:spAutoFit/>
          </a:bodyPr>
          <a:lstStyle/>
          <a:p>
            <a:pPr algn="l">
              <a:spcAft>
                <a:spcPts val="400"/>
              </a:spcAft>
            </a:pPr>
            <a:r>
              <a:rPr sz="1150" b="1" i="0">
                <a:solidFill>
                  <a:srgbClr val="242424"/>
                </a:solidFill>
                <a:latin typeface="Segoe UI"/>
              </a:rPr>
              <a:t>Schedule</a:t>
            </a:r>
          </a:p>
        </p:txBody>
      </p:sp>
      <p:sp>
        <p:nvSpPr>
          <p:cNvPr id="75" name="TextBox 74"/>
          <p:cNvSpPr txBox="1"/>
          <p:nvPr/>
        </p:nvSpPr>
        <p:spPr>
          <a:xfrm>
            <a:off x="7772400" y="5230368"/>
            <a:ext cx="3931920" cy="256032"/>
          </a:xfrm>
          <a:prstGeom prst="rect">
            <a:avLst/>
          </a:prstGeom>
          <a:noFill/>
        </p:spPr>
        <p:txBody>
          <a:bodyPr wrap="square" anchor="t" lIns="0" rIns="0" tIns="0" bIns="0">
            <a:spAutoFit/>
          </a:bodyPr>
          <a:lstStyle/>
          <a:p>
            <a:pPr algn="l">
              <a:spcAft>
                <a:spcPts val="400"/>
              </a:spcAft>
            </a:pPr>
            <a:r>
              <a:rPr sz="950" b="0" i="0">
                <a:solidFill>
                  <a:srgbClr val="616161"/>
                </a:solidFill>
                <a:latin typeface="Segoe UI"/>
              </a:rPr>
              <a:t>Weekday run — edit, pause, resume, delete</a:t>
            </a:r>
          </a:p>
        </p:txBody>
      </p:sp>
      <p:sp>
        <p:nvSpPr>
          <p:cNvPr id="76" name="TextBox 75"/>
          <p:cNvSpPr txBox="1"/>
          <p:nvPr/>
        </p:nvSpPr>
        <p:spPr>
          <a:xfrm>
            <a:off x="7772400" y="5669279"/>
            <a:ext cx="3931920" cy="274320"/>
          </a:xfrm>
          <a:prstGeom prst="rect">
            <a:avLst/>
          </a:prstGeom>
          <a:noFill/>
        </p:spPr>
        <p:txBody>
          <a:bodyPr wrap="square" anchor="t" lIns="0" rIns="0" tIns="0" bIns="0">
            <a:spAutoFit/>
          </a:bodyPr>
          <a:lstStyle/>
          <a:p>
            <a:pPr algn="l">
              <a:spcAft>
                <a:spcPts val="400"/>
              </a:spcAft>
            </a:pPr>
            <a:r>
              <a:rPr sz="1150" b="1" i="0">
                <a:solidFill>
                  <a:srgbClr val="242424"/>
                </a:solidFill>
                <a:latin typeface="Segoe UI"/>
              </a:rPr>
              <a:t>Permissions</a:t>
            </a:r>
          </a:p>
        </p:txBody>
      </p:sp>
      <p:sp>
        <p:nvSpPr>
          <p:cNvPr id="77" name="TextBox 76"/>
          <p:cNvSpPr txBox="1"/>
          <p:nvPr/>
        </p:nvSpPr>
        <p:spPr>
          <a:xfrm>
            <a:off x="7772400" y="5925312"/>
            <a:ext cx="3931920" cy="256032"/>
          </a:xfrm>
          <a:prstGeom prst="rect">
            <a:avLst/>
          </a:prstGeom>
          <a:noFill/>
        </p:spPr>
        <p:txBody>
          <a:bodyPr wrap="square" anchor="t" lIns="0" rIns="0" tIns="0" bIns="0">
            <a:spAutoFit/>
          </a:bodyPr>
          <a:lstStyle/>
          <a:p>
            <a:pPr algn="l">
              <a:spcAft>
                <a:spcPts val="400"/>
              </a:spcAft>
            </a:pPr>
            <a:r>
              <a:rPr sz="950" b="0" i="0">
                <a:solidFill>
                  <a:srgbClr val="616161"/>
                </a:solidFill>
                <a:latin typeface="Segoe UI"/>
              </a:rPr>
              <a:t>“Don’t ask again” approvals — revoke here</a:t>
            </a:r>
          </a:p>
        </p:txBody>
      </p:sp>
      <p:sp>
        <p:nvSpPr>
          <p:cNvPr id="78" name="TextBox 77"/>
          <p:cNvSpPr txBox="1"/>
          <p:nvPr/>
        </p:nvSpPr>
        <p:spPr>
          <a:xfrm>
            <a:off x="7726679" y="6126480"/>
            <a:ext cx="4023360" cy="274320"/>
          </a:xfrm>
          <a:prstGeom prst="rect">
            <a:avLst/>
          </a:prstGeom>
          <a:noFill/>
        </p:spPr>
        <p:txBody>
          <a:bodyPr wrap="square" anchor="t" lIns="0" rIns="0" tIns="0" bIns="0">
            <a:spAutoFit/>
          </a:bodyPr>
          <a:lstStyle/>
          <a:p>
            <a:pPr algn="l">
              <a:spcAft>
                <a:spcPts val="400"/>
              </a:spcAft>
            </a:pPr>
            <a:r>
              <a:rPr sz="850" b="0" i="1">
                <a:solidFill>
                  <a:srgbClr val="616161"/>
                </a:solidFill>
                <a:latin typeface="Segoe UI"/>
              </a:rPr>
              <a:t>Illustration of the side panel’s sections, not a screenshot</a:t>
            </a:r>
          </a:p>
        </p:txBody>
      </p:sp>
    </p:spTree>
    <p:extLst>
      <p:ext uri="{BB962C8B-B14F-4D97-AF65-F5344CB8AC3E}">
        <p14:creationId xmlns:p14="http://schemas.microsoft.com/office/powerpoint/2010/main" val="1649947486"/>
      </p:ext>
    </p:extLst>
  </p:cSld>
  <p:clrMapOvr>
    <a:overrideClrMapping bg1="lt1" tx1="dk1" bg2="lt2" tx2="dk2" accent1="accent1" accent2="accent2" accent3="accent3" accent4="accent4" accent5="accent5" accent6="accent6" hlink="hlink" folHlink="folHlink"/>
  </p:clrMapOvr>
</p:sld>
</file>

<file path=ppt/slides/slide34.xml><?xml version="1.0" encoding="utf-8"?>
<p:sld xmlns:a="http://schemas.openxmlformats.org/drawingml/2006/main" xmlns:p="http://schemas.openxmlformats.org/presentationml/2006/main" xmlns:r="http://schemas.openxmlformats.org/officeDocument/2006/relationships">
  <p:cSld>
    <p:bg>
      <p:bgPr>
        <a:blipFill dpi="0" rotWithShape="1">
          <a:blip r:embed="rId5">
            <a:alphaModFix amt="70000"/>
            <a:lum/>
          </a:blip>
          <a:srcRect/>
          <a:stretch>
            <a:fillRect l="-2000" r="-2000"/>
          </a:stretch>
        </a:blipFill>
        <a:effectLst/>
      </p:bgPr>
    </p:bg>
    <p:spTree>
      <p:nvGrpSpPr>
        <p:cNvPr id="1" name="">
          <a:extLst>
            <a:ext uri="{FF2B5EF4-FFF2-40B4-BE49-F238E27FC236}">
              <a16:creationId xmlns:a16="http://schemas.microsoft.com/office/drawing/2014/main" id="{CC810B06-9C60-9BCB-DF49-73D043B037F2}"/>
            </a:ext>
          </a:extLst>
        </p:cNvPr>
        <p:cNvGrpSpPr/>
        <p:nvPr/>
      </p:nvGrpSpPr>
      <p:grpSpPr>
        <a:xfrm>
          <a:off x="0" y="0"/>
          <a:ext cx="0" cy="0"/>
          <a:chOff x="0" y="0"/>
          <a:chExt cx="0" cy="0"/>
        </a:xfrm>
      </p:grpSpPr>
      <p:sp>
        <p:nvSpPr>
          <p:cNvPr id="27" name="Title 3">
            <a:extLst>
              <a:ext uri="{FF2B5EF4-FFF2-40B4-BE49-F238E27FC236}">
                <a16:creationId xmlns:a16="http://schemas.microsoft.com/office/drawing/2014/main" id="{3EF2C483-DB46-D975-7E0E-09A75642D76B}"/>
              </a:ext>
            </a:extLst>
          </p:cNvPr>
          <p:cNvSpPr txBox="1">
            <a:spLocks/>
          </p:cNvSpPr>
          <p:nvPr/>
        </p:nvSpPr>
        <p:spPr>
          <a:xfrm>
            <a:off x="1925908" y="293473"/>
            <a:ext cx="7070725" cy="430887"/>
          </a:xfrm>
          <a:prstGeom prst="rect">
            <a:avLst/>
          </a:prstGeom>
        </p:spPr>
        <p:txBody>
          <a:bodyPr vert="horz" wrap="square" lIns="0" tIns="0" rIns="0" bIns="0" rtlCol="0" anchor="t">
            <a:spAutoFit/>
          </a:bodyPr>
          <a:lstStyle>
            <a:lvl1pPr algn="l" defTabSz="769520" rtl="0" eaLnBrk="1" latinLnBrk="0" hangingPunct="1">
              <a:lnSpc>
                <a:spcPct val="100000"/>
              </a:lnSpc>
              <a:spcBef>
                <a:spcPct val="0"/>
              </a:spcBef>
              <a:buNone/>
              <a:defRPr lang="en-US" sz="2000" b="0" kern="1200" cap="none" spc="0" baseline="0">
                <a:ln w="3175">
                  <a:noFill/>
                </a:ln>
                <a:solidFill>
                  <a:schemeClr val="tx1"/>
                </a:solidFill>
                <a:effectLst/>
                <a:latin typeface="+mj-lt"/>
                <a:ea typeface="+mn-ea"/>
                <a:cs typeface="Segoe Sans Display" pitchFamily="2" charset="0"/>
              </a:defRPr>
            </a:lvl1pPr>
          </a:lstStyle>
          <a:p>
            <a:pPr marL="0" marR="0" lvl="0" indent="0" algn="l" defTabSz="769520" rtl="0" eaLnBrk="1" fontAlgn="auto" latinLnBrk="0" hangingPunct="1">
              <a:lnSpc>
                <a:spcPct val="100000"/>
              </a:lnSpc>
              <a:spcBef>
                <a:spcPct val="0"/>
              </a:spcBef>
              <a:spcAft>
                <a:spcPts val="0"/>
              </a:spcAft>
              <a:buClrTx/>
              <a:buSzTx/>
              <a:buFontTx/>
              <a:buNone/>
              <a:tabLst/>
              <a:defRPr/>
            </a:pPr>
            <a:r>
              <a:rPr kumimoji="0" lang="en-US" sz="2800" b="0" i="0" u="none" strike="noStrike" kern="1200" cap="none" spc="0" normalizeH="0" baseline="0" noProof="0">
                <a:ln w="3175">
                  <a:noFill/>
                </a:ln>
                <a:solidFill>
                  <a:srgbClr val="323139"/>
                </a:solidFill>
                <a:effectLst/>
                <a:uLnTx/>
                <a:uFillTx/>
                <a:latin typeface="Segoe Sans Display" pitchFamily="2" charset="0"/>
                <a:ea typeface="+mn-ea"/>
                <a:cs typeface="Segoe Sans Display" pitchFamily="2" charset="0"/>
              </a:rPr>
              <a:t>Research the Web with Deep Research</a:t>
            </a:r>
          </a:p>
        </p:txBody>
      </p:sp>
      <p:sp>
        <p:nvSpPr>
          <p:cNvPr id="28" name="NavPill_SitesPages">
            <a:extLst>
              <a:ext uri="{FF2B5EF4-FFF2-40B4-BE49-F238E27FC236}">
                <a16:creationId xmlns:a16="http://schemas.microsoft.com/office/drawing/2014/main" id="{57BB7AF5-33B6-DA4A-ABA7-2573FB8050B2}"/>
              </a:ext>
            </a:extLst>
          </p:cNvPr>
          <p:cNvSpPr/>
          <p:nvPr/>
        </p:nvSpPr>
        <p:spPr>
          <a:xfrm>
            <a:off x="350837" y="342900"/>
            <a:ext cx="1419239" cy="337762"/>
          </a:xfrm>
          <a:prstGeom prst="roundRect">
            <a:avLst>
              <a:gd name="adj" fmla="val 50000"/>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207091" rtl="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Ex 02</a:t>
            </a:r>
          </a:p>
        </p:txBody>
      </p:sp>
      <p:sp>
        <p:nvSpPr>
          <p:cNvPr id="33" name="Rectangle: Rounded Corners 32">
            <a:extLst>
              <a:ext uri="{FF2B5EF4-FFF2-40B4-BE49-F238E27FC236}">
                <a16:creationId xmlns:a16="http://schemas.microsoft.com/office/drawing/2014/main" id="{8D56FF72-D759-DB8C-C791-1089618B3EE4}"/>
              </a:ext>
            </a:extLst>
          </p:cNvPr>
          <p:cNvSpPr/>
          <p:nvPr/>
        </p:nvSpPr>
        <p:spPr bwMode="auto">
          <a:xfrm>
            <a:off x="424382" y="954763"/>
            <a:ext cx="3621360" cy="1127147"/>
          </a:xfrm>
          <a:prstGeom prst="roundRect">
            <a:avLst>
              <a:gd name="adj" fmla="val 9646"/>
            </a:avLst>
          </a:prstGeom>
          <a:solidFill>
            <a:srgbClr val="FFFC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Goal</a:t>
            </a:r>
            <a:r>
              <a:rPr kumimoji="0" lang="en-US" sz="1100" b="0" i="0" u="none" strike="noStrike" kern="0" cap="none" spc="0" normalizeH="0" baseline="0" noProof="0">
                <a:ln w="3175">
                  <a:noFill/>
                </a:ln>
                <a:solidFill>
                  <a:srgbClr val="323139"/>
                </a:solidFill>
                <a:effectLst/>
                <a:uLnTx/>
                <a:uFillTx/>
                <a:latin typeface="Segoe Sans Display Semibold" pitchFamily="2" charset="0"/>
                <a:ea typeface="+mn-ea"/>
                <a:cs typeface="Segoe Sans Display Semibold" pitchFamily="2" charset="0"/>
              </a:rPr>
              <a:t>: </a:t>
            </a:r>
            <a:r>
              <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rPr>
              <a:t>Get an evidence-based view of structured behavioral interviewing and turn it into questions for a real open role.</a:t>
            </a:r>
          </a:p>
        </p:txBody>
      </p:sp>
      <p:sp>
        <p:nvSpPr>
          <p:cNvPr id="34" name="Rectangle: Rounded Corners 33">
            <a:extLst>
              <a:ext uri="{FF2B5EF4-FFF2-40B4-BE49-F238E27FC236}">
                <a16:creationId xmlns:a16="http://schemas.microsoft.com/office/drawing/2014/main" id="{58B7C25E-B49B-24B7-8F32-A2823589DFF3}"/>
              </a:ext>
            </a:extLst>
          </p:cNvPr>
          <p:cNvSpPr/>
          <p:nvPr/>
        </p:nvSpPr>
        <p:spPr bwMode="auto">
          <a:xfrm>
            <a:off x="4372822" y="978410"/>
            <a:ext cx="3621360" cy="1107187"/>
          </a:xfrm>
          <a:prstGeom prst="roundRect">
            <a:avLst>
              <a:gd name="adj" fmla="val 10584"/>
            </a:avLst>
          </a:prstGeom>
          <a:solidFill>
            <a:srgbClr val="FFFC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noProof="0">
                <a:ln w="3175">
                  <a:noFill/>
                </a:ln>
                <a:blipFill>
                  <a:blip r:embed="rId4"/>
                  <a:stretch>
                    <a:fillRect t="-26822" b="-26822"/>
                  </a:stretch>
                </a:blipFill>
                <a:effectLst/>
                <a:uLnTx/>
                <a:uFillTx/>
                <a:latin typeface="Segoe Sans Display Semibold"/>
                <a:ea typeface="+mn-ea"/>
                <a:cs typeface="Segoe Sans Display Semibold" pitchFamily="2" charset="0"/>
              </a:rPr>
              <a:t>Output</a:t>
            </a:r>
            <a:r>
              <a:rPr kumimoji="0" lang="en-US" sz="1100" b="0" i="0" u="none" strike="noStrike" kern="0" cap="none" spc="0" normalizeH="0" baseline="0" noProof="0">
                <a:ln w="3175">
                  <a:noFill/>
                </a:ln>
                <a:solidFill>
                  <a:srgbClr val="323139"/>
                </a:solidFill>
                <a:effectLst/>
                <a:uLnTx/>
                <a:uFillTx/>
                <a:latin typeface="Segoe Sans Display Semibold"/>
                <a:ea typeface="+mn-ea"/>
                <a:cs typeface="Segoe Sans Display Semibold" pitchFamily="2" charset="0"/>
              </a:rPr>
              <a:t>: </a:t>
            </a:r>
            <a:r>
              <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rPr>
              <a:t>A cited one-page briefing, five tailored questions for Zava’s HR Coordinator role, and an interviewer scorecard in Word and Excel with the scoring scales filled in.</a:t>
            </a:r>
          </a:p>
        </p:txBody>
      </p:sp>
      <p:sp>
        <p:nvSpPr>
          <p:cNvPr id="30" name="TextBox 29">
            <a:extLst>
              <a:ext uri="{FF2B5EF4-FFF2-40B4-BE49-F238E27FC236}">
                <a16:creationId xmlns:a16="http://schemas.microsoft.com/office/drawing/2014/main" id="{4519738B-A618-91E3-CAC4-D99F7E54632B}"/>
              </a:ext>
              <a:ext uri="{C183D7F6-B498-43B3-948B-1728B52AA6E4}">
                <ns0:decorative xmlns:ns0="http://schemas.microsoft.com/office/drawing/2017/decorative" val="1"/>
              </a:ext>
            </a:extLst>
          </p:cNvPr>
          <p:cNvSpPr txBox="1"/>
          <p:nvPr/>
        </p:nvSpPr>
        <p:spPr>
          <a:xfrm>
            <a:off x="8867052" y="119383"/>
            <a:ext cx="3092209" cy="338554"/>
          </a:xfrm>
          <a:prstGeom prst="roundRect">
            <a:avLst>
              <a:gd name="adj" fmla="val 19537"/>
            </a:avLst>
          </a:prstGeom>
          <a:solidFill>
            <a:srgbClr val="CB85FF">
              <a:lumMod val="20000"/>
              <a:lumOff val="80000"/>
            </a:srgbClr>
          </a:solidFill>
        </p:spPr>
        <p:txBody>
          <a:bodyPr wrap="square" lIns="1188720" tIns="45720" rIns="0" bIns="45720" anchor="ctr">
            <a:noAutofit/>
          </a:bodyPr>
          <a:lstStyle>
            <a:defPPr>
              <a:defRPr lang="en-US"/>
            </a:defPPr>
            <a:lvl1pPr>
              <a:spcAft>
                <a:spcPts val="776"/>
              </a:spcAft>
              <a:defRPr sz="1200">
                <a:latin typeface="+mj-lt"/>
                <a:cs typeface="Segoe Sans Display Semibold" pitchFamily="2" charset="0"/>
              </a:defRPr>
            </a:lvl1pPr>
          </a:lstStyle>
          <a:p>
            <a:pPr marL="0" marR="0" lvl="0" indent="0" algn="l" defTabSz="914294" rtl="0" eaLnBrk="1" fontAlgn="auto" latinLnBrk="0" hangingPunct="1">
              <a:lnSpc>
                <a:spcPct val="100000"/>
              </a:lnSpc>
              <a:spcBef>
                <a:spcPts val="0"/>
              </a:spcBef>
              <a:spcAft>
                <a:spcPts val="776"/>
              </a:spcAft>
              <a:buClrTx/>
              <a:buSzTx/>
              <a:buFontTx/>
              <a:buNone/>
              <a:tabLst/>
              <a:defRPr/>
            </a:pPr>
            <a:endParaRPr kumimoji="0" lang="en-US" sz="1200" b="0" i="0" u="none" strike="noStrike" kern="0" cap="none" spc="0" normalizeH="0" baseline="0" noProof="0">
              <a:ln>
                <a:noFill/>
              </a:ln>
              <a:solidFill>
                <a:srgbClr val="323139"/>
              </a:solidFill>
              <a:effectLst/>
              <a:uLnTx/>
              <a:uFillTx/>
              <a:latin typeface="Segoe Sans Display"/>
              <a:ea typeface="+mn-ea"/>
              <a:cs typeface="Segoe Sans Display Semibold" pitchFamily="2" charset="0"/>
            </a:endParaRPr>
          </a:p>
        </p:txBody>
      </p:sp>
      <p:sp>
        <p:nvSpPr>
          <p:cNvPr id="31" name="TextBox 30">
            <a:extLst>
              <a:ext uri="{FF2B5EF4-FFF2-40B4-BE49-F238E27FC236}">
                <a16:creationId xmlns:a16="http://schemas.microsoft.com/office/drawing/2014/main" id="{4B310F6E-1BD3-CF01-32AD-647BCF12AC0F}"/>
              </a:ext>
            </a:extLst>
          </p:cNvPr>
          <p:cNvSpPr txBox="1"/>
          <p:nvPr/>
        </p:nvSpPr>
        <p:spPr>
          <a:xfrm>
            <a:off x="8942688" y="173878"/>
            <a:ext cx="1280160" cy="233352"/>
          </a:xfrm>
          <a:prstGeom prst="roundRect">
            <a:avLst>
              <a:gd name="adj" fmla="val 16151"/>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5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defRPr lang="en-US"/>
            </a:defPPr>
            <a:lvl1pPr algn="ctr" defTabSz="932765" fontAlgn="base">
              <a:spcBef>
                <a:spcPct val="0"/>
              </a:spcBef>
              <a:spcAft>
                <a:spcPct val="0"/>
              </a:spcAft>
              <a:defRPr sz="1600">
                <a:solidFill>
                  <a:schemeClr val="accent1"/>
                </a:solidFill>
                <a:latin typeface="+mj-lt"/>
                <a:cs typeface="Segoe Sans Display Semibold" pitchFamily="2" charset="0"/>
              </a:defRPr>
            </a:lvl1pPr>
          </a:lstStyle>
          <a:p>
            <a:pPr marL="0" marR="0" lvl="0" indent="0" algn="l" defTabSz="932765" rtl="0" eaLnBrk="1" fontAlgn="base" latinLnBrk="0" hangingPunct="1">
              <a:lnSpc>
                <a:spcPct val="100000"/>
              </a:lnSpc>
              <a:spcBef>
                <a:spcPct val="0"/>
              </a:spcBef>
              <a:spcAft>
                <a:spcPct val="0"/>
              </a:spcAft>
              <a:buClrTx/>
              <a:buSzTx/>
              <a:buFontTx/>
              <a:buNone/>
              <a:tabLst/>
              <a:defRPr/>
            </a:pPr>
            <a:r>
              <a:rPr kumimoji="0" lang="en-IN" sz="1050" b="0" i="0" u="none" strike="noStrike" kern="0" cap="none" spc="0" normalizeH="0" baseline="0" noProof="0">
                <a:ln>
                  <a:noFill/>
                </a:ln>
                <a:solidFill>
                  <a:srgbClr val="323139"/>
                </a:solidFill>
                <a:effectLst/>
                <a:uLnTx/>
                <a:uFillTx/>
                <a:latin typeface="Segoe Sans Display"/>
                <a:ea typeface="+mn-ea"/>
                <a:cs typeface="Segoe Sans Display Semibold" pitchFamily="2" charset="0"/>
              </a:rPr>
              <a:t>Function</a:t>
            </a:r>
          </a:p>
        </p:txBody>
      </p:sp>
      <p:sp>
        <p:nvSpPr>
          <p:cNvPr id="50" name="TextBox 49">
            <a:extLst>
              <a:ext uri="{FF2B5EF4-FFF2-40B4-BE49-F238E27FC236}">
                <a16:creationId xmlns:a16="http://schemas.microsoft.com/office/drawing/2014/main" id="{0CE10D15-83B7-7915-49A3-0BD3A21E9731}"/>
              </a:ext>
            </a:extLst>
          </p:cNvPr>
          <p:cNvSpPr txBox="1"/>
          <p:nvPr/>
        </p:nvSpPr>
        <p:spPr>
          <a:xfrm>
            <a:off x="10298483" y="173490"/>
            <a:ext cx="1668779" cy="253916"/>
          </a:xfrm>
          <a:prstGeom prst="rect">
            <a:avLst/>
          </a:prstGeom>
          <a:noFill/>
        </p:spPr>
        <p:txBody>
          <a:bodyPr wrap="square">
            <a:spAutoFit/>
          </a:bodyPr>
          <a:lstStyle/>
          <a:p>
            <a:pPr marL="0" marR="0" lvl="0" indent="0" algn="l" defTabSz="914294"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323139"/>
                </a:solidFill>
                <a:effectLst/>
                <a:uLnTx/>
                <a:uFillTx/>
                <a:latin typeface="Segoe Sans Display"/>
                <a:ea typeface="+mn-ea"/>
                <a:cs typeface="Segoe Sans Display"/>
              </a:rPr>
              <a:t>HR · Talent</a:t>
            </a:r>
          </a:p>
        </p:txBody>
      </p:sp>
      <p:sp>
        <p:nvSpPr>
          <p:cNvPr id="59" name="Rectangle: Rounded Corners 58">
            <a:extLst>
              <a:ext uri="{FF2B5EF4-FFF2-40B4-BE49-F238E27FC236}">
                <a16:creationId xmlns:a16="http://schemas.microsoft.com/office/drawing/2014/main" id="{4A73329A-1917-C156-E817-2B9E2D56CBE1}"/>
              </a:ext>
              <a:ext uri="{C183D7F6-B498-43B3-948B-1728B52AA6E4}">
                <ns1:decorative xmlns:ns1="http://schemas.microsoft.com/office/drawing/2017/decorative" val="1"/>
              </a:ext>
            </a:extLst>
          </p:cNvPr>
          <p:cNvSpPr/>
          <p:nvPr/>
        </p:nvSpPr>
        <p:spPr bwMode="auto">
          <a:xfrm>
            <a:off x="424381" y="2312313"/>
            <a:ext cx="7171849" cy="4327573"/>
          </a:xfrm>
          <a:prstGeom prst="roundRect">
            <a:avLst>
              <a:gd name="adj" fmla="val 1683"/>
            </a:avLst>
          </a:prstGeom>
          <a:solidFill>
            <a:srgbClr val="FFF9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B553FF"/>
              </a:solidFill>
              <a:effectLst/>
              <a:uLnTx/>
              <a:uFillTx/>
              <a:latin typeface="Segoe Sans Display Semibold" pitchFamily="2" charset="0"/>
              <a:ea typeface="+mn-ea"/>
              <a:cs typeface="Segoe Sans Display Semibold" pitchFamily="2" charset="0"/>
            </a:endParaRPr>
          </a:p>
        </p:txBody>
      </p:sp>
      <p:grpSp>
        <p:nvGrpSpPr>
          <p:cNvPr id="79" name="Group 78">
            <a:extLst>
              <a:ext uri="{FF2B5EF4-FFF2-40B4-BE49-F238E27FC236}">
                <a16:creationId xmlns:a16="http://schemas.microsoft.com/office/drawing/2014/main" id="{B857CF20-AAD8-92CD-98E7-73BD8662071B}"/>
              </a:ext>
            </a:extLst>
          </p:cNvPr>
          <p:cNvGrpSpPr/>
          <p:nvPr/>
        </p:nvGrpSpPr>
        <p:grpSpPr>
          <a:xfrm>
            <a:off x="199916" y="775485"/>
            <a:ext cx="398477" cy="398477"/>
            <a:chOff x="3403308" y="1083220"/>
            <a:chExt cx="398477" cy="398477"/>
          </a:xfrm>
        </p:grpSpPr>
        <p:sp>
          <p:nvSpPr>
            <p:cNvPr id="76" name="Oval 75">
              <a:extLst>
                <a:ext uri="{FF2B5EF4-FFF2-40B4-BE49-F238E27FC236}">
                  <a16:creationId xmlns:a16="http://schemas.microsoft.com/office/drawing/2014/main" id="{159C5AC1-FC57-57FC-51C9-4DC5847B88F1}"/>
                </a:ext>
                <a:ext uri="{C183D7F6-B498-43B3-948B-1728B52AA6E4}">
                  <ns2:decorative xmlns:ns2="http://schemas.microsoft.com/office/drawing/2017/decorative" val="1"/>
                </a:ext>
              </a:extLst>
            </p:cNvPr>
            <p:cNvSpPr/>
            <p:nvPr/>
          </p:nvSpPr>
          <p:spPr>
            <a:xfrm>
              <a:off x="3403308" y="1083220"/>
              <a:ext cx="398477" cy="398477"/>
            </a:xfrm>
            <a:prstGeom prst="ellipse">
              <a:avLst/>
            </a:prstGeom>
            <a:solidFill>
              <a:srgbClr val="FFF9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2" name="Graphic 5">
              <a:extLst>
                <a:ext uri="{FF2B5EF4-FFF2-40B4-BE49-F238E27FC236}">
                  <a16:creationId xmlns:a16="http://schemas.microsoft.com/office/drawing/2014/main" id="{9F306AE4-27E6-F02E-E553-1EF2C3FBAF65}"/>
                </a:ext>
                <a:ext uri="{C183D7F6-B498-43B3-948B-1728B52AA6E4}">
                  <adec:decorative xmlns:adec="http://schemas.microsoft.com/office/drawing/2017/decorative" val="1"/>
                </a:ext>
              </a:extLst>
            </p:cNvPr>
            <p:cNvSpPr>
              <a:spLocks/>
            </p:cNvSpPr>
            <p:nvPr/>
          </p:nvSpPr>
          <p:spPr>
            <a:xfrm>
              <a:off x="3474676" y="1157049"/>
              <a:ext cx="250822" cy="250818"/>
            </a:xfrm>
            <a:custGeom>
              <a:avLst/>
              <a:gdLst>
                <a:gd name="csX0" fmla="*/ 188408 w 190501"/>
                <a:gd name="csY0" fmla="*/ 45534 h 190500"/>
                <a:gd name="csX1" fmla="*/ 189957 w 190501"/>
                <a:gd name="csY1" fmla="*/ 37748 h 190500"/>
                <a:gd name="csX2" fmla="*/ 183357 w 190501"/>
                <a:gd name="csY2" fmla="*/ 33338 h 190500"/>
                <a:gd name="csX3" fmla="*/ 157162 w 190501"/>
                <a:gd name="csY3" fmla="*/ 33338 h 190500"/>
                <a:gd name="csX4" fmla="*/ 157162 w 190501"/>
                <a:gd name="csY4" fmla="*/ 7144 h 190500"/>
                <a:gd name="csX5" fmla="*/ 152751 w 190501"/>
                <a:gd name="csY5" fmla="*/ 544 h 190500"/>
                <a:gd name="csX6" fmla="*/ 144967 w 190501"/>
                <a:gd name="csY6" fmla="*/ 2093 h 190500"/>
                <a:gd name="csX7" fmla="*/ 121155 w 190501"/>
                <a:gd name="csY7" fmla="*/ 25906 h 190500"/>
                <a:gd name="csX8" fmla="*/ 119063 w 190501"/>
                <a:gd name="csY8" fmla="*/ 30957 h 190500"/>
                <a:gd name="csX9" fmla="*/ 119063 w 190501"/>
                <a:gd name="csY9" fmla="*/ 57967 h 190500"/>
                <a:gd name="csX10" fmla="*/ 100185 w 190501"/>
                <a:gd name="csY10" fmla="*/ 76846 h 190500"/>
                <a:gd name="csX11" fmla="*/ 95250 w 190501"/>
                <a:gd name="csY11" fmla="*/ 76201 h 190500"/>
                <a:gd name="csX12" fmla="*/ 76200 w 190501"/>
                <a:gd name="csY12" fmla="*/ 95251 h 190500"/>
                <a:gd name="csX13" fmla="*/ 95250 w 190501"/>
                <a:gd name="csY13" fmla="*/ 114301 h 190500"/>
                <a:gd name="csX14" fmla="*/ 114300 w 190501"/>
                <a:gd name="csY14" fmla="*/ 95251 h 190500"/>
                <a:gd name="csX15" fmla="*/ 113655 w 190501"/>
                <a:gd name="csY15" fmla="*/ 90316 h 190500"/>
                <a:gd name="csX16" fmla="*/ 132533 w 190501"/>
                <a:gd name="csY16" fmla="*/ 71438 h 190500"/>
                <a:gd name="csX17" fmla="*/ 159545 w 190501"/>
                <a:gd name="csY17" fmla="*/ 71438 h 190500"/>
                <a:gd name="csX18" fmla="*/ 164596 w 190501"/>
                <a:gd name="csY18" fmla="*/ 69346 h 190500"/>
                <a:gd name="csX19" fmla="*/ 188408 w 190501"/>
                <a:gd name="csY19" fmla="*/ 45534 h 190500"/>
                <a:gd name="csX20" fmla="*/ 95250 w 190501"/>
                <a:gd name="csY20" fmla="*/ 1 h 190500"/>
                <a:gd name="csX21" fmla="*/ 127860 w 190501"/>
                <a:gd name="csY21" fmla="*/ 5729 h 190500"/>
                <a:gd name="csX22" fmla="*/ 114419 w 190501"/>
                <a:gd name="csY22" fmla="*/ 19170 h 190500"/>
                <a:gd name="csX23" fmla="*/ 112781 w 190501"/>
                <a:gd name="csY23" fmla="*/ 21077 h 190500"/>
                <a:gd name="csX24" fmla="*/ 95250 w 190501"/>
                <a:gd name="csY24" fmla="*/ 19051 h 190500"/>
                <a:gd name="csX25" fmla="*/ 19050 w 190501"/>
                <a:gd name="csY25" fmla="*/ 95251 h 190500"/>
                <a:gd name="csX26" fmla="*/ 95250 w 190501"/>
                <a:gd name="csY26" fmla="*/ 171451 h 190500"/>
                <a:gd name="csX27" fmla="*/ 171450 w 190501"/>
                <a:gd name="csY27" fmla="*/ 95251 h 190500"/>
                <a:gd name="csX28" fmla="*/ 169424 w 190501"/>
                <a:gd name="csY28" fmla="*/ 77720 h 190500"/>
                <a:gd name="csX29" fmla="*/ 171331 w 190501"/>
                <a:gd name="csY29" fmla="*/ 76081 h 190500"/>
                <a:gd name="csX30" fmla="*/ 184772 w 190501"/>
                <a:gd name="csY30" fmla="*/ 62641 h 190500"/>
                <a:gd name="csX31" fmla="*/ 190500 w 190501"/>
                <a:gd name="csY31" fmla="*/ 95251 h 190500"/>
                <a:gd name="csX32" fmla="*/ 95250 w 190501"/>
                <a:gd name="csY32" fmla="*/ 190501 h 190500"/>
                <a:gd name="csX33" fmla="*/ 0 w 190501"/>
                <a:gd name="csY33" fmla="*/ 95251 h 190500"/>
                <a:gd name="csX34" fmla="*/ 95250 w 190501"/>
                <a:gd name="csY34" fmla="*/ 1 h 190500"/>
                <a:gd name="csX35" fmla="*/ 95250 w 190501"/>
                <a:gd name="csY35" fmla="*/ 38101 h 190500"/>
                <a:gd name="csX36" fmla="*/ 109538 w 190501"/>
                <a:gd name="csY36" fmla="*/ 39901 h 190500"/>
                <a:gd name="csX37" fmla="*/ 109538 w 190501"/>
                <a:gd name="csY37" fmla="*/ 54021 h 190500"/>
                <a:gd name="csX38" fmla="*/ 105592 w 190501"/>
                <a:gd name="csY38" fmla="*/ 57968 h 190500"/>
                <a:gd name="csX39" fmla="*/ 105131 w 190501"/>
                <a:gd name="csY39" fmla="*/ 58444 h 190500"/>
                <a:gd name="csX40" fmla="*/ 95250 w 190501"/>
                <a:gd name="csY40" fmla="*/ 57151 h 190500"/>
                <a:gd name="csX41" fmla="*/ 57150 w 190501"/>
                <a:gd name="csY41" fmla="*/ 95251 h 190500"/>
                <a:gd name="csX42" fmla="*/ 95250 w 190501"/>
                <a:gd name="csY42" fmla="*/ 133351 h 190500"/>
                <a:gd name="csX43" fmla="*/ 133350 w 190501"/>
                <a:gd name="csY43" fmla="*/ 95251 h 190500"/>
                <a:gd name="csX44" fmla="*/ 132057 w 190501"/>
                <a:gd name="csY44" fmla="*/ 85369 h 190500"/>
                <a:gd name="csX45" fmla="*/ 132533 w 190501"/>
                <a:gd name="csY45" fmla="*/ 84909 h 190500"/>
                <a:gd name="csX46" fmla="*/ 136478 w 190501"/>
                <a:gd name="csY46" fmla="*/ 80963 h 190500"/>
                <a:gd name="csX47" fmla="*/ 150600 w 190501"/>
                <a:gd name="csY47" fmla="*/ 80963 h 190500"/>
                <a:gd name="csX48" fmla="*/ 152400 w 190501"/>
                <a:gd name="csY48" fmla="*/ 95251 h 190500"/>
                <a:gd name="csX49" fmla="*/ 95250 w 190501"/>
                <a:gd name="csY49" fmla="*/ 152401 h 190500"/>
                <a:gd name="csX50" fmla="*/ 38100 w 190501"/>
                <a:gd name="csY50" fmla="*/ 95251 h 190500"/>
                <a:gd name="csX51" fmla="*/ 95250 w 190501"/>
                <a:gd name="csY51" fmla="*/ 38101 h 190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Lst>
              <a:rect l="l" t="t" r="r" b="b"/>
              <a:pathLst>
                <a:path w="190501" h="190500">
                  <a:moveTo>
                    <a:pt x="188408" y="45534"/>
                  </a:moveTo>
                  <a:cubicBezTo>
                    <a:pt x="190452" y="43491"/>
                    <a:pt x="191063" y="40418"/>
                    <a:pt x="189957" y="37748"/>
                  </a:cubicBezTo>
                  <a:cubicBezTo>
                    <a:pt x="188852" y="35079"/>
                    <a:pt x="186247" y="33338"/>
                    <a:pt x="183357" y="33338"/>
                  </a:cubicBezTo>
                  <a:lnTo>
                    <a:pt x="157162" y="33338"/>
                  </a:lnTo>
                  <a:lnTo>
                    <a:pt x="157162" y="7144"/>
                  </a:lnTo>
                  <a:cubicBezTo>
                    <a:pt x="157162" y="4255"/>
                    <a:pt x="155421" y="1650"/>
                    <a:pt x="152751" y="544"/>
                  </a:cubicBezTo>
                  <a:cubicBezTo>
                    <a:pt x="150083" y="-562"/>
                    <a:pt x="147010" y="50"/>
                    <a:pt x="144967" y="2093"/>
                  </a:cubicBezTo>
                  <a:lnTo>
                    <a:pt x="121155" y="25906"/>
                  </a:lnTo>
                  <a:cubicBezTo>
                    <a:pt x="119815" y="27246"/>
                    <a:pt x="119063" y="29063"/>
                    <a:pt x="119063" y="30957"/>
                  </a:cubicBezTo>
                  <a:lnTo>
                    <a:pt x="119063" y="57967"/>
                  </a:lnTo>
                  <a:lnTo>
                    <a:pt x="100185" y="76846"/>
                  </a:lnTo>
                  <a:cubicBezTo>
                    <a:pt x="98610" y="76425"/>
                    <a:pt x="96957" y="76201"/>
                    <a:pt x="95250" y="76201"/>
                  </a:cubicBezTo>
                  <a:cubicBezTo>
                    <a:pt x="84729" y="76201"/>
                    <a:pt x="76200" y="84730"/>
                    <a:pt x="76200" y="95251"/>
                  </a:cubicBezTo>
                  <a:cubicBezTo>
                    <a:pt x="76200" y="105771"/>
                    <a:pt x="84729" y="114301"/>
                    <a:pt x="95250" y="114301"/>
                  </a:cubicBezTo>
                  <a:cubicBezTo>
                    <a:pt x="105771" y="114301"/>
                    <a:pt x="114300" y="105771"/>
                    <a:pt x="114300" y="95251"/>
                  </a:cubicBezTo>
                  <a:cubicBezTo>
                    <a:pt x="114300" y="93544"/>
                    <a:pt x="114075" y="91891"/>
                    <a:pt x="113655" y="90316"/>
                  </a:cubicBezTo>
                  <a:lnTo>
                    <a:pt x="132533" y="71438"/>
                  </a:lnTo>
                  <a:lnTo>
                    <a:pt x="159545" y="71438"/>
                  </a:lnTo>
                  <a:cubicBezTo>
                    <a:pt x="161439" y="71438"/>
                    <a:pt x="163256" y="70686"/>
                    <a:pt x="164596" y="69346"/>
                  </a:cubicBezTo>
                  <a:lnTo>
                    <a:pt x="188408" y="45534"/>
                  </a:lnTo>
                  <a:close/>
                  <a:moveTo>
                    <a:pt x="95250" y="1"/>
                  </a:moveTo>
                  <a:cubicBezTo>
                    <a:pt x="106705" y="1"/>
                    <a:pt x="117687" y="2023"/>
                    <a:pt x="127860" y="5729"/>
                  </a:cubicBezTo>
                  <a:lnTo>
                    <a:pt x="114419" y="19170"/>
                  </a:lnTo>
                  <a:cubicBezTo>
                    <a:pt x="113823" y="19767"/>
                    <a:pt x="113275" y="20405"/>
                    <a:pt x="112781" y="21077"/>
                  </a:cubicBezTo>
                  <a:cubicBezTo>
                    <a:pt x="107152" y="19752"/>
                    <a:pt x="101283" y="19051"/>
                    <a:pt x="95250" y="19051"/>
                  </a:cubicBezTo>
                  <a:cubicBezTo>
                    <a:pt x="53166" y="19051"/>
                    <a:pt x="19050" y="53166"/>
                    <a:pt x="19050" y="95251"/>
                  </a:cubicBezTo>
                  <a:cubicBezTo>
                    <a:pt x="19050" y="137334"/>
                    <a:pt x="53166" y="171451"/>
                    <a:pt x="95250" y="171451"/>
                  </a:cubicBezTo>
                  <a:cubicBezTo>
                    <a:pt x="137334" y="171451"/>
                    <a:pt x="171450" y="137334"/>
                    <a:pt x="171450" y="95251"/>
                  </a:cubicBezTo>
                  <a:cubicBezTo>
                    <a:pt x="171450" y="89218"/>
                    <a:pt x="170749" y="83348"/>
                    <a:pt x="169424" y="77720"/>
                  </a:cubicBezTo>
                  <a:cubicBezTo>
                    <a:pt x="170096" y="77226"/>
                    <a:pt x="170734" y="76678"/>
                    <a:pt x="171331" y="76081"/>
                  </a:cubicBezTo>
                  <a:lnTo>
                    <a:pt x="184772" y="62641"/>
                  </a:lnTo>
                  <a:cubicBezTo>
                    <a:pt x="188478" y="72813"/>
                    <a:pt x="190500" y="83796"/>
                    <a:pt x="190500" y="95251"/>
                  </a:cubicBezTo>
                  <a:cubicBezTo>
                    <a:pt x="190500" y="147856"/>
                    <a:pt x="147855" y="190501"/>
                    <a:pt x="95250" y="190501"/>
                  </a:cubicBezTo>
                  <a:cubicBezTo>
                    <a:pt x="42645" y="190501"/>
                    <a:pt x="0" y="147856"/>
                    <a:pt x="0" y="95251"/>
                  </a:cubicBezTo>
                  <a:cubicBezTo>
                    <a:pt x="0" y="42645"/>
                    <a:pt x="42645" y="1"/>
                    <a:pt x="95250" y="1"/>
                  </a:cubicBezTo>
                  <a:close/>
                  <a:moveTo>
                    <a:pt x="95250" y="38101"/>
                  </a:moveTo>
                  <a:cubicBezTo>
                    <a:pt x="100184" y="38101"/>
                    <a:pt x="104971" y="38726"/>
                    <a:pt x="109538" y="39901"/>
                  </a:cubicBezTo>
                  <a:lnTo>
                    <a:pt x="109538" y="54021"/>
                  </a:lnTo>
                  <a:lnTo>
                    <a:pt x="105592" y="57968"/>
                  </a:lnTo>
                  <a:cubicBezTo>
                    <a:pt x="105435" y="58125"/>
                    <a:pt x="105282" y="58284"/>
                    <a:pt x="105131" y="58444"/>
                  </a:cubicBezTo>
                  <a:cubicBezTo>
                    <a:pt x="101980" y="57601"/>
                    <a:pt x="98668" y="57151"/>
                    <a:pt x="95250" y="57151"/>
                  </a:cubicBezTo>
                  <a:cubicBezTo>
                    <a:pt x="74208" y="57151"/>
                    <a:pt x="57150" y="74208"/>
                    <a:pt x="57150" y="95251"/>
                  </a:cubicBezTo>
                  <a:cubicBezTo>
                    <a:pt x="57150" y="116293"/>
                    <a:pt x="74208" y="133351"/>
                    <a:pt x="95250" y="133351"/>
                  </a:cubicBezTo>
                  <a:cubicBezTo>
                    <a:pt x="116292" y="133351"/>
                    <a:pt x="133350" y="116293"/>
                    <a:pt x="133350" y="95251"/>
                  </a:cubicBezTo>
                  <a:cubicBezTo>
                    <a:pt x="133350" y="91833"/>
                    <a:pt x="132900" y="88521"/>
                    <a:pt x="132057" y="85369"/>
                  </a:cubicBezTo>
                  <a:cubicBezTo>
                    <a:pt x="132217" y="85219"/>
                    <a:pt x="132376" y="85065"/>
                    <a:pt x="132533" y="84909"/>
                  </a:cubicBezTo>
                  <a:lnTo>
                    <a:pt x="136478" y="80963"/>
                  </a:lnTo>
                  <a:lnTo>
                    <a:pt x="150600" y="80963"/>
                  </a:lnTo>
                  <a:cubicBezTo>
                    <a:pt x="151775" y="85530"/>
                    <a:pt x="152400" y="90317"/>
                    <a:pt x="152400" y="95251"/>
                  </a:cubicBezTo>
                  <a:cubicBezTo>
                    <a:pt x="152400" y="126814"/>
                    <a:pt x="126813" y="152401"/>
                    <a:pt x="95250" y="152401"/>
                  </a:cubicBezTo>
                  <a:cubicBezTo>
                    <a:pt x="63687" y="152401"/>
                    <a:pt x="38100" y="126814"/>
                    <a:pt x="38100" y="95251"/>
                  </a:cubicBezTo>
                  <a:cubicBezTo>
                    <a:pt x="38100" y="63687"/>
                    <a:pt x="63687" y="38101"/>
                    <a:pt x="95250" y="38101"/>
                  </a:cubicBezTo>
                  <a:close/>
                </a:path>
              </a:pathLst>
            </a:custGeom>
            <a:solidFill>
              <a:srgbClr val="323139"/>
            </a:solidFill>
            <a:ln w="10477" cap="flat" cmpd="sng" algn="ctr">
              <a:noFill/>
              <a:prstDash val="solid"/>
              <a:miter/>
            </a:ln>
            <a:effectLst/>
          </p:spPr>
          <p:txBody>
            <a:bodyPr rot="0" spcFirstLastPara="0" vertOverflow="overflow" horzOverflow="overflow" vert="horz" wrap="square" lIns="338011" tIns="270406" rIns="338011" bIns="270406" numCol="1" spcCol="0" rtlCol="0" fromWordArt="0" anchor="t" anchorCtr="0" forceAA="0" compatLnSpc="1">
              <a:prstTxWarp prst="textNoShape">
                <a:avLst/>
              </a:prstTxWarp>
              <a:noAutofit/>
            </a:bodyPr>
            <a:lstStyle/>
            <a:p>
              <a:pPr marL="0" marR="0" lvl="0" indent="0" algn="l" defTabSz="1722411" rtl="0" eaLnBrk="1" fontAlgn="base" latinLnBrk="0" hangingPunct="1">
                <a:lnSpc>
                  <a:spcPct val="100000"/>
                </a:lnSpc>
                <a:spcBef>
                  <a:spcPct val="0"/>
                </a:spcBef>
                <a:spcAft>
                  <a:spcPct val="0"/>
                </a:spcAft>
                <a:buClrTx/>
                <a:buSzTx/>
                <a:buFontTx/>
                <a:buNone/>
                <a:tabLst/>
                <a:defRPr/>
              </a:pPr>
              <a:endParaRPr kumimoji="0" lang="en-US" sz="3622" b="1" i="0" u="none" strike="noStrike" kern="0" cap="none" spc="0" normalizeH="0" baseline="0" noProof="0">
                <a:ln>
                  <a:noFill/>
                </a:ln>
                <a:noFill/>
                <a:effectLst/>
                <a:uLnTx/>
                <a:uFillTx/>
                <a:latin typeface="Segoe UI Variable Display Semibold" pitchFamily="2" charset="0"/>
                <a:ea typeface="+mn-ea"/>
                <a:cs typeface="Segoe UI" pitchFamily="34" charset="0"/>
              </a:endParaRPr>
            </a:p>
          </p:txBody>
        </p:sp>
      </p:grpSp>
      <p:sp>
        <p:nvSpPr>
          <p:cNvPr id="78" name="Oval 77">
            <a:extLst>
              <a:ext uri="{FF2B5EF4-FFF2-40B4-BE49-F238E27FC236}">
                <a16:creationId xmlns:a16="http://schemas.microsoft.com/office/drawing/2014/main" id="{7ABF2AEF-7824-DEF7-C92E-0915DEF41F17}"/>
              </a:ext>
              <a:ext uri="{C183D7F6-B498-43B3-948B-1728B52AA6E4}">
                <ns3:decorative xmlns:ns3="http://schemas.microsoft.com/office/drawing/2017/decorative" val="1"/>
              </a:ext>
            </a:extLst>
          </p:cNvPr>
          <p:cNvSpPr/>
          <p:nvPr/>
        </p:nvSpPr>
        <p:spPr>
          <a:xfrm>
            <a:off x="4122028" y="779171"/>
            <a:ext cx="398477" cy="398477"/>
          </a:xfrm>
          <a:prstGeom prst="ellipse">
            <a:avLst/>
          </a:prstGeom>
          <a:solidFill>
            <a:srgbClr val="FFF9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6" name="Graphic 15">
            <a:extLst>
              <a:ext uri="{FF2B5EF4-FFF2-40B4-BE49-F238E27FC236}">
                <a16:creationId xmlns:a16="http://schemas.microsoft.com/office/drawing/2014/main" id="{09721564-91C5-D7C7-A65B-CFCBCAAA8285}"/>
              </a:ext>
              <a:ext uri="{C183D7F6-B498-43B3-948B-1728B52AA6E4}">
                <adec:decorative xmlns:adec="http://schemas.microsoft.com/office/drawing/2017/decorative" val="1"/>
              </a:ext>
            </a:extLst>
          </p:cNvPr>
          <p:cNvSpPr>
            <a:spLocks/>
          </p:cNvSpPr>
          <p:nvPr/>
        </p:nvSpPr>
        <p:spPr>
          <a:xfrm>
            <a:off x="4172482" y="836452"/>
            <a:ext cx="297568" cy="252931"/>
          </a:xfrm>
          <a:custGeom>
            <a:avLst/>
            <a:gdLst>
              <a:gd name="csX0" fmla="*/ 147926 w 190499"/>
              <a:gd name="csY0" fmla="*/ 2092 h 161924"/>
              <a:gd name="csX1" fmla="*/ 137824 w 190499"/>
              <a:gd name="csY1" fmla="*/ 2092 h 161924"/>
              <a:gd name="csX2" fmla="*/ 137824 w 190499"/>
              <a:gd name="csY2" fmla="*/ 12195 h 161924"/>
              <a:gd name="csX3" fmla="*/ 166109 w 190499"/>
              <a:gd name="csY3" fmla="*/ 40481 h 161924"/>
              <a:gd name="csX4" fmla="*/ 119063 w 190499"/>
              <a:gd name="csY4" fmla="*/ 40481 h 161924"/>
              <a:gd name="csX5" fmla="*/ 88106 w 190499"/>
              <a:gd name="csY5" fmla="*/ 71437 h 161924"/>
              <a:gd name="csX6" fmla="*/ 88106 w 190499"/>
              <a:gd name="csY6" fmla="*/ 100012 h 161924"/>
              <a:gd name="csX7" fmla="*/ 75437 w 190499"/>
              <a:gd name="csY7" fmla="*/ 116198 h 161924"/>
              <a:gd name="csX8" fmla="*/ 38100 w 190499"/>
              <a:gd name="csY8" fmla="*/ 85725 h 161924"/>
              <a:gd name="csX9" fmla="*/ 0 w 190499"/>
              <a:gd name="csY9" fmla="*/ 123825 h 161924"/>
              <a:gd name="csX10" fmla="*/ 38100 w 190499"/>
              <a:gd name="csY10" fmla="*/ 161925 h 161924"/>
              <a:gd name="csX11" fmla="*/ 75582 w 190499"/>
              <a:gd name="csY11" fmla="*/ 130693 h 161924"/>
              <a:gd name="csX12" fmla="*/ 102394 w 190499"/>
              <a:gd name="csY12" fmla="*/ 100012 h 161924"/>
              <a:gd name="csX13" fmla="*/ 102394 w 190499"/>
              <a:gd name="csY13" fmla="*/ 71437 h 161924"/>
              <a:gd name="csX14" fmla="*/ 119063 w 190499"/>
              <a:gd name="csY14" fmla="*/ 54769 h 161924"/>
              <a:gd name="csX15" fmla="*/ 166109 w 190499"/>
              <a:gd name="csY15" fmla="*/ 54769 h 161924"/>
              <a:gd name="csX16" fmla="*/ 137824 w 190499"/>
              <a:gd name="csY16" fmla="*/ 83055 h 161924"/>
              <a:gd name="csX17" fmla="*/ 137824 w 190499"/>
              <a:gd name="csY17" fmla="*/ 93157 h 161924"/>
              <a:gd name="csX18" fmla="*/ 147926 w 190499"/>
              <a:gd name="csY18" fmla="*/ 93157 h 161924"/>
              <a:gd name="csX19" fmla="*/ 188407 w 190499"/>
              <a:gd name="csY19" fmla="*/ 52676 h 161924"/>
              <a:gd name="csX20" fmla="*/ 188407 w 190499"/>
              <a:gd name="csY20" fmla="*/ 42574 h 161924"/>
              <a:gd name="csX21" fmla="*/ 147926 w 190499"/>
              <a:gd name="csY21" fmla="*/ 2092 h 1619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190499" h="161924">
                <a:moveTo>
                  <a:pt x="147926" y="2092"/>
                </a:moveTo>
                <a:cubicBezTo>
                  <a:pt x="145136" y="-697"/>
                  <a:pt x="140614" y="-697"/>
                  <a:pt x="137824" y="2092"/>
                </a:cubicBezTo>
                <a:cubicBezTo>
                  <a:pt x="135034" y="4882"/>
                  <a:pt x="135034" y="9405"/>
                  <a:pt x="137824" y="12195"/>
                </a:cubicBezTo>
                <a:lnTo>
                  <a:pt x="166109" y="40481"/>
                </a:lnTo>
                <a:lnTo>
                  <a:pt x="119063" y="40481"/>
                </a:lnTo>
                <a:cubicBezTo>
                  <a:pt x="101966" y="40481"/>
                  <a:pt x="88106" y="54341"/>
                  <a:pt x="88106" y="71437"/>
                </a:cubicBezTo>
                <a:lnTo>
                  <a:pt x="88106" y="100012"/>
                </a:lnTo>
                <a:cubicBezTo>
                  <a:pt x="88106" y="107840"/>
                  <a:pt x="82711" y="114408"/>
                  <a:pt x="75437" y="116198"/>
                </a:cubicBezTo>
                <a:cubicBezTo>
                  <a:pt x="71904" y="98811"/>
                  <a:pt x="56530" y="85725"/>
                  <a:pt x="38100" y="85725"/>
                </a:cubicBezTo>
                <a:cubicBezTo>
                  <a:pt x="17058" y="85725"/>
                  <a:pt x="0" y="102783"/>
                  <a:pt x="0" y="123825"/>
                </a:cubicBezTo>
                <a:cubicBezTo>
                  <a:pt x="0" y="144867"/>
                  <a:pt x="17058" y="161925"/>
                  <a:pt x="38100" y="161925"/>
                </a:cubicBezTo>
                <a:cubicBezTo>
                  <a:pt x="56797" y="161925"/>
                  <a:pt x="72348" y="148458"/>
                  <a:pt x="75582" y="130693"/>
                </a:cubicBezTo>
                <a:cubicBezTo>
                  <a:pt x="90719" y="128668"/>
                  <a:pt x="102394" y="115704"/>
                  <a:pt x="102394" y="100012"/>
                </a:cubicBezTo>
                <a:lnTo>
                  <a:pt x="102394" y="71437"/>
                </a:lnTo>
                <a:cubicBezTo>
                  <a:pt x="102394" y="62232"/>
                  <a:pt x="109857" y="54769"/>
                  <a:pt x="119063" y="54769"/>
                </a:cubicBezTo>
                <a:lnTo>
                  <a:pt x="166109" y="54769"/>
                </a:lnTo>
                <a:lnTo>
                  <a:pt x="137824" y="83055"/>
                </a:lnTo>
                <a:cubicBezTo>
                  <a:pt x="135034" y="85845"/>
                  <a:pt x="135034" y="90367"/>
                  <a:pt x="137824" y="93157"/>
                </a:cubicBezTo>
                <a:cubicBezTo>
                  <a:pt x="140614" y="95947"/>
                  <a:pt x="145136" y="95947"/>
                  <a:pt x="147926" y="93157"/>
                </a:cubicBezTo>
                <a:lnTo>
                  <a:pt x="188407" y="52676"/>
                </a:lnTo>
                <a:cubicBezTo>
                  <a:pt x="191197" y="49887"/>
                  <a:pt x="191197" y="45363"/>
                  <a:pt x="188407" y="42574"/>
                </a:cubicBezTo>
                <a:lnTo>
                  <a:pt x="147926" y="2092"/>
                </a:lnTo>
                <a:close/>
              </a:path>
            </a:pathLst>
          </a:custGeom>
          <a:solidFill>
            <a:srgbClr val="323139"/>
          </a:solidFill>
          <a:ln w="10477" cap="flat" cmpd="sng" algn="ctr">
            <a:noFill/>
            <a:prstDash val="solid"/>
            <a:miter/>
          </a:ln>
          <a:effectLst/>
        </p:spPr>
        <p:txBody>
          <a:bodyPr rot="0" spcFirstLastPara="0" vertOverflow="overflow" horzOverflow="overflow" vert="horz" wrap="square" lIns="338011" tIns="270406" rIns="338011" bIns="270406" numCol="1" spcCol="0" rtlCol="0" fromWordArt="0" anchor="t" anchorCtr="0" forceAA="0" compatLnSpc="1">
            <a:prstTxWarp prst="textNoShape">
              <a:avLst/>
            </a:prstTxWarp>
            <a:noAutofit/>
          </a:bodyPr>
          <a:lstStyle/>
          <a:p>
            <a:pPr marL="0" marR="0" lvl="0" indent="0" algn="l" defTabSz="1722411" rtl="0" eaLnBrk="1" fontAlgn="base" latinLnBrk="0" hangingPunct="1">
              <a:lnSpc>
                <a:spcPct val="100000"/>
              </a:lnSpc>
              <a:spcBef>
                <a:spcPct val="0"/>
              </a:spcBef>
              <a:spcAft>
                <a:spcPct val="0"/>
              </a:spcAft>
              <a:buClrTx/>
              <a:buSzTx/>
              <a:buFontTx/>
              <a:buNone/>
              <a:tabLst/>
              <a:defRPr/>
            </a:pPr>
            <a:endParaRPr kumimoji="0" lang="en-US" sz="3622" b="1" i="0" u="none" strike="noStrike" kern="0" cap="none" spc="0" normalizeH="0" baseline="0" noProof="0">
              <a:ln>
                <a:noFill/>
              </a:ln>
              <a:noFill/>
              <a:effectLst/>
              <a:uLnTx/>
              <a:uFillTx/>
              <a:latin typeface="Segoe UI Variable Display Semibold" pitchFamily="2" charset="0"/>
              <a:ea typeface="+mn-ea"/>
              <a:cs typeface="Segoe UI" pitchFamily="34" charset="0"/>
            </a:endParaRPr>
          </a:p>
        </p:txBody>
      </p:sp>
      <p:grpSp>
        <p:nvGrpSpPr>
          <p:cNvPr id="83" name="Group 82">
            <a:extLst>
              <a:ext uri="{FF2B5EF4-FFF2-40B4-BE49-F238E27FC236}">
                <a16:creationId xmlns:a16="http://schemas.microsoft.com/office/drawing/2014/main" id="{5A0CBAFC-5DED-D3E2-18ED-E34B74CAE926}"/>
              </a:ext>
            </a:extLst>
          </p:cNvPr>
          <p:cNvGrpSpPr/>
          <p:nvPr/>
        </p:nvGrpSpPr>
        <p:grpSpPr>
          <a:xfrm>
            <a:off x="3261739" y="2189487"/>
            <a:ext cx="1534355" cy="276999"/>
            <a:chOff x="3261739" y="2189487"/>
            <a:chExt cx="1534355" cy="276999"/>
          </a:xfrm>
        </p:grpSpPr>
        <p:sp>
          <p:nvSpPr>
            <p:cNvPr id="82" name="Rectangle: Rounded Corners 81">
              <a:extLst>
                <a:ext uri="{FF2B5EF4-FFF2-40B4-BE49-F238E27FC236}">
                  <a16:creationId xmlns:a16="http://schemas.microsoft.com/office/drawing/2014/main" id="{A21A551A-DE36-A716-13EE-21F822622FD5}"/>
                </a:ext>
                <a:ext uri="{C183D7F6-B498-43B3-948B-1728B52AA6E4}">
                  <ns4:decorative xmlns:ns4="http://schemas.microsoft.com/office/drawing/2017/decorative" val="1"/>
                </a:ext>
              </a:extLst>
            </p:cNvPr>
            <p:cNvSpPr/>
            <p:nvPr/>
          </p:nvSpPr>
          <p:spPr bwMode="auto">
            <a:xfrm>
              <a:off x="3261739" y="2213019"/>
              <a:ext cx="1534355" cy="244283"/>
            </a:xfrm>
            <a:prstGeom prst="roundRect">
              <a:avLst>
                <a:gd name="adj" fmla="val 50000"/>
              </a:avLst>
            </a:prstGeom>
            <a:solidFill>
              <a:srgbClr val="F3E5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endParaRPr>
            </a:p>
          </p:txBody>
        </p:sp>
        <p:sp>
          <p:nvSpPr>
            <p:cNvPr id="63" name="TextBox 62">
              <a:extLst>
                <a:ext uri="{FF2B5EF4-FFF2-40B4-BE49-F238E27FC236}">
                  <a16:creationId xmlns:a16="http://schemas.microsoft.com/office/drawing/2014/main" id="{197D0AEB-8A07-B4D6-7F33-85429D49214C}"/>
                </a:ext>
              </a:extLst>
            </p:cNvPr>
            <p:cNvSpPr txBox="1"/>
            <p:nvPr/>
          </p:nvSpPr>
          <p:spPr>
            <a:xfrm>
              <a:off x="3655077" y="2189487"/>
              <a:ext cx="710452"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Prompt</a:t>
              </a:r>
              <a:endParaRPr kumimoji="0" lang="en-IN" sz="12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endParaRPr>
            </a:p>
          </p:txBody>
        </p:sp>
      </p:grpSp>
      <p:sp>
        <p:nvSpPr>
          <p:cNvPr id="98" name="Rectangle: Rounded Corners 97">
            <a:extLst>
              <a:ext uri="{FF2B5EF4-FFF2-40B4-BE49-F238E27FC236}">
                <a16:creationId xmlns:a16="http://schemas.microsoft.com/office/drawing/2014/main" id="{AEBB3E1D-C5FB-7FC9-829F-F4815362ABD2}"/>
              </a:ext>
            </a:extLst>
          </p:cNvPr>
          <p:cNvSpPr/>
          <p:nvPr/>
        </p:nvSpPr>
        <p:spPr bwMode="auto">
          <a:xfrm>
            <a:off x="8334509" y="968486"/>
            <a:ext cx="3621360" cy="1107187"/>
          </a:xfrm>
          <a:prstGeom prst="roundRect">
            <a:avLst>
              <a:gd name="adj" fmla="val 10584"/>
            </a:avLst>
          </a:prstGeom>
          <a:solidFill>
            <a:srgbClr val="341434"/>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r>
              <a:rPr kumimoji="0" lang="en-US" sz="1100" b="1" i="0" u="none" strike="noStrike" kern="0" cap="none" spc="0" normalizeH="0" baseline="0" noProof="0">
                <a:ln>
                  <a:noFill/>
                </a:ln>
                <a:solidFill>
                  <a:prstClr val="white"/>
                </a:solidFill>
                <a:effectLst/>
                <a:uLnTx/>
                <a:uFillTx/>
                <a:latin typeface="Segoe Sans Display Semilight" pitchFamily="2" charset="0"/>
                <a:ea typeface="+mn-ea"/>
                <a:cs typeface="Segoe Sans Display Semilight" pitchFamily="2" charset="0"/>
              </a:rPr>
              <a:t>Why Cowork?: </a:t>
            </a:r>
            <a:r>
              <a:rPr kumimoji="0" lang="en-US" sz="1100" b="0" i="0" u="none" strike="noStrike" kern="0" cap="none" spc="0" normalizeH="0" baseline="0" noProof="0">
                <a:ln>
                  <a:noFill/>
                </a:ln>
                <a:solidFill>
                  <a:prstClr val="white"/>
                </a:solidFill>
                <a:effectLst/>
                <a:uLnTx/>
                <a:uFillTx/>
                <a:latin typeface="Segoe Sans Display Semilight" pitchFamily="2" charset="0"/>
                <a:ea typeface="+mn-ea"/>
                <a:cs typeface="Segoe Sans Display Semilight" pitchFamily="2" charset="0"/>
              </a:rPr>
              <a:t>Good research means reading and citing many sources. Deep Research does that across the web, applies the findings to your job description, and a follow-up turns them into ready-to-use documents.</a:t>
            </a:r>
            <a:endParaRPr kumimoji="0" lang="en-US" sz="1100" i="0" u="none" strike="noStrike" kern="0" cap="none" spc="0" normalizeH="0" baseline="0" noProof="0">
              <a:ln w="3175">
                <a:noFill/>
              </a:ln>
              <a:solidFill>
                <a:prstClr val="white"/>
              </a:solidFill>
              <a:effectLst/>
              <a:uLnTx/>
              <a:uFillTx/>
              <a:latin typeface="Segoe Sans Display Semilight" pitchFamily="2" charset="0"/>
              <a:cs typeface="Segoe Sans Display Semilight" pitchFamily="2" charset="0"/>
            </a:endParaRPr>
          </a:p>
        </p:txBody>
      </p:sp>
      <p:sp>
        <p:nvSpPr>
          <p:cNvPr id="100" name="Oval 99">
            <a:extLst>
              <a:ext uri="{FF2B5EF4-FFF2-40B4-BE49-F238E27FC236}">
                <a16:creationId xmlns:a16="http://schemas.microsoft.com/office/drawing/2014/main" id="{82CA9355-2BD9-0408-CC03-CCAC40D6F6BE}"/>
              </a:ext>
              <a:ext uri="{C183D7F6-B498-43B3-948B-1728B52AA6E4}">
                <ns5:decorative xmlns:ns5="http://schemas.microsoft.com/office/drawing/2017/decorative" val="1"/>
              </a:ext>
            </a:extLst>
          </p:cNvPr>
          <p:cNvSpPr/>
          <p:nvPr/>
        </p:nvSpPr>
        <p:spPr>
          <a:xfrm>
            <a:off x="8054943" y="775485"/>
            <a:ext cx="398477" cy="398477"/>
          </a:xfrm>
          <a:prstGeom prst="ellipse">
            <a:avLst/>
          </a:prstGeom>
          <a:solidFill>
            <a:srgbClr val="FFF9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11" name="Icon Question Mark"/>
          <p:cNvSpPr txBox="1"/>
          <p:nvPr/>
        </p:nvSpPr>
        <p:spPr>
          <a:xfrm>
            <a:off x="8054943" y="775485"/>
            <a:ext cx="252134" cy="398477"/>
          </a:xfrm>
          <a:prstGeom prst="rect">
            <a:avLst/>
          </a:prstGeom>
          <a:noFill/>
        </p:spPr>
        <p:txBody>
          <a:bodyPr wrap="none" lIns="0" tIns="0" rIns="0" bIns="0" anchor="ctr" anchorCtr="1">
            <a:normAutofit/>
          </a:bodyPr>
          <a:lstStyle/>
          <a:p>
            <a:pPr algn="ctr"/>
            <a:r>
              <a:rPr lang="en-US" sz="1800" b="1">
                <a:solidFill>
                  <a:srgbClr val="3B1041"/>
                </a:solidFill>
                <a:latin typeface="Segoe UI" pitchFamily="34" charset="0"/>
                <a:cs typeface="Segoe UI" pitchFamily="34" charset="0"/>
              </a:rPr>
              <a:t>?</a:t>
            </a:r>
            <a:endParaRPr lang="en-US" sz="1800" b="1"/>
          </a:p>
        </p:txBody>
      </p:sp>
      <p:grpSp>
        <p:nvGrpSpPr>
          <p:cNvPr id="8" name="Group 7">
            <a:extLst>
              <a:ext uri="{FF2B5EF4-FFF2-40B4-BE49-F238E27FC236}">
                <a16:creationId xmlns:a16="http://schemas.microsoft.com/office/drawing/2014/main" id="{1722D180-2D5E-7D8C-B4A2-59B15C0453BA}"/>
              </a:ext>
            </a:extLst>
          </p:cNvPr>
          <p:cNvGrpSpPr/>
          <p:nvPr/>
        </p:nvGrpSpPr>
        <p:grpSpPr>
          <a:xfrm>
            <a:off x="7762717" y="2189487"/>
            <a:ext cx="4227030" cy="2010821"/>
            <a:chOff x="7762717" y="4071694"/>
            <a:chExt cx="4227030" cy="2010821"/>
          </a:xfrm>
        </p:grpSpPr>
        <p:sp>
          <p:nvSpPr>
            <p:cNvPr id="12" name="Rectangle: Rounded Corners 11">
              <a:extLst>
                <a:ext uri="{FF2B5EF4-FFF2-40B4-BE49-F238E27FC236}">
                  <a16:creationId xmlns:a16="http://schemas.microsoft.com/office/drawing/2014/main" id="{D0A30958-8A91-8F1F-EAED-DFB3605D650E}"/>
                </a:ext>
                <a:ext uri="{C183D7F6-B498-43B3-948B-1728B52AA6E4}">
                  <ns6:decorative xmlns:ns6="http://schemas.microsoft.com/office/drawing/2017/decorative" val="1"/>
                </a:ext>
              </a:extLst>
            </p:cNvPr>
            <p:cNvSpPr/>
            <p:nvPr/>
          </p:nvSpPr>
          <p:spPr bwMode="auto">
            <a:xfrm>
              <a:off x="7762717" y="4194834"/>
              <a:ext cx="4227030" cy="1887681"/>
            </a:xfrm>
            <a:prstGeom prst="roundRect">
              <a:avLst>
                <a:gd name="adj" fmla="val 1683"/>
              </a:avLst>
            </a:prstGeom>
            <a:solidFill>
              <a:srgbClr val="FFF9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B553FF"/>
                </a:solidFill>
                <a:effectLst/>
                <a:uLnTx/>
                <a:uFillTx/>
                <a:latin typeface="Segoe Sans Display Semibold" pitchFamily="2" charset="0"/>
                <a:ea typeface="+mn-ea"/>
                <a:cs typeface="Segoe Sans Display Semibold" pitchFamily="2" charset="0"/>
              </a:endParaRPr>
            </a:p>
          </p:txBody>
        </p:sp>
        <p:grpSp>
          <p:nvGrpSpPr>
            <p:cNvPr id="14" name="Group 13">
              <a:extLst>
                <a:ext uri="{FF2B5EF4-FFF2-40B4-BE49-F238E27FC236}">
                  <a16:creationId xmlns:a16="http://schemas.microsoft.com/office/drawing/2014/main" id="{FF30221B-5C85-22FC-F18F-7F0E26EEB0E2}"/>
                </a:ext>
              </a:extLst>
            </p:cNvPr>
            <p:cNvGrpSpPr/>
            <p:nvPr/>
          </p:nvGrpSpPr>
          <p:grpSpPr>
            <a:xfrm>
              <a:off x="9064660" y="4071694"/>
              <a:ext cx="1534355" cy="339147"/>
              <a:chOff x="3261739" y="2198151"/>
              <a:chExt cx="1534355" cy="276999"/>
            </a:xfrm>
          </p:grpSpPr>
          <p:sp>
            <p:nvSpPr>
              <p:cNvPr id="15" name="Rectangle: Rounded Corners 14">
                <a:extLst>
                  <a:ext uri="{FF2B5EF4-FFF2-40B4-BE49-F238E27FC236}">
                    <a16:creationId xmlns:a16="http://schemas.microsoft.com/office/drawing/2014/main" id="{0B857C90-B398-E232-66D0-F3E7E6CB19FB}"/>
                  </a:ext>
                  <a:ext uri="{C183D7F6-B498-43B3-948B-1728B52AA6E4}">
                    <ns7:decorative xmlns:ns7="http://schemas.microsoft.com/office/drawing/2017/decorative" val="1"/>
                  </a:ext>
                </a:extLst>
              </p:cNvPr>
              <p:cNvSpPr/>
              <p:nvPr/>
            </p:nvSpPr>
            <p:spPr bwMode="auto">
              <a:xfrm>
                <a:off x="3261739" y="2213019"/>
                <a:ext cx="1534355" cy="244283"/>
              </a:xfrm>
              <a:prstGeom prst="roundRect">
                <a:avLst>
                  <a:gd name="adj" fmla="val 50000"/>
                </a:avLst>
              </a:prstGeom>
              <a:solidFill>
                <a:srgbClr val="F3E5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endParaRPr>
              </a:p>
            </p:txBody>
          </p:sp>
          <p:sp>
            <p:nvSpPr>
              <p:cNvPr id="16" name="TextBox 15">
                <a:extLst>
                  <a:ext uri="{FF2B5EF4-FFF2-40B4-BE49-F238E27FC236}">
                    <a16:creationId xmlns:a16="http://schemas.microsoft.com/office/drawing/2014/main" id="{7130A025-6B78-DCFA-A21F-4C83E42E79DB}"/>
                  </a:ext>
                </a:extLst>
              </p:cNvPr>
              <p:cNvSpPr txBox="1"/>
              <p:nvPr/>
            </p:nvSpPr>
            <p:spPr>
              <a:xfrm>
                <a:off x="3594912" y="2198151"/>
                <a:ext cx="864339"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Workflow</a:t>
                </a:r>
              </a:p>
            </p:txBody>
          </p:sp>
        </p:grpSp>
        <p:sp>
          <p:nvSpPr>
            <p:cNvPr id="57" name="TextBox 56">
              <a:extLst>
                <a:ext uri="{FF2B5EF4-FFF2-40B4-BE49-F238E27FC236}">
                  <a16:creationId xmlns:a16="http://schemas.microsoft.com/office/drawing/2014/main" id="{D4B4634D-9BFA-FCEC-CFE2-4FD4315DDD1A}"/>
                </a:ext>
              </a:extLst>
            </p:cNvPr>
            <p:cNvSpPr txBox="1"/>
            <p:nvPr/>
          </p:nvSpPr>
          <p:spPr>
            <a:xfrm>
              <a:off x="8001952" y="4410841"/>
              <a:ext cx="3756431" cy="1074461"/>
            </a:xfrm>
            <a:prstGeom prst="rect">
              <a:avLst/>
            </a:prstGeom>
            <a:noFill/>
          </p:spPr>
          <p:txBody>
            <a:bodyPr wrap="square" rtlCol="0">
              <a:spAutoFit/>
            </a:bodyPr>
            <a:lstStyle/>
            <a:p>
              <a:pPr marL="228600" indent="-228600">
                <a:lnSpc>
                  <a:spcPct val="150000"/>
                </a:lnSpc>
                <a:buFont typeface="+mj-lt"/>
                <a:buAutoNum type="arabicPeriod"/>
                <a:defRPr/>
              </a:pPr>
              <a:r>
                <a:rPr lang="en-US" sz="1100" b="1">
                  <a:solidFill>
                    <a:prstClr val="black"/>
                  </a:solidFill>
                  <a:latin typeface="Segoe Sans Display" pitchFamily="2" charset="0"/>
                  <a:cs typeface="Segoe Sans Display" pitchFamily="2" charset="0"/>
                </a:rPr>
                <a:t>Deep Research</a:t>
              </a:r>
              <a:r>
                <a:rPr lang="en-US" sz="1100">
                  <a:solidFill>
                    <a:prstClr val="black"/>
                  </a:solidFill>
                  <a:latin typeface="Segoe Sans Display" pitchFamily="2" charset="0"/>
                  <a:cs typeface="Segoe Sans Display" pitchFamily="2" charset="0"/>
                </a:rPr>
                <a:t> → Search and read multiple web sources</a:t>
              </a:r>
              <a:endParaRPr kumimoji="0" lang="en-US" sz="1100" b="1"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a:p>
              <a:pPr marL="228600" indent="-228600">
                <a:lnSpc>
                  <a:spcPct val="150000"/>
                </a:lnSpc>
                <a:buFont typeface="+mj-lt"/>
                <a:buAutoNum type="arabicPeriod"/>
                <a:defRPr/>
              </a:pPr>
              <a:r>
                <a:rPr lang="en-US" sz="1100" b="1">
                  <a:solidFill>
                    <a:prstClr val="black"/>
                  </a:solidFill>
                  <a:latin typeface="Segoe Sans Display" pitchFamily="2" charset="0"/>
                  <a:cs typeface="Segoe Sans Display" pitchFamily="2" charset="0"/>
                </a:rPr>
                <a:t>Synthesize</a:t>
              </a:r>
              <a:r>
                <a:rPr lang="en-US" sz="1100">
                  <a:solidFill>
                    <a:prstClr val="black"/>
                  </a:solidFill>
                  <a:latin typeface="Segoe Sans Display" pitchFamily="2" charset="0"/>
                  <a:cs typeface="Segoe Sans Display" pitchFamily="2" charset="0"/>
                </a:rPr>
                <a:t> → Key practices with citations</a:t>
              </a:r>
              <a:endParaRPr kumimoji="0" lang="en-US" sz="1100" b="1"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a:p>
              <a:pPr marL="228600" indent="-228600">
                <a:lnSpc>
                  <a:spcPct val="150000"/>
                </a:lnSpc>
                <a:buFont typeface="+mj-lt"/>
                <a:buAutoNum type="arabicPeriod"/>
                <a:defRPr/>
              </a:pPr>
              <a:r>
                <a:rPr lang="en-US" sz="1100" b="1">
                  <a:solidFill>
                    <a:prstClr val="black"/>
                  </a:solidFill>
                  <a:latin typeface="Segoe Sans Display" pitchFamily="2" charset="0"/>
                  <a:cs typeface="Segoe Sans Display" pitchFamily="2" charset="0"/>
                </a:rPr>
                <a:t>Ground</a:t>
              </a:r>
              <a:r>
                <a:rPr lang="en-US" sz="1100">
                  <a:solidFill>
                    <a:prstClr val="black"/>
                  </a:solidFill>
                  <a:latin typeface="Segoe Sans Display" pitchFamily="2" charset="0"/>
                  <a:cs typeface="Segoe Sans Display" pitchFamily="2" charset="0"/>
                </a:rPr>
                <a:t> → Compare to job-description-sample.docx</a:t>
              </a:r>
              <a:endParaRPr kumimoji="0" lang="en-US" sz="1100" b="1"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a:p>
              <a:pPr marL="228600" indent="-228600">
                <a:lnSpc>
                  <a:spcPct val="150000"/>
                </a:lnSpc>
                <a:buFont typeface="+mj-lt"/>
                <a:buAutoNum type="arabicPeriod"/>
                <a:defRPr/>
              </a:pPr>
              <a:r>
                <a:rPr lang="en-US" sz="1100" b="1">
                  <a:solidFill>
                    <a:prstClr val="black"/>
                  </a:solidFill>
                  <a:latin typeface="Segoe Sans Display" pitchFamily="2" charset="0"/>
                  <a:cs typeface="Segoe Sans Display" pitchFamily="2" charset="0"/>
                </a:rPr>
                <a:t>Draft</a:t>
              </a:r>
              <a:r>
                <a:rPr lang="en-US" sz="1100">
                  <a:solidFill>
                    <a:prstClr val="black"/>
                  </a:solidFill>
                  <a:latin typeface="Segoe Sans Display" pitchFamily="2" charset="0"/>
                  <a:cs typeface="Segoe Sans Display" pitchFamily="2" charset="0"/>
                </a:rPr>
                <a:t> → Briefing + 5 tailored questions</a:t>
              </a:r>
              <a:endParaRPr kumimoji="0" lang="en-US" sz="1100" b="1"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a:p>
              <a:pPr marL="228600" indent="-228600">
                <a:lnSpc>
                  <a:spcPct val="150000"/>
                </a:lnSpc>
                <a:buFont typeface="+mj-lt"/>
                <a:buAutoNum type="arabicPeriod"/>
                <a:defRPr/>
              </a:pPr>
              <a:r>
                <a:rPr lang="en-US" sz="1100" b="1">
                  <a:solidFill>
                    <a:prstClr val="black"/>
                  </a:solidFill>
                  <a:latin typeface="Segoe Sans Display" pitchFamily="2" charset="0"/>
                  <a:cs typeface="Segoe Sans Display" pitchFamily="2" charset="0"/>
                </a:rPr>
                <a:t>Build</a:t>
              </a:r>
              <a:r>
                <a:rPr lang="en-US" sz="1100">
                  <a:solidFill>
                    <a:prstClr val="black"/>
                  </a:solidFill>
                  <a:latin typeface="Segoe Sans Display" pitchFamily="2" charset="0"/>
                  <a:cs typeface="Segoe Sans Display" pitchFamily="2" charset="0"/>
                </a:rPr>
                <a:t> → Scorecard in Word + Excel</a:t>
              </a:r>
              <a:endParaRPr kumimoji="0" lang="en-US" sz="1100" b="1"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p:txBody>
        </p:sp>
      </p:grpSp>
      <p:sp>
        <p:nvSpPr>
          <p:cNvPr id="3" name="Text 25">
            <a:extLst>
              <a:ext uri="{FF2B5EF4-FFF2-40B4-BE49-F238E27FC236}">
                <a16:creationId xmlns:a16="http://schemas.microsoft.com/office/drawing/2014/main" id="{41B60886-5E17-E589-2FF8-1DDB98962F30}"/>
              </a:ext>
            </a:extLst>
          </p:cNvPr>
          <p:cNvSpPr/>
          <p:nvPr/>
        </p:nvSpPr>
        <p:spPr>
          <a:xfrm>
            <a:off x="632004" y="2684018"/>
            <a:ext cx="6734710" cy="3632476"/>
          </a:xfrm>
          <a:prstGeom prst="rect">
            <a:avLst/>
          </a:prstGeom>
          <a:noFill/>
          <a:ln/>
        </p:spPr>
        <p:txBody>
          <a:bodyPr wrap="square" lIns="0" tIns="0" rIns="0" bIns="0"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Use Deep Research to summarize current best practices for structured behavioral interviews from multiple reputable sources. Produce a 1-page briefing with the key practices and cite your sources.</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Then:</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Now compare these best practices to our HR Coordinator interview needs in job-description-sample.docx, and suggest 5 interview questions.</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Follow-up:</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Turn this into an interviewer scorecard in Word AND Excel with the scoring scales filled in.</a:t>
            </a:r>
          </a:p>
        </p:txBody>
      </p:sp>
      <p:grpSp>
        <p:nvGrpSpPr>
          <p:cNvPr id="17" name="Group 16">
            <a:extLst>
              <a:ext uri="{FF2B5EF4-FFF2-40B4-BE49-F238E27FC236}">
                <a16:creationId xmlns:a16="http://schemas.microsoft.com/office/drawing/2014/main" id="{317BDD88-DD13-C157-9D0C-376C7050CA18}"/>
              </a:ext>
            </a:extLst>
          </p:cNvPr>
          <p:cNvGrpSpPr/>
          <p:nvPr/>
        </p:nvGrpSpPr>
        <p:grpSpPr>
          <a:xfrm>
            <a:off x="7756139" y="4421568"/>
            <a:ext cx="1534355" cy="276999"/>
            <a:chOff x="3261739" y="2198151"/>
            <a:chExt cx="1534355" cy="276999"/>
          </a:xfrm>
        </p:grpSpPr>
        <p:sp>
          <p:nvSpPr>
            <p:cNvPr id="18" name="Rectangle: Rounded Corners 17">
              <a:extLst>
                <a:ext uri="{FF2B5EF4-FFF2-40B4-BE49-F238E27FC236}">
                  <a16:creationId xmlns:a16="http://schemas.microsoft.com/office/drawing/2014/main" id="{3E986E19-9FEA-1F60-BCDA-008D13564D09}"/>
                </a:ext>
                <a:ext uri="{C183D7F6-B498-43B3-948B-1728B52AA6E4}">
                  <ns8:decorative xmlns:ns8="http://schemas.microsoft.com/office/drawing/2017/decorative" val="1"/>
                </a:ext>
              </a:extLst>
            </p:cNvPr>
            <p:cNvSpPr/>
            <p:nvPr/>
          </p:nvSpPr>
          <p:spPr bwMode="auto">
            <a:xfrm>
              <a:off x="3261739" y="2213019"/>
              <a:ext cx="1534355" cy="244283"/>
            </a:xfrm>
            <a:prstGeom prst="roundRect">
              <a:avLst>
                <a:gd name="adj" fmla="val 50000"/>
              </a:avLst>
            </a:prstGeom>
            <a:solidFill>
              <a:srgbClr val="F3E5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endParaRPr>
            </a:p>
          </p:txBody>
        </p:sp>
        <p:sp>
          <p:nvSpPr>
            <p:cNvPr id="19" name="TextBox 18">
              <a:extLst>
                <a:ext uri="{FF2B5EF4-FFF2-40B4-BE49-F238E27FC236}">
                  <a16:creationId xmlns:a16="http://schemas.microsoft.com/office/drawing/2014/main" id="{66387F56-2C11-A4AD-4E15-4442F2454D48}"/>
                </a:ext>
              </a:extLst>
            </p:cNvPr>
            <p:cNvSpPr txBox="1"/>
            <p:nvPr/>
          </p:nvSpPr>
          <p:spPr>
            <a:xfrm>
              <a:off x="3472286" y="2198151"/>
              <a:ext cx="1109599"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Data Sources</a:t>
              </a:r>
            </a:p>
          </p:txBody>
        </p:sp>
      </p:grpSp>
      <p:grpSp>
        <p:nvGrpSpPr>
          <p:cNvPr id="13" name="Group 12">
            <a:extLst>
              <a:ext uri="{FF2B5EF4-FFF2-40B4-BE49-F238E27FC236}">
                <a16:creationId xmlns:a16="http://schemas.microsoft.com/office/drawing/2014/main" id="{6DC82203-C40E-B229-3216-8513934D28BD}"/>
              </a:ext>
            </a:extLst>
          </p:cNvPr>
          <p:cNvGrpSpPr/>
          <p:nvPr/>
        </p:nvGrpSpPr>
        <p:grpSpPr>
          <a:xfrm>
            <a:off x="9121309" y="4421568"/>
            <a:ext cx="1200156" cy="488252"/>
            <a:chOff x="10558227" y="4421568"/>
            <a:chExt cx="1200156" cy="488252"/>
          </a:xfrm>
        </p:grpSpPr>
        <p:pic>
          <p:nvPicPr>
            <p:cNvPr id="7" name="Picture 6" descr="Web icon">
              <a:extLst>
                <a:ext uri="{FF2B5EF4-FFF2-40B4-BE49-F238E27FC236}">
                  <a16:creationId xmlns:a16="http://schemas.microsoft.com/office/drawing/2014/main" id="{8B0F26AD-79AC-E75B-C2DA-E6BBA636792A}"/>
                </a:ext>
              </a:extLst>
            </p:cNvPr>
            <p:cNvPicPr>
              <a:picLocks noChangeAspect="1"/>
            </p:cNvPicPr>
            <p:nvPr/>
          </p:nvPicPr>
          <p:blipFill>
            <a:blip r:embed="rId6"/>
            <a:stretch>
              <a:fillRect/>
            </a:stretch>
          </p:blipFill>
          <p:spPr>
            <a:xfrm>
              <a:off x="11014657" y="4421568"/>
              <a:ext cx="287296" cy="287296"/>
            </a:xfrm>
            <a:prstGeom prst="rect">
              <a:avLst/>
            </a:prstGeom>
          </p:spPr>
        </p:pic>
        <p:sp>
          <p:nvSpPr>
            <p:cNvPr id="9" name="TextBox 8">
              <a:extLst>
                <a:ext uri="{FF2B5EF4-FFF2-40B4-BE49-F238E27FC236}">
                  <a16:creationId xmlns:a16="http://schemas.microsoft.com/office/drawing/2014/main" id="{FE07ADF1-F66F-E626-BAE0-23ADC3E6D92F}"/>
                </a:ext>
              </a:extLst>
            </p:cNvPr>
            <p:cNvSpPr txBox="1"/>
            <p:nvPr/>
          </p:nvSpPr>
          <p:spPr>
            <a:xfrm>
              <a:off x="10558227" y="4678988"/>
              <a:ext cx="1200156"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rPr>
                <a:t>Web</a:t>
              </a:r>
              <a:endParaRPr kumimoji="0" lang="en-IN" sz="900" b="0"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p:txBody>
        </p:sp>
      </p:grpSp>
      <p:grpSp>
        <p:nvGrpSpPr>
          <p:cNvPr id="912" name="Group 12">
            <a:extLst>
              <a:ext uri="{FF2B5EF4-FFF2-40B4-BE49-F238E27FC236}">
                <a16:creationId xmlns:a16="http://schemas.microsoft.com/office/drawing/2014/main" id="{6DC82203-C40E-B229-3216-8513934D28BD}"/>
              </a:ext>
            </a:extLst>
          </p:cNvPr>
          <p:cNvGrpSpPr/>
          <p:nvPr/>
        </p:nvGrpSpPr>
        <p:grpSpPr>
          <a:xfrm>
            <a:off x="10035709" y="4421568"/>
            <a:ext cx="1200156" cy="488252"/>
            <a:chOff x="10558227" y="4421568"/>
            <a:chExt cx="1200156" cy="488252"/>
          </a:xfrm>
        </p:grpSpPr>
        <p:pic>
          <p:nvPicPr>
            <p:cNvPr id="913" name="Picture 6" descr="OneDrive icon">
              <a:extLst>
                <a:ext uri="{FF2B5EF4-FFF2-40B4-BE49-F238E27FC236}">
                  <a16:creationId xmlns:a16="http://schemas.microsoft.com/office/drawing/2014/main" id="{8B0F26AD-79AC-E75B-C2DA-E6BBA636792A}"/>
                </a:ext>
              </a:extLst>
            </p:cNvPr>
            <p:cNvPicPr>
              <a:picLocks noChangeAspect="1"/>
            </p:cNvPicPr>
            <p:nvPr/>
          </p:nvPicPr>
          <p:blipFill>
            <a:blip r:embed="rId7"/>
            <a:stretch>
              <a:fillRect/>
            </a:stretch>
          </p:blipFill>
          <p:spPr>
            <a:xfrm>
              <a:off x="11014657" y="4421568"/>
              <a:ext cx="287296" cy="287296"/>
            </a:xfrm>
            <a:prstGeom prst="rect">
              <a:avLst/>
            </a:prstGeom>
          </p:spPr>
        </p:pic>
        <p:sp>
          <p:nvSpPr>
            <p:cNvPr id="914" name="TextBox 8">
              <a:extLst>
                <a:ext uri="{FF2B5EF4-FFF2-40B4-BE49-F238E27FC236}">
                  <a16:creationId xmlns:a16="http://schemas.microsoft.com/office/drawing/2014/main" id="{FE07ADF1-F66F-E626-BAE0-23ADC3E6D92F}"/>
                </a:ext>
              </a:extLst>
            </p:cNvPr>
            <p:cNvSpPr txBox="1"/>
            <p:nvPr/>
          </p:nvSpPr>
          <p:spPr>
            <a:xfrm>
              <a:off x="10558227" y="4678988"/>
              <a:ext cx="1200156"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rPr>
                <a:t>OneDrive</a:t>
              </a:r>
              <a:endParaRPr kumimoji="0" lang="en-IN" sz="900" b="0"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p:txBody>
        </p:sp>
      </p:grpSp>
    </p:spTree>
    <p:extLst>
      <p:ext uri="{BB962C8B-B14F-4D97-AF65-F5344CB8AC3E}">
        <p14:creationId xmlns:p14="http://schemas.microsoft.com/office/powerpoint/2010/main" val="1649947486"/>
      </p:ext>
    </p:extLst>
  </p:cSld>
  <p:clrMapOvr>
    <a:overrideClrMapping bg1="lt1" tx1="dk1" bg2="lt2" tx2="dk2" accent1="accent1" accent2="accent2" accent3="accent3" accent4="accent4" accent5="accent5" accent6="accent6" hlink="hlink" folHlink="folHlink"/>
  </p:clrMapOvr>
</p:sld>
</file>

<file path=ppt/slides/slide35.xml><?xml version="1.0" encoding="utf-8"?>
<p:sld xmlns:a="http://schemas.openxmlformats.org/drawingml/2006/main" xmlns:p="http://schemas.openxmlformats.org/presentationml/2006/main" xmlns:r="http://schemas.openxmlformats.org/officeDocument/2006/relationships">
  <p:cSld>
    <p:bg>
      <p:bgPr>
        <a:blipFill dpi="0" rotWithShape="1">
          <a:blip r:embed="rId5">
            <a:alphaModFix amt="70000"/>
            <a:lum/>
          </a:blip>
          <a:srcRect/>
          <a:stretch>
            <a:fillRect l="-2000" r="-2000"/>
          </a:stretch>
        </a:blipFill>
        <a:effectLst/>
      </p:bgPr>
    </p:bg>
    <p:spTree>
      <p:nvGrpSpPr>
        <p:cNvPr id="1" name="">
          <a:extLst>
            <a:ext uri="{FF2B5EF4-FFF2-40B4-BE49-F238E27FC236}">
              <a16:creationId xmlns:a16="http://schemas.microsoft.com/office/drawing/2014/main" id="{CC810B06-9C60-9BCB-DF49-73D043B037F2}"/>
            </a:ext>
          </a:extLst>
        </p:cNvPr>
        <p:cNvGrpSpPr/>
        <p:nvPr/>
      </p:nvGrpSpPr>
      <p:grpSpPr>
        <a:xfrm>
          <a:off x="0" y="0"/>
          <a:ext cx="0" cy="0"/>
          <a:chOff x="0" y="0"/>
          <a:chExt cx="0" cy="0"/>
        </a:xfrm>
      </p:grpSpPr>
      <p:sp>
        <p:nvSpPr>
          <p:cNvPr id="27" name="Title 3">
            <a:extLst>
              <a:ext uri="{FF2B5EF4-FFF2-40B4-BE49-F238E27FC236}">
                <a16:creationId xmlns:a16="http://schemas.microsoft.com/office/drawing/2014/main" id="{3EF2C483-DB46-D975-7E0E-09A75642D76B}"/>
              </a:ext>
            </a:extLst>
          </p:cNvPr>
          <p:cNvSpPr txBox="1">
            <a:spLocks/>
          </p:cNvSpPr>
          <p:nvPr/>
        </p:nvSpPr>
        <p:spPr>
          <a:xfrm>
            <a:off x="1925908" y="293473"/>
            <a:ext cx="7070725" cy="430887"/>
          </a:xfrm>
          <a:prstGeom prst="rect">
            <a:avLst/>
          </a:prstGeom>
        </p:spPr>
        <p:txBody>
          <a:bodyPr vert="horz" wrap="square" lIns="0" tIns="0" rIns="0" bIns="0" rtlCol="0" anchor="t">
            <a:spAutoFit/>
          </a:bodyPr>
          <a:lstStyle>
            <a:lvl1pPr algn="l" defTabSz="769520" rtl="0" eaLnBrk="1" latinLnBrk="0" hangingPunct="1">
              <a:lnSpc>
                <a:spcPct val="100000"/>
              </a:lnSpc>
              <a:spcBef>
                <a:spcPct val="0"/>
              </a:spcBef>
              <a:buNone/>
              <a:defRPr lang="en-US" sz="2000" b="0" kern="1200" cap="none" spc="0" baseline="0">
                <a:ln w="3175">
                  <a:noFill/>
                </a:ln>
                <a:solidFill>
                  <a:schemeClr val="tx1"/>
                </a:solidFill>
                <a:effectLst/>
                <a:latin typeface="+mj-lt"/>
                <a:ea typeface="+mn-ea"/>
                <a:cs typeface="Segoe Sans Display" pitchFamily="2" charset="0"/>
              </a:defRPr>
            </a:lvl1pPr>
          </a:lstStyle>
          <a:p>
            <a:pPr marL="0" marR="0" lvl="0" indent="0" algn="l" defTabSz="769520" rtl="0" eaLnBrk="1" fontAlgn="auto" latinLnBrk="0" hangingPunct="1">
              <a:lnSpc>
                <a:spcPct val="100000"/>
              </a:lnSpc>
              <a:spcBef>
                <a:spcPct val="0"/>
              </a:spcBef>
              <a:spcAft>
                <a:spcPts val="0"/>
              </a:spcAft>
              <a:buClrTx/>
              <a:buSzTx/>
              <a:buFontTx/>
              <a:buNone/>
              <a:tabLst/>
              <a:defRPr/>
            </a:pPr>
            <a:r>
              <a:rPr kumimoji="0" lang="en-US" sz="2800" b="0" i="0" u="none" strike="noStrike" kern="1200" cap="none" spc="0" normalizeH="0" baseline="0" noProof="0">
                <a:ln w="3175">
                  <a:noFill/>
                </a:ln>
                <a:solidFill>
                  <a:srgbClr val="323139"/>
                </a:solidFill>
                <a:effectLst/>
                <a:uLnTx/>
                <a:uFillTx/>
                <a:latin typeface="Segoe Sans Display" pitchFamily="2" charset="0"/>
                <a:ea typeface="+mn-ea"/>
                <a:cs typeface="Segoe Sans Display" pitchFamily="2" charset="0"/>
              </a:rPr>
              <a:t>Hands-on · Deep Research</a:t>
            </a:r>
          </a:p>
        </p:txBody>
      </p:sp>
      <p:sp>
        <p:nvSpPr>
          <p:cNvPr id="28" name="NavPill_SitesPages">
            <a:extLst>
              <a:ext uri="{FF2B5EF4-FFF2-40B4-BE49-F238E27FC236}">
                <a16:creationId xmlns:a16="http://schemas.microsoft.com/office/drawing/2014/main" id="{57BB7AF5-33B6-DA4A-ABA7-2573FB8050B2}"/>
              </a:ext>
            </a:extLst>
          </p:cNvPr>
          <p:cNvSpPr/>
          <p:nvPr/>
        </p:nvSpPr>
        <p:spPr>
          <a:xfrm>
            <a:off x="350837" y="342900"/>
            <a:ext cx="1419239" cy="337762"/>
          </a:xfrm>
          <a:prstGeom prst="roundRect">
            <a:avLst>
              <a:gd name="adj" fmla="val 50000"/>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207091" rtl="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Ex 02</a:t>
            </a:r>
          </a:p>
        </p:txBody>
      </p:sp>
      <p:sp>
        <p:nvSpPr>
          <p:cNvPr id="30" name="TextBox 29">
            <a:extLst>
              <a:ext uri="{FF2B5EF4-FFF2-40B4-BE49-F238E27FC236}">
                <a16:creationId xmlns:a16="http://schemas.microsoft.com/office/drawing/2014/main" id="{4519738B-A618-91E3-CAC4-D99F7E54632B}"/>
              </a:ext>
              <a:ext uri="{C183D7F6-B498-43B3-948B-1728B52AA6E4}">
                <ns0:decorative xmlns:ns0="http://schemas.microsoft.com/office/drawing/2017/decorative" val="1"/>
              </a:ext>
            </a:extLst>
          </p:cNvPr>
          <p:cNvSpPr txBox="1"/>
          <p:nvPr/>
        </p:nvSpPr>
        <p:spPr>
          <a:xfrm>
            <a:off x="8867052" y="119383"/>
            <a:ext cx="3092209" cy="338554"/>
          </a:xfrm>
          <a:prstGeom prst="roundRect">
            <a:avLst>
              <a:gd name="adj" fmla="val 19537"/>
            </a:avLst>
          </a:prstGeom>
          <a:solidFill>
            <a:srgbClr val="CB85FF">
              <a:lumMod val="20000"/>
              <a:lumOff val="80000"/>
            </a:srgbClr>
          </a:solidFill>
        </p:spPr>
        <p:txBody>
          <a:bodyPr wrap="square" lIns="1188720" tIns="45720" rIns="0" bIns="45720" anchor="ctr">
            <a:noAutofit/>
          </a:bodyPr>
          <a:lstStyle>
            <a:defPPr>
              <a:defRPr lang="en-US"/>
            </a:defPPr>
            <a:lvl1pPr>
              <a:spcAft>
                <a:spcPts val="776"/>
              </a:spcAft>
              <a:defRPr sz="1200">
                <a:latin typeface="+mj-lt"/>
                <a:cs typeface="Segoe Sans Display Semibold" pitchFamily="2" charset="0"/>
              </a:defRPr>
            </a:lvl1pPr>
          </a:lstStyle>
          <a:p>
            <a:pPr marL="0" marR="0" lvl="0" indent="0" algn="l" defTabSz="914294" rtl="0" eaLnBrk="1" fontAlgn="auto" latinLnBrk="0" hangingPunct="1">
              <a:lnSpc>
                <a:spcPct val="100000"/>
              </a:lnSpc>
              <a:spcBef>
                <a:spcPts val="0"/>
              </a:spcBef>
              <a:spcAft>
                <a:spcPts val="776"/>
              </a:spcAft>
              <a:buClrTx/>
              <a:buSzTx/>
              <a:buFontTx/>
              <a:buNone/>
              <a:tabLst/>
              <a:defRPr/>
            </a:pPr>
            <a:endParaRPr kumimoji="0" lang="en-US" sz="1200" b="0" i="0" u="none" strike="noStrike" kern="0" cap="none" spc="0" normalizeH="0" baseline="0" noProof="0">
              <a:ln>
                <a:noFill/>
              </a:ln>
              <a:solidFill>
                <a:srgbClr val="323139"/>
              </a:solidFill>
              <a:effectLst/>
              <a:uLnTx/>
              <a:uFillTx/>
              <a:latin typeface="Segoe Sans Display"/>
              <a:ea typeface="+mn-ea"/>
              <a:cs typeface="Segoe Sans Display Semibold" pitchFamily="2" charset="0"/>
            </a:endParaRPr>
          </a:p>
        </p:txBody>
      </p:sp>
      <p:sp>
        <p:nvSpPr>
          <p:cNvPr id="31" name="TextBox 30">
            <a:extLst>
              <a:ext uri="{FF2B5EF4-FFF2-40B4-BE49-F238E27FC236}">
                <a16:creationId xmlns:a16="http://schemas.microsoft.com/office/drawing/2014/main" id="{4B310F6E-1BD3-CF01-32AD-647BCF12AC0F}"/>
              </a:ext>
            </a:extLst>
          </p:cNvPr>
          <p:cNvSpPr txBox="1"/>
          <p:nvPr/>
        </p:nvSpPr>
        <p:spPr>
          <a:xfrm>
            <a:off x="8942688" y="173878"/>
            <a:ext cx="1280160" cy="233352"/>
          </a:xfrm>
          <a:prstGeom prst="roundRect">
            <a:avLst>
              <a:gd name="adj" fmla="val 16151"/>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5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defRPr lang="en-US"/>
            </a:defPPr>
            <a:lvl1pPr algn="ctr" defTabSz="932765" fontAlgn="base">
              <a:spcBef>
                <a:spcPct val="0"/>
              </a:spcBef>
              <a:spcAft>
                <a:spcPct val="0"/>
              </a:spcAft>
              <a:defRPr sz="1600">
                <a:solidFill>
                  <a:schemeClr val="accent1"/>
                </a:solidFill>
                <a:latin typeface="+mj-lt"/>
                <a:cs typeface="Segoe Sans Display Semibold" pitchFamily="2" charset="0"/>
              </a:defRPr>
            </a:lvl1pPr>
          </a:lstStyle>
          <a:p>
            <a:pPr marL="0" marR="0" lvl="0" indent="0" algn="l" defTabSz="932765" rtl="0" eaLnBrk="1" fontAlgn="base" latinLnBrk="0" hangingPunct="1">
              <a:lnSpc>
                <a:spcPct val="100000"/>
              </a:lnSpc>
              <a:spcBef>
                <a:spcPct val="0"/>
              </a:spcBef>
              <a:spcAft>
                <a:spcPct val="0"/>
              </a:spcAft>
              <a:buClrTx/>
              <a:buSzTx/>
              <a:buFontTx/>
              <a:buNone/>
              <a:tabLst/>
              <a:defRPr/>
            </a:pPr>
            <a:r>
              <a:rPr kumimoji="0" lang="en-IN" sz="1050" b="0" i="0" u="none" strike="noStrike" kern="0" cap="none" spc="0" normalizeH="0" baseline="0" noProof="0">
                <a:ln>
                  <a:noFill/>
                </a:ln>
                <a:solidFill>
                  <a:srgbClr val="323139"/>
                </a:solidFill>
                <a:effectLst/>
                <a:uLnTx/>
                <a:uFillTx/>
                <a:latin typeface="Segoe Sans Display"/>
                <a:ea typeface="+mn-ea"/>
                <a:cs typeface="Segoe Sans Display Semibold" pitchFamily="2" charset="0"/>
              </a:rPr>
              <a:t>Time</a:t>
            </a:r>
          </a:p>
        </p:txBody>
      </p:sp>
      <p:sp>
        <p:nvSpPr>
          <p:cNvPr id="50" name="TextBox 49">
            <a:extLst>
              <a:ext uri="{FF2B5EF4-FFF2-40B4-BE49-F238E27FC236}">
                <a16:creationId xmlns:a16="http://schemas.microsoft.com/office/drawing/2014/main" id="{0CE10D15-83B7-7915-49A3-0BD3A21E9731}"/>
              </a:ext>
            </a:extLst>
          </p:cNvPr>
          <p:cNvSpPr txBox="1"/>
          <p:nvPr/>
        </p:nvSpPr>
        <p:spPr>
          <a:xfrm>
            <a:off x="10298483" y="173490"/>
            <a:ext cx="1668779" cy="253916"/>
          </a:xfrm>
          <a:prstGeom prst="rect">
            <a:avLst/>
          </a:prstGeom>
          <a:noFill/>
        </p:spPr>
        <p:txBody>
          <a:bodyPr wrap="square">
            <a:spAutoFit/>
          </a:bodyPr>
          <a:lstStyle/>
          <a:p>
            <a:pPr marL="0" marR="0" lvl="0" indent="0" algn="l" defTabSz="914294"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323139"/>
                </a:solidFill>
                <a:effectLst/>
                <a:uLnTx/>
                <a:uFillTx/>
                <a:latin typeface="Segoe Sans Display"/>
                <a:ea typeface="+mn-ea"/>
                <a:cs typeface="Segoe Sans Display"/>
              </a:rPr>
              <a:t>20 min</a:t>
            </a:r>
          </a:p>
        </p:txBody>
      </p:sp>
      <p:sp>
        <p:nvSpPr>
          <p:cNvPr id="51" name="Rounded Rectangle 50">
            <a:extLst>
              <a:ext uri="{C183D7F6-B498-43B3-948B-1728B52AA6E4}">
                <ns1:decorative xmlns:ns1="http://schemas.microsoft.com/office/drawing/2017/decorative" val="1"/>
              </a:ext>
            </a:extLst>
          </p:cNvPr>
          <p:cNvSpPr/>
          <p:nvPr/>
        </p:nvSpPr>
        <p:spPr>
          <a:xfrm>
            <a:off x="420624" y="1188720"/>
            <a:ext cx="7168896" cy="3611880"/>
          </a:xfrm>
          <a:prstGeom prst="roundRect">
            <a:avLst>
              <a:gd name="adj" fmla="val 5000"/>
            </a:avLst>
          </a:prstGeom>
          <a:solidFill>
            <a:srgbClr val="FFF9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ounded Rectangle 51">
            <a:extLst>
              <a:ext uri="{C183D7F6-B498-43B3-948B-1728B52AA6E4}">
                <ns2:decorative xmlns:ns2="http://schemas.microsoft.com/office/drawing/2017/decorative" val="1"/>
              </a:ext>
            </a:extLst>
          </p:cNvPr>
          <p:cNvSpPr/>
          <p:nvPr/>
        </p:nvSpPr>
        <p:spPr>
          <a:xfrm>
            <a:off x="3236976" y="1051560"/>
            <a:ext cx="15361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3236976" y="1051560"/>
            <a:ext cx="1536192" cy="274320"/>
          </a:xfrm>
          <a:prstGeom prst="rect">
            <a:avLst/>
          </a:prstGeom>
          <a:noFill/>
        </p:spPr>
        <p:txBody>
          <a:bodyPr wrap="square" anchor="ctr" lIns="0" rIns="0" tIns="0" bIns="0">
            <a:spAutoFit/>
          </a:bodyPr>
          <a:lstStyle/>
          <a:p>
            <a:pPr algn="ctr">
              <a:spcAft>
                <a:spcPts val="400"/>
              </a:spcAft>
            </a:pPr>
            <a:r>
              <a:rPr sz="1200" b="0" i="0">
                <a:solidFill>
                  <a:srgbClr val="323139"/>
                </a:solidFill>
                <a:latin typeface="Segoe Sans Display Semibold"/>
              </a:rPr>
              <a:t>Steps</a:t>
            </a:r>
          </a:p>
        </p:txBody>
      </p:sp>
      <p:sp>
        <p:nvSpPr>
          <p:cNvPr id="54" name="TextBox 53"/>
          <p:cNvSpPr txBox="1"/>
          <p:nvPr/>
        </p:nvSpPr>
        <p:spPr>
          <a:xfrm>
            <a:off x="777240" y="1572768"/>
            <a:ext cx="6492240" cy="3154680"/>
          </a:xfrm>
          <a:prstGeom prst="rect">
            <a:avLst/>
          </a:prstGeom>
          <a:noFill/>
        </p:spPr>
        <p:txBody>
          <a:bodyPr wrap="square" anchor="t" lIns="0" rIns="0" tIns="0" bIns="0">
            <a:spAutoFit/>
          </a:bodyPr>
          <a:lstStyle/>
          <a:p>
            <a:pPr algn="l" marL="237744" indent="-237744">
              <a:lnSpc>
                <a:spcPct val="105000"/>
              </a:lnSpc>
              <a:spcAft>
                <a:spcPts val="900"/>
              </a:spcAft>
              <a:buFont typeface="+mj-lt"/>
              <a:buAutoNum type="arabicPeriod"/>
            </a:pPr>
            <a:r>
              <a:rPr sz="1500" b="1" i="0">
                <a:solidFill>
                  <a:srgbClr val="323139"/>
                </a:solidFill>
                <a:latin typeface="Segoe UI"/>
              </a:rPr>
              <a:t>New task</a:t>
            </a:r>
            <a:r>
              <a:rPr sz="1500" b="0" i="0">
                <a:solidFill>
                  <a:srgbClr val="323139"/>
                </a:solidFill>
                <a:latin typeface="Segoe UI"/>
              </a:rPr>
              <a:t> → run the Deep Research prompt.</a:t>
            </a:r>
          </a:p>
          <a:p>
            <a:pPr algn="l" marL="237744" indent="-237744">
              <a:lnSpc>
                <a:spcPct val="105000"/>
              </a:lnSpc>
              <a:spcAft>
                <a:spcPts val="900"/>
              </a:spcAft>
              <a:buFont typeface="+mj-lt"/>
              <a:buAutoNum type="arabicPeriod"/>
            </a:pPr>
            <a:r>
              <a:rPr sz="1500" b="1" i="0">
                <a:solidFill>
                  <a:srgbClr val="323139"/>
                </a:solidFill>
                <a:latin typeface="Segoe UI"/>
              </a:rPr>
              <a:t>Watch</a:t>
            </a:r>
            <a:r>
              <a:rPr sz="1500" b="0" i="0">
                <a:solidFill>
                  <a:srgbClr val="323139"/>
                </a:solidFill>
                <a:latin typeface="Segoe UI"/>
              </a:rPr>
              <a:t> it search and read multiple sources, citing each. Open two citations.</a:t>
            </a:r>
          </a:p>
          <a:p>
            <a:pPr algn="l" marL="237744" indent="-237744">
              <a:lnSpc>
                <a:spcPct val="105000"/>
              </a:lnSpc>
              <a:spcAft>
                <a:spcPts val="900"/>
              </a:spcAft>
              <a:buFont typeface="+mj-lt"/>
              <a:buAutoNum type="arabicPeriod"/>
            </a:pPr>
            <a:r>
              <a:rPr sz="1500" b="1" i="0">
                <a:solidFill>
                  <a:srgbClr val="323139"/>
                </a:solidFill>
                <a:latin typeface="Segoe UI"/>
              </a:rPr>
              <a:t>Ground it:</a:t>
            </a:r>
            <a:r>
              <a:rPr sz="1500" b="0" i="0">
                <a:solidFill>
                  <a:srgbClr val="323139"/>
                </a:solidFill>
                <a:latin typeface="Segoe UI"/>
              </a:rPr>
              <a:t> attach job-description-sample.docx and compare the findings to it.</a:t>
            </a:r>
          </a:p>
          <a:p>
            <a:pPr algn="l" marL="237744" indent="-237744">
              <a:lnSpc>
                <a:spcPct val="105000"/>
              </a:lnSpc>
              <a:spcAft>
                <a:spcPts val="900"/>
              </a:spcAft>
              <a:buFont typeface="+mj-lt"/>
              <a:buAutoNum type="arabicPeriod"/>
            </a:pPr>
            <a:r>
              <a:rPr sz="1500" b="1" i="0">
                <a:solidFill>
                  <a:srgbClr val="323139"/>
                </a:solidFill>
                <a:latin typeface="Segoe UI"/>
              </a:rPr>
              <a:t>Ask for</a:t>
            </a:r>
            <a:r>
              <a:rPr sz="1500" b="0" i="0">
                <a:solidFill>
                  <a:srgbClr val="323139"/>
                </a:solidFill>
                <a:latin typeface="Segoe UI"/>
              </a:rPr>
              <a:t> five tailored interview questions.</a:t>
            </a:r>
          </a:p>
          <a:p>
            <a:pPr algn="l" marL="237744" indent="-237744">
              <a:lnSpc>
                <a:spcPct val="105000"/>
              </a:lnSpc>
              <a:spcAft>
                <a:spcPts val="900"/>
              </a:spcAft>
              <a:buFont typeface="+mj-lt"/>
              <a:buAutoNum type="arabicPeriod"/>
            </a:pPr>
            <a:r>
              <a:rPr sz="1500" b="1" i="0">
                <a:solidFill>
                  <a:srgbClr val="323139"/>
                </a:solidFill>
                <a:latin typeface="Segoe UI"/>
              </a:rPr>
              <a:t>Follow-up:</a:t>
            </a:r>
            <a:r>
              <a:rPr sz="1500" b="0" i="0">
                <a:solidFill>
                  <a:srgbClr val="323139"/>
                </a:solidFill>
                <a:latin typeface="Segoe UI"/>
              </a:rPr>
              <a:t> scorecard in </a:t>
            </a:r>
            <a:r>
              <a:rPr sz="1500" b="1" i="0">
                <a:solidFill>
                  <a:srgbClr val="323139"/>
                </a:solidFill>
                <a:latin typeface="Segoe UI"/>
              </a:rPr>
              <a:t>Word AND Excel</a:t>
            </a:r>
            <a:r>
              <a:rPr sz="1500" b="0" i="0">
                <a:solidFill>
                  <a:srgbClr val="323139"/>
                </a:solidFill>
                <a:latin typeface="Segoe UI"/>
              </a:rPr>
              <a:t>, scales filled in; open both from the </a:t>
            </a:r>
            <a:r>
              <a:rPr sz="1500" b="1" i="0">
                <a:solidFill>
                  <a:srgbClr val="323139"/>
                </a:solidFill>
                <a:latin typeface="Segoe UI"/>
              </a:rPr>
              <a:t>Output folder</a:t>
            </a:r>
            <a:r>
              <a:rPr sz="1500" b="0" i="0">
                <a:solidFill>
                  <a:srgbClr val="323139"/>
                </a:solidFill>
                <a:latin typeface="Segoe UI"/>
              </a:rPr>
              <a:t>.</a:t>
            </a:r>
          </a:p>
        </p:txBody>
      </p:sp>
      <p:sp>
        <p:nvSpPr>
          <p:cNvPr id="55" name="Rounded Rectangle 54">
            <a:extLst>
              <a:ext uri="{C183D7F6-B498-43B3-948B-1728B52AA6E4}">
                <ns3:decorative xmlns:ns3="http://schemas.microsoft.com/office/drawing/2017/decorative" val="1"/>
              </a:ext>
            </a:extLst>
          </p:cNvPr>
          <p:cNvSpPr/>
          <p:nvPr/>
        </p:nvSpPr>
        <p:spPr>
          <a:xfrm>
            <a:off x="420624" y="5074920"/>
            <a:ext cx="7168896" cy="1371600"/>
          </a:xfrm>
          <a:prstGeom prst="roundRect">
            <a:avLst>
              <a:gd name="adj" fmla="val 10000"/>
            </a:avLst>
          </a:prstGeom>
          <a:solidFill>
            <a:srgbClr val="FFF9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Rounded Rectangle 55">
            <a:extLst>
              <a:ext uri="{C183D7F6-B498-43B3-948B-1728B52AA6E4}">
                <ns4:decorative xmlns:ns4="http://schemas.microsoft.com/office/drawing/2017/decorative" val="1"/>
              </a:ext>
            </a:extLst>
          </p:cNvPr>
          <p:cNvSpPr/>
          <p:nvPr/>
        </p:nvSpPr>
        <p:spPr>
          <a:xfrm>
            <a:off x="3236976" y="4937760"/>
            <a:ext cx="15361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3236976" y="4937760"/>
            <a:ext cx="1536192" cy="274320"/>
          </a:xfrm>
          <a:prstGeom prst="rect">
            <a:avLst/>
          </a:prstGeom>
          <a:noFill/>
        </p:spPr>
        <p:txBody>
          <a:bodyPr wrap="square" anchor="ctr" lIns="0" rIns="0" tIns="0" bIns="0">
            <a:spAutoFit/>
          </a:bodyPr>
          <a:lstStyle/>
          <a:p>
            <a:pPr algn="ctr">
              <a:spcAft>
                <a:spcPts val="400"/>
              </a:spcAft>
            </a:pPr>
            <a:r>
              <a:rPr sz="1200" b="0" i="0">
                <a:solidFill>
                  <a:srgbClr val="323139"/>
                </a:solidFill>
                <a:latin typeface="Segoe Sans Display Semibold"/>
              </a:rPr>
              <a:t>Discuss</a:t>
            </a:r>
          </a:p>
        </p:txBody>
      </p:sp>
      <p:sp>
        <p:nvSpPr>
          <p:cNvPr id="58" name="TextBox 57"/>
          <p:cNvSpPr txBox="1"/>
          <p:nvPr/>
        </p:nvSpPr>
        <p:spPr>
          <a:xfrm>
            <a:off x="777240" y="5303520"/>
            <a:ext cx="6492240" cy="1005840"/>
          </a:xfrm>
          <a:prstGeom prst="rect">
            <a:avLst/>
          </a:prstGeom>
          <a:noFill/>
        </p:spPr>
        <p:txBody>
          <a:bodyPr wrap="square" anchor="ctr" lIns="0" rIns="0" tIns="0" bIns="0">
            <a:spAutoFit/>
          </a:bodyPr>
          <a:lstStyle/>
          <a:p>
            <a:pPr algn="l">
              <a:lnSpc>
                <a:spcPct val="105000"/>
              </a:lnSpc>
              <a:spcAft>
                <a:spcPts val="400"/>
              </a:spcAft>
            </a:pPr>
            <a:r>
              <a:rPr sz="1400" b="0" i="0">
                <a:solidFill>
                  <a:srgbClr val="323139"/>
                </a:solidFill>
                <a:latin typeface="Segoe Sans Display"/>
              </a:rPr>
              <a:t>When is web research better than searching your own organization’s content — and when is it riskier?</a:t>
            </a:r>
          </a:p>
        </p:txBody>
      </p:sp>
      <p:sp>
        <p:nvSpPr>
          <p:cNvPr id="59" name="Rounded Rectangle 58">
            <a:extLst>
              <a:ext uri="{C183D7F6-B498-43B3-948B-1728B52AA6E4}">
                <ns5:decorative xmlns:ns5="http://schemas.microsoft.com/office/drawing/2017/decorative" val="1"/>
              </a:ext>
            </a:extLst>
          </p:cNvPr>
          <p:cNvSpPr/>
          <p:nvPr/>
        </p:nvSpPr>
        <p:spPr>
          <a:xfrm>
            <a:off x="7763256" y="1188720"/>
            <a:ext cx="4224528" cy="2194560"/>
          </a:xfrm>
          <a:prstGeom prst="roundRect">
            <a:avLst>
              <a:gd name="adj" fmla="val 6000"/>
            </a:avLst>
          </a:prstGeom>
          <a:solidFill>
            <a:srgbClr val="FFF9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Rounded Rectangle 59">
            <a:extLst>
              <a:ext uri="{C183D7F6-B498-43B3-948B-1728B52AA6E4}">
                <ns6:decorative xmlns:ns6="http://schemas.microsoft.com/office/drawing/2017/decorative" val="1"/>
              </a:ext>
            </a:extLst>
          </p:cNvPr>
          <p:cNvSpPr/>
          <p:nvPr/>
        </p:nvSpPr>
        <p:spPr>
          <a:xfrm>
            <a:off x="9107424" y="1051560"/>
            <a:ext cx="15361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TextBox 60"/>
          <p:cNvSpPr txBox="1"/>
          <p:nvPr/>
        </p:nvSpPr>
        <p:spPr>
          <a:xfrm>
            <a:off x="9107424" y="1051560"/>
            <a:ext cx="1536192" cy="274320"/>
          </a:xfrm>
          <a:prstGeom prst="rect">
            <a:avLst/>
          </a:prstGeom>
          <a:noFill/>
        </p:spPr>
        <p:txBody>
          <a:bodyPr wrap="square" anchor="ctr" lIns="0" rIns="0" tIns="0" bIns="0">
            <a:spAutoFit/>
          </a:bodyPr>
          <a:lstStyle/>
          <a:p>
            <a:pPr algn="ctr">
              <a:spcAft>
                <a:spcPts val="400"/>
              </a:spcAft>
            </a:pPr>
            <a:r>
              <a:rPr sz="1200" b="0" i="0">
                <a:solidFill>
                  <a:srgbClr val="323139"/>
                </a:solidFill>
                <a:latin typeface="Segoe Sans Display Semibold"/>
              </a:rPr>
              <a:t>Watch for</a:t>
            </a:r>
          </a:p>
        </p:txBody>
      </p:sp>
      <p:sp>
        <p:nvSpPr>
          <p:cNvPr id="62" name="TextBox 61"/>
          <p:cNvSpPr txBox="1"/>
          <p:nvPr/>
        </p:nvSpPr>
        <p:spPr>
          <a:xfrm>
            <a:off x="8001000" y="1572768"/>
            <a:ext cx="3794760" cy="1737360"/>
          </a:xfrm>
          <a:prstGeom prst="rect">
            <a:avLst/>
          </a:prstGeom>
          <a:noFill/>
        </p:spPr>
        <p:txBody>
          <a:bodyPr wrap="square" anchor="t" lIns="0" rIns="0" tIns="0" bIns="0">
            <a:spAutoFit/>
          </a:bodyPr>
          <a:lstStyle/>
          <a:p>
            <a:pPr algn="l" marL="182880" indent="-182880">
              <a:spcAft>
                <a:spcPts val="400"/>
              </a:spcAft>
              <a:buFont typeface="Arial"/>
              <a:buChar char="•"/>
            </a:pPr>
            <a:r>
              <a:rPr sz="1150" b="0" i="0">
                <a:solidFill>
                  <a:srgbClr val="323139"/>
                </a:solidFill>
                <a:latin typeface="Segoe UI"/>
              </a:rPr>
              <a:t>The </a:t>
            </a:r>
            <a:r>
              <a:rPr sz="1150" b="1" i="0">
                <a:solidFill>
                  <a:srgbClr val="323139"/>
                </a:solidFill>
                <a:latin typeface="Segoe UI"/>
              </a:rPr>
              <a:t>Deep Research</a:t>
            </a:r>
            <a:r>
              <a:rPr sz="1150" b="0" i="0">
                <a:solidFill>
                  <a:srgbClr val="323139"/>
                </a:solidFill>
                <a:latin typeface="Segoe UI"/>
              </a:rPr>
              <a:t> skill chip and progress</a:t>
            </a:r>
          </a:p>
          <a:p>
            <a:pPr algn="l" marL="182880" indent="-182880">
              <a:spcAft>
                <a:spcPts val="400"/>
              </a:spcAft>
              <a:buFont typeface="Arial"/>
              <a:buChar char="•"/>
            </a:pPr>
            <a:r>
              <a:rPr sz="1150" b="0" i="0">
                <a:solidFill>
                  <a:srgbClr val="323139"/>
                </a:solidFill>
                <a:latin typeface="Segoe UI"/>
              </a:rPr>
              <a:t>Citations you can open and check</a:t>
            </a:r>
          </a:p>
          <a:p>
            <a:pPr algn="l" marL="182880" indent="-182880">
              <a:spcAft>
                <a:spcPts val="400"/>
              </a:spcAft>
              <a:buFont typeface="Arial"/>
              <a:buChar char="•"/>
            </a:pPr>
            <a:r>
              <a:rPr sz="1150" b="1" i="0">
                <a:solidFill>
                  <a:srgbClr val="323139"/>
                </a:solidFill>
                <a:latin typeface="Segoe UI"/>
              </a:rPr>
              <a:t>Word</a:t>
            </a:r>
            <a:r>
              <a:rPr sz="1150" b="0" i="0">
                <a:solidFill>
                  <a:srgbClr val="323139"/>
                </a:solidFill>
                <a:latin typeface="Segoe UI"/>
              </a:rPr>
              <a:t> and </a:t>
            </a:r>
            <a:r>
              <a:rPr sz="1150" b="1" i="0">
                <a:solidFill>
                  <a:srgbClr val="323139"/>
                </a:solidFill>
                <a:latin typeface="Segoe UI"/>
              </a:rPr>
              <a:t>Excel</a:t>
            </a:r>
            <a:r>
              <a:rPr sz="1150" b="0" i="0">
                <a:solidFill>
                  <a:srgbClr val="323139"/>
                </a:solidFill>
                <a:latin typeface="Segoe UI"/>
              </a:rPr>
              <a:t> chips for the scorecard</a:t>
            </a:r>
          </a:p>
          <a:p>
            <a:pPr algn="l" marL="182880" indent="-182880">
              <a:spcAft>
                <a:spcPts val="400"/>
              </a:spcAft>
              <a:buFont typeface="Arial"/>
              <a:buChar char="•"/>
            </a:pPr>
            <a:r>
              <a:rPr sz="1150" b="0" i="0">
                <a:solidFill>
                  <a:srgbClr val="323139"/>
                </a:solidFill>
                <a:latin typeface="Segoe UI"/>
              </a:rPr>
              <a:t>Scales filled in — no “TBD” anchors</a:t>
            </a:r>
          </a:p>
        </p:txBody>
      </p:sp>
      <p:sp>
        <p:nvSpPr>
          <p:cNvPr id="63" name="Rounded Rectangle 62">
            <a:extLst>
              <a:ext uri="{C183D7F6-B498-43B3-948B-1728B52AA6E4}">
                <ns7:decorative xmlns:ns7="http://schemas.microsoft.com/office/drawing/2017/decorative" val="1"/>
              </a:ext>
            </a:extLst>
          </p:cNvPr>
          <p:cNvSpPr/>
          <p:nvPr/>
        </p:nvSpPr>
        <p:spPr>
          <a:xfrm>
            <a:off x="7763256" y="3611880"/>
            <a:ext cx="4224528" cy="1691640"/>
          </a:xfrm>
          <a:prstGeom prst="roundRect">
            <a:avLst>
              <a:gd name="adj" fmla="val 8000"/>
            </a:avLst>
          </a:prstGeom>
          <a:solidFill>
            <a:srgbClr val="3414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Oval 63">
            <a:extLst>
              <a:ext uri="{C183D7F6-B498-43B3-948B-1728B52AA6E4}">
                <ns8:decorative xmlns:ns8="http://schemas.microsoft.com/office/drawing/2017/decorative" val="1"/>
              </a:ext>
            </a:extLst>
          </p:cNvPr>
          <p:cNvSpPr/>
          <p:nvPr/>
        </p:nvSpPr>
        <p:spPr>
          <a:xfrm>
            <a:off x="7543800" y="3401568"/>
            <a:ext cx="402336" cy="402336"/>
          </a:xfrm>
          <a:prstGeom prst="ellipse">
            <a:avLst/>
          </a:prstGeom>
          <a:solidFill>
            <a:srgbClr val="FFFFFF"/>
          </a:solidFill>
          <a:ln>
            <a:no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TextBox 64"/>
          <p:cNvSpPr txBox="1"/>
          <p:nvPr/>
        </p:nvSpPr>
        <p:spPr>
          <a:xfrm>
            <a:off x="7543800" y="3401568"/>
            <a:ext cx="402336" cy="402336"/>
          </a:xfrm>
          <a:prstGeom prst="rect">
            <a:avLst/>
          </a:prstGeom>
          <a:noFill/>
        </p:spPr>
        <p:txBody>
          <a:bodyPr wrap="square" anchor="ctr" lIns="0" rIns="0" tIns="0" bIns="0">
            <a:spAutoFit/>
          </a:bodyPr>
          <a:lstStyle/>
          <a:p>
            <a:pPr algn="ctr">
              <a:spcAft>
                <a:spcPts val="400"/>
              </a:spcAft>
            </a:pPr>
            <a:r>
              <a:rPr sz="1600" b="1" i="0">
                <a:solidFill>
                  <a:srgbClr val="3B1041"/>
                </a:solidFill>
                <a:latin typeface="Segoe UI"/>
              </a:rPr>
              <a:t>✓</a:t>
            </a:r>
          </a:p>
        </p:txBody>
      </p:sp>
      <p:sp>
        <p:nvSpPr>
          <p:cNvPr id="66" name="TextBox 65"/>
          <p:cNvSpPr txBox="1"/>
          <p:nvPr/>
        </p:nvSpPr>
        <p:spPr>
          <a:xfrm>
            <a:off x="8001000" y="3749039"/>
            <a:ext cx="3794760" cy="1463040"/>
          </a:xfrm>
          <a:prstGeom prst="rect">
            <a:avLst/>
          </a:prstGeom>
          <a:noFill/>
        </p:spPr>
        <p:txBody>
          <a:bodyPr wrap="square" anchor="ctr" lIns="0" rIns="0" tIns="0" bIns="0">
            <a:spAutoFit/>
          </a:bodyPr>
          <a:lstStyle/>
          <a:p>
            <a:pPr algn="l">
              <a:lnSpc>
                <a:spcPct val="105000"/>
              </a:lnSpc>
              <a:spcAft>
                <a:spcPts val="400"/>
              </a:spcAft>
            </a:pPr>
            <a:r>
              <a:rPr sz="1200" b="1" i="0">
                <a:solidFill>
                  <a:srgbClr val="FFFFFF"/>
                </a:solidFill>
                <a:latin typeface="Segoe Sans Display Semibold"/>
              </a:rPr>
              <a:t>Checkpoint: </a:t>
            </a:r>
            <a:r>
              <a:rPr sz="1200" b="0" i="0">
                <a:solidFill>
                  <a:srgbClr val="FFFFFF"/>
                </a:solidFill>
                <a:latin typeface="Segoe Sans Display"/>
              </a:rPr>
              <a:t>A cited briefing, five tailored questions, and a Word + Excel interviewer scorecard with every scale filled in.</a:t>
            </a:r>
          </a:p>
        </p:txBody>
      </p:sp>
      <p:sp>
        <p:nvSpPr>
          <p:cNvPr id="67" name="Rounded Rectangle 66">
            <a:extLst>
              <a:ext uri="{C183D7F6-B498-43B3-948B-1728B52AA6E4}">
                <ns9:decorative xmlns:ns9="http://schemas.microsoft.com/office/drawing/2017/decorative" val="1"/>
              </a:ext>
            </a:extLst>
          </p:cNvPr>
          <p:cNvSpPr/>
          <p:nvPr/>
        </p:nvSpPr>
        <p:spPr>
          <a:xfrm>
            <a:off x="7763256" y="5486400"/>
            <a:ext cx="4224528" cy="960120"/>
          </a:xfrm>
          <a:prstGeom prst="roundRect">
            <a:avLst>
              <a:gd name="adj" fmla="val 10000"/>
            </a:avLst>
          </a:prstGeom>
          <a:solidFill>
            <a:srgbClr val="FFF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Box 67"/>
          <p:cNvSpPr txBox="1"/>
          <p:nvPr/>
        </p:nvSpPr>
        <p:spPr>
          <a:xfrm>
            <a:off x="8001000" y="5486400"/>
            <a:ext cx="3794760" cy="960120"/>
          </a:xfrm>
          <a:prstGeom prst="rect">
            <a:avLst/>
          </a:prstGeom>
          <a:noFill/>
        </p:spPr>
        <p:txBody>
          <a:bodyPr wrap="square" anchor="ctr" lIns="0" rIns="0" tIns="0" bIns="0">
            <a:spAutoFit/>
          </a:bodyPr>
          <a:lstStyle/>
          <a:p>
            <a:pPr algn="l">
              <a:lnSpc>
                <a:spcPct val="103000"/>
              </a:lnSpc>
              <a:spcAft>
                <a:spcPts val="400"/>
              </a:spcAft>
            </a:pPr>
            <a:r>
              <a:rPr sz="1100" b="1" i="0">
                <a:solidFill>
                  <a:srgbClr val="323139"/>
                </a:solidFill>
                <a:latin typeface="Segoe Sans Display Semibold"/>
              </a:rPr>
              <a:t>Stretch: </a:t>
            </a:r>
            <a:r>
              <a:rPr sz="1100" b="0" i="0">
                <a:solidFill>
                  <a:srgbClr val="323139"/>
                </a:solidFill>
                <a:latin typeface="Segoe Sans Display"/>
              </a:rPr>
              <a:t>Benchmark PTO / annual-leave norms for mid-size tech firms against the Zava handbook.</a:t>
            </a:r>
          </a:p>
        </p:txBody>
      </p:sp>
    </p:spTree>
    <p:extLst>
      <p:ext uri="{BB962C8B-B14F-4D97-AF65-F5344CB8AC3E}">
        <p14:creationId xmlns:p14="http://schemas.microsoft.com/office/powerpoint/2010/main" val="1649947486"/>
      </p:ext>
    </p:extLst>
  </p:cSld>
  <p:clrMapOvr>
    <a:overrideClrMapping bg1="lt1" tx1="dk1" bg2="lt2" tx2="dk2" accent1="accent1" accent2="accent2" accent3="accent3" accent4="accent4" accent5="accent5" accent6="accent6" hlink="hlink" folHlink="folHlink"/>
  </p:clrMapOvr>
</p:sld>
</file>

<file path=ppt/slides/slide36.xml><?xml version="1.0" encoding="utf-8"?>
<p:sld xmlns:a="http://schemas.openxmlformats.org/drawingml/2006/main" xmlns:p="http://schemas.openxmlformats.org/presentationml/2006/main" xmlns:r="http://schemas.openxmlformats.org/officeDocument/2006/relationships">
  <p:cSld>
    <p:bg>
      <p:bgPr>
        <a:blipFill dpi="0" rotWithShape="1">
          <a:blip r:embed="rId5">
            <a:alphaModFix amt="70000"/>
            <a:lum/>
          </a:blip>
          <a:srcRect/>
          <a:stretch>
            <a:fillRect l="-2000" r="-2000"/>
          </a:stretch>
        </a:blipFill>
        <a:effectLst/>
      </p:bgPr>
    </p:bg>
    <p:spTree>
      <p:nvGrpSpPr>
        <p:cNvPr id="1" name="">
          <a:extLst>
            <a:ext uri="{FF2B5EF4-FFF2-40B4-BE49-F238E27FC236}">
              <a16:creationId xmlns:a16="http://schemas.microsoft.com/office/drawing/2014/main" id="{CC810B06-9C60-9BCB-DF49-73D043B037F2}"/>
            </a:ext>
          </a:extLst>
        </p:cNvPr>
        <p:cNvGrpSpPr/>
        <p:nvPr/>
      </p:nvGrpSpPr>
      <p:grpSpPr>
        <a:xfrm>
          <a:off x="0" y="0"/>
          <a:ext cx="0" cy="0"/>
          <a:chOff x="0" y="0"/>
          <a:chExt cx="0" cy="0"/>
        </a:xfrm>
      </p:grpSpPr>
      <p:sp>
        <p:nvSpPr>
          <p:cNvPr id="2" name="TextBox 1"/>
          <p:cNvSpPr txBox="1"/>
          <p:nvPr/>
        </p:nvSpPr>
        <p:spPr>
          <a:xfrm>
            <a:off x="914400" y="2148840"/>
            <a:ext cx="10332720" cy="1188720"/>
          </a:xfrm>
          <a:prstGeom prst="rect">
            <a:avLst/>
          </a:prstGeom>
          <a:noFill/>
        </p:spPr>
        <p:txBody>
          <a:bodyPr wrap="square" anchor="ctr" lIns="0" rIns="0" tIns="0" bIns="0">
            <a:spAutoFit/>
          </a:bodyPr>
          <a:lstStyle/>
          <a:p>
            <a:pPr algn="ctr">
              <a:spcAft>
                <a:spcPts val="400"/>
              </a:spcAft>
            </a:pPr>
            <a:r>
              <a:rPr sz="5400" b="0" i="0">
                <a:solidFill>
                  <a:srgbClr val="323139"/>
                </a:solidFill>
                <a:latin typeface="Segoe Sans Display"/>
              </a:rPr>
              <a:t>☕  Break · 10 minutes</a:t>
            </a:r>
          </a:p>
        </p:txBody>
      </p:sp>
      <p:sp>
        <p:nvSpPr>
          <p:cNvPr id="3" name="TextBox 2"/>
          <p:cNvSpPr txBox="1"/>
          <p:nvPr/>
        </p:nvSpPr>
        <p:spPr>
          <a:xfrm>
            <a:off x="1371600" y="3429000"/>
            <a:ext cx="9418320" cy="548640"/>
          </a:xfrm>
          <a:prstGeom prst="rect">
            <a:avLst/>
          </a:prstGeom>
          <a:noFill/>
        </p:spPr>
        <p:txBody>
          <a:bodyPr wrap="square" anchor="t" lIns="0" rIns="0" tIns="0" bIns="0">
            <a:spAutoFit/>
          </a:bodyPr>
          <a:lstStyle/>
          <a:p>
            <a:pPr algn="ctr">
              <a:spcAft>
                <a:spcPts val="400"/>
              </a:spcAft>
            </a:pPr>
            <a:r>
              <a:rPr sz="1800" b="0" i="0">
                <a:solidFill>
                  <a:srgbClr val="323139"/>
                </a:solidFill>
                <a:latin typeface="Segoe Sans Display"/>
              </a:rPr>
              <a:t>Stretch, refill, and note one task you'd hand to Cowork tomorrow.</a:t>
            </a:r>
          </a:p>
        </p:txBody>
      </p:sp>
      <p:sp>
        <p:nvSpPr>
          <p:cNvPr id="4" name="Rounded Rectangle 3">
            <a:extLst>
              <a:ext uri="{C183D7F6-B498-43B3-948B-1728B52AA6E4}">
                <ns0:decorative xmlns:ns0="http://schemas.microsoft.com/office/drawing/2017/decorative" val="1"/>
              </a:ext>
            </a:extLst>
          </p:cNvPr>
          <p:cNvSpPr/>
          <p:nvPr/>
        </p:nvSpPr>
        <p:spPr>
          <a:xfrm>
            <a:off x="3566160" y="4343400"/>
            <a:ext cx="5056632" cy="5029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3566160" y="4343400"/>
            <a:ext cx="5056632" cy="502920"/>
          </a:xfrm>
          <a:prstGeom prst="rect">
            <a:avLst/>
          </a:prstGeom>
          <a:noFill/>
        </p:spPr>
        <p:txBody>
          <a:bodyPr wrap="square" anchor="ctr" lIns="0" rIns="0" tIns="0" bIns="0">
            <a:spAutoFit/>
          </a:bodyPr>
          <a:lstStyle/>
          <a:p>
            <a:pPr algn="ctr">
              <a:spcAft>
                <a:spcPts val="400"/>
              </a:spcAft>
            </a:pPr>
            <a:r>
              <a:rPr sz="1500" b="0" i="0">
                <a:solidFill>
                  <a:srgbClr val="323139"/>
                </a:solidFill>
                <a:latin typeface="Segoe Sans Display Semibold"/>
              </a:rPr>
              <a:t>Next up: Ex 3 · Navigate websites</a:t>
            </a:r>
          </a:p>
        </p:txBody>
      </p:sp>
    </p:spTree>
    <p:extLst>
      <p:ext uri="{BB962C8B-B14F-4D97-AF65-F5344CB8AC3E}">
        <p14:creationId xmlns:p14="http://schemas.microsoft.com/office/powerpoint/2010/main" val="1649947486"/>
      </p:ext>
    </p:extLst>
  </p:cSld>
  <p:clrMapOvr>
    <a:overrideClrMapping bg1="lt1" tx1="dk1" bg2="lt2" tx2="dk2" accent1="accent1" accent2="accent2" accent3="accent3" accent4="accent4" accent5="accent5" accent6="accent6" hlink="hlink" folHlink="folHlink"/>
  </p:clrMapOvr>
</p:sld>
</file>

<file path=ppt/slides/slide37.xml><?xml version="1.0" encoding="utf-8"?>
<p:sld xmlns:a="http://schemas.openxmlformats.org/drawingml/2006/main" xmlns:p="http://schemas.openxmlformats.org/presentationml/2006/main" xmlns:r="http://schemas.openxmlformats.org/officeDocument/2006/relationships">
  <p:cSld>
    <p:bg>
      <p:bgPr>
        <a:blipFill dpi="0" rotWithShape="1">
          <a:blip r:embed="rId5">
            <a:alphaModFix amt="70000"/>
            <a:lum/>
          </a:blip>
          <a:srcRect/>
          <a:stretch>
            <a:fillRect l="-2000" r="-2000"/>
          </a:stretch>
        </a:blipFill>
        <a:effectLst/>
      </p:bgPr>
    </p:bg>
    <p:spTree>
      <p:nvGrpSpPr>
        <p:cNvPr id="1" name="">
          <a:extLst>
            <a:ext uri="{FF2B5EF4-FFF2-40B4-BE49-F238E27FC236}">
              <a16:creationId xmlns:a16="http://schemas.microsoft.com/office/drawing/2014/main" id="{CC810B06-9C60-9BCB-DF49-73D043B037F2}"/>
            </a:ext>
          </a:extLst>
        </p:cNvPr>
        <p:cNvGrpSpPr/>
        <p:nvPr/>
      </p:nvGrpSpPr>
      <p:grpSpPr>
        <a:xfrm>
          <a:off x="0" y="0"/>
          <a:ext cx="0" cy="0"/>
          <a:chOff x="0" y="0"/>
          <a:chExt cx="0" cy="0"/>
        </a:xfrm>
      </p:grpSpPr>
      <p:sp>
        <p:nvSpPr>
          <p:cNvPr id="27" name="Title 3">
            <a:extLst>
              <a:ext uri="{FF2B5EF4-FFF2-40B4-BE49-F238E27FC236}">
                <a16:creationId xmlns:a16="http://schemas.microsoft.com/office/drawing/2014/main" id="{3EF2C483-DB46-D975-7E0E-09A75642D76B}"/>
              </a:ext>
            </a:extLst>
          </p:cNvPr>
          <p:cNvSpPr txBox="1">
            <a:spLocks/>
          </p:cNvSpPr>
          <p:nvPr/>
        </p:nvSpPr>
        <p:spPr>
          <a:xfrm>
            <a:off x="1925908" y="293473"/>
            <a:ext cx="7070725" cy="430887"/>
          </a:xfrm>
          <a:prstGeom prst="rect">
            <a:avLst/>
          </a:prstGeom>
        </p:spPr>
        <p:txBody>
          <a:bodyPr vert="horz" wrap="square" lIns="0" tIns="0" rIns="0" bIns="0" rtlCol="0" anchor="t">
            <a:spAutoFit/>
          </a:bodyPr>
          <a:lstStyle>
            <a:lvl1pPr algn="l" defTabSz="769520" rtl="0" eaLnBrk="1" latinLnBrk="0" hangingPunct="1">
              <a:lnSpc>
                <a:spcPct val="100000"/>
              </a:lnSpc>
              <a:spcBef>
                <a:spcPct val="0"/>
              </a:spcBef>
              <a:buNone/>
              <a:defRPr lang="en-US" sz="2000" b="0" kern="1200" cap="none" spc="0" baseline="0">
                <a:ln w="3175">
                  <a:noFill/>
                </a:ln>
                <a:solidFill>
                  <a:schemeClr val="tx1"/>
                </a:solidFill>
                <a:effectLst/>
                <a:latin typeface="+mj-lt"/>
                <a:ea typeface="+mn-ea"/>
                <a:cs typeface="Segoe Sans Display" pitchFamily="2" charset="0"/>
              </a:defRPr>
            </a:lvl1pPr>
          </a:lstStyle>
          <a:p>
            <a:pPr marL="0" marR="0" lvl="0" indent="0" algn="l" defTabSz="769520" rtl="0" eaLnBrk="1" fontAlgn="auto" latinLnBrk="0" hangingPunct="1">
              <a:lnSpc>
                <a:spcPct val="100000"/>
              </a:lnSpc>
              <a:spcBef>
                <a:spcPct val="0"/>
              </a:spcBef>
              <a:spcAft>
                <a:spcPts val="0"/>
              </a:spcAft>
              <a:buClrTx/>
              <a:buSzTx/>
              <a:buFontTx/>
              <a:buNone/>
              <a:tabLst/>
              <a:defRPr/>
            </a:pPr>
            <a:r>
              <a:rPr kumimoji="0" lang="en-US" sz="2800" b="0" i="0" u="none" strike="noStrike" kern="1200" cap="none" spc="0" normalizeH="0" baseline="0" noProof="0">
                <a:ln w="3175">
                  <a:noFill/>
                </a:ln>
                <a:solidFill>
                  <a:srgbClr val="323139"/>
                </a:solidFill>
                <a:effectLst/>
                <a:uLnTx/>
                <a:uFillTx/>
                <a:latin typeface="Segoe Sans Display" pitchFamily="2" charset="0"/>
                <a:ea typeface="+mn-ea"/>
                <a:cs typeface="Segoe Sans Display" pitchFamily="2" charset="0"/>
              </a:rPr>
              <a:t>Navigate Websites with Cowork’s Browser</a:t>
            </a:r>
          </a:p>
        </p:txBody>
      </p:sp>
      <p:sp>
        <p:nvSpPr>
          <p:cNvPr id="28" name="NavPill_SitesPages">
            <a:extLst>
              <a:ext uri="{FF2B5EF4-FFF2-40B4-BE49-F238E27FC236}">
                <a16:creationId xmlns:a16="http://schemas.microsoft.com/office/drawing/2014/main" id="{57BB7AF5-33B6-DA4A-ABA7-2573FB8050B2}"/>
              </a:ext>
            </a:extLst>
          </p:cNvPr>
          <p:cNvSpPr/>
          <p:nvPr/>
        </p:nvSpPr>
        <p:spPr>
          <a:xfrm>
            <a:off x="350837" y="342900"/>
            <a:ext cx="1419239" cy="337762"/>
          </a:xfrm>
          <a:prstGeom prst="roundRect">
            <a:avLst>
              <a:gd name="adj" fmla="val 50000"/>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207091" rtl="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Ex 03</a:t>
            </a:r>
          </a:p>
        </p:txBody>
      </p:sp>
      <p:sp>
        <p:nvSpPr>
          <p:cNvPr id="33" name="Rectangle: Rounded Corners 32">
            <a:extLst>
              <a:ext uri="{FF2B5EF4-FFF2-40B4-BE49-F238E27FC236}">
                <a16:creationId xmlns:a16="http://schemas.microsoft.com/office/drawing/2014/main" id="{8D56FF72-D759-DB8C-C791-1089618B3EE4}"/>
              </a:ext>
            </a:extLst>
          </p:cNvPr>
          <p:cNvSpPr/>
          <p:nvPr/>
        </p:nvSpPr>
        <p:spPr bwMode="auto">
          <a:xfrm>
            <a:off x="424382" y="954763"/>
            <a:ext cx="3621360" cy="1127147"/>
          </a:xfrm>
          <a:prstGeom prst="roundRect">
            <a:avLst>
              <a:gd name="adj" fmla="val 9646"/>
            </a:avLst>
          </a:prstGeom>
          <a:solidFill>
            <a:srgbClr val="FFFC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Goal</a:t>
            </a:r>
            <a:r>
              <a:rPr kumimoji="0" lang="en-US" sz="1100" b="0" i="0" u="none" strike="noStrike" kern="0" cap="none" spc="0" normalizeH="0" baseline="0" noProof="0">
                <a:ln w="3175">
                  <a:noFill/>
                </a:ln>
                <a:solidFill>
                  <a:srgbClr val="323139"/>
                </a:solidFill>
                <a:effectLst/>
                <a:uLnTx/>
                <a:uFillTx/>
                <a:latin typeface="Segoe Sans Display Semibold" pitchFamily="2" charset="0"/>
                <a:ea typeface="+mn-ea"/>
                <a:cs typeface="Segoe Sans Display Semibold" pitchFamily="2" charset="0"/>
              </a:rPr>
              <a:t>: </a:t>
            </a:r>
            <a:r>
              <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rPr>
              <a:t>Have Cowork drive a real web browser for you — search a site, click through, move to a second site — and bring back a sourced comparison.</a:t>
            </a:r>
          </a:p>
        </p:txBody>
      </p:sp>
      <p:sp>
        <p:nvSpPr>
          <p:cNvPr id="34" name="Rectangle: Rounded Corners 33">
            <a:extLst>
              <a:ext uri="{FF2B5EF4-FFF2-40B4-BE49-F238E27FC236}">
                <a16:creationId xmlns:a16="http://schemas.microsoft.com/office/drawing/2014/main" id="{58B7C25E-B49B-24B7-8F32-A2823589DFF3}"/>
              </a:ext>
            </a:extLst>
          </p:cNvPr>
          <p:cNvSpPr/>
          <p:nvPr/>
        </p:nvSpPr>
        <p:spPr bwMode="auto">
          <a:xfrm>
            <a:off x="4372822" y="978410"/>
            <a:ext cx="3621360" cy="1107187"/>
          </a:xfrm>
          <a:prstGeom prst="roundRect">
            <a:avLst>
              <a:gd name="adj" fmla="val 10584"/>
            </a:avLst>
          </a:prstGeom>
          <a:solidFill>
            <a:srgbClr val="FFFC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noProof="0">
                <a:ln w="3175">
                  <a:noFill/>
                </a:ln>
                <a:blipFill>
                  <a:blip r:embed="rId4"/>
                  <a:stretch>
                    <a:fillRect t="-26822" b="-26822"/>
                  </a:stretch>
                </a:blipFill>
                <a:effectLst/>
                <a:uLnTx/>
                <a:uFillTx/>
                <a:latin typeface="Segoe Sans Display Semibold"/>
                <a:ea typeface="+mn-ea"/>
                <a:cs typeface="Segoe Sans Display Semibold" pitchFamily="2" charset="0"/>
              </a:rPr>
              <a:t>Output</a:t>
            </a:r>
            <a:r>
              <a:rPr kumimoji="0" lang="en-US" sz="1100" b="0" i="0" u="none" strike="noStrike" kern="0" cap="none" spc="0" normalizeH="0" baseline="0" noProof="0">
                <a:ln w="3175">
                  <a:noFill/>
                </a:ln>
                <a:solidFill>
                  <a:srgbClr val="323139"/>
                </a:solidFill>
                <a:effectLst/>
                <a:uLnTx/>
                <a:uFillTx/>
                <a:latin typeface="Segoe Sans Display Semibold"/>
                <a:ea typeface="+mn-ea"/>
                <a:cs typeface="Segoe Sans Display Semibold" pitchFamily="2" charset="0"/>
              </a:rPr>
              <a:t>: </a:t>
            </a:r>
            <a:r>
              <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rPr>
              <a:t>An overtime comparison (U.S. DOL vs. Washington L&amp;I vs. Zava handbook) with a link to every page visited, and a one-page Word brief for payroll about T-2008.</a:t>
            </a:r>
          </a:p>
        </p:txBody>
      </p:sp>
      <p:sp>
        <p:nvSpPr>
          <p:cNvPr id="30" name="TextBox 29">
            <a:extLst>
              <a:ext uri="{FF2B5EF4-FFF2-40B4-BE49-F238E27FC236}">
                <a16:creationId xmlns:a16="http://schemas.microsoft.com/office/drawing/2014/main" id="{4519738B-A618-91E3-CAC4-D99F7E54632B}"/>
              </a:ext>
              <a:ext uri="{C183D7F6-B498-43B3-948B-1728B52AA6E4}">
                <ns0:decorative xmlns:ns0="http://schemas.microsoft.com/office/drawing/2017/decorative" val="1"/>
              </a:ext>
            </a:extLst>
          </p:cNvPr>
          <p:cNvSpPr txBox="1"/>
          <p:nvPr/>
        </p:nvSpPr>
        <p:spPr>
          <a:xfrm>
            <a:off x="8867052" y="119383"/>
            <a:ext cx="3092209" cy="338554"/>
          </a:xfrm>
          <a:prstGeom prst="roundRect">
            <a:avLst>
              <a:gd name="adj" fmla="val 19537"/>
            </a:avLst>
          </a:prstGeom>
          <a:solidFill>
            <a:srgbClr val="CB85FF">
              <a:lumMod val="20000"/>
              <a:lumOff val="80000"/>
            </a:srgbClr>
          </a:solidFill>
        </p:spPr>
        <p:txBody>
          <a:bodyPr wrap="square" lIns="1188720" tIns="45720" rIns="0" bIns="45720" anchor="ctr">
            <a:noAutofit/>
          </a:bodyPr>
          <a:lstStyle>
            <a:defPPr>
              <a:defRPr lang="en-US"/>
            </a:defPPr>
            <a:lvl1pPr>
              <a:spcAft>
                <a:spcPts val="776"/>
              </a:spcAft>
              <a:defRPr sz="1200">
                <a:latin typeface="+mj-lt"/>
                <a:cs typeface="Segoe Sans Display Semibold" pitchFamily="2" charset="0"/>
              </a:defRPr>
            </a:lvl1pPr>
          </a:lstStyle>
          <a:p>
            <a:pPr marL="0" marR="0" lvl="0" indent="0" algn="l" defTabSz="914294" rtl="0" eaLnBrk="1" fontAlgn="auto" latinLnBrk="0" hangingPunct="1">
              <a:lnSpc>
                <a:spcPct val="100000"/>
              </a:lnSpc>
              <a:spcBef>
                <a:spcPts val="0"/>
              </a:spcBef>
              <a:spcAft>
                <a:spcPts val="776"/>
              </a:spcAft>
              <a:buClrTx/>
              <a:buSzTx/>
              <a:buFontTx/>
              <a:buNone/>
              <a:tabLst/>
              <a:defRPr/>
            </a:pPr>
            <a:endParaRPr kumimoji="0" lang="en-US" sz="1200" b="0" i="0" u="none" strike="noStrike" kern="0" cap="none" spc="0" normalizeH="0" baseline="0" noProof="0">
              <a:ln>
                <a:noFill/>
              </a:ln>
              <a:solidFill>
                <a:srgbClr val="323139"/>
              </a:solidFill>
              <a:effectLst/>
              <a:uLnTx/>
              <a:uFillTx/>
              <a:latin typeface="Segoe Sans Display"/>
              <a:ea typeface="+mn-ea"/>
              <a:cs typeface="Segoe Sans Display Semibold" pitchFamily="2" charset="0"/>
            </a:endParaRPr>
          </a:p>
        </p:txBody>
      </p:sp>
      <p:sp>
        <p:nvSpPr>
          <p:cNvPr id="31" name="TextBox 30">
            <a:extLst>
              <a:ext uri="{FF2B5EF4-FFF2-40B4-BE49-F238E27FC236}">
                <a16:creationId xmlns:a16="http://schemas.microsoft.com/office/drawing/2014/main" id="{4B310F6E-1BD3-CF01-32AD-647BCF12AC0F}"/>
              </a:ext>
            </a:extLst>
          </p:cNvPr>
          <p:cNvSpPr txBox="1"/>
          <p:nvPr/>
        </p:nvSpPr>
        <p:spPr>
          <a:xfrm>
            <a:off x="8942688" y="173878"/>
            <a:ext cx="1280160" cy="233352"/>
          </a:xfrm>
          <a:prstGeom prst="roundRect">
            <a:avLst>
              <a:gd name="adj" fmla="val 16151"/>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5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defRPr lang="en-US"/>
            </a:defPPr>
            <a:lvl1pPr algn="ctr" defTabSz="932765" fontAlgn="base">
              <a:spcBef>
                <a:spcPct val="0"/>
              </a:spcBef>
              <a:spcAft>
                <a:spcPct val="0"/>
              </a:spcAft>
              <a:defRPr sz="1600">
                <a:solidFill>
                  <a:schemeClr val="accent1"/>
                </a:solidFill>
                <a:latin typeface="+mj-lt"/>
                <a:cs typeface="Segoe Sans Display Semibold" pitchFamily="2" charset="0"/>
              </a:defRPr>
            </a:lvl1pPr>
          </a:lstStyle>
          <a:p>
            <a:pPr marL="0" marR="0" lvl="0" indent="0" algn="l" defTabSz="932765" rtl="0" eaLnBrk="1" fontAlgn="base" latinLnBrk="0" hangingPunct="1">
              <a:lnSpc>
                <a:spcPct val="100000"/>
              </a:lnSpc>
              <a:spcBef>
                <a:spcPct val="0"/>
              </a:spcBef>
              <a:spcAft>
                <a:spcPct val="0"/>
              </a:spcAft>
              <a:buClrTx/>
              <a:buSzTx/>
              <a:buFontTx/>
              <a:buNone/>
              <a:tabLst/>
              <a:defRPr/>
            </a:pPr>
            <a:r>
              <a:rPr kumimoji="0" lang="en-IN" sz="1050" b="0" i="0" u="none" strike="noStrike" kern="0" cap="none" spc="0" normalizeH="0" baseline="0" noProof="0">
                <a:ln>
                  <a:noFill/>
                </a:ln>
                <a:solidFill>
                  <a:srgbClr val="323139"/>
                </a:solidFill>
                <a:effectLst/>
                <a:uLnTx/>
                <a:uFillTx/>
                <a:latin typeface="Segoe Sans Display"/>
                <a:ea typeface="+mn-ea"/>
                <a:cs typeface="Segoe Sans Display Semibold" pitchFamily="2" charset="0"/>
              </a:rPr>
              <a:t>Function</a:t>
            </a:r>
          </a:p>
        </p:txBody>
      </p:sp>
      <p:sp>
        <p:nvSpPr>
          <p:cNvPr id="50" name="TextBox 49">
            <a:extLst>
              <a:ext uri="{FF2B5EF4-FFF2-40B4-BE49-F238E27FC236}">
                <a16:creationId xmlns:a16="http://schemas.microsoft.com/office/drawing/2014/main" id="{0CE10D15-83B7-7915-49A3-0BD3A21E9731}"/>
              </a:ext>
            </a:extLst>
          </p:cNvPr>
          <p:cNvSpPr txBox="1"/>
          <p:nvPr/>
        </p:nvSpPr>
        <p:spPr>
          <a:xfrm>
            <a:off x="10298483" y="173490"/>
            <a:ext cx="1668779" cy="253916"/>
          </a:xfrm>
          <a:prstGeom prst="rect">
            <a:avLst/>
          </a:prstGeom>
          <a:noFill/>
        </p:spPr>
        <p:txBody>
          <a:bodyPr wrap="square">
            <a:spAutoFit/>
          </a:bodyPr>
          <a:lstStyle/>
          <a:p>
            <a:pPr marL="0" marR="0" lvl="0" indent="0" algn="l" defTabSz="914294"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323139"/>
                </a:solidFill>
                <a:effectLst/>
                <a:uLnTx/>
                <a:uFillTx/>
                <a:latin typeface="Segoe Sans Display"/>
                <a:ea typeface="+mn-ea"/>
                <a:cs typeface="Segoe Sans Display"/>
              </a:rPr>
              <a:t>HR · Compliance</a:t>
            </a:r>
          </a:p>
        </p:txBody>
      </p:sp>
      <p:sp>
        <p:nvSpPr>
          <p:cNvPr id="59" name="Rectangle: Rounded Corners 58">
            <a:extLst>
              <a:ext uri="{FF2B5EF4-FFF2-40B4-BE49-F238E27FC236}">
                <a16:creationId xmlns:a16="http://schemas.microsoft.com/office/drawing/2014/main" id="{4A73329A-1917-C156-E817-2B9E2D56CBE1}"/>
              </a:ext>
              <a:ext uri="{C183D7F6-B498-43B3-948B-1728B52AA6E4}">
                <ns1:decorative xmlns:ns1="http://schemas.microsoft.com/office/drawing/2017/decorative" val="1"/>
              </a:ext>
            </a:extLst>
          </p:cNvPr>
          <p:cNvSpPr/>
          <p:nvPr/>
        </p:nvSpPr>
        <p:spPr bwMode="auto">
          <a:xfrm>
            <a:off x="424381" y="2312313"/>
            <a:ext cx="7171849" cy="4327573"/>
          </a:xfrm>
          <a:prstGeom prst="roundRect">
            <a:avLst>
              <a:gd name="adj" fmla="val 1683"/>
            </a:avLst>
          </a:prstGeom>
          <a:solidFill>
            <a:srgbClr val="FFF9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B553FF"/>
              </a:solidFill>
              <a:effectLst/>
              <a:uLnTx/>
              <a:uFillTx/>
              <a:latin typeface="Segoe Sans Display Semibold" pitchFamily="2" charset="0"/>
              <a:ea typeface="+mn-ea"/>
              <a:cs typeface="Segoe Sans Display Semibold" pitchFamily="2" charset="0"/>
            </a:endParaRPr>
          </a:p>
        </p:txBody>
      </p:sp>
      <p:grpSp>
        <p:nvGrpSpPr>
          <p:cNvPr id="79" name="Group 78">
            <a:extLst>
              <a:ext uri="{FF2B5EF4-FFF2-40B4-BE49-F238E27FC236}">
                <a16:creationId xmlns:a16="http://schemas.microsoft.com/office/drawing/2014/main" id="{B857CF20-AAD8-92CD-98E7-73BD8662071B}"/>
              </a:ext>
            </a:extLst>
          </p:cNvPr>
          <p:cNvGrpSpPr/>
          <p:nvPr/>
        </p:nvGrpSpPr>
        <p:grpSpPr>
          <a:xfrm>
            <a:off x="199916" y="775485"/>
            <a:ext cx="398477" cy="398477"/>
            <a:chOff x="3403308" y="1083220"/>
            <a:chExt cx="398477" cy="398477"/>
          </a:xfrm>
        </p:grpSpPr>
        <p:sp>
          <p:nvSpPr>
            <p:cNvPr id="76" name="Oval 75">
              <a:extLst>
                <a:ext uri="{FF2B5EF4-FFF2-40B4-BE49-F238E27FC236}">
                  <a16:creationId xmlns:a16="http://schemas.microsoft.com/office/drawing/2014/main" id="{159C5AC1-FC57-57FC-51C9-4DC5847B88F1}"/>
                </a:ext>
                <a:ext uri="{C183D7F6-B498-43B3-948B-1728B52AA6E4}">
                  <ns2:decorative xmlns:ns2="http://schemas.microsoft.com/office/drawing/2017/decorative" val="1"/>
                </a:ext>
              </a:extLst>
            </p:cNvPr>
            <p:cNvSpPr/>
            <p:nvPr/>
          </p:nvSpPr>
          <p:spPr>
            <a:xfrm>
              <a:off x="3403308" y="1083220"/>
              <a:ext cx="398477" cy="398477"/>
            </a:xfrm>
            <a:prstGeom prst="ellipse">
              <a:avLst/>
            </a:prstGeom>
            <a:solidFill>
              <a:srgbClr val="FFF9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2" name="Graphic 5">
              <a:extLst>
                <a:ext uri="{FF2B5EF4-FFF2-40B4-BE49-F238E27FC236}">
                  <a16:creationId xmlns:a16="http://schemas.microsoft.com/office/drawing/2014/main" id="{9F306AE4-27E6-F02E-E553-1EF2C3FBAF65}"/>
                </a:ext>
                <a:ext uri="{C183D7F6-B498-43B3-948B-1728B52AA6E4}">
                  <adec:decorative xmlns:adec="http://schemas.microsoft.com/office/drawing/2017/decorative" val="1"/>
                </a:ext>
              </a:extLst>
            </p:cNvPr>
            <p:cNvSpPr>
              <a:spLocks/>
            </p:cNvSpPr>
            <p:nvPr/>
          </p:nvSpPr>
          <p:spPr>
            <a:xfrm>
              <a:off x="3474676" y="1157049"/>
              <a:ext cx="250822" cy="250818"/>
            </a:xfrm>
            <a:custGeom>
              <a:avLst/>
              <a:gdLst>
                <a:gd name="csX0" fmla="*/ 188408 w 190501"/>
                <a:gd name="csY0" fmla="*/ 45534 h 190500"/>
                <a:gd name="csX1" fmla="*/ 189957 w 190501"/>
                <a:gd name="csY1" fmla="*/ 37748 h 190500"/>
                <a:gd name="csX2" fmla="*/ 183357 w 190501"/>
                <a:gd name="csY2" fmla="*/ 33338 h 190500"/>
                <a:gd name="csX3" fmla="*/ 157162 w 190501"/>
                <a:gd name="csY3" fmla="*/ 33338 h 190500"/>
                <a:gd name="csX4" fmla="*/ 157162 w 190501"/>
                <a:gd name="csY4" fmla="*/ 7144 h 190500"/>
                <a:gd name="csX5" fmla="*/ 152751 w 190501"/>
                <a:gd name="csY5" fmla="*/ 544 h 190500"/>
                <a:gd name="csX6" fmla="*/ 144967 w 190501"/>
                <a:gd name="csY6" fmla="*/ 2093 h 190500"/>
                <a:gd name="csX7" fmla="*/ 121155 w 190501"/>
                <a:gd name="csY7" fmla="*/ 25906 h 190500"/>
                <a:gd name="csX8" fmla="*/ 119063 w 190501"/>
                <a:gd name="csY8" fmla="*/ 30957 h 190500"/>
                <a:gd name="csX9" fmla="*/ 119063 w 190501"/>
                <a:gd name="csY9" fmla="*/ 57967 h 190500"/>
                <a:gd name="csX10" fmla="*/ 100185 w 190501"/>
                <a:gd name="csY10" fmla="*/ 76846 h 190500"/>
                <a:gd name="csX11" fmla="*/ 95250 w 190501"/>
                <a:gd name="csY11" fmla="*/ 76201 h 190500"/>
                <a:gd name="csX12" fmla="*/ 76200 w 190501"/>
                <a:gd name="csY12" fmla="*/ 95251 h 190500"/>
                <a:gd name="csX13" fmla="*/ 95250 w 190501"/>
                <a:gd name="csY13" fmla="*/ 114301 h 190500"/>
                <a:gd name="csX14" fmla="*/ 114300 w 190501"/>
                <a:gd name="csY14" fmla="*/ 95251 h 190500"/>
                <a:gd name="csX15" fmla="*/ 113655 w 190501"/>
                <a:gd name="csY15" fmla="*/ 90316 h 190500"/>
                <a:gd name="csX16" fmla="*/ 132533 w 190501"/>
                <a:gd name="csY16" fmla="*/ 71438 h 190500"/>
                <a:gd name="csX17" fmla="*/ 159545 w 190501"/>
                <a:gd name="csY17" fmla="*/ 71438 h 190500"/>
                <a:gd name="csX18" fmla="*/ 164596 w 190501"/>
                <a:gd name="csY18" fmla="*/ 69346 h 190500"/>
                <a:gd name="csX19" fmla="*/ 188408 w 190501"/>
                <a:gd name="csY19" fmla="*/ 45534 h 190500"/>
                <a:gd name="csX20" fmla="*/ 95250 w 190501"/>
                <a:gd name="csY20" fmla="*/ 1 h 190500"/>
                <a:gd name="csX21" fmla="*/ 127860 w 190501"/>
                <a:gd name="csY21" fmla="*/ 5729 h 190500"/>
                <a:gd name="csX22" fmla="*/ 114419 w 190501"/>
                <a:gd name="csY22" fmla="*/ 19170 h 190500"/>
                <a:gd name="csX23" fmla="*/ 112781 w 190501"/>
                <a:gd name="csY23" fmla="*/ 21077 h 190500"/>
                <a:gd name="csX24" fmla="*/ 95250 w 190501"/>
                <a:gd name="csY24" fmla="*/ 19051 h 190500"/>
                <a:gd name="csX25" fmla="*/ 19050 w 190501"/>
                <a:gd name="csY25" fmla="*/ 95251 h 190500"/>
                <a:gd name="csX26" fmla="*/ 95250 w 190501"/>
                <a:gd name="csY26" fmla="*/ 171451 h 190500"/>
                <a:gd name="csX27" fmla="*/ 171450 w 190501"/>
                <a:gd name="csY27" fmla="*/ 95251 h 190500"/>
                <a:gd name="csX28" fmla="*/ 169424 w 190501"/>
                <a:gd name="csY28" fmla="*/ 77720 h 190500"/>
                <a:gd name="csX29" fmla="*/ 171331 w 190501"/>
                <a:gd name="csY29" fmla="*/ 76081 h 190500"/>
                <a:gd name="csX30" fmla="*/ 184772 w 190501"/>
                <a:gd name="csY30" fmla="*/ 62641 h 190500"/>
                <a:gd name="csX31" fmla="*/ 190500 w 190501"/>
                <a:gd name="csY31" fmla="*/ 95251 h 190500"/>
                <a:gd name="csX32" fmla="*/ 95250 w 190501"/>
                <a:gd name="csY32" fmla="*/ 190501 h 190500"/>
                <a:gd name="csX33" fmla="*/ 0 w 190501"/>
                <a:gd name="csY33" fmla="*/ 95251 h 190500"/>
                <a:gd name="csX34" fmla="*/ 95250 w 190501"/>
                <a:gd name="csY34" fmla="*/ 1 h 190500"/>
                <a:gd name="csX35" fmla="*/ 95250 w 190501"/>
                <a:gd name="csY35" fmla="*/ 38101 h 190500"/>
                <a:gd name="csX36" fmla="*/ 109538 w 190501"/>
                <a:gd name="csY36" fmla="*/ 39901 h 190500"/>
                <a:gd name="csX37" fmla="*/ 109538 w 190501"/>
                <a:gd name="csY37" fmla="*/ 54021 h 190500"/>
                <a:gd name="csX38" fmla="*/ 105592 w 190501"/>
                <a:gd name="csY38" fmla="*/ 57968 h 190500"/>
                <a:gd name="csX39" fmla="*/ 105131 w 190501"/>
                <a:gd name="csY39" fmla="*/ 58444 h 190500"/>
                <a:gd name="csX40" fmla="*/ 95250 w 190501"/>
                <a:gd name="csY40" fmla="*/ 57151 h 190500"/>
                <a:gd name="csX41" fmla="*/ 57150 w 190501"/>
                <a:gd name="csY41" fmla="*/ 95251 h 190500"/>
                <a:gd name="csX42" fmla="*/ 95250 w 190501"/>
                <a:gd name="csY42" fmla="*/ 133351 h 190500"/>
                <a:gd name="csX43" fmla="*/ 133350 w 190501"/>
                <a:gd name="csY43" fmla="*/ 95251 h 190500"/>
                <a:gd name="csX44" fmla="*/ 132057 w 190501"/>
                <a:gd name="csY44" fmla="*/ 85369 h 190500"/>
                <a:gd name="csX45" fmla="*/ 132533 w 190501"/>
                <a:gd name="csY45" fmla="*/ 84909 h 190500"/>
                <a:gd name="csX46" fmla="*/ 136478 w 190501"/>
                <a:gd name="csY46" fmla="*/ 80963 h 190500"/>
                <a:gd name="csX47" fmla="*/ 150600 w 190501"/>
                <a:gd name="csY47" fmla="*/ 80963 h 190500"/>
                <a:gd name="csX48" fmla="*/ 152400 w 190501"/>
                <a:gd name="csY48" fmla="*/ 95251 h 190500"/>
                <a:gd name="csX49" fmla="*/ 95250 w 190501"/>
                <a:gd name="csY49" fmla="*/ 152401 h 190500"/>
                <a:gd name="csX50" fmla="*/ 38100 w 190501"/>
                <a:gd name="csY50" fmla="*/ 95251 h 190500"/>
                <a:gd name="csX51" fmla="*/ 95250 w 190501"/>
                <a:gd name="csY51" fmla="*/ 38101 h 190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Lst>
              <a:rect l="l" t="t" r="r" b="b"/>
              <a:pathLst>
                <a:path w="190501" h="190500">
                  <a:moveTo>
                    <a:pt x="188408" y="45534"/>
                  </a:moveTo>
                  <a:cubicBezTo>
                    <a:pt x="190452" y="43491"/>
                    <a:pt x="191063" y="40418"/>
                    <a:pt x="189957" y="37748"/>
                  </a:cubicBezTo>
                  <a:cubicBezTo>
                    <a:pt x="188852" y="35079"/>
                    <a:pt x="186247" y="33338"/>
                    <a:pt x="183357" y="33338"/>
                  </a:cubicBezTo>
                  <a:lnTo>
                    <a:pt x="157162" y="33338"/>
                  </a:lnTo>
                  <a:lnTo>
                    <a:pt x="157162" y="7144"/>
                  </a:lnTo>
                  <a:cubicBezTo>
                    <a:pt x="157162" y="4255"/>
                    <a:pt x="155421" y="1650"/>
                    <a:pt x="152751" y="544"/>
                  </a:cubicBezTo>
                  <a:cubicBezTo>
                    <a:pt x="150083" y="-562"/>
                    <a:pt x="147010" y="50"/>
                    <a:pt x="144967" y="2093"/>
                  </a:cubicBezTo>
                  <a:lnTo>
                    <a:pt x="121155" y="25906"/>
                  </a:lnTo>
                  <a:cubicBezTo>
                    <a:pt x="119815" y="27246"/>
                    <a:pt x="119063" y="29063"/>
                    <a:pt x="119063" y="30957"/>
                  </a:cubicBezTo>
                  <a:lnTo>
                    <a:pt x="119063" y="57967"/>
                  </a:lnTo>
                  <a:lnTo>
                    <a:pt x="100185" y="76846"/>
                  </a:lnTo>
                  <a:cubicBezTo>
                    <a:pt x="98610" y="76425"/>
                    <a:pt x="96957" y="76201"/>
                    <a:pt x="95250" y="76201"/>
                  </a:cubicBezTo>
                  <a:cubicBezTo>
                    <a:pt x="84729" y="76201"/>
                    <a:pt x="76200" y="84730"/>
                    <a:pt x="76200" y="95251"/>
                  </a:cubicBezTo>
                  <a:cubicBezTo>
                    <a:pt x="76200" y="105771"/>
                    <a:pt x="84729" y="114301"/>
                    <a:pt x="95250" y="114301"/>
                  </a:cubicBezTo>
                  <a:cubicBezTo>
                    <a:pt x="105771" y="114301"/>
                    <a:pt x="114300" y="105771"/>
                    <a:pt x="114300" y="95251"/>
                  </a:cubicBezTo>
                  <a:cubicBezTo>
                    <a:pt x="114300" y="93544"/>
                    <a:pt x="114075" y="91891"/>
                    <a:pt x="113655" y="90316"/>
                  </a:cubicBezTo>
                  <a:lnTo>
                    <a:pt x="132533" y="71438"/>
                  </a:lnTo>
                  <a:lnTo>
                    <a:pt x="159545" y="71438"/>
                  </a:lnTo>
                  <a:cubicBezTo>
                    <a:pt x="161439" y="71438"/>
                    <a:pt x="163256" y="70686"/>
                    <a:pt x="164596" y="69346"/>
                  </a:cubicBezTo>
                  <a:lnTo>
                    <a:pt x="188408" y="45534"/>
                  </a:lnTo>
                  <a:close/>
                  <a:moveTo>
                    <a:pt x="95250" y="1"/>
                  </a:moveTo>
                  <a:cubicBezTo>
                    <a:pt x="106705" y="1"/>
                    <a:pt x="117687" y="2023"/>
                    <a:pt x="127860" y="5729"/>
                  </a:cubicBezTo>
                  <a:lnTo>
                    <a:pt x="114419" y="19170"/>
                  </a:lnTo>
                  <a:cubicBezTo>
                    <a:pt x="113823" y="19767"/>
                    <a:pt x="113275" y="20405"/>
                    <a:pt x="112781" y="21077"/>
                  </a:cubicBezTo>
                  <a:cubicBezTo>
                    <a:pt x="107152" y="19752"/>
                    <a:pt x="101283" y="19051"/>
                    <a:pt x="95250" y="19051"/>
                  </a:cubicBezTo>
                  <a:cubicBezTo>
                    <a:pt x="53166" y="19051"/>
                    <a:pt x="19050" y="53166"/>
                    <a:pt x="19050" y="95251"/>
                  </a:cubicBezTo>
                  <a:cubicBezTo>
                    <a:pt x="19050" y="137334"/>
                    <a:pt x="53166" y="171451"/>
                    <a:pt x="95250" y="171451"/>
                  </a:cubicBezTo>
                  <a:cubicBezTo>
                    <a:pt x="137334" y="171451"/>
                    <a:pt x="171450" y="137334"/>
                    <a:pt x="171450" y="95251"/>
                  </a:cubicBezTo>
                  <a:cubicBezTo>
                    <a:pt x="171450" y="89218"/>
                    <a:pt x="170749" y="83348"/>
                    <a:pt x="169424" y="77720"/>
                  </a:cubicBezTo>
                  <a:cubicBezTo>
                    <a:pt x="170096" y="77226"/>
                    <a:pt x="170734" y="76678"/>
                    <a:pt x="171331" y="76081"/>
                  </a:cubicBezTo>
                  <a:lnTo>
                    <a:pt x="184772" y="62641"/>
                  </a:lnTo>
                  <a:cubicBezTo>
                    <a:pt x="188478" y="72813"/>
                    <a:pt x="190500" y="83796"/>
                    <a:pt x="190500" y="95251"/>
                  </a:cubicBezTo>
                  <a:cubicBezTo>
                    <a:pt x="190500" y="147856"/>
                    <a:pt x="147855" y="190501"/>
                    <a:pt x="95250" y="190501"/>
                  </a:cubicBezTo>
                  <a:cubicBezTo>
                    <a:pt x="42645" y="190501"/>
                    <a:pt x="0" y="147856"/>
                    <a:pt x="0" y="95251"/>
                  </a:cubicBezTo>
                  <a:cubicBezTo>
                    <a:pt x="0" y="42645"/>
                    <a:pt x="42645" y="1"/>
                    <a:pt x="95250" y="1"/>
                  </a:cubicBezTo>
                  <a:close/>
                  <a:moveTo>
                    <a:pt x="95250" y="38101"/>
                  </a:moveTo>
                  <a:cubicBezTo>
                    <a:pt x="100184" y="38101"/>
                    <a:pt x="104971" y="38726"/>
                    <a:pt x="109538" y="39901"/>
                  </a:cubicBezTo>
                  <a:lnTo>
                    <a:pt x="109538" y="54021"/>
                  </a:lnTo>
                  <a:lnTo>
                    <a:pt x="105592" y="57968"/>
                  </a:lnTo>
                  <a:cubicBezTo>
                    <a:pt x="105435" y="58125"/>
                    <a:pt x="105282" y="58284"/>
                    <a:pt x="105131" y="58444"/>
                  </a:cubicBezTo>
                  <a:cubicBezTo>
                    <a:pt x="101980" y="57601"/>
                    <a:pt x="98668" y="57151"/>
                    <a:pt x="95250" y="57151"/>
                  </a:cubicBezTo>
                  <a:cubicBezTo>
                    <a:pt x="74208" y="57151"/>
                    <a:pt x="57150" y="74208"/>
                    <a:pt x="57150" y="95251"/>
                  </a:cubicBezTo>
                  <a:cubicBezTo>
                    <a:pt x="57150" y="116293"/>
                    <a:pt x="74208" y="133351"/>
                    <a:pt x="95250" y="133351"/>
                  </a:cubicBezTo>
                  <a:cubicBezTo>
                    <a:pt x="116292" y="133351"/>
                    <a:pt x="133350" y="116293"/>
                    <a:pt x="133350" y="95251"/>
                  </a:cubicBezTo>
                  <a:cubicBezTo>
                    <a:pt x="133350" y="91833"/>
                    <a:pt x="132900" y="88521"/>
                    <a:pt x="132057" y="85369"/>
                  </a:cubicBezTo>
                  <a:cubicBezTo>
                    <a:pt x="132217" y="85219"/>
                    <a:pt x="132376" y="85065"/>
                    <a:pt x="132533" y="84909"/>
                  </a:cubicBezTo>
                  <a:lnTo>
                    <a:pt x="136478" y="80963"/>
                  </a:lnTo>
                  <a:lnTo>
                    <a:pt x="150600" y="80963"/>
                  </a:lnTo>
                  <a:cubicBezTo>
                    <a:pt x="151775" y="85530"/>
                    <a:pt x="152400" y="90317"/>
                    <a:pt x="152400" y="95251"/>
                  </a:cubicBezTo>
                  <a:cubicBezTo>
                    <a:pt x="152400" y="126814"/>
                    <a:pt x="126813" y="152401"/>
                    <a:pt x="95250" y="152401"/>
                  </a:cubicBezTo>
                  <a:cubicBezTo>
                    <a:pt x="63687" y="152401"/>
                    <a:pt x="38100" y="126814"/>
                    <a:pt x="38100" y="95251"/>
                  </a:cubicBezTo>
                  <a:cubicBezTo>
                    <a:pt x="38100" y="63687"/>
                    <a:pt x="63687" y="38101"/>
                    <a:pt x="95250" y="38101"/>
                  </a:cubicBezTo>
                  <a:close/>
                </a:path>
              </a:pathLst>
            </a:custGeom>
            <a:solidFill>
              <a:srgbClr val="323139"/>
            </a:solidFill>
            <a:ln w="10477" cap="flat" cmpd="sng" algn="ctr">
              <a:noFill/>
              <a:prstDash val="solid"/>
              <a:miter/>
            </a:ln>
            <a:effectLst/>
          </p:spPr>
          <p:txBody>
            <a:bodyPr rot="0" spcFirstLastPara="0" vertOverflow="overflow" horzOverflow="overflow" vert="horz" wrap="square" lIns="338011" tIns="270406" rIns="338011" bIns="270406" numCol="1" spcCol="0" rtlCol="0" fromWordArt="0" anchor="t" anchorCtr="0" forceAA="0" compatLnSpc="1">
              <a:prstTxWarp prst="textNoShape">
                <a:avLst/>
              </a:prstTxWarp>
              <a:noAutofit/>
            </a:bodyPr>
            <a:lstStyle/>
            <a:p>
              <a:pPr marL="0" marR="0" lvl="0" indent="0" algn="l" defTabSz="1722411" rtl="0" eaLnBrk="1" fontAlgn="base" latinLnBrk="0" hangingPunct="1">
                <a:lnSpc>
                  <a:spcPct val="100000"/>
                </a:lnSpc>
                <a:spcBef>
                  <a:spcPct val="0"/>
                </a:spcBef>
                <a:spcAft>
                  <a:spcPct val="0"/>
                </a:spcAft>
                <a:buClrTx/>
                <a:buSzTx/>
                <a:buFontTx/>
                <a:buNone/>
                <a:tabLst/>
                <a:defRPr/>
              </a:pPr>
              <a:endParaRPr kumimoji="0" lang="en-US" sz="3622" b="1" i="0" u="none" strike="noStrike" kern="0" cap="none" spc="0" normalizeH="0" baseline="0" noProof="0">
                <a:ln>
                  <a:noFill/>
                </a:ln>
                <a:noFill/>
                <a:effectLst/>
                <a:uLnTx/>
                <a:uFillTx/>
                <a:latin typeface="Segoe UI Variable Display Semibold" pitchFamily="2" charset="0"/>
                <a:ea typeface="+mn-ea"/>
                <a:cs typeface="Segoe UI" pitchFamily="34" charset="0"/>
              </a:endParaRPr>
            </a:p>
          </p:txBody>
        </p:sp>
      </p:grpSp>
      <p:sp>
        <p:nvSpPr>
          <p:cNvPr id="78" name="Oval 77">
            <a:extLst>
              <a:ext uri="{FF2B5EF4-FFF2-40B4-BE49-F238E27FC236}">
                <a16:creationId xmlns:a16="http://schemas.microsoft.com/office/drawing/2014/main" id="{7ABF2AEF-7824-DEF7-C92E-0915DEF41F17}"/>
              </a:ext>
              <a:ext uri="{C183D7F6-B498-43B3-948B-1728B52AA6E4}">
                <ns3:decorative xmlns:ns3="http://schemas.microsoft.com/office/drawing/2017/decorative" val="1"/>
              </a:ext>
            </a:extLst>
          </p:cNvPr>
          <p:cNvSpPr/>
          <p:nvPr/>
        </p:nvSpPr>
        <p:spPr>
          <a:xfrm>
            <a:off x="4122028" y="779171"/>
            <a:ext cx="398477" cy="398477"/>
          </a:xfrm>
          <a:prstGeom prst="ellipse">
            <a:avLst/>
          </a:prstGeom>
          <a:solidFill>
            <a:srgbClr val="FFF9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6" name="Graphic 15">
            <a:extLst>
              <a:ext uri="{FF2B5EF4-FFF2-40B4-BE49-F238E27FC236}">
                <a16:creationId xmlns:a16="http://schemas.microsoft.com/office/drawing/2014/main" id="{09721564-91C5-D7C7-A65B-CFCBCAAA8285}"/>
              </a:ext>
              <a:ext uri="{C183D7F6-B498-43B3-948B-1728B52AA6E4}">
                <adec:decorative xmlns:adec="http://schemas.microsoft.com/office/drawing/2017/decorative" val="1"/>
              </a:ext>
            </a:extLst>
          </p:cNvPr>
          <p:cNvSpPr>
            <a:spLocks/>
          </p:cNvSpPr>
          <p:nvPr/>
        </p:nvSpPr>
        <p:spPr>
          <a:xfrm>
            <a:off x="4172482" y="836452"/>
            <a:ext cx="297568" cy="252931"/>
          </a:xfrm>
          <a:custGeom>
            <a:avLst/>
            <a:gdLst>
              <a:gd name="csX0" fmla="*/ 147926 w 190499"/>
              <a:gd name="csY0" fmla="*/ 2092 h 161924"/>
              <a:gd name="csX1" fmla="*/ 137824 w 190499"/>
              <a:gd name="csY1" fmla="*/ 2092 h 161924"/>
              <a:gd name="csX2" fmla="*/ 137824 w 190499"/>
              <a:gd name="csY2" fmla="*/ 12195 h 161924"/>
              <a:gd name="csX3" fmla="*/ 166109 w 190499"/>
              <a:gd name="csY3" fmla="*/ 40481 h 161924"/>
              <a:gd name="csX4" fmla="*/ 119063 w 190499"/>
              <a:gd name="csY4" fmla="*/ 40481 h 161924"/>
              <a:gd name="csX5" fmla="*/ 88106 w 190499"/>
              <a:gd name="csY5" fmla="*/ 71437 h 161924"/>
              <a:gd name="csX6" fmla="*/ 88106 w 190499"/>
              <a:gd name="csY6" fmla="*/ 100012 h 161924"/>
              <a:gd name="csX7" fmla="*/ 75437 w 190499"/>
              <a:gd name="csY7" fmla="*/ 116198 h 161924"/>
              <a:gd name="csX8" fmla="*/ 38100 w 190499"/>
              <a:gd name="csY8" fmla="*/ 85725 h 161924"/>
              <a:gd name="csX9" fmla="*/ 0 w 190499"/>
              <a:gd name="csY9" fmla="*/ 123825 h 161924"/>
              <a:gd name="csX10" fmla="*/ 38100 w 190499"/>
              <a:gd name="csY10" fmla="*/ 161925 h 161924"/>
              <a:gd name="csX11" fmla="*/ 75582 w 190499"/>
              <a:gd name="csY11" fmla="*/ 130693 h 161924"/>
              <a:gd name="csX12" fmla="*/ 102394 w 190499"/>
              <a:gd name="csY12" fmla="*/ 100012 h 161924"/>
              <a:gd name="csX13" fmla="*/ 102394 w 190499"/>
              <a:gd name="csY13" fmla="*/ 71437 h 161924"/>
              <a:gd name="csX14" fmla="*/ 119063 w 190499"/>
              <a:gd name="csY14" fmla="*/ 54769 h 161924"/>
              <a:gd name="csX15" fmla="*/ 166109 w 190499"/>
              <a:gd name="csY15" fmla="*/ 54769 h 161924"/>
              <a:gd name="csX16" fmla="*/ 137824 w 190499"/>
              <a:gd name="csY16" fmla="*/ 83055 h 161924"/>
              <a:gd name="csX17" fmla="*/ 137824 w 190499"/>
              <a:gd name="csY17" fmla="*/ 93157 h 161924"/>
              <a:gd name="csX18" fmla="*/ 147926 w 190499"/>
              <a:gd name="csY18" fmla="*/ 93157 h 161924"/>
              <a:gd name="csX19" fmla="*/ 188407 w 190499"/>
              <a:gd name="csY19" fmla="*/ 52676 h 161924"/>
              <a:gd name="csX20" fmla="*/ 188407 w 190499"/>
              <a:gd name="csY20" fmla="*/ 42574 h 161924"/>
              <a:gd name="csX21" fmla="*/ 147926 w 190499"/>
              <a:gd name="csY21" fmla="*/ 2092 h 1619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190499" h="161924">
                <a:moveTo>
                  <a:pt x="147926" y="2092"/>
                </a:moveTo>
                <a:cubicBezTo>
                  <a:pt x="145136" y="-697"/>
                  <a:pt x="140614" y="-697"/>
                  <a:pt x="137824" y="2092"/>
                </a:cubicBezTo>
                <a:cubicBezTo>
                  <a:pt x="135034" y="4882"/>
                  <a:pt x="135034" y="9405"/>
                  <a:pt x="137824" y="12195"/>
                </a:cubicBezTo>
                <a:lnTo>
                  <a:pt x="166109" y="40481"/>
                </a:lnTo>
                <a:lnTo>
                  <a:pt x="119063" y="40481"/>
                </a:lnTo>
                <a:cubicBezTo>
                  <a:pt x="101966" y="40481"/>
                  <a:pt x="88106" y="54341"/>
                  <a:pt x="88106" y="71437"/>
                </a:cubicBezTo>
                <a:lnTo>
                  <a:pt x="88106" y="100012"/>
                </a:lnTo>
                <a:cubicBezTo>
                  <a:pt x="88106" y="107840"/>
                  <a:pt x="82711" y="114408"/>
                  <a:pt x="75437" y="116198"/>
                </a:cubicBezTo>
                <a:cubicBezTo>
                  <a:pt x="71904" y="98811"/>
                  <a:pt x="56530" y="85725"/>
                  <a:pt x="38100" y="85725"/>
                </a:cubicBezTo>
                <a:cubicBezTo>
                  <a:pt x="17058" y="85725"/>
                  <a:pt x="0" y="102783"/>
                  <a:pt x="0" y="123825"/>
                </a:cubicBezTo>
                <a:cubicBezTo>
                  <a:pt x="0" y="144867"/>
                  <a:pt x="17058" y="161925"/>
                  <a:pt x="38100" y="161925"/>
                </a:cubicBezTo>
                <a:cubicBezTo>
                  <a:pt x="56797" y="161925"/>
                  <a:pt x="72348" y="148458"/>
                  <a:pt x="75582" y="130693"/>
                </a:cubicBezTo>
                <a:cubicBezTo>
                  <a:pt x="90719" y="128668"/>
                  <a:pt x="102394" y="115704"/>
                  <a:pt x="102394" y="100012"/>
                </a:cubicBezTo>
                <a:lnTo>
                  <a:pt x="102394" y="71437"/>
                </a:lnTo>
                <a:cubicBezTo>
                  <a:pt x="102394" y="62232"/>
                  <a:pt x="109857" y="54769"/>
                  <a:pt x="119063" y="54769"/>
                </a:cubicBezTo>
                <a:lnTo>
                  <a:pt x="166109" y="54769"/>
                </a:lnTo>
                <a:lnTo>
                  <a:pt x="137824" y="83055"/>
                </a:lnTo>
                <a:cubicBezTo>
                  <a:pt x="135034" y="85845"/>
                  <a:pt x="135034" y="90367"/>
                  <a:pt x="137824" y="93157"/>
                </a:cubicBezTo>
                <a:cubicBezTo>
                  <a:pt x="140614" y="95947"/>
                  <a:pt x="145136" y="95947"/>
                  <a:pt x="147926" y="93157"/>
                </a:cubicBezTo>
                <a:lnTo>
                  <a:pt x="188407" y="52676"/>
                </a:lnTo>
                <a:cubicBezTo>
                  <a:pt x="191197" y="49887"/>
                  <a:pt x="191197" y="45363"/>
                  <a:pt x="188407" y="42574"/>
                </a:cubicBezTo>
                <a:lnTo>
                  <a:pt x="147926" y="2092"/>
                </a:lnTo>
                <a:close/>
              </a:path>
            </a:pathLst>
          </a:custGeom>
          <a:solidFill>
            <a:srgbClr val="323139"/>
          </a:solidFill>
          <a:ln w="10477" cap="flat" cmpd="sng" algn="ctr">
            <a:noFill/>
            <a:prstDash val="solid"/>
            <a:miter/>
          </a:ln>
          <a:effectLst/>
        </p:spPr>
        <p:txBody>
          <a:bodyPr rot="0" spcFirstLastPara="0" vertOverflow="overflow" horzOverflow="overflow" vert="horz" wrap="square" lIns="338011" tIns="270406" rIns="338011" bIns="270406" numCol="1" spcCol="0" rtlCol="0" fromWordArt="0" anchor="t" anchorCtr="0" forceAA="0" compatLnSpc="1">
            <a:prstTxWarp prst="textNoShape">
              <a:avLst/>
            </a:prstTxWarp>
            <a:noAutofit/>
          </a:bodyPr>
          <a:lstStyle/>
          <a:p>
            <a:pPr marL="0" marR="0" lvl="0" indent="0" algn="l" defTabSz="1722411" rtl="0" eaLnBrk="1" fontAlgn="base" latinLnBrk="0" hangingPunct="1">
              <a:lnSpc>
                <a:spcPct val="100000"/>
              </a:lnSpc>
              <a:spcBef>
                <a:spcPct val="0"/>
              </a:spcBef>
              <a:spcAft>
                <a:spcPct val="0"/>
              </a:spcAft>
              <a:buClrTx/>
              <a:buSzTx/>
              <a:buFontTx/>
              <a:buNone/>
              <a:tabLst/>
              <a:defRPr/>
            </a:pPr>
            <a:endParaRPr kumimoji="0" lang="en-US" sz="3622" b="1" i="0" u="none" strike="noStrike" kern="0" cap="none" spc="0" normalizeH="0" baseline="0" noProof="0">
              <a:ln>
                <a:noFill/>
              </a:ln>
              <a:noFill/>
              <a:effectLst/>
              <a:uLnTx/>
              <a:uFillTx/>
              <a:latin typeface="Segoe UI Variable Display Semibold" pitchFamily="2" charset="0"/>
              <a:ea typeface="+mn-ea"/>
              <a:cs typeface="Segoe UI" pitchFamily="34" charset="0"/>
            </a:endParaRPr>
          </a:p>
        </p:txBody>
      </p:sp>
      <p:grpSp>
        <p:nvGrpSpPr>
          <p:cNvPr id="83" name="Group 82">
            <a:extLst>
              <a:ext uri="{FF2B5EF4-FFF2-40B4-BE49-F238E27FC236}">
                <a16:creationId xmlns:a16="http://schemas.microsoft.com/office/drawing/2014/main" id="{5A0CBAFC-5DED-D3E2-18ED-E34B74CAE926}"/>
              </a:ext>
            </a:extLst>
          </p:cNvPr>
          <p:cNvGrpSpPr/>
          <p:nvPr/>
        </p:nvGrpSpPr>
        <p:grpSpPr>
          <a:xfrm>
            <a:off x="3261739" y="2189487"/>
            <a:ext cx="1534355" cy="276999"/>
            <a:chOff x="3261739" y="2189487"/>
            <a:chExt cx="1534355" cy="276999"/>
          </a:xfrm>
        </p:grpSpPr>
        <p:sp>
          <p:nvSpPr>
            <p:cNvPr id="82" name="Rectangle: Rounded Corners 81">
              <a:extLst>
                <a:ext uri="{FF2B5EF4-FFF2-40B4-BE49-F238E27FC236}">
                  <a16:creationId xmlns:a16="http://schemas.microsoft.com/office/drawing/2014/main" id="{A21A551A-DE36-A716-13EE-21F822622FD5}"/>
                </a:ext>
                <a:ext uri="{C183D7F6-B498-43B3-948B-1728B52AA6E4}">
                  <ns4:decorative xmlns:ns4="http://schemas.microsoft.com/office/drawing/2017/decorative" val="1"/>
                </a:ext>
              </a:extLst>
            </p:cNvPr>
            <p:cNvSpPr/>
            <p:nvPr/>
          </p:nvSpPr>
          <p:spPr bwMode="auto">
            <a:xfrm>
              <a:off x="3261739" y="2213019"/>
              <a:ext cx="1534355" cy="244283"/>
            </a:xfrm>
            <a:prstGeom prst="roundRect">
              <a:avLst>
                <a:gd name="adj" fmla="val 50000"/>
              </a:avLst>
            </a:prstGeom>
            <a:solidFill>
              <a:srgbClr val="F3E5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endParaRPr>
            </a:p>
          </p:txBody>
        </p:sp>
        <p:sp>
          <p:nvSpPr>
            <p:cNvPr id="63" name="TextBox 62">
              <a:extLst>
                <a:ext uri="{FF2B5EF4-FFF2-40B4-BE49-F238E27FC236}">
                  <a16:creationId xmlns:a16="http://schemas.microsoft.com/office/drawing/2014/main" id="{197D0AEB-8A07-B4D6-7F33-85429D49214C}"/>
                </a:ext>
              </a:extLst>
            </p:cNvPr>
            <p:cNvSpPr txBox="1"/>
            <p:nvPr/>
          </p:nvSpPr>
          <p:spPr>
            <a:xfrm>
              <a:off x="3655077" y="2189487"/>
              <a:ext cx="710452"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Prompt</a:t>
              </a:r>
              <a:endParaRPr kumimoji="0" lang="en-IN" sz="12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endParaRPr>
            </a:p>
          </p:txBody>
        </p:sp>
      </p:grpSp>
      <p:sp>
        <p:nvSpPr>
          <p:cNvPr id="98" name="Rectangle: Rounded Corners 97">
            <a:extLst>
              <a:ext uri="{FF2B5EF4-FFF2-40B4-BE49-F238E27FC236}">
                <a16:creationId xmlns:a16="http://schemas.microsoft.com/office/drawing/2014/main" id="{AEBB3E1D-C5FB-7FC9-829F-F4815362ABD2}"/>
              </a:ext>
            </a:extLst>
          </p:cNvPr>
          <p:cNvSpPr/>
          <p:nvPr/>
        </p:nvSpPr>
        <p:spPr bwMode="auto">
          <a:xfrm>
            <a:off x="8334509" y="968486"/>
            <a:ext cx="3621360" cy="1107187"/>
          </a:xfrm>
          <a:prstGeom prst="roundRect">
            <a:avLst>
              <a:gd name="adj" fmla="val 10584"/>
            </a:avLst>
          </a:prstGeom>
          <a:solidFill>
            <a:srgbClr val="341434"/>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r>
              <a:rPr kumimoji="0" lang="en-US" sz="1100" b="1" i="0" u="none" strike="noStrike" kern="0" cap="none" spc="0" normalizeH="0" baseline="0" noProof="0">
                <a:ln>
                  <a:noFill/>
                </a:ln>
                <a:solidFill>
                  <a:prstClr val="white"/>
                </a:solidFill>
                <a:effectLst/>
                <a:uLnTx/>
                <a:uFillTx/>
                <a:latin typeface="Segoe Sans Display Semilight" pitchFamily="2" charset="0"/>
                <a:ea typeface="+mn-ea"/>
                <a:cs typeface="Segoe Sans Display Semilight" pitchFamily="2" charset="0"/>
              </a:rPr>
              <a:t>Why Cowork?: </a:t>
            </a:r>
            <a:r>
              <a:rPr kumimoji="0" lang="en-US" sz="1100" b="0" i="0" u="none" strike="noStrike" kern="0" cap="none" spc="0" normalizeH="0" baseline="0" noProof="0">
                <a:ln>
                  <a:noFill/>
                </a:ln>
                <a:solidFill>
                  <a:prstClr val="white"/>
                </a:solidFill>
                <a:effectLst/>
                <a:uLnTx/>
                <a:uFillTx/>
                <a:latin typeface="Segoe Sans Display Semilight" pitchFamily="2" charset="0"/>
                <a:ea typeface="+mn-ea"/>
                <a:cs typeface="Segoe Sans Display Semilight" pitchFamily="2" charset="0"/>
              </a:rPr>
              <a:t>Checking policy against official sites means searching, clicking, and copying. Cowork does the clicks in a hidden tab in your own Edge, with your sign-ins and policies, and asks before anything consequential.</a:t>
            </a:r>
            <a:endParaRPr kumimoji="0" lang="en-US" sz="1100" i="0" u="none" strike="noStrike" kern="0" cap="none" spc="0" normalizeH="0" baseline="0" noProof="0">
              <a:ln w="3175">
                <a:noFill/>
              </a:ln>
              <a:solidFill>
                <a:prstClr val="white"/>
              </a:solidFill>
              <a:effectLst/>
              <a:uLnTx/>
              <a:uFillTx/>
              <a:latin typeface="Segoe Sans Display Semilight" pitchFamily="2" charset="0"/>
              <a:cs typeface="Segoe Sans Display Semilight" pitchFamily="2" charset="0"/>
            </a:endParaRPr>
          </a:p>
        </p:txBody>
      </p:sp>
      <p:sp>
        <p:nvSpPr>
          <p:cNvPr id="100" name="Oval 99">
            <a:extLst>
              <a:ext uri="{FF2B5EF4-FFF2-40B4-BE49-F238E27FC236}">
                <a16:creationId xmlns:a16="http://schemas.microsoft.com/office/drawing/2014/main" id="{82CA9355-2BD9-0408-CC03-CCAC40D6F6BE}"/>
              </a:ext>
              <a:ext uri="{C183D7F6-B498-43B3-948B-1728B52AA6E4}">
                <ns5:decorative xmlns:ns5="http://schemas.microsoft.com/office/drawing/2017/decorative" val="1"/>
              </a:ext>
            </a:extLst>
          </p:cNvPr>
          <p:cNvSpPr/>
          <p:nvPr/>
        </p:nvSpPr>
        <p:spPr>
          <a:xfrm>
            <a:off x="8054943" y="775485"/>
            <a:ext cx="398477" cy="398477"/>
          </a:xfrm>
          <a:prstGeom prst="ellipse">
            <a:avLst/>
          </a:prstGeom>
          <a:solidFill>
            <a:srgbClr val="FFF9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11" name="Icon Question Mark"/>
          <p:cNvSpPr txBox="1"/>
          <p:nvPr/>
        </p:nvSpPr>
        <p:spPr>
          <a:xfrm>
            <a:off x="8054943" y="775485"/>
            <a:ext cx="252134" cy="398477"/>
          </a:xfrm>
          <a:prstGeom prst="rect">
            <a:avLst/>
          </a:prstGeom>
          <a:noFill/>
        </p:spPr>
        <p:txBody>
          <a:bodyPr wrap="none" lIns="0" tIns="0" rIns="0" bIns="0" anchor="ctr" anchorCtr="1">
            <a:normAutofit/>
          </a:bodyPr>
          <a:lstStyle/>
          <a:p>
            <a:pPr algn="ctr"/>
            <a:r>
              <a:rPr lang="en-US" sz="1800" b="1">
                <a:solidFill>
                  <a:srgbClr val="3B1041"/>
                </a:solidFill>
                <a:latin typeface="Segoe UI" pitchFamily="34" charset="0"/>
                <a:cs typeface="Segoe UI" pitchFamily="34" charset="0"/>
              </a:rPr>
              <a:t>?</a:t>
            </a:r>
            <a:endParaRPr lang="en-US" sz="1800" b="1"/>
          </a:p>
        </p:txBody>
      </p:sp>
      <p:grpSp>
        <p:nvGrpSpPr>
          <p:cNvPr id="8" name="Group 7">
            <a:extLst>
              <a:ext uri="{FF2B5EF4-FFF2-40B4-BE49-F238E27FC236}">
                <a16:creationId xmlns:a16="http://schemas.microsoft.com/office/drawing/2014/main" id="{1722D180-2D5E-7D8C-B4A2-59B15C0453BA}"/>
              </a:ext>
            </a:extLst>
          </p:cNvPr>
          <p:cNvGrpSpPr/>
          <p:nvPr/>
        </p:nvGrpSpPr>
        <p:grpSpPr>
          <a:xfrm>
            <a:off x="7762717" y="2189487"/>
            <a:ext cx="4227030" cy="2010821"/>
            <a:chOff x="7762717" y="4071694"/>
            <a:chExt cx="4227030" cy="2010821"/>
          </a:xfrm>
        </p:grpSpPr>
        <p:sp>
          <p:nvSpPr>
            <p:cNvPr id="12" name="Rectangle: Rounded Corners 11">
              <a:extLst>
                <a:ext uri="{FF2B5EF4-FFF2-40B4-BE49-F238E27FC236}">
                  <a16:creationId xmlns:a16="http://schemas.microsoft.com/office/drawing/2014/main" id="{D0A30958-8A91-8F1F-EAED-DFB3605D650E}"/>
                </a:ext>
                <a:ext uri="{C183D7F6-B498-43B3-948B-1728B52AA6E4}">
                  <ns6:decorative xmlns:ns6="http://schemas.microsoft.com/office/drawing/2017/decorative" val="1"/>
                </a:ext>
              </a:extLst>
            </p:cNvPr>
            <p:cNvSpPr/>
            <p:nvPr/>
          </p:nvSpPr>
          <p:spPr bwMode="auto">
            <a:xfrm>
              <a:off x="7762717" y="4194834"/>
              <a:ext cx="4227030" cy="1887681"/>
            </a:xfrm>
            <a:prstGeom prst="roundRect">
              <a:avLst>
                <a:gd name="adj" fmla="val 1683"/>
              </a:avLst>
            </a:prstGeom>
            <a:solidFill>
              <a:srgbClr val="FFF9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B553FF"/>
                </a:solidFill>
                <a:effectLst/>
                <a:uLnTx/>
                <a:uFillTx/>
                <a:latin typeface="Segoe Sans Display Semibold" pitchFamily="2" charset="0"/>
                <a:ea typeface="+mn-ea"/>
                <a:cs typeface="Segoe Sans Display Semibold" pitchFamily="2" charset="0"/>
              </a:endParaRPr>
            </a:p>
          </p:txBody>
        </p:sp>
        <p:grpSp>
          <p:nvGrpSpPr>
            <p:cNvPr id="14" name="Group 13">
              <a:extLst>
                <a:ext uri="{FF2B5EF4-FFF2-40B4-BE49-F238E27FC236}">
                  <a16:creationId xmlns:a16="http://schemas.microsoft.com/office/drawing/2014/main" id="{FF30221B-5C85-22FC-F18F-7F0E26EEB0E2}"/>
                </a:ext>
              </a:extLst>
            </p:cNvPr>
            <p:cNvGrpSpPr/>
            <p:nvPr/>
          </p:nvGrpSpPr>
          <p:grpSpPr>
            <a:xfrm>
              <a:off x="9064660" y="4071694"/>
              <a:ext cx="1534355" cy="339147"/>
              <a:chOff x="3261739" y="2198151"/>
              <a:chExt cx="1534355" cy="276999"/>
            </a:xfrm>
          </p:grpSpPr>
          <p:sp>
            <p:nvSpPr>
              <p:cNvPr id="15" name="Rectangle: Rounded Corners 14">
                <a:extLst>
                  <a:ext uri="{FF2B5EF4-FFF2-40B4-BE49-F238E27FC236}">
                    <a16:creationId xmlns:a16="http://schemas.microsoft.com/office/drawing/2014/main" id="{0B857C90-B398-E232-66D0-F3E7E6CB19FB}"/>
                  </a:ext>
                  <a:ext uri="{C183D7F6-B498-43B3-948B-1728B52AA6E4}">
                    <ns7:decorative xmlns:ns7="http://schemas.microsoft.com/office/drawing/2017/decorative" val="1"/>
                  </a:ext>
                </a:extLst>
              </p:cNvPr>
              <p:cNvSpPr/>
              <p:nvPr/>
            </p:nvSpPr>
            <p:spPr bwMode="auto">
              <a:xfrm>
                <a:off x="3261739" y="2213019"/>
                <a:ext cx="1534355" cy="244283"/>
              </a:xfrm>
              <a:prstGeom prst="roundRect">
                <a:avLst>
                  <a:gd name="adj" fmla="val 50000"/>
                </a:avLst>
              </a:prstGeom>
              <a:solidFill>
                <a:srgbClr val="F3E5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endParaRPr>
              </a:p>
            </p:txBody>
          </p:sp>
          <p:sp>
            <p:nvSpPr>
              <p:cNvPr id="16" name="TextBox 15">
                <a:extLst>
                  <a:ext uri="{FF2B5EF4-FFF2-40B4-BE49-F238E27FC236}">
                    <a16:creationId xmlns:a16="http://schemas.microsoft.com/office/drawing/2014/main" id="{7130A025-6B78-DCFA-A21F-4C83E42E79DB}"/>
                  </a:ext>
                </a:extLst>
              </p:cNvPr>
              <p:cNvSpPr txBox="1"/>
              <p:nvPr/>
            </p:nvSpPr>
            <p:spPr>
              <a:xfrm>
                <a:off x="3594912" y="2198151"/>
                <a:ext cx="864339"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Workflow</a:t>
                </a:r>
              </a:p>
            </p:txBody>
          </p:sp>
        </p:grpSp>
        <p:sp>
          <p:nvSpPr>
            <p:cNvPr id="57" name="TextBox 56">
              <a:extLst>
                <a:ext uri="{FF2B5EF4-FFF2-40B4-BE49-F238E27FC236}">
                  <a16:creationId xmlns:a16="http://schemas.microsoft.com/office/drawing/2014/main" id="{D4B4634D-9BFA-FCEC-CFE2-4FD4315DDD1A}"/>
                </a:ext>
              </a:extLst>
            </p:cNvPr>
            <p:cNvSpPr txBox="1"/>
            <p:nvPr/>
          </p:nvSpPr>
          <p:spPr>
            <a:xfrm>
              <a:off x="8001952" y="4410841"/>
              <a:ext cx="3756431" cy="1074461"/>
            </a:xfrm>
            <a:prstGeom prst="rect">
              <a:avLst/>
            </a:prstGeom>
            <a:noFill/>
          </p:spPr>
          <p:txBody>
            <a:bodyPr wrap="square" rtlCol="0">
              <a:spAutoFit/>
            </a:bodyPr>
            <a:lstStyle/>
            <a:p>
              <a:pPr marL="228600" indent="-228600">
                <a:lnSpc>
                  <a:spcPct val="150000"/>
                </a:lnSpc>
                <a:buFont typeface="+mj-lt"/>
                <a:buAutoNum type="arabicPeriod"/>
                <a:defRPr/>
              </a:pPr>
              <a:r>
                <a:rPr lang="en-US" sz="1100" b="1">
                  <a:solidFill>
                    <a:prstClr val="black"/>
                  </a:solidFill>
                  <a:latin typeface="Segoe Sans Display" pitchFamily="2" charset="0"/>
                  <a:cs typeface="Segoe Sans Display" pitchFamily="2" charset="0"/>
                </a:rPr>
                <a:t>Navigate</a:t>
              </a:r>
              <a:r>
                <a:rPr lang="en-US" sz="1100">
                  <a:solidFill>
                    <a:prstClr val="black"/>
                  </a:solidFill>
                  <a:latin typeface="Segoe Sans Display" pitchFamily="2" charset="0"/>
                  <a:cs typeface="Segoe Sans Display" pitchFamily="2" charset="0"/>
                </a:rPr>
                <a:t> → dol.gov: site search → Fact Sheet #23</a:t>
              </a:r>
              <a:endParaRPr kumimoji="0" lang="en-US" sz="1100" b="1"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a:p>
              <a:pPr marL="228600" indent="-228600">
                <a:lnSpc>
                  <a:spcPct val="150000"/>
                </a:lnSpc>
                <a:buFont typeface="+mj-lt"/>
                <a:buAutoNum type="arabicPeriod"/>
                <a:defRPr/>
              </a:pPr>
              <a:r>
                <a:rPr lang="en-US" sz="1100" b="1">
                  <a:solidFill>
                    <a:prstClr val="black"/>
                  </a:solidFill>
                  <a:latin typeface="Segoe Sans Display" pitchFamily="2" charset="0"/>
                  <a:cs typeface="Segoe Sans Display" pitchFamily="2" charset="0"/>
                </a:rPr>
                <a:t>Navigate</a:t>
              </a:r>
              <a:r>
                <a:rPr lang="en-US" sz="1100">
                  <a:solidFill>
                    <a:prstClr val="black"/>
                  </a:solidFill>
                  <a:latin typeface="Segoe Sans Display" pitchFamily="2" charset="0"/>
                  <a:cs typeface="Segoe Sans Display" pitchFamily="2" charset="0"/>
                </a:rPr>
                <a:t> → lni.wa.gov: menu → overtime page</a:t>
              </a:r>
              <a:endParaRPr kumimoji="0" lang="en-US" sz="1100" b="1"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a:p>
              <a:pPr marL="228600" indent="-228600">
                <a:lnSpc>
                  <a:spcPct val="150000"/>
                </a:lnSpc>
                <a:buFont typeface="+mj-lt"/>
                <a:buAutoNum type="arabicPeriod"/>
                <a:defRPr/>
              </a:pPr>
              <a:r>
                <a:rPr lang="en-US" sz="1100" b="1">
                  <a:solidFill>
                    <a:prstClr val="black"/>
                  </a:solidFill>
                  <a:latin typeface="Segoe Sans Display" pitchFamily="2" charset="0"/>
                  <a:cs typeface="Segoe Sans Display" pitchFamily="2" charset="0"/>
                </a:rPr>
                <a:t>Ground</a:t>
              </a:r>
              <a:r>
                <a:rPr lang="en-US" sz="1100">
                  <a:solidFill>
                    <a:prstClr val="black"/>
                  </a:solidFill>
                  <a:latin typeface="Segoe Sans Display" pitchFamily="2" charset="0"/>
                  <a:cs typeface="Segoe Sans Display" pitchFamily="2" charset="0"/>
                </a:rPr>
                <a:t> → Compare with the Zava handbook</a:t>
              </a:r>
              <a:endParaRPr kumimoji="0" lang="en-US" sz="1100" b="1"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a:p>
              <a:pPr marL="228600" indent="-228600">
                <a:lnSpc>
                  <a:spcPct val="150000"/>
                </a:lnSpc>
                <a:buFont typeface="+mj-lt"/>
                <a:buAutoNum type="arabicPeriod"/>
                <a:defRPr/>
              </a:pPr>
              <a:r>
                <a:rPr lang="en-US" sz="1100" b="1">
                  <a:solidFill>
                    <a:prstClr val="black"/>
                  </a:solidFill>
                  <a:latin typeface="Segoe Sans Display" pitchFamily="2" charset="0"/>
                  <a:cs typeface="Segoe Sans Display" pitchFamily="2" charset="0"/>
                </a:rPr>
                <a:t>Build</a:t>
              </a:r>
              <a:r>
                <a:rPr lang="en-US" sz="1100">
                  <a:solidFill>
                    <a:prstClr val="black"/>
                  </a:solidFill>
                  <a:latin typeface="Segoe Sans Display" pitchFamily="2" charset="0"/>
                  <a:cs typeface="Segoe Sans Display" pitchFamily="2" charset="0"/>
                </a:rPr>
                <a:t> → Table with links + Word brief</a:t>
              </a:r>
              <a:endParaRPr kumimoji="0" lang="en-US" sz="1100" b="1"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p:txBody>
        </p:sp>
      </p:grpSp>
      <p:sp>
        <p:nvSpPr>
          <p:cNvPr id="3" name="Text 25">
            <a:extLst>
              <a:ext uri="{FF2B5EF4-FFF2-40B4-BE49-F238E27FC236}">
                <a16:creationId xmlns:a16="http://schemas.microsoft.com/office/drawing/2014/main" id="{41B60886-5E17-E589-2FF8-1DDB98962F30}"/>
              </a:ext>
            </a:extLst>
          </p:cNvPr>
          <p:cNvSpPr/>
          <p:nvPr/>
        </p:nvSpPr>
        <p:spPr>
          <a:xfrm>
            <a:off x="632004" y="2684018"/>
            <a:ext cx="6734710" cy="3632476"/>
          </a:xfrm>
          <a:prstGeom prst="rect">
            <a:avLst/>
          </a:prstGeom>
          <a:noFill/>
          <a:ln/>
        </p:spPr>
        <p:txBody>
          <a:bodyPr wrap="square" lIns="0" tIns="0" rIns="0" bIns="0"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Task 3a — Attach the handbook, then:</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Use my browser to do this step by step, and tell me which page you’re on at each step:</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1. Go to https://www.dol.gov and use the site’s search box to find the Wage and Hour Division’s overtime pay fact sheet (Fact Sheet #23). Open it and note the overtime rules and when overtime must be paid.</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2. Go to https://lni.wa.gov and use the site’s menu or search to find Washington State’s overtime page. Open it and note anything Washington adds to the federal rules.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3. Compare both with the overtime rule in employee-handbook-excerpt.docx. Give me a table with the columns Rule, Federal (DOL), Washington (L&amp;I), and Zava handbook, plus a link to every page you used.</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Only read: don’t sign in, and don’t fill in or submit any form except a site search box.</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Task 3b — Follow-up</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Turn this into a one-page Word brief for our payroll team about ticket T-2008: what the rules say, what our handbook says, and the recommended next step. Don’t send it.</a:t>
            </a:r>
          </a:p>
        </p:txBody>
      </p:sp>
      <p:grpSp>
        <p:nvGrpSpPr>
          <p:cNvPr id="17" name="Group 16">
            <a:extLst>
              <a:ext uri="{FF2B5EF4-FFF2-40B4-BE49-F238E27FC236}">
                <a16:creationId xmlns:a16="http://schemas.microsoft.com/office/drawing/2014/main" id="{317BDD88-DD13-C157-9D0C-376C7050CA18}"/>
              </a:ext>
            </a:extLst>
          </p:cNvPr>
          <p:cNvGrpSpPr/>
          <p:nvPr/>
        </p:nvGrpSpPr>
        <p:grpSpPr>
          <a:xfrm>
            <a:off x="7756139" y="4421568"/>
            <a:ext cx="1534355" cy="276999"/>
            <a:chOff x="3261739" y="2198151"/>
            <a:chExt cx="1534355" cy="276999"/>
          </a:xfrm>
        </p:grpSpPr>
        <p:sp>
          <p:nvSpPr>
            <p:cNvPr id="18" name="Rectangle: Rounded Corners 17">
              <a:extLst>
                <a:ext uri="{FF2B5EF4-FFF2-40B4-BE49-F238E27FC236}">
                  <a16:creationId xmlns:a16="http://schemas.microsoft.com/office/drawing/2014/main" id="{3E986E19-9FEA-1F60-BCDA-008D13564D09}"/>
                </a:ext>
                <a:ext uri="{C183D7F6-B498-43B3-948B-1728B52AA6E4}">
                  <ns8:decorative xmlns:ns8="http://schemas.microsoft.com/office/drawing/2017/decorative" val="1"/>
                </a:ext>
              </a:extLst>
            </p:cNvPr>
            <p:cNvSpPr/>
            <p:nvPr/>
          </p:nvSpPr>
          <p:spPr bwMode="auto">
            <a:xfrm>
              <a:off x="3261739" y="2213019"/>
              <a:ext cx="1534355" cy="244283"/>
            </a:xfrm>
            <a:prstGeom prst="roundRect">
              <a:avLst>
                <a:gd name="adj" fmla="val 50000"/>
              </a:avLst>
            </a:prstGeom>
            <a:solidFill>
              <a:srgbClr val="F3E5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endParaRPr>
            </a:p>
          </p:txBody>
        </p:sp>
        <p:sp>
          <p:nvSpPr>
            <p:cNvPr id="19" name="TextBox 18">
              <a:extLst>
                <a:ext uri="{FF2B5EF4-FFF2-40B4-BE49-F238E27FC236}">
                  <a16:creationId xmlns:a16="http://schemas.microsoft.com/office/drawing/2014/main" id="{66387F56-2C11-A4AD-4E15-4442F2454D48}"/>
                </a:ext>
              </a:extLst>
            </p:cNvPr>
            <p:cNvSpPr txBox="1"/>
            <p:nvPr/>
          </p:nvSpPr>
          <p:spPr>
            <a:xfrm>
              <a:off x="3472286" y="2198151"/>
              <a:ext cx="1109599"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Data Sources</a:t>
              </a:r>
            </a:p>
          </p:txBody>
        </p:sp>
      </p:grpSp>
      <p:grpSp>
        <p:nvGrpSpPr>
          <p:cNvPr id="13" name="Group 12">
            <a:extLst>
              <a:ext uri="{FF2B5EF4-FFF2-40B4-BE49-F238E27FC236}">
                <a16:creationId xmlns:a16="http://schemas.microsoft.com/office/drawing/2014/main" id="{6DC82203-C40E-B229-3216-8513934D28BD}"/>
              </a:ext>
            </a:extLst>
          </p:cNvPr>
          <p:cNvGrpSpPr/>
          <p:nvPr/>
        </p:nvGrpSpPr>
        <p:grpSpPr>
          <a:xfrm>
            <a:off x="9121309" y="4421568"/>
            <a:ext cx="1200156" cy="488252"/>
            <a:chOff x="10558227" y="4421568"/>
            <a:chExt cx="1200156" cy="488252"/>
          </a:xfrm>
        </p:grpSpPr>
        <p:pic>
          <p:nvPicPr>
            <p:cNvPr id="7" name="Picture 6" descr="Web icon">
              <a:extLst>
                <a:ext uri="{FF2B5EF4-FFF2-40B4-BE49-F238E27FC236}">
                  <a16:creationId xmlns:a16="http://schemas.microsoft.com/office/drawing/2014/main" id="{8B0F26AD-79AC-E75B-C2DA-E6BBA636792A}"/>
                </a:ext>
              </a:extLst>
            </p:cNvPr>
            <p:cNvPicPr>
              <a:picLocks noChangeAspect="1"/>
            </p:cNvPicPr>
            <p:nvPr/>
          </p:nvPicPr>
          <p:blipFill>
            <a:blip r:embed="rId6"/>
            <a:stretch>
              <a:fillRect/>
            </a:stretch>
          </p:blipFill>
          <p:spPr>
            <a:xfrm>
              <a:off x="11014657" y="4421568"/>
              <a:ext cx="287296" cy="287296"/>
            </a:xfrm>
            <a:prstGeom prst="rect">
              <a:avLst/>
            </a:prstGeom>
          </p:spPr>
        </p:pic>
        <p:sp>
          <p:nvSpPr>
            <p:cNvPr id="9" name="TextBox 8">
              <a:extLst>
                <a:ext uri="{FF2B5EF4-FFF2-40B4-BE49-F238E27FC236}">
                  <a16:creationId xmlns:a16="http://schemas.microsoft.com/office/drawing/2014/main" id="{FE07ADF1-F66F-E626-BAE0-23ADC3E6D92F}"/>
                </a:ext>
              </a:extLst>
            </p:cNvPr>
            <p:cNvSpPr txBox="1"/>
            <p:nvPr/>
          </p:nvSpPr>
          <p:spPr>
            <a:xfrm>
              <a:off x="10558227" y="4678988"/>
              <a:ext cx="1200156"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rPr>
                <a:t>Web</a:t>
              </a:r>
              <a:endParaRPr kumimoji="0" lang="en-IN" sz="900" b="0"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p:txBody>
        </p:sp>
      </p:grpSp>
      <p:grpSp>
        <p:nvGrpSpPr>
          <p:cNvPr id="912" name="Group 12">
            <a:extLst>
              <a:ext uri="{FF2B5EF4-FFF2-40B4-BE49-F238E27FC236}">
                <a16:creationId xmlns:a16="http://schemas.microsoft.com/office/drawing/2014/main" id="{6DC82203-C40E-B229-3216-8513934D28BD}"/>
              </a:ext>
            </a:extLst>
          </p:cNvPr>
          <p:cNvGrpSpPr/>
          <p:nvPr/>
        </p:nvGrpSpPr>
        <p:grpSpPr>
          <a:xfrm>
            <a:off x="10035709" y="4421568"/>
            <a:ext cx="1200156" cy="488252"/>
            <a:chOff x="10558227" y="4421568"/>
            <a:chExt cx="1200156" cy="488252"/>
          </a:xfrm>
        </p:grpSpPr>
        <p:pic>
          <p:nvPicPr>
            <p:cNvPr id="913" name="Picture 6" descr="OneDrive icon">
              <a:extLst>
                <a:ext uri="{FF2B5EF4-FFF2-40B4-BE49-F238E27FC236}">
                  <a16:creationId xmlns:a16="http://schemas.microsoft.com/office/drawing/2014/main" id="{8B0F26AD-79AC-E75B-C2DA-E6BBA636792A}"/>
                </a:ext>
              </a:extLst>
            </p:cNvPr>
            <p:cNvPicPr>
              <a:picLocks noChangeAspect="1"/>
            </p:cNvPicPr>
            <p:nvPr/>
          </p:nvPicPr>
          <p:blipFill>
            <a:blip r:embed="rId7"/>
            <a:stretch>
              <a:fillRect/>
            </a:stretch>
          </p:blipFill>
          <p:spPr>
            <a:xfrm>
              <a:off x="11014657" y="4421568"/>
              <a:ext cx="287296" cy="287296"/>
            </a:xfrm>
            <a:prstGeom prst="rect">
              <a:avLst/>
            </a:prstGeom>
          </p:spPr>
        </p:pic>
        <p:sp>
          <p:nvSpPr>
            <p:cNvPr id="914" name="TextBox 8">
              <a:extLst>
                <a:ext uri="{FF2B5EF4-FFF2-40B4-BE49-F238E27FC236}">
                  <a16:creationId xmlns:a16="http://schemas.microsoft.com/office/drawing/2014/main" id="{FE07ADF1-F66F-E626-BAE0-23ADC3E6D92F}"/>
                </a:ext>
              </a:extLst>
            </p:cNvPr>
            <p:cNvSpPr txBox="1"/>
            <p:nvPr/>
          </p:nvSpPr>
          <p:spPr>
            <a:xfrm>
              <a:off x="10558227" y="4678988"/>
              <a:ext cx="1200156"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rPr>
                <a:t>OneDrive</a:t>
              </a:r>
              <a:endParaRPr kumimoji="0" lang="en-IN" sz="900" b="0"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p:txBody>
        </p:sp>
      </p:grpSp>
    </p:spTree>
    <p:extLst>
      <p:ext uri="{BB962C8B-B14F-4D97-AF65-F5344CB8AC3E}">
        <p14:creationId xmlns:p14="http://schemas.microsoft.com/office/powerpoint/2010/main" val="1649947486"/>
      </p:ext>
    </p:extLst>
  </p:cSld>
  <p:clrMapOvr>
    <a:overrideClrMapping bg1="lt1" tx1="dk1" bg2="lt2" tx2="dk2" accent1="accent1" accent2="accent2" accent3="accent3" accent4="accent4" accent5="accent5" accent6="accent6" hlink="hlink" folHlink="folHlink"/>
  </p:clrMapOvr>
</p:sld>
</file>

<file path=ppt/slides/slide38.xml><?xml version="1.0" encoding="utf-8"?>
<p:sld xmlns:a="http://schemas.openxmlformats.org/drawingml/2006/main" xmlns:p="http://schemas.openxmlformats.org/presentationml/2006/main" xmlns:r="http://schemas.openxmlformats.org/officeDocument/2006/relationships">
  <p:cSld>
    <p:bg>
      <p:bgPr>
        <a:blipFill dpi="0" rotWithShape="1">
          <a:blip r:embed="rId5">
            <a:alphaModFix amt="70000"/>
            <a:lum/>
          </a:blip>
          <a:srcRect/>
          <a:stretch>
            <a:fillRect l="-2000" r="-2000"/>
          </a:stretch>
        </a:blipFill>
        <a:effectLst/>
      </p:bgPr>
    </p:bg>
    <p:spTree>
      <p:nvGrpSpPr>
        <p:cNvPr id="1" name="">
          <a:extLst>
            <a:ext uri="{FF2B5EF4-FFF2-40B4-BE49-F238E27FC236}">
              <a16:creationId xmlns:a16="http://schemas.microsoft.com/office/drawing/2014/main" id="{CC810B06-9C60-9BCB-DF49-73D043B037F2}"/>
            </a:ext>
          </a:extLst>
        </p:cNvPr>
        <p:cNvGrpSpPr/>
        <p:nvPr/>
      </p:nvGrpSpPr>
      <p:grpSpPr>
        <a:xfrm>
          <a:off x="0" y="0"/>
          <a:ext cx="0" cy="0"/>
          <a:chOff x="0" y="0"/>
          <a:chExt cx="0" cy="0"/>
        </a:xfrm>
      </p:grpSpPr>
      <p:sp>
        <p:nvSpPr>
          <p:cNvPr id="27" name="Title 3">
            <a:extLst>
              <a:ext uri="{FF2B5EF4-FFF2-40B4-BE49-F238E27FC236}">
                <a16:creationId xmlns:a16="http://schemas.microsoft.com/office/drawing/2014/main" id="{3EF2C483-DB46-D975-7E0E-09A75642D76B}"/>
              </a:ext>
            </a:extLst>
          </p:cNvPr>
          <p:cNvSpPr txBox="1">
            <a:spLocks/>
          </p:cNvSpPr>
          <p:nvPr/>
        </p:nvSpPr>
        <p:spPr>
          <a:xfrm>
            <a:off x="1925908" y="293473"/>
            <a:ext cx="7070725" cy="430887"/>
          </a:xfrm>
          <a:prstGeom prst="rect">
            <a:avLst/>
          </a:prstGeom>
        </p:spPr>
        <p:txBody>
          <a:bodyPr vert="horz" wrap="square" lIns="0" tIns="0" rIns="0" bIns="0" rtlCol="0" anchor="t">
            <a:spAutoFit/>
          </a:bodyPr>
          <a:lstStyle>
            <a:lvl1pPr algn="l" defTabSz="769520" rtl="0" eaLnBrk="1" latinLnBrk="0" hangingPunct="1">
              <a:lnSpc>
                <a:spcPct val="100000"/>
              </a:lnSpc>
              <a:spcBef>
                <a:spcPct val="0"/>
              </a:spcBef>
              <a:buNone/>
              <a:defRPr lang="en-US" sz="2000" b="0" kern="1200" cap="none" spc="0" baseline="0">
                <a:ln w="3175">
                  <a:noFill/>
                </a:ln>
                <a:solidFill>
                  <a:schemeClr val="tx1"/>
                </a:solidFill>
                <a:effectLst/>
                <a:latin typeface="+mj-lt"/>
                <a:ea typeface="+mn-ea"/>
                <a:cs typeface="Segoe Sans Display" pitchFamily="2" charset="0"/>
              </a:defRPr>
            </a:lvl1pPr>
          </a:lstStyle>
          <a:p>
            <a:pPr marL="0" marR="0" lvl="0" indent="0" algn="l" defTabSz="769520" rtl="0" eaLnBrk="1" fontAlgn="auto" latinLnBrk="0" hangingPunct="1">
              <a:lnSpc>
                <a:spcPct val="100000"/>
              </a:lnSpc>
              <a:spcBef>
                <a:spcPct val="0"/>
              </a:spcBef>
              <a:spcAft>
                <a:spcPts val="0"/>
              </a:spcAft>
              <a:buClrTx/>
              <a:buSzTx/>
              <a:buFontTx/>
              <a:buNone/>
              <a:tabLst/>
              <a:defRPr/>
            </a:pPr>
            <a:r>
              <a:rPr kumimoji="0" lang="en-US" sz="2800" b="0" i="0" u="none" strike="noStrike" kern="1200" cap="none" spc="0" normalizeH="0" baseline="0" noProof="0">
                <a:ln w="3175">
                  <a:noFill/>
                </a:ln>
                <a:solidFill>
                  <a:srgbClr val="323139"/>
                </a:solidFill>
                <a:effectLst/>
                <a:uLnTx/>
                <a:uFillTx/>
                <a:latin typeface="Segoe Sans Display" pitchFamily="2" charset="0"/>
                <a:ea typeface="+mn-ea"/>
                <a:cs typeface="Segoe Sans Display" pitchFamily="2" charset="0"/>
              </a:rPr>
              <a:t>Hands-on · Browser</a:t>
            </a:r>
          </a:p>
        </p:txBody>
      </p:sp>
      <p:sp>
        <p:nvSpPr>
          <p:cNvPr id="28" name="NavPill_SitesPages">
            <a:extLst>
              <a:ext uri="{FF2B5EF4-FFF2-40B4-BE49-F238E27FC236}">
                <a16:creationId xmlns:a16="http://schemas.microsoft.com/office/drawing/2014/main" id="{57BB7AF5-33B6-DA4A-ABA7-2573FB8050B2}"/>
              </a:ext>
            </a:extLst>
          </p:cNvPr>
          <p:cNvSpPr/>
          <p:nvPr/>
        </p:nvSpPr>
        <p:spPr>
          <a:xfrm>
            <a:off x="350837" y="342900"/>
            <a:ext cx="1419239" cy="337762"/>
          </a:xfrm>
          <a:prstGeom prst="roundRect">
            <a:avLst>
              <a:gd name="adj" fmla="val 50000"/>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207091" rtl="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Ex 03</a:t>
            </a:r>
          </a:p>
        </p:txBody>
      </p:sp>
      <p:sp>
        <p:nvSpPr>
          <p:cNvPr id="30" name="TextBox 29">
            <a:extLst>
              <a:ext uri="{FF2B5EF4-FFF2-40B4-BE49-F238E27FC236}">
                <a16:creationId xmlns:a16="http://schemas.microsoft.com/office/drawing/2014/main" id="{4519738B-A618-91E3-CAC4-D99F7E54632B}"/>
              </a:ext>
              <a:ext uri="{C183D7F6-B498-43B3-948B-1728B52AA6E4}">
                <ns0:decorative xmlns:ns0="http://schemas.microsoft.com/office/drawing/2017/decorative" val="1"/>
              </a:ext>
            </a:extLst>
          </p:cNvPr>
          <p:cNvSpPr txBox="1"/>
          <p:nvPr/>
        </p:nvSpPr>
        <p:spPr>
          <a:xfrm>
            <a:off x="8867052" y="119383"/>
            <a:ext cx="3092209" cy="338554"/>
          </a:xfrm>
          <a:prstGeom prst="roundRect">
            <a:avLst>
              <a:gd name="adj" fmla="val 19537"/>
            </a:avLst>
          </a:prstGeom>
          <a:solidFill>
            <a:srgbClr val="CB85FF">
              <a:lumMod val="20000"/>
              <a:lumOff val="80000"/>
            </a:srgbClr>
          </a:solidFill>
        </p:spPr>
        <p:txBody>
          <a:bodyPr wrap="square" lIns="1188720" tIns="45720" rIns="0" bIns="45720" anchor="ctr">
            <a:noAutofit/>
          </a:bodyPr>
          <a:lstStyle>
            <a:defPPr>
              <a:defRPr lang="en-US"/>
            </a:defPPr>
            <a:lvl1pPr>
              <a:spcAft>
                <a:spcPts val="776"/>
              </a:spcAft>
              <a:defRPr sz="1200">
                <a:latin typeface="+mj-lt"/>
                <a:cs typeface="Segoe Sans Display Semibold" pitchFamily="2" charset="0"/>
              </a:defRPr>
            </a:lvl1pPr>
          </a:lstStyle>
          <a:p>
            <a:pPr marL="0" marR="0" lvl="0" indent="0" algn="l" defTabSz="914294" rtl="0" eaLnBrk="1" fontAlgn="auto" latinLnBrk="0" hangingPunct="1">
              <a:lnSpc>
                <a:spcPct val="100000"/>
              </a:lnSpc>
              <a:spcBef>
                <a:spcPts val="0"/>
              </a:spcBef>
              <a:spcAft>
                <a:spcPts val="776"/>
              </a:spcAft>
              <a:buClrTx/>
              <a:buSzTx/>
              <a:buFontTx/>
              <a:buNone/>
              <a:tabLst/>
              <a:defRPr/>
            </a:pPr>
            <a:endParaRPr kumimoji="0" lang="en-US" sz="1200" b="0" i="0" u="none" strike="noStrike" kern="0" cap="none" spc="0" normalizeH="0" baseline="0" noProof="0">
              <a:ln>
                <a:noFill/>
              </a:ln>
              <a:solidFill>
                <a:srgbClr val="323139"/>
              </a:solidFill>
              <a:effectLst/>
              <a:uLnTx/>
              <a:uFillTx/>
              <a:latin typeface="Segoe Sans Display"/>
              <a:ea typeface="+mn-ea"/>
              <a:cs typeface="Segoe Sans Display Semibold" pitchFamily="2" charset="0"/>
            </a:endParaRPr>
          </a:p>
        </p:txBody>
      </p:sp>
      <p:sp>
        <p:nvSpPr>
          <p:cNvPr id="31" name="TextBox 30">
            <a:extLst>
              <a:ext uri="{FF2B5EF4-FFF2-40B4-BE49-F238E27FC236}">
                <a16:creationId xmlns:a16="http://schemas.microsoft.com/office/drawing/2014/main" id="{4B310F6E-1BD3-CF01-32AD-647BCF12AC0F}"/>
              </a:ext>
            </a:extLst>
          </p:cNvPr>
          <p:cNvSpPr txBox="1"/>
          <p:nvPr/>
        </p:nvSpPr>
        <p:spPr>
          <a:xfrm>
            <a:off x="8942688" y="173878"/>
            <a:ext cx="1280160" cy="233352"/>
          </a:xfrm>
          <a:prstGeom prst="roundRect">
            <a:avLst>
              <a:gd name="adj" fmla="val 16151"/>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5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defRPr lang="en-US"/>
            </a:defPPr>
            <a:lvl1pPr algn="ctr" defTabSz="932765" fontAlgn="base">
              <a:spcBef>
                <a:spcPct val="0"/>
              </a:spcBef>
              <a:spcAft>
                <a:spcPct val="0"/>
              </a:spcAft>
              <a:defRPr sz="1600">
                <a:solidFill>
                  <a:schemeClr val="accent1"/>
                </a:solidFill>
                <a:latin typeface="+mj-lt"/>
                <a:cs typeface="Segoe Sans Display Semibold" pitchFamily="2" charset="0"/>
              </a:defRPr>
            </a:lvl1pPr>
          </a:lstStyle>
          <a:p>
            <a:pPr marL="0" marR="0" lvl="0" indent="0" algn="l" defTabSz="932765" rtl="0" eaLnBrk="1" fontAlgn="base" latinLnBrk="0" hangingPunct="1">
              <a:lnSpc>
                <a:spcPct val="100000"/>
              </a:lnSpc>
              <a:spcBef>
                <a:spcPct val="0"/>
              </a:spcBef>
              <a:spcAft>
                <a:spcPct val="0"/>
              </a:spcAft>
              <a:buClrTx/>
              <a:buSzTx/>
              <a:buFontTx/>
              <a:buNone/>
              <a:tabLst/>
              <a:defRPr/>
            </a:pPr>
            <a:r>
              <a:rPr kumimoji="0" lang="en-IN" sz="1050" b="0" i="0" u="none" strike="noStrike" kern="0" cap="none" spc="0" normalizeH="0" baseline="0" noProof="0">
                <a:ln>
                  <a:noFill/>
                </a:ln>
                <a:solidFill>
                  <a:srgbClr val="323139"/>
                </a:solidFill>
                <a:effectLst/>
                <a:uLnTx/>
                <a:uFillTx/>
                <a:latin typeface="Segoe Sans Display"/>
                <a:ea typeface="+mn-ea"/>
                <a:cs typeface="Segoe Sans Display Semibold" pitchFamily="2" charset="0"/>
              </a:rPr>
              <a:t>Time</a:t>
            </a:r>
          </a:p>
        </p:txBody>
      </p:sp>
      <p:sp>
        <p:nvSpPr>
          <p:cNvPr id="50" name="TextBox 49">
            <a:extLst>
              <a:ext uri="{FF2B5EF4-FFF2-40B4-BE49-F238E27FC236}">
                <a16:creationId xmlns:a16="http://schemas.microsoft.com/office/drawing/2014/main" id="{0CE10D15-83B7-7915-49A3-0BD3A21E9731}"/>
              </a:ext>
            </a:extLst>
          </p:cNvPr>
          <p:cNvSpPr txBox="1"/>
          <p:nvPr/>
        </p:nvSpPr>
        <p:spPr>
          <a:xfrm>
            <a:off x="10298483" y="173490"/>
            <a:ext cx="1668779" cy="253916"/>
          </a:xfrm>
          <a:prstGeom prst="rect">
            <a:avLst/>
          </a:prstGeom>
          <a:noFill/>
        </p:spPr>
        <p:txBody>
          <a:bodyPr wrap="square">
            <a:spAutoFit/>
          </a:bodyPr>
          <a:lstStyle/>
          <a:p>
            <a:pPr marL="0" marR="0" lvl="0" indent="0" algn="l" defTabSz="914294"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323139"/>
                </a:solidFill>
                <a:effectLst/>
                <a:uLnTx/>
                <a:uFillTx/>
                <a:latin typeface="Segoe Sans Display"/>
                <a:ea typeface="+mn-ea"/>
                <a:cs typeface="Segoe Sans Display"/>
              </a:rPr>
              <a:t>25 min</a:t>
            </a:r>
          </a:p>
        </p:txBody>
      </p:sp>
      <p:sp>
        <p:nvSpPr>
          <p:cNvPr id="51" name="Rounded Rectangle 50">
            <a:extLst>
              <a:ext uri="{C183D7F6-B498-43B3-948B-1728B52AA6E4}">
                <ns1:decorative xmlns:ns1="http://schemas.microsoft.com/office/drawing/2017/decorative" val="1"/>
              </a:ext>
            </a:extLst>
          </p:cNvPr>
          <p:cNvSpPr/>
          <p:nvPr/>
        </p:nvSpPr>
        <p:spPr>
          <a:xfrm>
            <a:off x="420624" y="1188720"/>
            <a:ext cx="7168896" cy="3611880"/>
          </a:xfrm>
          <a:prstGeom prst="roundRect">
            <a:avLst>
              <a:gd name="adj" fmla="val 5000"/>
            </a:avLst>
          </a:prstGeom>
          <a:solidFill>
            <a:srgbClr val="FFF9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ounded Rectangle 51">
            <a:extLst>
              <a:ext uri="{C183D7F6-B498-43B3-948B-1728B52AA6E4}">
                <ns2:decorative xmlns:ns2="http://schemas.microsoft.com/office/drawing/2017/decorative" val="1"/>
              </a:ext>
            </a:extLst>
          </p:cNvPr>
          <p:cNvSpPr/>
          <p:nvPr/>
        </p:nvSpPr>
        <p:spPr>
          <a:xfrm>
            <a:off x="3236976" y="1051560"/>
            <a:ext cx="15361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3236976" y="1051560"/>
            <a:ext cx="1536192" cy="274320"/>
          </a:xfrm>
          <a:prstGeom prst="rect">
            <a:avLst/>
          </a:prstGeom>
          <a:noFill/>
        </p:spPr>
        <p:txBody>
          <a:bodyPr wrap="square" anchor="ctr" lIns="0" rIns="0" tIns="0" bIns="0">
            <a:spAutoFit/>
          </a:bodyPr>
          <a:lstStyle/>
          <a:p>
            <a:pPr algn="ctr">
              <a:spcAft>
                <a:spcPts val="400"/>
              </a:spcAft>
            </a:pPr>
            <a:r>
              <a:rPr sz="1200" b="0" i="0">
                <a:solidFill>
                  <a:srgbClr val="323139"/>
                </a:solidFill>
                <a:latin typeface="Segoe Sans Display Semibold"/>
              </a:rPr>
              <a:t>Steps</a:t>
            </a:r>
          </a:p>
        </p:txBody>
      </p:sp>
      <p:sp>
        <p:nvSpPr>
          <p:cNvPr id="54" name="TextBox 53"/>
          <p:cNvSpPr txBox="1"/>
          <p:nvPr/>
        </p:nvSpPr>
        <p:spPr>
          <a:xfrm>
            <a:off x="777240" y="1572768"/>
            <a:ext cx="6492240" cy="3154680"/>
          </a:xfrm>
          <a:prstGeom prst="rect">
            <a:avLst/>
          </a:prstGeom>
          <a:noFill/>
        </p:spPr>
        <p:txBody>
          <a:bodyPr wrap="square" anchor="t" lIns="0" rIns="0" tIns="0" bIns="0">
            <a:spAutoFit/>
          </a:bodyPr>
          <a:lstStyle/>
          <a:p>
            <a:pPr algn="l" marL="237744" indent="-237744">
              <a:lnSpc>
                <a:spcPct val="105000"/>
              </a:lnSpc>
              <a:spcAft>
                <a:spcPts val="900"/>
              </a:spcAft>
              <a:buFont typeface="+mj-lt"/>
              <a:buAutoNum type="arabicPeriod"/>
            </a:pPr>
            <a:r>
              <a:rPr sz="1500" b="1" i="0">
                <a:solidFill>
                  <a:srgbClr val="323139"/>
                </a:solidFill>
                <a:latin typeface="Segoe UI"/>
              </a:rPr>
              <a:t>Check:</a:t>
            </a:r>
            <a:r>
              <a:rPr sz="1500" b="0" i="0">
                <a:solidFill>
                  <a:srgbClr val="323139"/>
                </a:solidFill>
                <a:latin typeface="Segoe UI"/>
              </a:rPr>
              <a:t> Cowork open </a:t>
            </a:r>
            <a:r>
              <a:rPr sz="1500" b="1" i="0">
                <a:solidFill>
                  <a:srgbClr val="323139"/>
                </a:solidFill>
                <a:latin typeface="Segoe UI"/>
              </a:rPr>
              <a:t>in Edge</a:t>
            </a:r>
            <a:r>
              <a:rPr sz="1500" b="0" i="0">
                <a:solidFill>
                  <a:srgbClr val="323139"/>
                </a:solidFill>
                <a:latin typeface="Segoe UI"/>
              </a:rPr>
              <a:t>; Edge profile = </a:t>
            </a:r>
            <a:r>
              <a:rPr sz="1500" b="1" i="0">
                <a:solidFill>
                  <a:srgbClr val="323139"/>
                </a:solidFill>
                <a:latin typeface="Segoe UI"/>
              </a:rPr>
              <a:t>workshop account</a:t>
            </a:r>
            <a:r>
              <a:rPr sz="1500" b="0" i="0">
                <a:solidFill>
                  <a:srgbClr val="323139"/>
                </a:solidFill>
                <a:latin typeface="Segoe UI"/>
              </a:rPr>
              <a:t>; Edge setting </a:t>
            </a:r>
            <a:r>
              <a:rPr sz="1500" b="1" i="0">
                <a:solidFill>
                  <a:srgbClr val="323139"/>
                </a:solidFill>
                <a:latin typeface="Segoe UI"/>
              </a:rPr>
              <a:t>Allow Cowork to take actions</a:t>
            </a:r>
            <a:r>
              <a:rPr sz="1500" b="0" i="0">
                <a:solidFill>
                  <a:srgbClr val="323139"/>
                </a:solidFill>
                <a:latin typeface="Segoe UI"/>
              </a:rPr>
              <a:t> on.</a:t>
            </a:r>
          </a:p>
          <a:p>
            <a:pPr algn="l" marL="237744" indent="-237744">
              <a:lnSpc>
                <a:spcPct val="105000"/>
              </a:lnSpc>
              <a:spcAft>
                <a:spcPts val="900"/>
              </a:spcAft>
              <a:buFont typeface="+mj-lt"/>
              <a:buAutoNum type="arabicPeriod"/>
            </a:pPr>
            <a:r>
              <a:rPr sz="1500" b="1" i="0">
                <a:solidFill>
                  <a:srgbClr val="323139"/>
                </a:solidFill>
                <a:latin typeface="Segoe UI"/>
              </a:rPr>
              <a:t>New task:</a:t>
            </a:r>
            <a:r>
              <a:rPr sz="1500" b="0" i="0">
                <a:solidFill>
                  <a:srgbClr val="323139"/>
                </a:solidFill>
                <a:latin typeface="Segoe UI"/>
              </a:rPr>
              <a:t> attach the handbook; paste the two-site prompt.</a:t>
            </a:r>
          </a:p>
          <a:p>
            <a:pPr algn="l" marL="237744" indent="-237744">
              <a:lnSpc>
                <a:spcPct val="105000"/>
              </a:lnSpc>
              <a:spcAft>
                <a:spcPts val="900"/>
              </a:spcAft>
              <a:buFont typeface="+mj-lt"/>
              <a:buAutoNum type="arabicPeriod"/>
            </a:pPr>
            <a:r>
              <a:rPr sz="1500" b="1" i="0">
                <a:solidFill>
                  <a:srgbClr val="323139"/>
                </a:solidFill>
                <a:latin typeface="Segoe UI"/>
              </a:rPr>
              <a:t>Consent:</a:t>
            </a:r>
            <a:r>
              <a:rPr sz="1500" b="0" i="0">
                <a:solidFill>
                  <a:srgbClr val="323139"/>
                </a:solidFill>
                <a:latin typeface="Segoe UI"/>
              </a:rPr>
              <a:t> select </a:t>
            </a:r>
            <a:r>
              <a:rPr sz="1500" b="1" i="0">
                <a:solidFill>
                  <a:srgbClr val="323139"/>
                </a:solidFill>
                <a:latin typeface="Segoe UI"/>
              </a:rPr>
              <a:t>I understand</a:t>
            </a:r>
            <a:r>
              <a:rPr sz="1500" b="0" i="0">
                <a:solidFill>
                  <a:srgbClr val="323139"/>
                </a:solidFill>
                <a:latin typeface="Segoe UI"/>
              </a:rPr>
              <a:t> at the browser notice.</a:t>
            </a:r>
          </a:p>
          <a:p>
            <a:pPr algn="l" marL="237744" indent="-237744">
              <a:lnSpc>
                <a:spcPct val="105000"/>
              </a:lnSpc>
              <a:spcAft>
                <a:spcPts val="900"/>
              </a:spcAft>
              <a:buFont typeface="+mj-lt"/>
              <a:buAutoNum type="arabicPeriod"/>
            </a:pPr>
            <a:r>
              <a:rPr sz="1500" b="1" i="0">
                <a:solidFill>
                  <a:srgbClr val="323139"/>
                </a:solidFill>
                <a:latin typeface="Segoe UI"/>
              </a:rPr>
              <a:t>Switch to tab</a:t>
            </a:r>
            <a:r>
              <a:rPr sz="1500" b="0" i="0">
                <a:solidFill>
                  <a:srgbClr val="323139"/>
                </a:solidFill>
                <a:latin typeface="Segoe UI"/>
              </a:rPr>
              <a:t> to watch it search dol.gov and click through; open two links yourself.</a:t>
            </a:r>
          </a:p>
          <a:p>
            <a:pPr algn="l" marL="237744" indent="-237744">
              <a:lnSpc>
                <a:spcPct val="105000"/>
              </a:lnSpc>
              <a:spcAft>
                <a:spcPts val="900"/>
              </a:spcAft>
              <a:buFont typeface="+mj-lt"/>
              <a:buAutoNum type="arabicPeriod"/>
            </a:pPr>
            <a:r>
              <a:rPr sz="1500" b="1" i="0">
                <a:solidFill>
                  <a:srgbClr val="323139"/>
                </a:solidFill>
                <a:latin typeface="Segoe UI"/>
              </a:rPr>
              <a:t>Follow-up:</a:t>
            </a:r>
            <a:r>
              <a:rPr sz="1500" b="0" i="0">
                <a:solidFill>
                  <a:srgbClr val="323139"/>
                </a:solidFill>
                <a:latin typeface="Segoe UI"/>
              </a:rPr>
              <a:t> the Word brief for payroll; open it from the </a:t>
            </a:r>
            <a:r>
              <a:rPr sz="1500" b="1" i="0">
                <a:solidFill>
                  <a:srgbClr val="323139"/>
                </a:solidFill>
                <a:latin typeface="Segoe UI"/>
              </a:rPr>
              <a:t>Output folder</a:t>
            </a:r>
            <a:r>
              <a:rPr sz="1500" b="0" i="0">
                <a:solidFill>
                  <a:srgbClr val="323139"/>
                </a:solidFill>
                <a:latin typeface="Segoe UI"/>
              </a:rPr>
              <a:t>.</a:t>
            </a:r>
          </a:p>
        </p:txBody>
      </p:sp>
      <p:sp>
        <p:nvSpPr>
          <p:cNvPr id="55" name="Rounded Rectangle 54">
            <a:extLst>
              <a:ext uri="{C183D7F6-B498-43B3-948B-1728B52AA6E4}">
                <ns3:decorative xmlns:ns3="http://schemas.microsoft.com/office/drawing/2017/decorative" val="1"/>
              </a:ext>
            </a:extLst>
          </p:cNvPr>
          <p:cNvSpPr/>
          <p:nvPr/>
        </p:nvSpPr>
        <p:spPr>
          <a:xfrm>
            <a:off x="420624" y="5074920"/>
            <a:ext cx="7168896" cy="1371600"/>
          </a:xfrm>
          <a:prstGeom prst="roundRect">
            <a:avLst>
              <a:gd name="adj" fmla="val 10000"/>
            </a:avLst>
          </a:prstGeom>
          <a:solidFill>
            <a:srgbClr val="FFF9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Rounded Rectangle 55">
            <a:extLst>
              <a:ext uri="{C183D7F6-B498-43B3-948B-1728B52AA6E4}">
                <ns4:decorative xmlns:ns4="http://schemas.microsoft.com/office/drawing/2017/decorative" val="1"/>
              </a:ext>
            </a:extLst>
          </p:cNvPr>
          <p:cNvSpPr/>
          <p:nvPr/>
        </p:nvSpPr>
        <p:spPr>
          <a:xfrm>
            <a:off x="3236976" y="4937760"/>
            <a:ext cx="15361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3236976" y="4937760"/>
            <a:ext cx="1536192" cy="274320"/>
          </a:xfrm>
          <a:prstGeom prst="rect">
            <a:avLst/>
          </a:prstGeom>
          <a:noFill/>
        </p:spPr>
        <p:txBody>
          <a:bodyPr wrap="square" anchor="ctr" lIns="0" rIns="0" tIns="0" bIns="0">
            <a:spAutoFit/>
          </a:bodyPr>
          <a:lstStyle/>
          <a:p>
            <a:pPr algn="ctr">
              <a:spcAft>
                <a:spcPts val="400"/>
              </a:spcAft>
            </a:pPr>
            <a:r>
              <a:rPr sz="1200" b="0" i="0">
                <a:solidFill>
                  <a:srgbClr val="323139"/>
                </a:solidFill>
                <a:latin typeface="Segoe Sans Display Semibold"/>
              </a:rPr>
              <a:t>Discuss</a:t>
            </a:r>
          </a:p>
        </p:txBody>
      </p:sp>
      <p:sp>
        <p:nvSpPr>
          <p:cNvPr id="58" name="TextBox 57"/>
          <p:cNvSpPr txBox="1"/>
          <p:nvPr/>
        </p:nvSpPr>
        <p:spPr>
          <a:xfrm>
            <a:off x="777240" y="5303520"/>
            <a:ext cx="6492240" cy="1005840"/>
          </a:xfrm>
          <a:prstGeom prst="rect">
            <a:avLst/>
          </a:prstGeom>
          <a:noFill/>
        </p:spPr>
        <p:txBody>
          <a:bodyPr wrap="square" anchor="ctr" lIns="0" rIns="0" tIns="0" bIns="0">
            <a:spAutoFit/>
          </a:bodyPr>
          <a:lstStyle/>
          <a:p>
            <a:pPr algn="l">
              <a:lnSpc>
                <a:spcPct val="105000"/>
              </a:lnSpc>
              <a:spcAft>
                <a:spcPts val="400"/>
              </a:spcAft>
            </a:pPr>
            <a:r>
              <a:rPr sz="1400" b="0" i="0">
                <a:solidFill>
                  <a:srgbClr val="323139"/>
                </a:solidFill>
                <a:latin typeface="Segoe Sans Display"/>
              </a:rPr>
              <a:t>When would you use browser use instead of Deep Research? What would you never let it do unwatched?</a:t>
            </a:r>
          </a:p>
        </p:txBody>
      </p:sp>
      <p:sp>
        <p:nvSpPr>
          <p:cNvPr id="59" name="Rounded Rectangle 58">
            <a:extLst>
              <a:ext uri="{C183D7F6-B498-43B3-948B-1728B52AA6E4}">
                <ns5:decorative xmlns:ns5="http://schemas.microsoft.com/office/drawing/2017/decorative" val="1"/>
              </a:ext>
            </a:extLst>
          </p:cNvPr>
          <p:cNvSpPr/>
          <p:nvPr/>
        </p:nvSpPr>
        <p:spPr>
          <a:xfrm>
            <a:off x="7763256" y="1188720"/>
            <a:ext cx="4224528" cy="2194560"/>
          </a:xfrm>
          <a:prstGeom prst="roundRect">
            <a:avLst>
              <a:gd name="adj" fmla="val 6000"/>
            </a:avLst>
          </a:prstGeom>
          <a:solidFill>
            <a:srgbClr val="FFF9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Rounded Rectangle 59">
            <a:extLst>
              <a:ext uri="{C183D7F6-B498-43B3-948B-1728B52AA6E4}">
                <ns6:decorative xmlns:ns6="http://schemas.microsoft.com/office/drawing/2017/decorative" val="1"/>
              </a:ext>
            </a:extLst>
          </p:cNvPr>
          <p:cNvSpPr/>
          <p:nvPr/>
        </p:nvSpPr>
        <p:spPr>
          <a:xfrm>
            <a:off x="9107424" y="1051560"/>
            <a:ext cx="15361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TextBox 60"/>
          <p:cNvSpPr txBox="1"/>
          <p:nvPr/>
        </p:nvSpPr>
        <p:spPr>
          <a:xfrm>
            <a:off x="9107424" y="1051560"/>
            <a:ext cx="1536192" cy="274320"/>
          </a:xfrm>
          <a:prstGeom prst="rect">
            <a:avLst/>
          </a:prstGeom>
          <a:noFill/>
        </p:spPr>
        <p:txBody>
          <a:bodyPr wrap="square" anchor="ctr" lIns="0" rIns="0" tIns="0" bIns="0">
            <a:spAutoFit/>
          </a:bodyPr>
          <a:lstStyle/>
          <a:p>
            <a:pPr algn="ctr">
              <a:spcAft>
                <a:spcPts val="400"/>
              </a:spcAft>
            </a:pPr>
            <a:r>
              <a:rPr sz="1200" b="0" i="0">
                <a:solidFill>
                  <a:srgbClr val="323139"/>
                </a:solidFill>
                <a:latin typeface="Segoe Sans Display Semibold"/>
              </a:rPr>
              <a:t>Watch for</a:t>
            </a:r>
          </a:p>
        </p:txBody>
      </p:sp>
      <p:sp>
        <p:nvSpPr>
          <p:cNvPr id="62" name="TextBox 61"/>
          <p:cNvSpPr txBox="1"/>
          <p:nvPr/>
        </p:nvSpPr>
        <p:spPr>
          <a:xfrm>
            <a:off x="8001000" y="1572768"/>
            <a:ext cx="3794760" cy="1737360"/>
          </a:xfrm>
          <a:prstGeom prst="rect">
            <a:avLst/>
          </a:prstGeom>
          <a:noFill/>
        </p:spPr>
        <p:txBody>
          <a:bodyPr wrap="square" anchor="t" lIns="0" rIns="0" tIns="0" bIns="0">
            <a:spAutoFit/>
          </a:bodyPr>
          <a:lstStyle/>
          <a:p>
            <a:pPr algn="l" marL="182880" indent="-182880">
              <a:spcAft>
                <a:spcPts val="400"/>
              </a:spcAft>
              <a:buFont typeface="Arial"/>
              <a:buChar char="•"/>
            </a:pPr>
            <a:r>
              <a:rPr sz="1150" b="0" i="0">
                <a:solidFill>
                  <a:srgbClr val="323139"/>
                </a:solidFill>
                <a:latin typeface="Segoe UI"/>
              </a:rPr>
              <a:t>No “browser” skill chip — watch the </a:t>
            </a:r>
            <a:r>
              <a:rPr sz="1150" b="1" i="0">
                <a:solidFill>
                  <a:srgbClr val="323139"/>
                </a:solidFill>
                <a:latin typeface="Segoe UI"/>
              </a:rPr>
              <a:t>progress chips</a:t>
            </a:r>
          </a:p>
          <a:p>
            <a:pPr algn="l" marL="182880" indent="-182880">
              <a:spcAft>
                <a:spcPts val="400"/>
              </a:spcAft>
              <a:buFont typeface="Arial"/>
              <a:buChar char="•"/>
            </a:pPr>
            <a:r>
              <a:rPr sz="1150" b="0" i="0">
                <a:solidFill>
                  <a:srgbClr val="323139"/>
                </a:solidFill>
                <a:latin typeface="Segoe UI"/>
              </a:rPr>
              <a:t>It types in the </a:t>
            </a:r>
            <a:r>
              <a:rPr sz="1150" b="1" i="0">
                <a:solidFill>
                  <a:srgbClr val="323139"/>
                </a:solidFill>
                <a:latin typeface="Segoe UI"/>
              </a:rPr>
              <a:t>site search</a:t>
            </a:r>
            <a:r>
              <a:rPr sz="1150" b="0" i="0">
                <a:solidFill>
                  <a:srgbClr val="323139"/>
                </a:solidFill>
                <a:latin typeface="Segoe UI"/>
              </a:rPr>
              <a:t> and clicks menus (not guessed URLs)</a:t>
            </a:r>
          </a:p>
          <a:p>
            <a:pPr algn="l" marL="182880" indent="-182880">
              <a:spcAft>
                <a:spcPts val="400"/>
              </a:spcAft>
              <a:buFont typeface="Arial"/>
              <a:buChar char="•"/>
            </a:pPr>
            <a:r>
              <a:rPr sz="1150" b="0" i="0">
                <a:solidFill>
                  <a:srgbClr val="323139"/>
                </a:solidFill>
                <a:latin typeface="Segoe UI"/>
              </a:rPr>
              <a:t>Sign-in or CAPTCHA? It hands back — don’t enter anything</a:t>
            </a:r>
          </a:p>
          <a:p>
            <a:pPr algn="l" marL="182880" indent="-182880">
              <a:spcAft>
                <a:spcPts val="400"/>
              </a:spcAft>
              <a:buFont typeface="Arial"/>
              <a:buChar char="•"/>
            </a:pPr>
            <a:r>
              <a:rPr sz="1150" b="0" i="0">
                <a:solidFill>
                  <a:srgbClr val="323139"/>
                </a:solidFill>
                <a:latin typeface="Segoe UI"/>
              </a:rPr>
              <a:t>Nothing submitted beyond a search box</a:t>
            </a:r>
          </a:p>
        </p:txBody>
      </p:sp>
      <p:sp>
        <p:nvSpPr>
          <p:cNvPr id="63" name="Rounded Rectangle 62">
            <a:extLst>
              <a:ext uri="{C183D7F6-B498-43B3-948B-1728B52AA6E4}">
                <ns7:decorative xmlns:ns7="http://schemas.microsoft.com/office/drawing/2017/decorative" val="1"/>
              </a:ext>
            </a:extLst>
          </p:cNvPr>
          <p:cNvSpPr/>
          <p:nvPr/>
        </p:nvSpPr>
        <p:spPr>
          <a:xfrm>
            <a:off x="7763256" y="3611880"/>
            <a:ext cx="4224528" cy="1691640"/>
          </a:xfrm>
          <a:prstGeom prst="roundRect">
            <a:avLst>
              <a:gd name="adj" fmla="val 8000"/>
            </a:avLst>
          </a:prstGeom>
          <a:solidFill>
            <a:srgbClr val="3414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Oval 63">
            <a:extLst>
              <a:ext uri="{C183D7F6-B498-43B3-948B-1728B52AA6E4}">
                <ns8:decorative xmlns:ns8="http://schemas.microsoft.com/office/drawing/2017/decorative" val="1"/>
              </a:ext>
            </a:extLst>
          </p:cNvPr>
          <p:cNvSpPr/>
          <p:nvPr/>
        </p:nvSpPr>
        <p:spPr>
          <a:xfrm>
            <a:off x="7543800" y="3401568"/>
            <a:ext cx="402336" cy="402336"/>
          </a:xfrm>
          <a:prstGeom prst="ellipse">
            <a:avLst/>
          </a:prstGeom>
          <a:solidFill>
            <a:srgbClr val="FFFFFF"/>
          </a:solidFill>
          <a:ln>
            <a:no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TextBox 64"/>
          <p:cNvSpPr txBox="1"/>
          <p:nvPr/>
        </p:nvSpPr>
        <p:spPr>
          <a:xfrm>
            <a:off x="7543800" y="3401568"/>
            <a:ext cx="402336" cy="402336"/>
          </a:xfrm>
          <a:prstGeom prst="rect">
            <a:avLst/>
          </a:prstGeom>
          <a:noFill/>
        </p:spPr>
        <p:txBody>
          <a:bodyPr wrap="square" anchor="ctr" lIns="0" rIns="0" tIns="0" bIns="0">
            <a:spAutoFit/>
          </a:bodyPr>
          <a:lstStyle/>
          <a:p>
            <a:pPr algn="ctr">
              <a:spcAft>
                <a:spcPts val="400"/>
              </a:spcAft>
            </a:pPr>
            <a:r>
              <a:rPr sz="1600" b="1" i="0">
                <a:solidFill>
                  <a:srgbClr val="3B1041"/>
                </a:solidFill>
                <a:latin typeface="Segoe UI"/>
              </a:rPr>
              <a:t>✓</a:t>
            </a:r>
          </a:p>
        </p:txBody>
      </p:sp>
      <p:sp>
        <p:nvSpPr>
          <p:cNvPr id="66" name="TextBox 65"/>
          <p:cNvSpPr txBox="1"/>
          <p:nvPr/>
        </p:nvSpPr>
        <p:spPr>
          <a:xfrm>
            <a:off x="8001000" y="3749039"/>
            <a:ext cx="3794760" cy="1463040"/>
          </a:xfrm>
          <a:prstGeom prst="rect">
            <a:avLst/>
          </a:prstGeom>
          <a:noFill/>
        </p:spPr>
        <p:txBody>
          <a:bodyPr wrap="square" anchor="ctr" lIns="0" rIns="0" tIns="0" bIns="0">
            <a:spAutoFit/>
          </a:bodyPr>
          <a:lstStyle/>
          <a:p>
            <a:pPr algn="l">
              <a:lnSpc>
                <a:spcPct val="105000"/>
              </a:lnSpc>
              <a:spcAft>
                <a:spcPts val="400"/>
              </a:spcAft>
            </a:pPr>
            <a:r>
              <a:rPr sz="1200" b="1" i="0">
                <a:solidFill>
                  <a:srgbClr val="FFFFFF"/>
                </a:solidFill>
                <a:latin typeface="Segoe Sans Display Semibold"/>
              </a:rPr>
              <a:t>Checkpoint: </a:t>
            </a:r>
            <a:r>
              <a:rPr sz="1200" b="0" i="0">
                <a:solidFill>
                  <a:srgbClr val="FFFFFF"/>
                </a:solidFill>
                <a:latin typeface="Segoe Sans Display"/>
              </a:rPr>
              <a:t>Two sites navigated by search and menus, a comparison table linking the DOL fact sheet and the Washington L&amp;I overtime page, and a Word brief about T-2008.</a:t>
            </a:r>
          </a:p>
        </p:txBody>
      </p:sp>
      <p:sp>
        <p:nvSpPr>
          <p:cNvPr id="67" name="Rounded Rectangle 66">
            <a:extLst>
              <a:ext uri="{C183D7F6-B498-43B3-948B-1728B52AA6E4}">
                <ns9:decorative xmlns:ns9="http://schemas.microsoft.com/office/drawing/2017/decorative" val="1"/>
              </a:ext>
            </a:extLst>
          </p:cNvPr>
          <p:cNvSpPr/>
          <p:nvPr/>
        </p:nvSpPr>
        <p:spPr>
          <a:xfrm>
            <a:off x="7763256" y="5486400"/>
            <a:ext cx="4224528" cy="960120"/>
          </a:xfrm>
          <a:prstGeom prst="roundRect">
            <a:avLst>
              <a:gd name="adj" fmla="val 10000"/>
            </a:avLst>
          </a:prstGeom>
          <a:solidFill>
            <a:srgbClr val="FFF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Box 67"/>
          <p:cNvSpPr txBox="1"/>
          <p:nvPr/>
        </p:nvSpPr>
        <p:spPr>
          <a:xfrm>
            <a:off x="8001000" y="5486400"/>
            <a:ext cx="3794760" cy="960120"/>
          </a:xfrm>
          <a:prstGeom prst="rect">
            <a:avLst/>
          </a:prstGeom>
          <a:noFill/>
        </p:spPr>
        <p:txBody>
          <a:bodyPr wrap="square" anchor="ctr" lIns="0" rIns="0" tIns="0" bIns="0">
            <a:spAutoFit/>
          </a:bodyPr>
          <a:lstStyle/>
          <a:p>
            <a:pPr algn="l">
              <a:lnSpc>
                <a:spcPct val="103000"/>
              </a:lnSpc>
              <a:spcAft>
                <a:spcPts val="400"/>
              </a:spcAft>
            </a:pPr>
            <a:r>
              <a:rPr sz="1100" b="1" i="0">
                <a:solidFill>
                  <a:srgbClr val="323139"/>
                </a:solidFill>
                <a:latin typeface="Segoe Sans Display Semibold"/>
              </a:rPr>
              <a:t>Stretch: </a:t>
            </a:r>
            <a:r>
              <a:rPr sz="1100" b="0" i="0">
                <a:solidFill>
                  <a:srgbClr val="323139"/>
                </a:solidFill>
                <a:latin typeface="Segoe Sans Display"/>
              </a:rPr>
              <a:t>Step through the DOL FLSA Overtime Security Advisor, with Cowork telling you each answer before it clicks.</a:t>
            </a:r>
          </a:p>
        </p:txBody>
      </p:sp>
    </p:spTree>
    <p:extLst>
      <p:ext uri="{BB962C8B-B14F-4D97-AF65-F5344CB8AC3E}">
        <p14:creationId xmlns:p14="http://schemas.microsoft.com/office/powerpoint/2010/main" val="1649947486"/>
      </p:ext>
    </p:extLst>
  </p:cSld>
  <p:clrMapOvr>
    <a:overrideClrMapping bg1="lt1" tx1="dk1" bg2="lt2" tx2="dk2" accent1="accent1" accent2="accent2" accent3="accent3" accent4="accent4" accent5="accent5" accent6="accent6" hlink="hlink" folHlink="folHlink"/>
  </p:clrMapOvr>
</p:sld>
</file>

<file path=ppt/slides/slide39.xml><?xml version="1.0" encoding="utf-8"?>
<p:sld xmlns:a="http://schemas.openxmlformats.org/drawingml/2006/main" xmlns:p="http://schemas.openxmlformats.org/presentationml/2006/main" xmlns:r="http://schemas.openxmlformats.org/officeDocument/2006/relationships">
  <p:cSld>
    <p:bg>
      <p:bgPr>
        <a:blipFill dpi="0" rotWithShape="1">
          <a:blip r:embed="rId5">
            <a:alphaModFix amt="70000"/>
            <a:lum/>
          </a:blip>
          <a:srcRect/>
          <a:stretch>
            <a:fillRect l="-2000" r="-2000"/>
          </a:stretch>
        </a:blipFill>
        <a:effectLst/>
      </p:bgPr>
    </p:bg>
    <p:spTree>
      <p:nvGrpSpPr>
        <p:cNvPr id="1" name="">
          <a:extLst>
            <a:ext uri="{FF2B5EF4-FFF2-40B4-BE49-F238E27FC236}">
              <a16:creationId xmlns:a16="http://schemas.microsoft.com/office/drawing/2014/main" id="{CC810B06-9C60-9BCB-DF49-73D043B037F2}"/>
            </a:ext>
          </a:extLst>
        </p:cNvPr>
        <p:cNvGrpSpPr/>
        <p:nvPr/>
      </p:nvGrpSpPr>
      <p:grpSpPr>
        <a:xfrm>
          <a:off x="0" y="0"/>
          <a:ext cx="0" cy="0"/>
          <a:chOff x="0" y="0"/>
          <a:chExt cx="0" cy="0"/>
        </a:xfrm>
      </p:grpSpPr>
      <p:sp>
        <p:nvSpPr>
          <p:cNvPr id="27" name="Title 3">
            <a:extLst>
              <a:ext uri="{FF2B5EF4-FFF2-40B4-BE49-F238E27FC236}">
                <a16:creationId xmlns:a16="http://schemas.microsoft.com/office/drawing/2014/main" id="{3EF2C483-DB46-D975-7E0E-09A75642D76B}"/>
              </a:ext>
            </a:extLst>
          </p:cNvPr>
          <p:cNvSpPr txBox="1">
            <a:spLocks/>
          </p:cNvSpPr>
          <p:nvPr/>
        </p:nvSpPr>
        <p:spPr>
          <a:xfrm>
            <a:off x="1925908" y="293473"/>
            <a:ext cx="7070725" cy="430887"/>
          </a:xfrm>
          <a:prstGeom prst="rect">
            <a:avLst/>
          </a:prstGeom>
        </p:spPr>
        <p:txBody>
          <a:bodyPr vert="horz" wrap="square" lIns="0" tIns="0" rIns="0" bIns="0" rtlCol="0" anchor="t">
            <a:spAutoFit/>
          </a:bodyPr>
          <a:lstStyle>
            <a:lvl1pPr algn="l" defTabSz="769520" rtl="0" eaLnBrk="1" latinLnBrk="0" hangingPunct="1">
              <a:lnSpc>
                <a:spcPct val="100000"/>
              </a:lnSpc>
              <a:spcBef>
                <a:spcPct val="0"/>
              </a:spcBef>
              <a:buNone/>
              <a:defRPr lang="en-US" sz="2000" b="0" kern="1200" cap="none" spc="0" baseline="0">
                <a:ln w="3175">
                  <a:noFill/>
                </a:ln>
                <a:solidFill>
                  <a:schemeClr val="tx1"/>
                </a:solidFill>
                <a:effectLst/>
                <a:latin typeface="+mj-lt"/>
                <a:ea typeface="+mn-ea"/>
                <a:cs typeface="Segoe Sans Display" pitchFamily="2" charset="0"/>
              </a:defRPr>
            </a:lvl1pPr>
          </a:lstStyle>
          <a:p>
            <a:pPr marL="0" marR="0" lvl="0" indent="0" algn="l" defTabSz="769520" rtl="0" eaLnBrk="1" fontAlgn="auto" latinLnBrk="0" hangingPunct="1">
              <a:lnSpc>
                <a:spcPct val="100000"/>
              </a:lnSpc>
              <a:spcBef>
                <a:spcPct val="0"/>
              </a:spcBef>
              <a:spcAft>
                <a:spcPts val="0"/>
              </a:spcAft>
              <a:buClrTx/>
              <a:buSzTx/>
              <a:buFontTx/>
              <a:buNone/>
              <a:tabLst/>
              <a:defRPr/>
            </a:pPr>
            <a:r>
              <a:rPr kumimoji="0" lang="en-US" sz="2800" b="0" i="0" u="none" strike="noStrike" kern="1200" cap="none" spc="0" normalizeH="0" baseline="0" noProof="0">
                <a:ln w="3175">
                  <a:noFill/>
                </a:ln>
                <a:solidFill>
                  <a:srgbClr val="323139"/>
                </a:solidFill>
                <a:effectLst/>
                <a:uLnTx/>
                <a:uFillTx/>
                <a:latin typeface="Segoe Sans Display" pitchFamily="2" charset="0"/>
                <a:ea typeface="+mn-ea"/>
                <a:cs typeface="Segoe Sans Display" pitchFamily="2" charset="0"/>
              </a:rPr>
              <a:t>Build a Custom Skill: HR Policy Answer</a:t>
            </a:r>
          </a:p>
        </p:txBody>
      </p:sp>
      <p:sp>
        <p:nvSpPr>
          <p:cNvPr id="28" name="NavPill_SitesPages">
            <a:extLst>
              <a:ext uri="{FF2B5EF4-FFF2-40B4-BE49-F238E27FC236}">
                <a16:creationId xmlns:a16="http://schemas.microsoft.com/office/drawing/2014/main" id="{57BB7AF5-33B6-DA4A-ABA7-2573FB8050B2}"/>
              </a:ext>
            </a:extLst>
          </p:cNvPr>
          <p:cNvSpPr/>
          <p:nvPr/>
        </p:nvSpPr>
        <p:spPr>
          <a:xfrm>
            <a:off x="350837" y="342900"/>
            <a:ext cx="1419239" cy="337762"/>
          </a:xfrm>
          <a:prstGeom prst="roundRect">
            <a:avLst>
              <a:gd name="adj" fmla="val 50000"/>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207091" rtl="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Ex 04</a:t>
            </a:r>
          </a:p>
        </p:txBody>
      </p:sp>
      <p:sp>
        <p:nvSpPr>
          <p:cNvPr id="33" name="Rectangle: Rounded Corners 32">
            <a:extLst>
              <a:ext uri="{FF2B5EF4-FFF2-40B4-BE49-F238E27FC236}">
                <a16:creationId xmlns:a16="http://schemas.microsoft.com/office/drawing/2014/main" id="{8D56FF72-D759-DB8C-C791-1089618B3EE4}"/>
              </a:ext>
            </a:extLst>
          </p:cNvPr>
          <p:cNvSpPr/>
          <p:nvPr/>
        </p:nvSpPr>
        <p:spPr bwMode="auto">
          <a:xfrm>
            <a:off x="424382" y="954763"/>
            <a:ext cx="3621360" cy="1127147"/>
          </a:xfrm>
          <a:prstGeom prst="roundRect">
            <a:avLst>
              <a:gd name="adj" fmla="val 9646"/>
            </a:avLst>
          </a:prstGeom>
          <a:solidFill>
            <a:srgbClr val="FFFC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Goal</a:t>
            </a:r>
            <a:r>
              <a:rPr kumimoji="0" lang="en-US" sz="1100" b="0" i="0" u="none" strike="noStrike" kern="0" cap="none" spc="0" normalizeH="0" baseline="0" noProof="0">
                <a:ln w="3175">
                  <a:noFill/>
                </a:ln>
                <a:solidFill>
                  <a:srgbClr val="323139"/>
                </a:solidFill>
                <a:effectLst/>
                <a:uLnTx/>
                <a:uFillTx/>
                <a:latin typeface="Segoe Sans Display Semibold" pitchFamily="2" charset="0"/>
                <a:ea typeface="+mn-ea"/>
                <a:cs typeface="Segoe Sans Display Semibold" pitchFamily="2" charset="0"/>
              </a:rPr>
              <a:t>: </a:t>
            </a:r>
            <a:r>
              <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rPr>
              <a:t>Teach Cowork to answer policy and benefits questions the same clear, sourced way — every time.</a:t>
            </a:r>
          </a:p>
        </p:txBody>
      </p:sp>
      <p:sp>
        <p:nvSpPr>
          <p:cNvPr id="34" name="Rectangle: Rounded Corners 33">
            <a:extLst>
              <a:ext uri="{FF2B5EF4-FFF2-40B4-BE49-F238E27FC236}">
                <a16:creationId xmlns:a16="http://schemas.microsoft.com/office/drawing/2014/main" id="{58B7C25E-B49B-24B7-8F32-A2823589DFF3}"/>
              </a:ext>
            </a:extLst>
          </p:cNvPr>
          <p:cNvSpPr/>
          <p:nvPr/>
        </p:nvSpPr>
        <p:spPr bwMode="auto">
          <a:xfrm>
            <a:off x="4372822" y="978410"/>
            <a:ext cx="3621360" cy="1107187"/>
          </a:xfrm>
          <a:prstGeom prst="roundRect">
            <a:avLst>
              <a:gd name="adj" fmla="val 10584"/>
            </a:avLst>
          </a:prstGeom>
          <a:solidFill>
            <a:srgbClr val="FFFC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noProof="0">
                <a:ln w="3175">
                  <a:noFill/>
                </a:ln>
                <a:blipFill>
                  <a:blip r:embed="rId4"/>
                  <a:stretch>
                    <a:fillRect t="-26822" b="-26822"/>
                  </a:stretch>
                </a:blipFill>
                <a:effectLst/>
                <a:uLnTx/>
                <a:uFillTx/>
                <a:latin typeface="Segoe Sans Display Semibold"/>
                <a:ea typeface="+mn-ea"/>
                <a:cs typeface="Segoe Sans Display Semibold" pitchFamily="2" charset="0"/>
              </a:rPr>
              <a:t>Output</a:t>
            </a:r>
            <a:r>
              <a:rPr kumimoji="0" lang="en-US" sz="1100" b="0" i="0" u="none" strike="noStrike" kern="0" cap="none" spc="0" normalizeH="0" baseline="0" noProof="0">
                <a:ln w="3175">
                  <a:noFill/>
                </a:ln>
                <a:solidFill>
                  <a:srgbClr val="323139"/>
                </a:solidFill>
                <a:effectLst/>
                <a:uLnTx/>
                <a:uFillTx/>
                <a:latin typeface="Segoe Sans Display Semibold"/>
                <a:ea typeface="+mn-ea"/>
                <a:cs typeface="Segoe Sans Display Semibold" pitchFamily="2" charset="0"/>
              </a:rPr>
              <a:t>: </a:t>
            </a:r>
            <a:r>
              <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rPr>
              <a:t>A saved custom skill, “HR Policy Answer,” with a quality score, that triggers on policy questions and answers Answer → Details → Source → “confirm with HR.”</a:t>
            </a:r>
          </a:p>
        </p:txBody>
      </p:sp>
      <p:sp>
        <p:nvSpPr>
          <p:cNvPr id="30" name="TextBox 29">
            <a:extLst>
              <a:ext uri="{FF2B5EF4-FFF2-40B4-BE49-F238E27FC236}">
                <a16:creationId xmlns:a16="http://schemas.microsoft.com/office/drawing/2014/main" id="{4519738B-A618-91E3-CAC4-D99F7E54632B}"/>
              </a:ext>
              <a:ext uri="{C183D7F6-B498-43B3-948B-1728B52AA6E4}">
                <ns0:decorative xmlns:ns0="http://schemas.microsoft.com/office/drawing/2017/decorative" val="1"/>
              </a:ext>
            </a:extLst>
          </p:cNvPr>
          <p:cNvSpPr txBox="1"/>
          <p:nvPr/>
        </p:nvSpPr>
        <p:spPr>
          <a:xfrm>
            <a:off x="8867052" y="119383"/>
            <a:ext cx="3092209" cy="338554"/>
          </a:xfrm>
          <a:prstGeom prst="roundRect">
            <a:avLst>
              <a:gd name="adj" fmla="val 19537"/>
            </a:avLst>
          </a:prstGeom>
          <a:solidFill>
            <a:srgbClr val="CB85FF">
              <a:lumMod val="20000"/>
              <a:lumOff val="80000"/>
            </a:srgbClr>
          </a:solidFill>
        </p:spPr>
        <p:txBody>
          <a:bodyPr wrap="square" lIns="1188720" tIns="45720" rIns="0" bIns="45720" anchor="ctr">
            <a:noAutofit/>
          </a:bodyPr>
          <a:lstStyle>
            <a:defPPr>
              <a:defRPr lang="en-US"/>
            </a:defPPr>
            <a:lvl1pPr>
              <a:spcAft>
                <a:spcPts val="776"/>
              </a:spcAft>
              <a:defRPr sz="1200">
                <a:latin typeface="+mj-lt"/>
                <a:cs typeface="Segoe Sans Display Semibold" pitchFamily="2" charset="0"/>
              </a:defRPr>
            </a:lvl1pPr>
          </a:lstStyle>
          <a:p>
            <a:pPr marL="0" marR="0" lvl="0" indent="0" algn="l" defTabSz="914294" rtl="0" eaLnBrk="1" fontAlgn="auto" latinLnBrk="0" hangingPunct="1">
              <a:lnSpc>
                <a:spcPct val="100000"/>
              </a:lnSpc>
              <a:spcBef>
                <a:spcPts val="0"/>
              </a:spcBef>
              <a:spcAft>
                <a:spcPts val="776"/>
              </a:spcAft>
              <a:buClrTx/>
              <a:buSzTx/>
              <a:buFontTx/>
              <a:buNone/>
              <a:tabLst/>
              <a:defRPr/>
            </a:pPr>
            <a:endParaRPr kumimoji="0" lang="en-US" sz="1200" b="0" i="0" u="none" strike="noStrike" kern="0" cap="none" spc="0" normalizeH="0" baseline="0" noProof="0">
              <a:ln>
                <a:noFill/>
              </a:ln>
              <a:solidFill>
                <a:srgbClr val="323139"/>
              </a:solidFill>
              <a:effectLst/>
              <a:uLnTx/>
              <a:uFillTx/>
              <a:latin typeface="Segoe Sans Display"/>
              <a:ea typeface="+mn-ea"/>
              <a:cs typeface="Segoe Sans Display Semibold" pitchFamily="2" charset="0"/>
            </a:endParaRPr>
          </a:p>
        </p:txBody>
      </p:sp>
      <p:sp>
        <p:nvSpPr>
          <p:cNvPr id="31" name="TextBox 30">
            <a:extLst>
              <a:ext uri="{FF2B5EF4-FFF2-40B4-BE49-F238E27FC236}">
                <a16:creationId xmlns:a16="http://schemas.microsoft.com/office/drawing/2014/main" id="{4B310F6E-1BD3-CF01-32AD-647BCF12AC0F}"/>
              </a:ext>
            </a:extLst>
          </p:cNvPr>
          <p:cNvSpPr txBox="1"/>
          <p:nvPr/>
        </p:nvSpPr>
        <p:spPr>
          <a:xfrm>
            <a:off x="8942688" y="173878"/>
            <a:ext cx="1280160" cy="233352"/>
          </a:xfrm>
          <a:prstGeom prst="roundRect">
            <a:avLst>
              <a:gd name="adj" fmla="val 16151"/>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5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defRPr lang="en-US"/>
            </a:defPPr>
            <a:lvl1pPr algn="ctr" defTabSz="932765" fontAlgn="base">
              <a:spcBef>
                <a:spcPct val="0"/>
              </a:spcBef>
              <a:spcAft>
                <a:spcPct val="0"/>
              </a:spcAft>
              <a:defRPr sz="1600">
                <a:solidFill>
                  <a:schemeClr val="accent1"/>
                </a:solidFill>
                <a:latin typeface="+mj-lt"/>
                <a:cs typeface="Segoe Sans Display Semibold" pitchFamily="2" charset="0"/>
              </a:defRPr>
            </a:lvl1pPr>
          </a:lstStyle>
          <a:p>
            <a:pPr marL="0" marR="0" lvl="0" indent="0" algn="l" defTabSz="932765" rtl="0" eaLnBrk="1" fontAlgn="base" latinLnBrk="0" hangingPunct="1">
              <a:lnSpc>
                <a:spcPct val="100000"/>
              </a:lnSpc>
              <a:spcBef>
                <a:spcPct val="0"/>
              </a:spcBef>
              <a:spcAft>
                <a:spcPct val="0"/>
              </a:spcAft>
              <a:buClrTx/>
              <a:buSzTx/>
              <a:buFontTx/>
              <a:buNone/>
              <a:tabLst/>
              <a:defRPr/>
            </a:pPr>
            <a:r>
              <a:rPr kumimoji="0" lang="en-IN" sz="1050" b="0" i="0" u="none" strike="noStrike" kern="0" cap="none" spc="0" normalizeH="0" baseline="0" noProof="0">
                <a:ln>
                  <a:noFill/>
                </a:ln>
                <a:solidFill>
                  <a:srgbClr val="323139"/>
                </a:solidFill>
                <a:effectLst/>
                <a:uLnTx/>
                <a:uFillTx/>
                <a:latin typeface="Segoe Sans Display"/>
                <a:ea typeface="+mn-ea"/>
                <a:cs typeface="Segoe Sans Display Semibold" pitchFamily="2" charset="0"/>
              </a:rPr>
              <a:t>Function</a:t>
            </a:r>
          </a:p>
        </p:txBody>
      </p:sp>
      <p:sp>
        <p:nvSpPr>
          <p:cNvPr id="50" name="TextBox 49">
            <a:extLst>
              <a:ext uri="{FF2B5EF4-FFF2-40B4-BE49-F238E27FC236}">
                <a16:creationId xmlns:a16="http://schemas.microsoft.com/office/drawing/2014/main" id="{0CE10D15-83B7-7915-49A3-0BD3A21E9731}"/>
              </a:ext>
            </a:extLst>
          </p:cNvPr>
          <p:cNvSpPr txBox="1"/>
          <p:nvPr/>
        </p:nvSpPr>
        <p:spPr>
          <a:xfrm>
            <a:off x="10298483" y="173490"/>
            <a:ext cx="1668779" cy="253916"/>
          </a:xfrm>
          <a:prstGeom prst="rect">
            <a:avLst/>
          </a:prstGeom>
          <a:noFill/>
        </p:spPr>
        <p:txBody>
          <a:bodyPr wrap="square">
            <a:spAutoFit/>
          </a:bodyPr>
          <a:lstStyle/>
          <a:p>
            <a:pPr marL="0" marR="0" lvl="0" indent="0" algn="l" defTabSz="914294"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323139"/>
                </a:solidFill>
                <a:effectLst/>
                <a:uLnTx/>
                <a:uFillTx/>
                <a:latin typeface="Segoe Sans Display"/>
                <a:ea typeface="+mn-ea"/>
                <a:cs typeface="Segoe Sans Display"/>
              </a:rPr>
              <a:t>HR · Policy</a:t>
            </a:r>
          </a:p>
        </p:txBody>
      </p:sp>
      <p:sp>
        <p:nvSpPr>
          <p:cNvPr id="59" name="Rectangle: Rounded Corners 58">
            <a:extLst>
              <a:ext uri="{FF2B5EF4-FFF2-40B4-BE49-F238E27FC236}">
                <a16:creationId xmlns:a16="http://schemas.microsoft.com/office/drawing/2014/main" id="{4A73329A-1917-C156-E817-2B9E2D56CBE1}"/>
              </a:ext>
              <a:ext uri="{C183D7F6-B498-43B3-948B-1728B52AA6E4}">
                <ns1:decorative xmlns:ns1="http://schemas.microsoft.com/office/drawing/2017/decorative" val="1"/>
              </a:ext>
            </a:extLst>
          </p:cNvPr>
          <p:cNvSpPr/>
          <p:nvPr/>
        </p:nvSpPr>
        <p:spPr bwMode="auto">
          <a:xfrm>
            <a:off x="424381" y="2312313"/>
            <a:ext cx="7171849" cy="4327573"/>
          </a:xfrm>
          <a:prstGeom prst="roundRect">
            <a:avLst>
              <a:gd name="adj" fmla="val 1683"/>
            </a:avLst>
          </a:prstGeom>
          <a:solidFill>
            <a:srgbClr val="FFF9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B553FF"/>
              </a:solidFill>
              <a:effectLst/>
              <a:uLnTx/>
              <a:uFillTx/>
              <a:latin typeface="Segoe Sans Display Semibold" pitchFamily="2" charset="0"/>
              <a:ea typeface="+mn-ea"/>
              <a:cs typeface="Segoe Sans Display Semibold" pitchFamily="2" charset="0"/>
            </a:endParaRPr>
          </a:p>
        </p:txBody>
      </p:sp>
      <p:grpSp>
        <p:nvGrpSpPr>
          <p:cNvPr id="79" name="Group 78">
            <a:extLst>
              <a:ext uri="{FF2B5EF4-FFF2-40B4-BE49-F238E27FC236}">
                <a16:creationId xmlns:a16="http://schemas.microsoft.com/office/drawing/2014/main" id="{B857CF20-AAD8-92CD-98E7-73BD8662071B}"/>
              </a:ext>
            </a:extLst>
          </p:cNvPr>
          <p:cNvGrpSpPr/>
          <p:nvPr/>
        </p:nvGrpSpPr>
        <p:grpSpPr>
          <a:xfrm>
            <a:off x="199916" y="775485"/>
            <a:ext cx="398477" cy="398477"/>
            <a:chOff x="3403308" y="1083220"/>
            <a:chExt cx="398477" cy="398477"/>
          </a:xfrm>
        </p:grpSpPr>
        <p:sp>
          <p:nvSpPr>
            <p:cNvPr id="76" name="Oval 75">
              <a:extLst>
                <a:ext uri="{FF2B5EF4-FFF2-40B4-BE49-F238E27FC236}">
                  <a16:creationId xmlns:a16="http://schemas.microsoft.com/office/drawing/2014/main" id="{159C5AC1-FC57-57FC-51C9-4DC5847B88F1}"/>
                </a:ext>
                <a:ext uri="{C183D7F6-B498-43B3-948B-1728B52AA6E4}">
                  <ns2:decorative xmlns:ns2="http://schemas.microsoft.com/office/drawing/2017/decorative" val="1"/>
                </a:ext>
              </a:extLst>
            </p:cNvPr>
            <p:cNvSpPr/>
            <p:nvPr/>
          </p:nvSpPr>
          <p:spPr>
            <a:xfrm>
              <a:off x="3403308" y="1083220"/>
              <a:ext cx="398477" cy="398477"/>
            </a:xfrm>
            <a:prstGeom prst="ellipse">
              <a:avLst/>
            </a:prstGeom>
            <a:solidFill>
              <a:srgbClr val="FFF9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2" name="Graphic 5">
              <a:extLst>
                <a:ext uri="{FF2B5EF4-FFF2-40B4-BE49-F238E27FC236}">
                  <a16:creationId xmlns:a16="http://schemas.microsoft.com/office/drawing/2014/main" id="{9F306AE4-27E6-F02E-E553-1EF2C3FBAF65}"/>
                </a:ext>
                <a:ext uri="{C183D7F6-B498-43B3-948B-1728B52AA6E4}">
                  <adec:decorative xmlns:adec="http://schemas.microsoft.com/office/drawing/2017/decorative" val="1"/>
                </a:ext>
              </a:extLst>
            </p:cNvPr>
            <p:cNvSpPr>
              <a:spLocks/>
            </p:cNvSpPr>
            <p:nvPr/>
          </p:nvSpPr>
          <p:spPr>
            <a:xfrm>
              <a:off x="3474676" y="1157049"/>
              <a:ext cx="250822" cy="250818"/>
            </a:xfrm>
            <a:custGeom>
              <a:avLst/>
              <a:gdLst>
                <a:gd name="csX0" fmla="*/ 188408 w 190501"/>
                <a:gd name="csY0" fmla="*/ 45534 h 190500"/>
                <a:gd name="csX1" fmla="*/ 189957 w 190501"/>
                <a:gd name="csY1" fmla="*/ 37748 h 190500"/>
                <a:gd name="csX2" fmla="*/ 183357 w 190501"/>
                <a:gd name="csY2" fmla="*/ 33338 h 190500"/>
                <a:gd name="csX3" fmla="*/ 157162 w 190501"/>
                <a:gd name="csY3" fmla="*/ 33338 h 190500"/>
                <a:gd name="csX4" fmla="*/ 157162 w 190501"/>
                <a:gd name="csY4" fmla="*/ 7144 h 190500"/>
                <a:gd name="csX5" fmla="*/ 152751 w 190501"/>
                <a:gd name="csY5" fmla="*/ 544 h 190500"/>
                <a:gd name="csX6" fmla="*/ 144967 w 190501"/>
                <a:gd name="csY6" fmla="*/ 2093 h 190500"/>
                <a:gd name="csX7" fmla="*/ 121155 w 190501"/>
                <a:gd name="csY7" fmla="*/ 25906 h 190500"/>
                <a:gd name="csX8" fmla="*/ 119063 w 190501"/>
                <a:gd name="csY8" fmla="*/ 30957 h 190500"/>
                <a:gd name="csX9" fmla="*/ 119063 w 190501"/>
                <a:gd name="csY9" fmla="*/ 57967 h 190500"/>
                <a:gd name="csX10" fmla="*/ 100185 w 190501"/>
                <a:gd name="csY10" fmla="*/ 76846 h 190500"/>
                <a:gd name="csX11" fmla="*/ 95250 w 190501"/>
                <a:gd name="csY11" fmla="*/ 76201 h 190500"/>
                <a:gd name="csX12" fmla="*/ 76200 w 190501"/>
                <a:gd name="csY12" fmla="*/ 95251 h 190500"/>
                <a:gd name="csX13" fmla="*/ 95250 w 190501"/>
                <a:gd name="csY13" fmla="*/ 114301 h 190500"/>
                <a:gd name="csX14" fmla="*/ 114300 w 190501"/>
                <a:gd name="csY14" fmla="*/ 95251 h 190500"/>
                <a:gd name="csX15" fmla="*/ 113655 w 190501"/>
                <a:gd name="csY15" fmla="*/ 90316 h 190500"/>
                <a:gd name="csX16" fmla="*/ 132533 w 190501"/>
                <a:gd name="csY16" fmla="*/ 71438 h 190500"/>
                <a:gd name="csX17" fmla="*/ 159545 w 190501"/>
                <a:gd name="csY17" fmla="*/ 71438 h 190500"/>
                <a:gd name="csX18" fmla="*/ 164596 w 190501"/>
                <a:gd name="csY18" fmla="*/ 69346 h 190500"/>
                <a:gd name="csX19" fmla="*/ 188408 w 190501"/>
                <a:gd name="csY19" fmla="*/ 45534 h 190500"/>
                <a:gd name="csX20" fmla="*/ 95250 w 190501"/>
                <a:gd name="csY20" fmla="*/ 1 h 190500"/>
                <a:gd name="csX21" fmla="*/ 127860 w 190501"/>
                <a:gd name="csY21" fmla="*/ 5729 h 190500"/>
                <a:gd name="csX22" fmla="*/ 114419 w 190501"/>
                <a:gd name="csY22" fmla="*/ 19170 h 190500"/>
                <a:gd name="csX23" fmla="*/ 112781 w 190501"/>
                <a:gd name="csY23" fmla="*/ 21077 h 190500"/>
                <a:gd name="csX24" fmla="*/ 95250 w 190501"/>
                <a:gd name="csY24" fmla="*/ 19051 h 190500"/>
                <a:gd name="csX25" fmla="*/ 19050 w 190501"/>
                <a:gd name="csY25" fmla="*/ 95251 h 190500"/>
                <a:gd name="csX26" fmla="*/ 95250 w 190501"/>
                <a:gd name="csY26" fmla="*/ 171451 h 190500"/>
                <a:gd name="csX27" fmla="*/ 171450 w 190501"/>
                <a:gd name="csY27" fmla="*/ 95251 h 190500"/>
                <a:gd name="csX28" fmla="*/ 169424 w 190501"/>
                <a:gd name="csY28" fmla="*/ 77720 h 190500"/>
                <a:gd name="csX29" fmla="*/ 171331 w 190501"/>
                <a:gd name="csY29" fmla="*/ 76081 h 190500"/>
                <a:gd name="csX30" fmla="*/ 184772 w 190501"/>
                <a:gd name="csY30" fmla="*/ 62641 h 190500"/>
                <a:gd name="csX31" fmla="*/ 190500 w 190501"/>
                <a:gd name="csY31" fmla="*/ 95251 h 190500"/>
                <a:gd name="csX32" fmla="*/ 95250 w 190501"/>
                <a:gd name="csY32" fmla="*/ 190501 h 190500"/>
                <a:gd name="csX33" fmla="*/ 0 w 190501"/>
                <a:gd name="csY33" fmla="*/ 95251 h 190500"/>
                <a:gd name="csX34" fmla="*/ 95250 w 190501"/>
                <a:gd name="csY34" fmla="*/ 1 h 190500"/>
                <a:gd name="csX35" fmla="*/ 95250 w 190501"/>
                <a:gd name="csY35" fmla="*/ 38101 h 190500"/>
                <a:gd name="csX36" fmla="*/ 109538 w 190501"/>
                <a:gd name="csY36" fmla="*/ 39901 h 190500"/>
                <a:gd name="csX37" fmla="*/ 109538 w 190501"/>
                <a:gd name="csY37" fmla="*/ 54021 h 190500"/>
                <a:gd name="csX38" fmla="*/ 105592 w 190501"/>
                <a:gd name="csY38" fmla="*/ 57968 h 190500"/>
                <a:gd name="csX39" fmla="*/ 105131 w 190501"/>
                <a:gd name="csY39" fmla="*/ 58444 h 190500"/>
                <a:gd name="csX40" fmla="*/ 95250 w 190501"/>
                <a:gd name="csY40" fmla="*/ 57151 h 190500"/>
                <a:gd name="csX41" fmla="*/ 57150 w 190501"/>
                <a:gd name="csY41" fmla="*/ 95251 h 190500"/>
                <a:gd name="csX42" fmla="*/ 95250 w 190501"/>
                <a:gd name="csY42" fmla="*/ 133351 h 190500"/>
                <a:gd name="csX43" fmla="*/ 133350 w 190501"/>
                <a:gd name="csY43" fmla="*/ 95251 h 190500"/>
                <a:gd name="csX44" fmla="*/ 132057 w 190501"/>
                <a:gd name="csY44" fmla="*/ 85369 h 190500"/>
                <a:gd name="csX45" fmla="*/ 132533 w 190501"/>
                <a:gd name="csY45" fmla="*/ 84909 h 190500"/>
                <a:gd name="csX46" fmla="*/ 136478 w 190501"/>
                <a:gd name="csY46" fmla="*/ 80963 h 190500"/>
                <a:gd name="csX47" fmla="*/ 150600 w 190501"/>
                <a:gd name="csY47" fmla="*/ 80963 h 190500"/>
                <a:gd name="csX48" fmla="*/ 152400 w 190501"/>
                <a:gd name="csY48" fmla="*/ 95251 h 190500"/>
                <a:gd name="csX49" fmla="*/ 95250 w 190501"/>
                <a:gd name="csY49" fmla="*/ 152401 h 190500"/>
                <a:gd name="csX50" fmla="*/ 38100 w 190501"/>
                <a:gd name="csY50" fmla="*/ 95251 h 190500"/>
                <a:gd name="csX51" fmla="*/ 95250 w 190501"/>
                <a:gd name="csY51" fmla="*/ 38101 h 190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Lst>
              <a:rect l="l" t="t" r="r" b="b"/>
              <a:pathLst>
                <a:path w="190501" h="190500">
                  <a:moveTo>
                    <a:pt x="188408" y="45534"/>
                  </a:moveTo>
                  <a:cubicBezTo>
                    <a:pt x="190452" y="43491"/>
                    <a:pt x="191063" y="40418"/>
                    <a:pt x="189957" y="37748"/>
                  </a:cubicBezTo>
                  <a:cubicBezTo>
                    <a:pt x="188852" y="35079"/>
                    <a:pt x="186247" y="33338"/>
                    <a:pt x="183357" y="33338"/>
                  </a:cubicBezTo>
                  <a:lnTo>
                    <a:pt x="157162" y="33338"/>
                  </a:lnTo>
                  <a:lnTo>
                    <a:pt x="157162" y="7144"/>
                  </a:lnTo>
                  <a:cubicBezTo>
                    <a:pt x="157162" y="4255"/>
                    <a:pt x="155421" y="1650"/>
                    <a:pt x="152751" y="544"/>
                  </a:cubicBezTo>
                  <a:cubicBezTo>
                    <a:pt x="150083" y="-562"/>
                    <a:pt x="147010" y="50"/>
                    <a:pt x="144967" y="2093"/>
                  </a:cubicBezTo>
                  <a:lnTo>
                    <a:pt x="121155" y="25906"/>
                  </a:lnTo>
                  <a:cubicBezTo>
                    <a:pt x="119815" y="27246"/>
                    <a:pt x="119063" y="29063"/>
                    <a:pt x="119063" y="30957"/>
                  </a:cubicBezTo>
                  <a:lnTo>
                    <a:pt x="119063" y="57967"/>
                  </a:lnTo>
                  <a:lnTo>
                    <a:pt x="100185" y="76846"/>
                  </a:lnTo>
                  <a:cubicBezTo>
                    <a:pt x="98610" y="76425"/>
                    <a:pt x="96957" y="76201"/>
                    <a:pt x="95250" y="76201"/>
                  </a:cubicBezTo>
                  <a:cubicBezTo>
                    <a:pt x="84729" y="76201"/>
                    <a:pt x="76200" y="84730"/>
                    <a:pt x="76200" y="95251"/>
                  </a:cubicBezTo>
                  <a:cubicBezTo>
                    <a:pt x="76200" y="105771"/>
                    <a:pt x="84729" y="114301"/>
                    <a:pt x="95250" y="114301"/>
                  </a:cubicBezTo>
                  <a:cubicBezTo>
                    <a:pt x="105771" y="114301"/>
                    <a:pt x="114300" y="105771"/>
                    <a:pt x="114300" y="95251"/>
                  </a:cubicBezTo>
                  <a:cubicBezTo>
                    <a:pt x="114300" y="93544"/>
                    <a:pt x="114075" y="91891"/>
                    <a:pt x="113655" y="90316"/>
                  </a:cubicBezTo>
                  <a:lnTo>
                    <a:pt x="132533" y="71438"/>
                  </a:lnTo>
                  <a:lnTo>
                    <a:pt x="159545" y="71438"/>
                  </a:lnTo>
                  <a:cubicBezTo>
                    <a:pt x="161439" y="71438"/>
                    <a:pt x="163256" y="70686"/>
                    <a:pt x="164596" y="69346"/>
                  </a:cubicBezTo>
                  <a:lnTo>
                    <a:pt x="188408" y="45534"/>
                  </a:lnTo>
                  <a:close/>
                  <a:moveTo>
                    <a:pt x="95250" y="1"/>
                  </a:moveTo>
                  <a:cubicBezTo>
                    <a:pt x="106705" y="1"/>
                    <a:pt x="117687" y="2023"/>
                    <a:pt x="127860" y="5729"/>
                  </a:cubicBezTo>
                  <a:lnTo>
                    <a:pt x="114419" y="19170"/>
                  </a:lnTo>
                  <a:cubicBezTo>
                    <a:pt x="113823" y="19767"/>
                    <a:pt x="113275" y="20405"/>
                    <a:pt x="112781" y="21077"/>
                  </a:cubicBezTo>
                  <a:cubicBezTo>
                    <a:pt x="107152" y="19752"/>
                    <a:pt x="101283" y="19051"/>
                    <a:pt x="95250" y="19051"/>
                  </a:cubicBezTo>
                  <a:cubicBezTo>
                    <a:pt x="53166" y="19051"/>
                    <a:pt x="19050" y="53166"/>
                    <a:pt x="19050" y="95251"/>
                  </a:cubicBezTo>
                  <a:cubicBezTo>
                    <a:pt x="19050" y="137334"/>
                    <a:pt x="53166" y="171451"/>
                    <a:pt x="95250" y="171451"/>
                  </a:cubicBezTo>
                  <a:cubicBezTo>
                    <a:pt x="137334" y="171451"/>
                    <a:pt x="171450" y="137334"/>
                    <a:pt x="171450" y="95251"/>
                  </a:cubicBezTo>
                  <a:cubicBezTo>
                    <a:pt x="171450" y="89218"/>
                    <a:pt x="170749" y="83348"/>
                    <a:pt x="169424" y="77720"/>
                  </a:cubicBezTo>
                  <a:cubicBezTo>
                    <a:pt x="170096" y="77226"/>
                    <a:pt x="170734" y="76678"/>
                    <a:pt x="171331" y="76081"/>
                  </a:cubicBezTo>
                  <a:lnTo>
                    <a:pt x="184772" y="62641"/>
                  </a:lnTo>
                  <a:cubicBezTo>
                    <a:pt x="188478" y="72813"/>
                    <a:pt x="190500" y="83796"/>
                    <a:pt x="190500" y="95251"/>
                  </a:cubicBezTo>
                  <a:cubicBezTo>
                    <a:pt x="190500" y="147856"/>
                    <a:pt x="147855" y="190501"/>
                    <a:pt x="95250" y="190501"/>
                  </a:cubicBezTo>
                  <a:cubicBezTo>
                    <a:pt x="42645" y="190501"/>
                    <a:pt x="0" y="147856"/>
                    <a:pt x="0" y="95251"/>
                  </a:cubicBezTo>
                  <a:cubicBezTo>
                    <a:pt x="0" y="42645"/>
                    <a:pt x="42645" y="1"/>
                    <a:pt x="95250" y="1"/>
                  </a:cubicBezTo>
                  <a:close/>
                  <a:moveTo>
                    <a:pt x="95250" y="38101"/>
                  </a:moveTo>
                  <a:cubicBezTo>
                    <a:pt x="100184" y="38101"/>
                    <a:pt x="104971" y="38726"/>
                    <a:pt x="109538" y="39901"/>
                  </a:cubicBezTo>
                  <a:lnTo>
                    <a:pt x="109538" y="54021"/>
                  </a:lnTo>
                  <a:lnTo>
                    <a:pt x="105592" y="57968"/>
                  </a:lnTo>
                  <a:cubicBezTo>
                    <a:pt x="105435" y="58125"/>
                    <a:pt x="105282" y="58284"/>
                    <a:pt x="105131" y="58444"/>
                  </a:cubicBezTo>
                  <a:cubicBezTo>
                    <a:pt x="101980" y="57601"/>
                    <a:pt x="98668" y="57151"/>
                    <a:pt x="95250" y="57151"/>
                  </a:cubicBezTo>
                  <a:cubicBezTo>
                    <a:pt x="74208" y="57151"/>
                    <a:pt x="57150" y="74208"/>
                    <a:pt x="57150" y="95251"/>
                  </a:cubicBezTo>
                  <a:cubicBezTo>
                    <a:pt x="57150" y="116293"/>
                    <a:pt x="74208" y="133351"/>
                    <a:pt x="95250" y="133351"/>
                  </a:cubicBezTo>
                  <a:cubicBezTo>
                    <a:pt x="116292" y="133351"/>
                    <a:pt x="133350" y="116293"/>
                    <a:pt x="133350" y="95251"/>
                  </a:cubicBezTo>
                  <a:cubicBezTo>
                    <a:pt x="133350" y="91833"/>
                    <a:pt x="132900" y="88521"/>
                    <a:pt x="132057" y="85369"/>
                  </a:cubicBezTo>
                  <a:cubicBezTo>
                    <a:pt x="132217" y="85219"/>
                    <a:pt x="132376" y="85065"/>
                    <a:pt x="132533" y="84909"/>
                  </a:cubicBezTo>
                  <a:lnTo>
                    <a:pt x="136478" y="80963"/>
                  </a:lnTo>
                  <a:lnTo>
                    <a:pt x="150600" y="80963"/>
                  </a:lnTo>
                  <a:cubicBezTo>
                    <a:pt x="151775" y="85530"/>
                    <a:pt x="152400" y="90317"/>
                    <a:pt x="152400" y="95251"/>
                  </a:cubicBezTo>
                  <a:cubicBezTo>
                    <a:pt x="152400" y="126814"/>
                    <a:pt x="126813" y="152401"/>
                    <a:pt x="95250" y="152401"/>
                  </a:cubicBezTo>
                  <a:cubicBezTo>
                    <a:pt x="63687" y="152401"/>
                    <a:pt x="38100" y="126814"/>
                    <a:pt x="38100" y="95251"/>
                  </a:cubicBezTo>
                  <a:cubicBezTo>
                    <a:pt x="38100" y="63687"/>
                    <a:pt x="63687" y="38101"/>
                    <a:pt x="95250" y="38101"/>
                  </a:cubicBezTo>
                  <a:close/>
                </a:path>
              </a:pathLst>
            </a:custGeom>
            <a:solidFill>
              <a:srgbClr val="323139"/>
            </a:solidFill>
            <a:ln w="10477" cap="flat" cmpd="sng" algn="ctr">
              <a:noFill/>
              <a:prstDash val="solid"/>
              <a:miter/>
            </a:ln>
            <a:effectLst/>
          </p:spPr>
          <p:txBody>
            <a:bodyPr rot="0" spcFirstLastPara="0" vertOverflow="overflow" horzOverflow="overflow" vert="horz" wrap="square" lIns="338011" tIns="270406" rIns="338011" bIns="270406" numCol="1" spcCol="0" rtlCol="0" fromWordArt="0" anchor="t" anchorCtr="0" forceAA="0" compatLnSpc="1">
              <a:prstTxWarp prst="textNoShape">
                <a:avLst/>
              </a:prstTxWarp>
              <a:noAutofit/>
            </a:bodyPr>
            <a:lstStyle/>
            <a:p>
              <a:pPr marL="0" marR="0" lvl="0" indent="0" algn="l" defTabSz="1722411" rtl="0" eaLnBrk="1" fontAlgn="base" latinLnBrk="0" hangingPunct="1">
                <a:lnSpc>
                  <a:spcPct val="100000"/>
                </a:lnSpc>
                <a:spcBef>
                  <a:spcPct val="0"/>
                </a:spcBef>
                <a:spcAft>
                  <a:spcPct val="0"/>
                </a:spcAft>
                <a:buClrTx/>
                <a:buSzTx/>
                <a:buFontTx/>
                <a:buNone/>
                <a:tabLst/>
                <a:defRPr/>
              </a:pPr>
              <a:endParaRPr kumimoji="0" lang="en-US" sz="3622" b="1" i="0" u="none" strike="noStrike" kern="0" cap="none" spc="0" normalizeH="0" baseline="0" noProof="0">
                <a:ln>
                  <a:noFill/>
                </a:ln>
                <a:noFill/>
                <a:effectLst/>
                <a:uLnTx/>
                <a:uFillTx/>
                <a:latin typeface="Segoe UI Variable Display Semibold" pitchFamily="2" charset="0"/>
                <a:ea typeface="+mn-ea"/>
                <a:cs typeface="Segoe UI" pitchFamily="34" charset="0"/>
              </a:endParaRPr>
            </a:p>
          </p:txBody>
        </p:sp>
      </p:grpSp>
      <p:sp>
        <p:nvSpPr>
          <p:cNvPr id="78" name="Oval 77">
            <a:extLst>
              <a:ext uri="{FF2B5EF4-FFF2-40B4-BE49-F238E27FC236}">
                <a16:creationId xmlns:a16="http://schemas.microsoft.com/office/drawing/2014/main" id="{7ABF2AEF-7824-DEF7-C92E-0915DEF41F17}"/>
              </a:ext>
              <a:ext uri="{C183D7F6-B498-43B3-948B-1728B52AA6E4}">
                <ns3:decorative xmlns:ns3="http://schemas.microsoft.com/office/drawing/2017/decorative" val="1"/>
              </a:ext>
            </a:extLst>
          </p:cNvPr>
          <p:cNvSpPr/>
          <p:nvPr/>
        </p:nvSpPr>
        <p:spPr>
          <a:xfrm>
            <a:off x="4122028" y="779171"/>
            <a:ext cx="398477" cy="398477"/>
          </a:xfrm>
          <a:prstGeom prst="ellipse">
            <a:avLst/>
          </a:prstGeom>
          <a:solidFill>
            <a:srgbClr val="FFF9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6" name="Graphic 15">
            <a:extLst>
              <a:ext uri="{FF2B5EF4-FFF2-40B4-BE49-F238E27FC236}">
                <a16:creationId xmlns:a16="http://schemas.microsoft.com/office/drawing/2014/main" id="{09721564-91C5-D7C7-A65B-CFCBCAAA8285}"/>
              </a:ext>
              <a:ext uri="{C183D7F6-B498-43B3-948B-1728B52AA6E4}">
                <adec:decorative xmlns:adec="http://schemas.microsoft.com/office/drawing/2017/decorative" val="1"/>
              </a:ext>
            </a:extLst>
          </p:cNvPr>
          <p:cNvSpPr>
            <a:spLocks/>
          </p:cNvSpPr>
          <p:nvPr/>
        </p:nvSpPr>
        <p:spPr>
          <a:xfrm>
            <a:off x="4172482" y="836452"/>
            <a:ext cx="297568" cy="252931"/>
          </a:xfrm>
          <a:custGeom>
            <a:avLst/>
            <a:gdLst>
              <a:gd name="csX0" fmla="*/ 147926 w 190499"/>
              <a:gd name="csY0" fmla="*/ 2092 h 161924"/>
              <a:gd name="csX1" fmla="*/ 137824 w 190499"/>
              <a:gd name="csY1" fmla="*/ 2092 h 161924"/>
              <a:gd name="csX2" fmla="*/ 137824 w 190499"/>
              <a:gd name="csY2" fmla="*/ 12195 h 161924"/>
              <a:gd name="csX3" fmla="*/ 166109 w 190499"/>
              <a:gd name="csY3" fmla="*/ 40481 h 161924"/>
              <a:gd name="csX4" fmla="*/ 119063 w 190499"/>
              <a:gd name="csY4" fmla="*/ 40481 h 161924"/>
              <a:gd name="csX5" fmla="*/ 88106 w 190499"/>
              <a:gd name="csY5" fmla="*/ 71437 h 161924"/>
              <a:gd name="csX6" fmla="*/ 88106 w 190499"/>
              <a:gd name="csY6" fmla="*/ 100012 h 161924"/>
              <a:gd name="csX7" fmla="*/ 75437 w 190499"/>
              <a:gd name="csY7" fmla="*/ 116198 h 161924"/>
              <a:gd name="csX8" fmla="*/ 38100 w 190499"/>
              <a:gd name="csY8" fmla="*/ 85725 h 161924"/>
              <a:gd name="csX9" fmla="*/ 0 w 190499"/>
              <a:gd name="csY9" fmla="*/ 123825 h 161924"/>
              <a:gd name="csX10" fmla="*/ 38100 w 190499"/>
              <a:gd name="csY10" fmla="*/ 161925 h 161924"/>
              <a:gd name="csX11" fmla="*/ 75582 w 190499"/>
              <a:gd name="csY11" fmla="*/ 130693 h 161924"/>
              <a:gd name="csX12" fmla="*/ 102394 w 190499"/>
              <a:gd name="csY12" fmla="*/ 100012 h 161924"/>
              <a:gd name="csX13" fmla="*/ 102394 w 190499"/>
              <a:gd name="csY13" fmla="*/ 71437 h 161924"/>
              <a:gd name="csX14" fmla="*/ 119063 w 190499"/>
              <a:gd name="csY14" fmla="*/ 54769 h 161924"/>
              <a:gd name="csX15" fmla="*/ 166109 w 190499"/>
              <a:gd name="csY15" fmla="*/ 54769 h 161924"/>
              <a:gd name="csX16" fmla="*/ 137824 w 190499"/>
              <a:gd name="csY16" fmla="*/ 83055 h 161924"/>
              <a:gd name="csX17" fmla="*/ 137824 w 190499"/>
              <a:gd name="csY17" fmla="*/ 93157 h 161924"/>
              <a:gd name="csX18" fmla="*/ 147926 w 190499"/>
              <a:gd name="csY18" fmla="*/ 93157 h 161924"/>
              <a:gd name="csX19" fmla="*/ 188407 w 190499"/>
              <a:gd name="csY19" fmla="*/ 52676 h 161924"/>
              <a:gd name="csX20" fmla="*/ 188407 w 190499"/>
              <a:gd name="csY20" fmla="*/ 42574 h 161924"/>
              <a:gd name="csX21" fmla="*/ 147926 w 190499"/>
              <a:gd name="csY21" fmla="*/ 2092 h 1619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190499" h="161924">
                <a:moveTo>
                  <a:pt x="147926" y="2092"/>
                </a:moveTo>
                <a:cubicBezTo>
                  <a:pt x="145136" y="-697"/>
                  <a:pt x="140614" y="-697"/>
                  <a:pt x="137824" y="2092"/>
                </a:cubicBezTo>
                <a:cubicBezTo>
                  <a:pt x="135034" y="4882"/>
                  <a:pt x="135034" y="9405"/>
                  <a:pt x="137824" y="12195"/>
                </a:cubicBezTo>
                <a:lnTo>
                  <a:pt x="166109" y="40481"/>
                </a:lnTo>
                <a:lnTo>
                  <a:pt x="119063" y="40481"/>
                </a:lnTo>
                <a:cubicBezTo>
                  <a:pt x="101966" y="40481"/>
                  <a:pt x="88106" y="54341"/>
                  <a:pt x="88106" y="71437"/>
                </a:cubicBezTo>
                <a:lnTo>
                  <a:pt x="88106" y="100012"/>
                </a:lnTo>
                <a:cubicBezTo>
                  <a:pt x="88106" y="107840"/>
                  <a:pt x="82711" y="114408"/>
                  <a:pt x="75437" y="116198"/>
                </a:cubicBezTo>
                <a:cubicBezTo>
                  <a:pt x="71904" y="98811"/>
                  <a:pt x="56530" y="85725"/>
                  <a:pt x="38100" y="85725"/>
                </a:cubicBezTo>
                <a:cubicBezTo>
                  <a:pt x="17058" y="85725"/>
                  <a:pt x="0" y="102783"/>
                  <a:pt x="0" y="123825"/>
                </a:cubicBezTo>
                <a:cubicBezTo>
                  <a:pt x="0" y="144867"/>
                  <a:pt x="17058" y="161925"/>
                  <a:pt x="38100" y="161925"/>
                </a:cubicBezTo>
                <a:cubicBezTo>
                  <a:pt x="56797" y="161925"/>
                  <a:pt x="72348" y="148458"/>
                  <a:pt x="75582" y="130693"/>
                </a:cubicBezTo>
                <a:cubicBezTo>
                  <a:pt x="90719" y="128668"/>
                  <a:pt x="102394" y="115704"/>
                  <a:pt x="102394" y="100012"/>
                </a:cubicBezTo>
                <a:lnTo>
                  <a:pt x="102394" y="71437"/>
                </a:lnTo>
                <a:cubicBezTo>
                  <a:pt x="102394" y="62232"/>
                  <a:pt x="109857" y="54769"/>
                  <a:pt x="119063" y="54769"/>
                </a:cubicBezTo>
                <a:lnTo>
                  <a:pt x="166109" y="54769"/>
                </a:lnTo>
                <a:lnTo>
                  <a:pt x="137824" y="83055"/>
                </a:lnTo>
                <a:cubicBezTo>
                  <a:pt x="135034" y="85845"/>
                  <a:pt x="135034" y="90367"/>
                  <a:pt x="137824" y="93157"/>
                </a:cubicBezTo>
                <a:cubicBezTo>
                  <a:pt x="140614" y="95947"/>
                  <a:pt x="145136" y="95947"/>
                  <a:pt x="147926" y="93157"/>
                </a:cubicBezTo>
                <a:lnTo>
                  <a:pt x="188407" y="52676"/>
                </a:lnTo>
                <a:cubicBezTo>
                  <a:pt x="191197" y="49887"/>
                  <a:pt x="191197" y="45363"/>
                  <a:pt x="188407" y="42574"/>
                </a:cubicBezTo>
                <a:lnTo>
                  <a:pt x="147926" y="2092"/>
                </a:lnTo>
                <a:close/>
              </a:path>
            </a:pathLst>
          </a:custGeom>
          <a:solidFill>
            <a:srgbClr val="323139"/>
          </a:solidFill>
          <a:ln w="10477" cap="flat" cmpd="sng" algn="ctr">
            <a:noFill/>
            <a:prstDash val="solid"/>
            <a:miter/>
          </a:ln>
          <a:effectLst/>
        </p:spPr>
        <p:txBody>
          <a:bodyPr rot="0" spcFirstLastPara="0" vertOverflow="overflow" horzOverflow="overflow" vert="horz" wrap="square" lIns="338011" tIns="270406" rIns="338011" bIns="270406" numCol="1" spcCol="0" rtlCol="0" fromWordArt="0" anchor="t" anchorCtr="0" forceAA="0" compatLnSpc="1">
            <a:prstTxWarp prst="textNoShape">
              <a:avLst/>
            </a:prstTxWarp>
            <a:noAutofit/>
          </a:bodyPr>
          <a:lstStyle/>
          <a:p>
            <a:pPr marL="0" marR="0" lvl="0" indent="0" algn="l" defTabSz="1722411" rtl="0" eaLnBrk="1" fontAlgn="base" latinLnBrk="0" hangingPunct="1">
              <a:lnSpc>
                <a:spcPct val="100000"/>
              </a:lnSpc>
              <a:spcBef>
                <a:spcPct val="0"/>
              </a:spcBef>
              <a:spcAft>
                <a:spcPct val="0"/>
              </a:spcAft>
              <a:buClrTx/>
              <a:buSzTx/>
              <a:buFontTx/>
              <a:buNone/>
              <a:tabLst/>
              <a:defRPr/>
            </a:pPr>
            <a:endParaRPr kumimoji="0" lang="en-US" sz="3622" b="1" i="0" u="none" strike="noStrike" kern="0" cap="none" spc="0" normalizeH="0" baseline="0" noProof="0">
              <a:ln>
                <a:noFill/>
              </a:ln>
              <a:noFill/>
              <a:effectLst/>
              <a:uLnTx/>
              <a:uFillTx/>
              <a:latin typeface="Segoe UI Variable Display Semibold" pitchFamily="2" charset="0"/>
              <a:ea typeface="+mn-ea"/>
              <a:cs typeface="Segoe UI" pitchFamily="34" charset="0"/>
            </a:endParaRPr>
          </a:p>
        </p:txBody>
      </p:sp>
      <p:grpSp>
        <p:nvGrpSpPr>
          <p:cNvPr id="83" name="Group 82">
            <a:extLst>
              <a:ext uri="{FF2B5EF4-FFF2-40B4-BE49-F238E27FC236}">
                <a16:creationId xmlns:a16="http://schemas.microsoft.com/office/drawing/2014/main" id="{5A0CBAFC-5DED-D3E2-18ED-E34B74CAE926}"/>
              </a:ext>
            </a:extLst>
          </p:cNvPr>
          <p:cNvGrpSpPr/>
          <p:nvPr/>
        </p:nvGrpSpPr>
        <p:grpSpPr>
          <a:xfrm>
            <a:off x="3261739" y="2189487"/>
            <a:ext cx="1534355" cy="276999"/>
            <a:chOff x="3261739" y="2189487"/>
            <a:chExt cx="1534355" cy="276999"/>
          </a:xfrm>
        </p:grpSpPr>
        <p:sp>
          <p:nvSpPr>
            <p:cNvPr id="82" name="Rectangle: Rounded Corners 81">
              <a:extLst>
                <a:ext uri="{FF2B5EF4-FFF2-40B4-BE49-F238E27FC236}">
                  <a16:creationId xmlns:a16="http://schemas.microsoft.com/office/drawing/2014/main" id="{A21A551A-DE36-A716-13EE-21F822622FD5}"/>
                </a:ext>
                <a:ext uri="{C183D7F6-B498-43B3-948B-1728B52AA6E4}">
                  <ns4:decorative xmlns:ns4="http://schemas.microsoft.com/office/drawing/2017/decorative" val="1"/>
                </a:ext>
              </a:extLst>
            </p:cNvPr>
            <p:cNvSpPr/>
            <p:nvPr/>
          </p:nvSpPr>
          <p:spPr bwMode="auto">
            <a:xfrm>
              <a:off x="3261739" y="2213019"/>
              <a:ext cx="1534355" cy="244283"/>
            </a:xfrm>
            <a:prstGeom prst="roundRect">
              <a:avLst>
                <a:gd name="adj" fmla="val 50000"/>
              </a:avLst>
            </a:prstGeom>
            <a:solidFill>
              <a:srgbClr val="F3E5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endParaRPr>
            </a:p>
          </p:txBody>
        </p:sp>
        <p:sp>
          <p:nvSpPr>
            <p:cNvPr id="63" name="TextBox 62">
              <a:extLst>
                <a:ext uri="{FF2B5EF4-FFF2-40B4-BE49-F238E27FC236}">
                  <a16:creationId xmlns:a16="http://schemas.microsoft.com/office/drawing/2014/main" id="{197D0AEB-8A07-B4D6-7F33-85429D49214C}"/>
                </a:ext>
              </a:extLst>
            </p:cNvPr>
            <p:cNvSpPr txBox="1"/>
            <p:nvPr/>
          </p:nvSpPr>
          <p:spPr>
            <a:xfrm>
              <a:off x="3655077" y="2189487"/>
              <a:ext cx="710452"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Prompt</a:t>
              </a:r>
              <a:endParaRPr kumimoji="0" lang="en-IN" sz="12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endParaRPr>
            </a:p>
          </p:txBody>
        </p:sp>
      </p:grpSp>
      <p:sp>
        <p:nvSpPr>
          <p:cNvPr id="98" name="Rectangle: Rounded Corners 97">
            <a:extLst>
              <a:ext uri="{FF2B5EF4-FFF2-40B4-BE49-F238E27FC236}">
                <a16:creationId xmlns:a16="http://schemas.microsoft.com/office/drawing/2014/main" id="{AEBB3E1D-C5FB-7FC9-829F-F4815362ABD2}"/>
              </a:ext>
            </a:extLst>
          </p:cNvPr>
          <p:cNvSpPr/>
          <p:nvPr/>
        </p:nvSpPr>
        <p:spPr bwMode="auto">
          <a:xfrm>
            <a:off x="8334509" y="968486"/>
            <a:ext cx="3621360" cy="1107187"/>
          </a:xfrm>
          <a:prstGeom prst="roundRect">
            <a:avLst>
              <a:gd name="adj" fmla="val 10584"/>
            </a:avLst>
          </a:prstGeom>
          <a:solidFill>
            <a:srgbClr val="341434"/>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r>
              <a:rPr kumimoji="0" lang="en-US" sz="1100" b="1" i="0" u="none" strike="noStrike" kern="0" cap="none" spc="0" normalizeH="0" baseline="0" noProof="0">
                <a:ln>
                  <a:noFill/>
                </a:ln>
                <a:solidFill>
                  <a:prstClr val="white"/>
                </a:solidFill>
                <a:effectLst/>
                <a:uLnTx/>
                <a:uFillTx/>
                <a:latin typeface="Segoe Sans Display Semilight" pitchFamily="2" charset="0"/>
                <a:ea typeface="+mn-ea"/>
                <a:cs typeface="Segoe Sans Display Semilight" pitchFamily="2" charset="0"/>
              </a:rPr>
              <a:t>Why Cowork?: </a:t>
            </a:r>
            <a:r>
              <a:rPr kumimoji="0" lang="en-US" sz="1100" b="0" i="0" u="none" strike="noStrike" kern="0" cap="none" spc="0" normalizeH="0" baseline="0" noProof="0">
                <a:ln>
                  <a:noFill/>
                </a:ln>
                <a:solidFill>
                  <a:prstClr val="white"/>
                </a:solidFill>
                <a:effectLst/>
                <a:uLnTx/>
                <a:uFillTx/>
                <a:latin typeface="Segoe Sans Display Semilight" pitchFamily="2" charset="0"/>
                <a:ea typeface="+mn-ea"/>
                <a:cs typeface="Segoe Sans Display Semilight" pitchFamily="2" charset="0"/>
              </a:rPr>
              <a:t>Repeating the same instructions in every prompt is error-prone. A custom skill packages tone, format, sources, and guardrails once; Cowork auto-evaluates it (0–100) and applies it when it’s needed.</a:t>
            </a:r>
            <a:endParaRPr kumimoji="0" lang="en-US" sz="1100" i="0" u="none" strike="noStrike" kern="0" cap="none" spc="0" normalizeH="0" baseline="0" noProof="0">
              <a:ln w="3175">
                <a:noFill/>
              </a:ln>
              <a:solidFill>
                <a:prstClr val="white"/>
              </a:solidFill>
              <a:effectLst/>
              <a:uLnTx/>
              <a:uFillTx/>
              <a:latin typeface="Segoe Sans Display Semilight" pitchFamily="2" charset="0"/>
              <a:cs typeface="Segoe Sans Display Semilight" pitchFamily="2" charset="0"/>
            </a:endParaRPr>
          </a:p>
        </p:txBody>
      </p:sp>
      <p:sp>
        <p:nvSpPr>
          <p:cNvPr id="100" name="Oval 99">
            <a:extLst>
              <a:ext uri="{FF2B5EF4-FFF2-40B4-BE49-F238E27FC236}">
                <a16:creationId xmlns:a16="http://schemas.microsoft.com/office/drawing/2014/main" id="{82CA9355-2BD9-0408-CC03-CCAC40D6F6BE}"/>
              </a:ext>
              <a:ext uri="{C183D7F6-B498-43B3-948B-1728B52AA6E4}">
                <ns5:decorative xmlns:ns5="http://schemas.microsoft.com/office/drawing/2017/decorative" val="1"/>
              </a:ext>
            </a:extLst>
          </p:cNvPr>
          <p:cNvSpPr/>
          <p:nvPr/>
        </p:nvSpPr>
        <p:spPr>
          <a:xfrm>
            <a:off x="8054943" y="775485"/>
            <a:ext cx="398477" cy="398477"/>
          </a:xfrm>
          <a:prstGeom prst="ellipse">
            <a:avLst/>
          </a:prstGeom>
          <a:solidFill>
            <a:srgbClr val="FFF9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11" name="Icon Question Mark"/>
          <p:cNvSpPr txBox="1"/>
          <p:nvPr/>
        </p:nvSpPr>
        <p:spPr>
          <a:xfrm>
            <a:off x="8054943" y="775485"/>
            <a:ext cx="252134" cy="398477"/>
          </a:xfrm>
          <a:prstGeom prst="rect">
            <a:avLst/>
          </a:prstGeom>
          <a:noFill/>
        </p:spPr>
        <p:txBody>
          <a:bodyPr wrap="none" lIns="0" tIns="0" rIns="0" bIns="0" anchor="ctr" anchorCtr="1">
            <a:normAutofit/>
          </a:bodyPr>
          <a:lstStyle/>
          <a:p>
            <a:pPr algn="ctr"/>
            <a:r>
              <a:rPr lang="en-US" sz="1800" b="1">
                <a:solidFill>
                  <a:srgbClr val="3B1041"/>
                </a:solidFill>
                <a:latin typeface="Segoe UI" pitchFamily="34" charset="0"/>
                <a:cs typeface="Segoe UI" pitchFamily="34" charset="0"/>
              </a:rPr>
              <a:t>?</a:t>
            </a:r>
            <a:endParaRPr lang="en-US" sz="1800" b="1"/>
          </a:p>
        </p:txBody>
      </p:sp>
      <p:grpSp>
        <p:nvGrpSpPr>
          <p:cNvPr id="8" name="Group 7">
            <a:extLst>
              <a:ext uri="{FF2B5EF4-FFF2-40B4-BE49-F238E27FC236}">
                <a16:creationId xmlns:a16="http://schemas.microsoft.com/office/drawing/2014/main" id="{1722D180-2D5E-7D8C-B4A2-59B15C0453BA}"/>
              </a:ext>
            </a:extLst>
          </p:cNvPr>
          <p:cNvGrpSpPr/>
          <p:nvPr/>
        </p:nvGrpSpPr>
        <p:grpSpPr>
          <a:xfrm>
            <a:off x="7762717" y="2189487"/>
            <a:ext cx="4227030" cy="2010821"/>
            <a:chOff x="7762717" y="4071694"/>
            <a:chExt cx="4227030" cy="2010821"/>
          </a:xfrm>
        </p:grpSpPr>
        <p:sp>
          <p:nvSpPr>
            <p:cNvPr id="12" name="Rectangle: Rounded Corners 11">
              <a:extLst>
                <a:ext uri="{FF2B5EF4-FFF2-40B4-BE49-F238E27FC236}">
                  <a16:creationId xmlns:a16="http://schemas.microsoft.com/office/drawing/2014/main" id="{D0A30958-8A91-8F1F-EAED-DFB3605D650E}"/>
                </a:ext>
                <a:ext uri="{C183D7F6-B498-43B3-948B-1728B52AA6E4}">
                  <ns6:decorative xmlns:ns6="http://schemas.microsoft.com/office/drawing/2017/decorative" val="1"/>
                </a:ext>
              </a:extLst>
            </p:cNvPr>
            <p:cNvSpPr/>
            <p:nvPr/>
          </p:nvSpPr>
          <p:spPr bwMode="auto">
            <a:xfrm>
              <a:off x="7762717" y="4194834"/>
              <a:ext cx="4227030" cy="1887681"/>
            </a:xfrm>
            <a:prstGeom prst="roundRect">
              <a:avLst>
                <a:gd name="adj" fmla="val 1683"/>
              </a:avLst>
            </a:prstGeom>
            <a:solidFill>
              <a:srgbClr val="FFF9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B553FF"/>
                </a:solidFill>
                <a:effectLst/>
                <a:uLnTx/>
                <a:uFillTx/>
                <a:latin typeface="Segoe Sans Display Semibold" pitchFamily="2" charset="0"/>
                <a:ea typeface="+mn-ea"/>
                <a:cs typeface="Segoe Sans Display Semibold" pitchFamily="2" charset="0"/>
              </a:endParaRPr>
            </a:p>
          </p:txBody>
        </p:sp>
        <p:grpSp>
          <p:nvGrpSpPr>
            <p:cNvPr id="14" name="Group 13">
              <a:extLst>
                <a:ext uri="{FF2B5EF4-FFF2-40B4-BE49-F238E27FC236}">
                  <a16:creationId xmlns:a16="http://schemas.microsoft.com/office/drawing/2014/main" id="{FF30221B-5C85-22FC-F18F-7F0E26EEB0E2}"/>
                </a:ext>
              </a:extLst>
            </p:cNvPr>
            <p:cNvGrpSpPr/>
            <p:nvPr/>
          </p:nvGrpSpPr>
          <p:grpSpPr>
            <a:xfrm>
              <a:off x="9064660" y="4071694"/>
              <a:ext cx="1534355" cy="339147"/>
              <a:chOff x="3261739" y="2198151"/>
              <a:chExt cx="1534355" cy="276999"/>
            </a:xfrm>
          </p:grpSpPr>
          <p:sp>
            <p:nvSpPr>
              <p:cNvPr id="15" name="Rectangle: Rounded Corners 14">
                <a:extLst>
                  <a:ext uri="{FF2B5EF4-FFF2-40B4-BE49-F238E27FC236}">
                    <a16:creationId xmlns:a16="http://schemas.microsoft.com/office/drawing/2014/main" id="{0B857C90-B398-E232-66D0-F3E7E6CB19FB}"/>
                  </a:ext>
                  <a:ext uri="{C183D7F6-B498-43B3-948B-1728B52AA6E4}">
                    <ns7:decorative xmlns:ns7="http://schemas.microsoft.com/office/drawing/2017/decorative" val="1"/>
                  </a:ext>
                </a:extLst>
              </p:cNvPr>
              <p:cNvSpPr/>
              <p:nvPr/>
            </p:nvSpPr>
            <p:spPr bwMode="auto">
              <a:xfrm>
                <a:off x="3261739" y="2213019"/>
                <a:ext cx="1534355" cy="244283"/>
              </a:xfrm>
              <a:prstGeom prst="roundRect">
                <a:avLst>
                  <a:gd name="adj" fmla="val 50000"/>
                </a:avLst>
              </a:prstGeom>
              <a:solidFill>
                <a:srgbClr val="F3E5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endParaRPr>
              </a:p>
            </p:txBody>
          </p:sp>
          <p:sp>
            <p:nvSpPr>
              <p:cNvPr id="16" name="TextBox 15">
                <a:extLst>
                  <a:ext uri="{FF2B5EF4-FFF2-40B4-BE49-F238E27FC236}">
                    <a16:creationId xmlns:a16="http://schemas.microsoft.com/office/drawing/2014/main" id="{7130A025-6B78-DCFA-A21F-4C83E42E79DB}"/>
                  </a:ext>
                </a:extLst>
              </p:cNvPr>
              <p:cNvSpPr txBox="1"/>
              <p:nvPr/>
            </p:nvSpPr>
            <p:spPr>
              <a:xfrm>
                <a:off x="3594912" y="2198151"/>
                <a:ext cx="864339"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Workflow</a:t>
                </a:r>
              </a:p>
            </p:txBody>
          </p:sp>
        </p:grpSp>
        <p:sp>
          <p:nvSpPr>
            <p:cNvPr id="57" name="TextBox 56">
              <a:extLst>
                <a:ext uri="{FF2B5EF4-FFF2-40B4-BE49-F238E27FC236}">
                  <a16:creationId xmlns:a16="http://schemas.microsoft.com/office/drawing/2014/main" id="{D4B4634D-9BFA-FCEC-CFE2-4FD4315DDD1A}"/>
                </a:ext>
              </a:extLst>
            </p:cNvPr>
            <p:cNvSpPr txBox="1"/>
            <p:nvPr/>
          </p:nvSpPr>
          <p:spPr>
            <a:xfrm>
              <a:off x="8001952" y="4410841"/>
              <a:ext cx="3756431" cy="1074461"/>
            </a:xfrm>
            <a:prstGeom prst="rect">
              <a:avLst/>
            </a:prstGeom>
            <a:noFill/>
          </p:spPr>
          <p:txBody>
            <a:bodyPr wrap="square" rtlCol="0">
              <a:spAutoFit/>
            </a:bodyPr>
            <a:lstStyle/>
            <a:p>
              <a:pPr marL="228600" indent="-228600">
                <a:lnSpc>
                  <a:spcPct val="150000"/>
                </a:lnSpc>
                <a:buFont typeface="+mj-lt"/>
                <a:buAutoNum type="arabicPeriod"/>
                <a:defRPr/>
              </a:pPr>
              <a:r>
                <a:rPr lang="en-US" sz="1100" b="1">
                  <a:solidFill>
                    <a:prstClr val="black"/>
                  </a:solidFill>
                  <a:latin typeface="Segoe Sans Display" pitchFamily="2" charset="0"/>
                  <a:cs typeface="Segoe Sans Display" pitchFamily="2" charset="0"/>
                </a:rPr>
                <a:t>Customize</a:t>
              </a:r>
              <a:r>
                <a:rPr lang="en-US" sz="1100">
                  <a:solidFill>
                    <a:prstClr val="black"/>
                  </a:solidFill>
                  <a:latin typeface="Segoe Sans Display" pitchFamily="2" charset="0"/>
                  <a:cs typeface="Segoe Sans Display" pitchFamily="2" charset="0"/>
                </a:rPr>
                <a:t> → Skills → Add → Create new</a:t>
              </a:r>
              <a:endParaRPr kumimoji="0" lang="en-US" sz="1100" b="1"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a:p>
              <a:pPr marL="228600" indent="-228600">
                <a:lnSpc>
                  <a:spcPct val="150000"/>
                </a:lnSpc>
                <a:buFont typeface="+mj-lt"/>
                <a:buAutoNum type="arabicPeriod"/>
                <a:defRPr/>
              </a:pPr>
              <a:r>
                <a:rPr lang="en-US" sz="1100" b="1">
                  <a:solidFill>
                    <a:prstClr val="black"/>
                  </a:solidFill>
                  <a:latin typeface="Segoe Sans Display" pitchFamily="2" charset="0"/>
                  <a:cs typeface="Segoe Sans Display" pitchFamily="2" charset="0"/>
                </a:rPr>
                <a:t>Define</a:t>
              </a:r>
              <a:r>
                <a:rPr lang="en-US" sz="1100">
                  <a:solidFill>
                    <a:prstClr val="black"/>
                  </a:solidFill>
                  <a:latin typeface="Segoe Sans Display" pitchFamily="2" charset="0"/>
                  <a:cs typeface="Segoe Sans Display" pitchFamily="2" charset="0"/>
                </a:rPr>
                <a:t> → Name, description, category, instructions</a:t>
              </a:r>
              <a:endParaRPr kumimoji="0" lang="en-US" sz="1100" b="1"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a:p>
              <a:pPr marL="228600" indent="-228600">
                <a:lnSpc>
                  <a:spcPct val="150000"/>
                </a:lnSpc>
                <a:buFont typeface="+mj-lt"/>
                <a:buAutoNum type="arabicPeriod"/>
                <a:defRPr/>
              </a:pPr>
              <a:r>
                <a:rPr lang="en-US" sz="1100" b="1">
                  <a:solidFill>
                    <a:prstClr val="black"/>
                  </a:solidFill>
                  <a:latin typeface="Segoe Sans Display" pitchFamily="2" charset="0"/>
                  <a:cs typeface="Segoe Sans Display" pitchFamily="2" charset="0"/>
                </a:rPr>
                <a:t>Evaluate</a:t>
              </a:r>
              <a:r>
                <a:rPr lang="en-US" sz="1100">
                  <a:solidFill>
                    <a:prstClr val="black"/>
                  </a:solidFill>
                  <a:latin typeface="Segoe Sans Display" pitchFamily="2" charset="0"/>
                  <a:cs typeface="Segoe Sans Display" pitchFamily="2" charset="0"/>
                </a:rPr>
                <a:t> → Auto-score on four dimensions</a:t>
              </a:r>
              <a:endParaRPr kumimoji="0" lang="en-US" sz="1100" b="1"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a:p>
              <a:pPr marL="228600" indent="-228600">
                <a:lnSpc>
                  <a:spcPct val="150000"/>
                </a:lnSpc>
                <a:buFont typeface="+mj-lt"/>
                <a:buAutoNum type="arabicPeriod"/>
                <a:defRPr/>
              </a:pPr>
              <a:r>
                <a:rPr lang="en-US" sz="1100" b="1">
                  <a:solidFill>
                    <a:prstClr val="black"/>
                  </a:solidFill>
                  <a:latin typeface="Segoe Sans Display" pitchFamily="2" charset="0"/>
                  <a:cs typeface="Segoe Sans Display" pitchFamily="2" charset="0"/>
                </a:rPr>
                <a:t>Test</a:t>
              </a:r>
              <a:r>
                <a:rPr lang="en-US" sz="1100">
                  <a:solidFill>
                    <a:prstClr val="black"/>
                  </a:solidFill>
                  <a:latin typeface="Segoe Sans Display" pitchFamily="2" charset="0"/>
                  <a:cs typeface="Segoe Sans Display" pitchFamily="2" charset="0"/>
                </a:rPr>
                <a:t> → In-scope triggers; out-of-scope declines</a:t>
              </a:r>
              <a:endParaRPr kumimoji="0" lang="en-US" sz="1100" b="1"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p:txBody>
        </p:sp>
      </p:grpSp>
      <p:sp>
        <p:nvSpPr>
          <p:cNvPr id="3" name="Text 25">
            <a:extLst>
              <a:ext uri="{FF2B5EF4-FFF2-40B4-BE49-F238E27FC236}">
                <a16:creationId xmlns:a16="http://schemas.microsoft.com/office/drawing/2014/main" id="{41B60886-5E17-E589-2FF8-1DDB98962F30}"/>
              </a:ext>
            </a:extLst>
          </p:cNvPr>
          <p:cNvSpPr/>
          <p:nvPr/>
        </p:nvSpPr>
        <p:spPr>
          <a:xfrm>
            <a:off x="632004" y="2684018"/>
            <a:ext cx="6734710" cy="3632476"/>
          </a:xfrm>
          <a:prstGeom prst="rect">
            <a:avLst/>
          </a:prstGeom>
          <a:noFill/>
          <a:ln/>
        </p:spPr>
        <p:txBody>
          <a:bodyPr wrap="square" lIns="0" tIns="0" rIns="0" bIns="0"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In Customize → Skills → Add → Create new, give Cowork these details:</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Name: HR Policy Answer</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Category: Human Resources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Description: Answers employee policy and benefits questions in a consistent, sourced format, grounded in our handbook and benefits documents.</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Instructions: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Use this skill when someone asks about company HR policy or benefits (PTO, remote/hybrid work, benefits enrollment, overtime, code of conduct, learning budget). Ground answers in employee-handbook-excerpt.docx and benefits-summary.docx in my OneDrive folder Documents/Cowork; if the answer isn’t in them, say so instead of guessing. Answer in this format: a direct plain-language answer, then a short Details section, then a Source line naming the document, then the note “Policies can change — please confirm with HR.” Keep a warm, professional tone. Do not handle individual pay, performance, disciplinary, legal, or medical questions — politely redirect those. Produce a draft for HR to review; never send automatically.</a:t>
            </a:r>
          </a:p>
        </p:txBody>
      </p:sp>
      <p:grpSp>
        <p:nvGrpSpPr>
          <p:cNvPr id="17" name="Group 16">
            <a:extLst>
              <a:ext uri="{FF2B5EF4-FFF2-40B4-BE49-F238E27FC236}">
                <a16:creationId xmlns:a16="http://schemas.microsoft.com/office/drawing/2014/main" id="{317BDD88-DD13-C157-9D0C-376C7050CA18}"/>
              </a:ext>
            </a:extLst>
          </p:cNvPr>
          <p:cNvGrpSpPr/>
          <p:nvPr/>
        </p:nvGrpSpPr>
        <p:grpSpPr>
          <a:xfrm>
            <a:off x="7756139" y="4421568"/>
            <a:ext cx="1534355" cy="276999"/>
            <a:chOff x="3261739" y="2198151"/>
            <a:chExt cx="1534355" cy="276999"/>
          </a:xfrm>
        </p:grpSpPr>
        <p:sp>
          <p:nvSpPr>
            <p:cNvPr id="18" name="Rectangle: Rounded Corners 17">
              <a:extLst>
                <a:ext uri="{FF2B5EF4-FFF2-40B4-BE49-F238E27FC236}">
                  <a16:creationId xmlns:a16="http://schemas.microsoft.com/office/drawing/2014/main" id="{3E986E19-9FEA-1F60-BCDA-008D13564D09}"/>
                </a:ext>
                <a:ext uri="{C183D7F6-B498-43B3-948B-1728B52AA6E4}">
                  <ns8:decorative xmlns:ns8="http://schemas.microsoft.com/office/drawing/2017/decorative" val="1"/>
                </a:ext>
              </a:extLst>
            </p:cNvPr>
            <p:cNvSpPr/>
            <p:nvPr/>
          </p:nvSpPr>
          <p:spPr bwMode="auto">
            <a:xfrm>
              <a:off x="3261739" y="2213019"/>
              <a:ext cx="1534355" cy="244283"/>
            </a:xfrm>
            <a:prstGeom prst="roundRect">
              <a:avLst>
                <a:gd name="adj" fmla="val 50000"/>
              </a:avLst>
            </a:prstGeom>
            <a:solidFill>
              <a:srgbClr val="F3E5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endParaRPr>
            </a:p>
          </p:txBody>
        </p:sp>
        <p:sp>
          <p:nvSpPr>
            <p:cNvPr id="19" name="TextBox 18">
              <a:extLst>
                <a:ext uri="{FF2B5EF4-FFF2-40B4-BE49-F238E27FC236}">
                  <a16:creationId xmlns:a16="http://schemas.microsoft.com/office/drawing/2014/main" id="{66387F56-2C11-A4AD-4E15-4442F2454D48}"/>
                </a:ext>
              </a:extLst>
            </p:cNvPr>
            <p:cNvSpPr txBox="1"/>
            <p:nvPr/>
          </p:nvSpPr>
          <p:spPr>
            <a:xfrm>
              <a:off x="3472286" y="2198151"/>
              <a:ext cx="1109599"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Data Sources</a:t>
              </a:r>
            </a:p>
          </p:txBody>
        </p:sp>
      </p:grpSp>
      <p:grpSp>
        <p:nvGrpSpPr>
          <p:cNvPr id="13" name="Group 12">
            <a:extLst>
              <a:ext uri="{FF2B5EF4-FFF2-40B4-BE49-F238E27FC236}">
                <a16:creationId xmlns:a16="http://schemas.microsoft.com/office/drawing/2014/main" id="{6DC82203-C40E-B229-3216-8513934D28BD}"/>
              </a:ext>
            </a:extLst>
          </p:cNvPr>
          <p:cNvGrpSpPr/>
          <p:nvPr/>
        </p:nvGrpSpPr>
        <p:grpSpPr>
          <a:xfrm>
            <a:off x="9121309" y="4421568"/>
            <a:ext cx="1200156" cy="488252"/>
            <a:chOff x="10558227" y="4421568"/>
            <a:chExt cx="1200156" cy="488252"/>
          </a:xfrm>
        </p:grpSpPr>
        <p:pic>
          <p:nvPicPr>
            <p:cNvPr id="7" name="Picture 6" descr="OneDrive icon">
              <a:extLst>
                <a:ext uri="{FF2B5EF4-FFF2-40B4-BE49-F238E27FC236}">
                  <a16:creationId xmlns:a16="http://schemas.microsoft.com/office/drawing/2014/main" id="{8B0F26AD-79AC-E75B-C2DA-E6BBA636792A}"/>
                </a:ext>
              </a:extLst>
            </p:cNvPr>
            <p:cNvPicPr>
              <a:picLocks noChangeAspect="1"/>
            </p:cNvPicPr>
            <p:nvPr/>
          </p:nvPicPr>
          <p:blipFill>
            <a:blip r:embed="rId6"/>
            <a:stretch>
              <a:fillRect/>
            </a:stretch>
          </p:blipFill>
          <p:spPr>
            <a:xfrm>
              <a:off x="11014657" y="4421568"/>
              <a:ext cx="287296" cy="287296"/>
            </a:xfrm>
            <a:prstGeom prst="rect">
              <a:avLst/>
            </a:prstGeom>
          </p:spPr>
        </p:pic>
        <p:sp>
          <p:nvSpPr>
            <p:cNvPr id="9" name="TextBox 8">
              <a:extLst>
                <a:ext uri="{FF2B5EF4-FFF2-40B4-BE49-F238E27FC236}">
                  <a16:creationId xmlns:a16="http://schemas.microsoft.com/office/drawing/2014/main" id="{FE07ADF1-F66F-E626-BAE0-23ADC3E6D92F}"/>
                </a:ext>
              </a:extLst>
            </p:cNvPr>
            <p:cNvSpPr txBox="1"/>
            <p:nvPr/>
          </p:nvSpPr>
          <p:spPr>
            <a:xfrm>
              <a:off x="10558227" y="4678988"/>
              <a:ext cx="1200156"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rPr>
                <a:t>OneDrive</a:t>
              </a:r>
              <a:endParaRPr kumimoji="0" lang="en-IN" sz="900" b="0"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p:txBody>
        </p:sp>
      </p:grpSp>
    </p:spTree>
    <p:extLst>
      <p:ext uri="{BB962C8B-B14F-4D97-AF65-F5344CB8AC3E}">
        <p14:creationId xmlns:p14="http://schemas.microsoft.com/office/powerpoint/2010/main" val="1649947486"/>
      </p:ext>
    </p:extLst>
  </p:cSld>
  <p:clrMapOvr>
    <a:overrideClrMapping bg1="lt1" tx1="dk1" bg2="lt2" tx2="dk2" accent1="accent1" accent2="accent2" accent3="accent3" accent4="accent4" accent5="accent5" accent6="accent6" hlink="hlink" folHlink="folHlink"/>
  </p:clrMapOvr>
</p:sld>
</file>

<file path=ppt/slides/slide40.xml><?xml version="1.0" encoding="utf-8"?>
<p:sld xmlns:a="http://schemas.openxmlformats.org/drawingml/2006/main" xmlns:p="http://schemas.openxmlformats.org/presentationml/2006/main" xmlns:r="http://schemas.openxmlformats.org/officeDocument/2006/relationships">
  <p:cSld>
    <p:bg>
      <p:bgPr>
        <a:blipFill dpi="0" rotWithShape="1">
          <a:blip r:embed="rId5">
            <a:alphaModFix amt="70000"/>
            <a:lum/>
          </a:blip>
          <a:srcRect/>
          <a:stretch>
            <a:fillRect l="-2000" r="-2000"/>
          </a:stretch>
        </a:blipFill>
        <a:effectLst/>
      </p:bgPr>
    </p:bg>
    <p:spTree>
      <p:nvGrpSpPr>
        <p:cNvPr id="1" name="">
          <a:extLst>
            <a:ext uri="{FF2B5EF4-FFF2-40B4-BE49-F238E27FC236}">
              <a16:creationId xmlns:a16="http://schemas.microsoft.com/office/drawing/2014/main" id="{CC810B06-9C60-9BCB-DF49-73D043B037F2}"/>
            </a:ext>
          </a:extLst>
        </p:cNvPr>
        <p:cNvGrpSpPr/>
        <p:nvPr/>
      </p:nvGrpSpPr>
      <p:grpSpPr>
        <a:xfrm>
          <a:off x="0" y="0"/>
          <a:ext cx="0" cy="0"/>
          <a:chOff x="0" y="0"/>
          <a:chExt cx="0" cy="0"/>
        </a:xfrm>
      </p:grpSpPr>
      <p:sp>
        <p:nvSpPr>
          <p:cNvPr id="27" name="Title 3">
            <a:extLst>
              <a:ext uri="{FF2B5EF4-FFF2-40B4-BE49-F238E27FC236}">
                <a16:creationId xmlns:a16="http://schemas.microsoft.com/office/drawing/2014/main" id="{3EF2C483-DB46-D975-7E0E-09A75642D76B}"/>
              </a:ext>
            </a:extLst>
          </p:cNvPr>
          <p:cNvSpPr txBox="1">
            <a:spLocks/>
          </p:cNvSpPr>
          <p:nvPr/>
        </p:nvSpPr>
        <p:spPr>
          <a:xfrm>
            <a:off x="1925908" y="293473"/>
            <a:ext cx="7070725" cy="430887"/>
          </a:xfrm>
          <a:prstGeom prst="rect">
            <a:avLst/>
          </a:prstGeom>
        </p:spPr>
        <p:txBody>
          <a:bodyPr vert="horz" wrap="square" lIns="0" tIns="0" rIns="0" bIns="0" rtlCol="0" anchor="t">
            <a:spAutoFit/>
          </a:bodyPr>
          <a:lstStyle>
            <a:lvl1pPr algn="l" defTabSz="769520" rtl="0" eaLnBrk="1" latinLnBrk="0" hangingPunct="1">
              <a:lnSpc>
                <a:spcPct val="100000"/>
              </a:lnSpc>
              <a:spcBef>
                <a:spcPct val="0"/>
              </a:spcBef>
              <a:buNone/>
              <a:defRPr lang="en-US" sz="2000" b="0" kern="1200" cap="none" spc="0" baseline="0">
                <a:ln w="3175">
                  <a:noFill/>
                </a:ln>
                <a:solidFill>
                  <a:schemeClr val="tx1"/>
                </a:solidFill>
                <a:effectLst/>
                <a:latin typeface="+mj-lt"/>
                <a:ea typeface="+mn-ea"/>
                <a:cs typeface="Segoe Sans Display" pitchFamily="2" charset="0"/>
              </a:defRPr>
            </a:lvl1pPr>
          </a:lstStyle>
          <a:p>
            <a:pPr marL="0" marR="0" lvl="0" indent="0" algn="l" defTabSz="769520" rtl="0" eaLnBrk="1" fontAlgn="auto" latinLnBrk="0" hangingPunct="1">
              <a:lnSpc>
                <a:spcPct val="100000"/>
              </a:lnSpc>
              <a:spcBef>
                <a:spcPct val="0"/>
              </a:spcBef>
              <a:spcAft>
                <a:spcPts val="0"/>
              </a:spcAft>
              <a:buClrTx/>
              <a:buSzTx/>
              <a:buFontTx/>
              <a:buNone/>
              <a:tabLst/>
              <a:defRPr/>
            </a:pPr>
            <a:r>
              <a:rPr kumimoji="0" lang="en-US" sz="2800" b="0" i="0" u="none" strike="noStrike" kern="1200" cap="none" spc="0" normalizeH="0" baseline="0" noProof="0">
                <a:ln w="3175">
                  <a:noFill/>
                </a:ln>
                <a:solidFill>
                  <a:srgbClr val="323139"/>
                </a:solidFill>
                <a:effectLst/>
                <a:uLnTx/>
                <a:uFillTx/>
                <a:latin typeface="Segoe Sans Display" pitchFamily="2" charset="0"/>
                <a:ea typeface="+mn-ea"/>
                <a:cs typeface="Segoe Sans Display" pitchFamily="2" charset="0"/>
              </a:rPr>
              <a:t>Hands-on · Custom Skill</a:t>
            </a:r>
          </a:p>
        </p:txBody>
      </p:sp>
      <p:sp>
        <p:nvSpPr>
          <p:cNvPr id="28" name="NavPill_SitesPages">
            <a:extLst>
              <a:ext uri="{FF2B5EF4-FFF2-40B4-BE49-F238E27FC236}">
                <a16:creationId xmlns:a16="http://schemas.microsoft.com/office/drawing/2014/main" id="{57BB7AF5-33B6-DA4A-ABA7-2573FB8050B2}"/>
              </a:ext>
            </a:extLst>
          </p:cNvPr>
          <p:cNvSpPr/>
          <p:nvPr/>
        </p:nvSpPr>
        <p:spPr>
          <a:xfrm>
            <a:off x="350837" y="342900"/>
            <a:ext cx="1419239" cy="337762"/>
          </a:xfrm>
          <a:prstGeom prst="roundRect">
            <a:avLst>
              <a:gd name="adj" fmla="val 50000"/>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207091" rtl="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Ex 04</a:t>
            </a:r>
          </a:p>
        </p:txBody>
      </p:sp>
      <p:sp>
        <p:nvSpPr>
          <p:cNvPr id="30" name="TextBox 29">
            <a:extLst>
              <a:ext uri="{FF2B5EF4-FFF2-40B4-BE49-F238E27FC236}">
                <a16:creationId xmlns:a16="http://schemas.microsoft.com/office/drawing/2014/main" id="{4519738B-A618-91E3-CAC4-D99F7E54632B}"/>
              </a:ext>
              <a:ext uri="{C183D7F6-B498-43B3-948B-1728B52AA6E4}">
                <ns0:decorative xmlns:ns0="http://schemas.microsoft.com/office/drawing/2017/decorative" val="1"/>
              </a:ext>
            </a:extLst>
          </p:cNvPr>
          <p:cNvSpPr txBox="1"/>
          <p:nvPr/>
        </p:nvSpPr>
        <p:spPr>
          <a:xfrm>
            <a:off x="8867052" y="119383"/>
            <a:ext cx="3092209" cy="338554"/>
          </a:xfrm>
          <a:prstGeom prst="roundRect">
            <a:avLst>
              <a:gd name="adj" fmla="val 19537"/>
            </a:avLst>
          </a:prstGeom>
          <a:solidFill>
            <a:srgbClr val="CB85FF">
              <a:lumMod val="20000"/>
              <a:lumOff val="80000"/>
            </a:srgbClr>
          </a:solidFill>
        </p:spPr>
        <p:txBody>
          <a:bodyPr wrap="square" lIns="1188720" tIns="45720" rIns="0" bIns="45720" anchor="ctr">
            <a:noAutofit/>
          </a:bodyPr>
          <a:lstStyle>
            <a:defPPr>
              <a:defRPr lang="en-US"/>
            </a:defPPr>
            <a:lvl1pPr>
              <a:spcAft>
                <a:spcPts val="776"/>
              </a:spcAft>
              <a:defRPr sz="1200">
                <a:latin typeface="+mj-lt"/>
                <a:cs typeface="Segoe Sans Display Semibold" pitchFamily="2" charset="0"/>
              </a:defRPr>
            </a:lvl1pPr>
          </a:lstStyle>
          <a:p>
            <a:pPr marL="0" marR="0" lvl="0" indent="0" algn="l" defTabSz="914294" rtl="0" eaLnBrk="1" fontAlgn="auto" latinLnBrk="0" hangingPunct="1">
              <a:lnSpc>
                <a:spcPct val="100000"/>
              </a:lnSpc>
              <a:spcBef>
                <a:spcPts val="0"/>
              </a:spcBef>
              <a:spcAft>
                <a:spcPts val="776"/>
              </a:spcAft>
              <a:buClrTx/>
              <a:buSzTx/>
              <a:buFontTx/>
              <a:buNone/>
              <a:tabLst/>
              <a:defRPr/>
            </a:pPr>
            <a:endParaRPr kumimoji="0" lang="en-US" sz="1200" b="0" i="0" u="none" strike="noStrike" kern="0" cap="none" spc="0" normalizeH="0" baseline="0" noProof="0">
              <a:ln>
                <a:noFill/>
              </a:ln>
              <a:solidFill>
                <a:srgbClr val="323139"/>
              </a:solidFill>
              <a:effectLst/>
              <a:uLnTx/>
              <a:uFillTx/>
              <a:latin typeface="Segoe Sans Display"/>
              <a:ea typeface="+mn-ea"/>
              <a:cs typeface="Segoe Sans Display Semibold" pitchFamily="2" charset="0"/>
            </a:endParaRPr>
          </a:p>
        </p:txBody>
      </p:sp>
      <p:sp>
        <p:nvSpPr>
          <p:cNvPr id="31" name="TextBox 30">
            <a:extLst>
              <a:ext uri="{FF2B5EF4-FFF2-40B4-BE49-F238E27FC236}">
                <a16:creationId xmlns:a16="http://schemas.microsoft.com/office/drawing/2014/main" id="{4B310F6E-1BD3-CF01-32AD-647BCF12AC0F}"/>
              </a:ext>
            </a:extLst>
          </p:cNvPr>
          <p:cNvSpPr txBox="1"/>
          <p:nvPr/>
        </p:nvSpPr>
        <p:spPr>
          <a:xfrm>
            <a:off x="8942688" y="173878"/>
            <a:ext cx="1280160" cy="233352"/>
          </a:xfrm>
          <a:prstGeom prst="roundRect">
            <a:avLst>
              <a:gd name="adj" fmla="val 16151"/>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5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defRPr lang="en-US"/>
            </a:defPPr>
            <a:lvl1pPr algn="ctr" defTabSz="932765" fontAlgn="base">
              <a:spcBef>
                <a:spcPct val="0"/>
              </a:spcBef>
              <a:spcAft>
                <a:spcPct val="0"/>
              </a:spcAft>
              <a:defRPr sz="1600">
                <a:solidFill>
                  <a:schemeClr val="accent1"/>
                </a:solidFill>
                <a:latin typeface="+mj-lt"/>
                <a:cs typeface="Segoe Sans Display Semibold" pitchFamily="2" charset="0"/>
              </a:defRPr>
            </a:lvl1pPr>
          </a:lstStyle>
          <a:p>
            <a:pPr marL="0" marR="0" lvl="0" indent="0" algn="l" defTabSz="932765" rtl="0" eaLnBrk="1" fontAlgn="base" latinLnBrk="0" hangingPunct="1">
              <a:lnSpc>
                <a:spcPct val="100000"/>
              </a:lnSpc>
              <a:spcBef>
                <a:spcPct val="0"/>
              </a:spcBef>
              <a:spcAft>
                <a:spcPct val="0"/>
              </a:spcAft>
              <a:buClrTx/>
              <a:buSzTx/>
              <a:buFontTx/>
              <a:buNone/>
              <a:tabLst/>
              <a:defRPr/>
            </a:pPr>
            <a:r>
              <a:rPr kumimoji="0" lang="en-IN" sz="1050" b="0" i="0" u="none" strike="noStrike" kern="0" cap="none" spc="0" normalizeH="0" baseline="0" noProof="0">
                <a:ln>
                  <a:noFill/>
                </a:ln>
                <a:solidFill>
                  <a:srgbClr val="323139"/>
                </a:solidFill>
                <a:effectLst/>
                <a:uLnTx/>
                <a:uFillTx/>
                <a:latin typeface="Segoe Sans Display"/>
                <a:ea typeface="+mn-ea"/>
                <a:cs typeface="Segoe Sans Display Semibold" pitchFamily="2" charset="0"/>
              </a:rPr>
              <a:t>Time</a:t>
            </a:r>
          </a:p>
        </p:txBody>
      </p:sp>
      <p:sp>
        <p:nvSpPr>
          <p:cNvPr id="50" name="TextBox 49">
            <a:extLst>
              <a:ext uri="{FF2B5EF4-FFF2-40B4-BE49-F238E27FC236}">
                <a16:creationId xmlns:a16="http://schemas.microsoft.com/office/drawing/2014/main" id="{0CE10D15-83B7-7915-49A3-0BD3A21E9731}"/>
              </a:ext>
            </a:extLst>
          </p:cNvPr>
          <p:cNvSpPr txBox="1"/>
          <p:nvPr/>
        </p:nvSpPr>
        <p:spPr>
          <a:xfrm>
            <a:off x="10298483" y="173490"/>
            <a:ext cx="1668779" cy="253916"/>
          </a:xfrm>
          <a:prstGeom prst="rect">
            <a:avLst/>
          </a:prstGeom>
          <a:noFill/>
        </p:spPr>
        <p:txBody>
          <a:bodyPr wrap="square">
            <a:spAutoFit/>
          </a:bodyPr>
          <a:lstStyle/>
          <a:p>
            <a:pPr marL="0" marR="0" lvl="0" indent="0" algn="l" defTabSz="914294"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323139"/>
                </a:solidFill>
                <a:effectLst/>
                <a:uLnTx/>
                <a:uFillTx/>
                <a:latin typeface="Segoe Sans Display"/>
                <a:ea typeface="+mn-ea"/>
                <a:cs typeface="Segoe Sans Display"/>
              </a:rPr>
              <a:t>30 min</a:t>
            </a:r>
          </a:p>
        </p:txBody>
      </p:sp>
      <p:sp>
        <p:nvSpPr>
          <p:cNvPr id="51" name="Rounded Rectangle 50">
            <a:extLst>
              <a:ext uri="{C183D7F6-B498-43B3-948B-1728B52AA6E4}">
                <ns1:decorative xmlns:ns1="http://schemas.microsoft.com/office/drawing/2017/decorative" val="1"/>
              </a:ext>
            </a:extLst>
          </p:cNvPr>
          <p:cNvSpPr/>
          <p:nvPr/>
        </p:nvSpPr>
        <p:spPr>
          <a:xfrm>
            <a:off x="420624" y="1188720"/>
            <a:ext cx="7168896" cy="3611880"/>
          </a:xfrm>
          <a:prstGeom prst="roundRect">
            <a:avLst>
              <a:gd name="adj" fmla="val 5000"/>
            </a:avLst>
          </a:prstGeom>
          <a:solidFill>
            <a:srgbClr val="FFF9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ounded Rectangle 51">
            <a:extLst>
              <a:ext uri="{C183D7F6-B498-43B3-948B-1728B52AA6E4}">
                <ns2:decorative xmlns:ns2="http://schemas.microsoft.com/office/drawing/2017/decorative" val="1"/>
              </a:ext>
            </a:extLst>
          </p:cNvPr>
          <p:cNvSpPr/>
          <p:nvPr/>
        </p:nvSpPr>
        <p:spPr>
          <a:xfrm>
            <a:off x="3236976" y="1051560"/>
            <a:ext cx="15361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3236976" y="1051560"/>
            <a:ext cx="1536192" cy="274320"/>
          </a:xfrm>
          <a:prstGeom prst="rect">
            <a:avLst/>
          </a:prstGeom>
          <a:noFill/>
        </p:spPr>
        <p:txBody>
          <a:bodyPr wrap="square" anchor="ctr" lIns="0" rIns="0" tIns="0" bIns="0">
            <a:spAutoFit/>
          </a:bodyPr>
          <a:lstStyle/>
          <a:p>
            <a:pPr algn="ctr">
              <a:spcAft>
                <a:spcPts val="400"/>
              </a:spcAft>
            </a:pPr>
            <a:r>
              <a:rPr sz="1200" b="0" i="0">
                <a:solidFill>
                  <a:srgbClr val="323139"/>
                </a:solidFill>
                <a:latin typeface="Segoe Sans Display Semibold"/>
              </a:rPr>
              <a:t>Steps</a:t>
            </a:r>
          </a:p>
        </p:txBody>
      </p:sp>
      <p:sp>
        <p:nvSpPr>
          <p:cNvPr id="54" name="TextBox 53"/>
          <p:cNvSpPr txBox="1"/>
          <p:nvPr/>
        </p:nvSpPr>
        <p:spPr>
          <a:xfrm>
            <a:off x="777240" y="1572768"/>
            <a:ext cx="6492240" cy="3154680"/>
          </a:xfrm>
          <a:prstGeom prst="rect">
            <a:avLst/>
          </a:prstGeom>
          <a:noFill/>
        </p:spPr>
        <p:txBody>
          <a:bodyPr wrap="square" anchor="t" lIns="0" rIns="0" tIns="0" bIns="0">
            <a:spAutoFit/>
          </a:bodyPr>
          <a:lstStyle/>
          <a:p>
            <a:pPr algn="l" marL="237744" indent="-237744">
              <a:lnSpc>
                <a:spcPct val="105000"/>
              </a:lnSpc>
              <a:spcAft>
                <a:spcPts val="900"/>
              </a:spcAft>
              <a:buFont typeface="+mj-lt"/>
              <a:buAutoNum type="arabicPeriod"/>
            </a:pPr>
            <a:r>
              <a:rPr sz="1500" b="1" i="0">
                <a:solidFill>
                  <a:srgbClr val="323139"/>
                </a:solidFill>
                <a:latin typeface="Segoe UI"/>
              </a:rPr>
              <a:t>Customize → Skills → Add → Create new.</a:t>
            </a:r>
          </a:p>
          <a:p>
            <a:pPr algn="l" marL="237744" indent="-237744">
              <a:lnSpc>
                <a:spcPct val="105000"/>
              </a:lnSpc>
              <a:spcAft>
                <a:spcPts val="900"/>
              </a:spcAft>
              <a:buFont typeface="+mj-lt"/>
              <a:buAutoNum type="arabicPeriod"/>
            </a:pPr>
            <a:r>
              <a:rPr sz="1500" b="0" i="0">
                <a:solidFill>
                  <a:srgbClr val="323139"/>
                </a:solidFill>
                <a:latin typeface="Segoe UI"/>
              </a:rPr>
              <a:t>Name </a:t>
            </a:r>
            <a:r>
              <a:rPr sz="1500" b="1" i="0">
                <a:solidFill>
                  <a:srgbClr val="323139"/>
                </a:solidFill>
                <a:latin typeface="Segoe UI"/>
              </a:rPr>
              <a:t>HR Policy Answer</a:t>
            </a:r>
            <a:r>
              <a:rPr sz="1500" b="0" i="0">
                <a:solidFill>
                  <a:srgbClr val="323139"/>
                </a:solidFill>
                <a:latin typeface="Segoe UI"/>
              </a:rPr>
              <a:t>, category </a:t>
            </a:r>
            <a:r>
              <a:rPr sz="1500" b="1" i="0">
                <a:solidFill>
                  <a:srgbClr val="323139"/>
                </a:solidFill>
                <a:latin typeface="Segoe UI"/>
              </a:rPr>
              <a:t>Human Resources</a:t>
            </a:r>
            <a:r>
              <a:rPr sz="1500" b="0" i="0">
                <a:solidFill>
                  <a:srgbClr val="323139"/>
                </a:solidFill>
                <a:latin typeface="Segoe UI"/>
              </a:rPr>
              <a:t>, and paste the instructions.</a:t>
            </a:r>
          </a:p>
          <a:p>
            <a:pPr algn="l" marL="237744" indent="-237744">
              <a:lnSpc>
                <a:spcPct val="105000"/>
              </a:lnSpc>
              <a:spcAft>
                <a:spcPts val="900"/>
              </a:spcAft>
              <a:buFont typeface="+mj-lt"/>
              <a:buAutoNum type="arabicPeriod"/>
            </a:pPr>
            <a:r>
              <a:rPr sz="1500" b="1" i="0">
                <a:solidFill>
                  <a:srgbClr val="323139"/>
                </a:solidFill>
                <a:latin typeface="Segoe UI"/>
              </a:rPr>
              <a:t>Confirm</a:t>
            </a:r>
            <a:r>
              <a:rPr sz="1500" b="0" i="0">
                <a:solidFill>
                  <a:srgbClr val="323139"/>
                </a:solidFill>
                <a:latin typeface="Segoe UI"/>
              </a:rPr>
              <a:t> — Cowork saves it to your OneDrive skills folder.</a:t>
            </a:r>
          </a:p>
          <a:p>
            <a:pPr algn="l" marL="237744" indent="-237744">
              <a:lnSpc>
                <a:spcPct val="105000"/>
              </a:lnSpc>
              <a:spcAft>
                <a:spcPts val="900"/>
              </a:spcAft>
              <a:buFont typeface="+mj-lt"/>
              <a:buAutoNum type="arabicPeriod"/>
            </a:pPr>
            <a:r>
              <a:rPr sz="1500" b="1" i="0">
                <a:solidFill>
                  <a:srgbClr val="323139"/>
                </a:solidFill>
                <a:latin typeface="Segoe UI"/>
              </a:rPr>
              <a:t>Read the score</a:t>
            </a:r>
            <a:r>
              <a:rPr sz="1500" b="0" i="0">
                <a:solidFill>
                  <a:srgbClr val="323139"/>
                </a:solidFill>
                <a:latin typeface="Segoe UI"/>
              </a:rPr>
              <a:t> (aim for Good 70+ or Excellent 85+); tighten trigger or scope if needed.</a:t>
            </a:r>
          </a:p>
          <a:p>
            <a:pPr algn="l" marL="237744" indent="-237744">
              <a:lnSpc>
                <a:spcPct val="105000"/>
              </a:lnSpc>
              <a:spcAft>
                <a:spcPts val="900"/>
              </a:spcAft>
              <a:buFont typeface="+mj-lt"/>
              <a:buAutoNum type="arabicPeriod"/>
            </a:pPr>
            <a:r>
              <a:rPr sz="1500" b="1" i="0">
                <a:solidFill>
                  <a:srgbClr val="323139"/>
                </a:solidFill>
                <a:latin typeface="Segoe UI"/>
              </a:rPr>
              <a:t>Test:</a:t>
            </a:r>
            <a:r>
              <a:rPr sz="1500" b="0" i="0">
                <a:solidFill>
                  <a:srgbClr val="323139"/>
                </a:solidFill>
                <a:latin typeface="Segoe UI"/>
              </a:rPr>
              <a:t> a policy question should trigger it; “What’s my colleague’s salary?” should be declined.</a:t>
            </a:r>
          </a:p>
        </p:txBody>
      </p:sp>
      <p:sp>
        <p:nvSpPr>
          <p:cNvPr id="55" name="Rounded Rectangle 54">
            <a:extLst>
              <a:ext uri="{C183D7F6-B498-43B3-948B-1728B52AA6E4}">
                <ns3:decorative xmlns:ns3="http://schemas.microsoft.com/office/drawing/2017/decorative" val="1"/>
              </a:ext>
            </a:extLst>
          </p:cNvPr>
          <p:cNvSpPr/>
          <p:nvPr/>
        </p:nvSpPr>
        <p:spPr>
          <a:xfrm>
            <a:off x="420624" y="5074920"/>
            <a:ext cx="7168896" cy="1371600"/>
          </a:xfrm>
          <a:prstGeom prst="roundRect">
            <a:avLst>
              <a:gd name="adj" fmla="val 10000"/>
            </a:avLst>
          </a:prstGeom>
          <a:solidFill>
            <a:srgbClr val="FFF9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Rounded Rectangle 55">
            <a:extLst>
              <a:ext uri="{C183D7F6-B498-43B3-948B-1728B52AA6E4}">
                <ns4:decorative xmlns:ns4="http://schemas.microsoft.com/office/drawing/2017/decorative" val="1"/>
              </a:ext>
            </a:extLst>
          </p:cNvPr>
          <p:cNvSpPr/>
          <p:nvPr/>
        </p:nvSpPr>
        <p:spPr>
          <a:xfrm>
            <a:off x="3236976" y="4937760"/>
            <a:ext cx="15361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3236976" y="4937760"/>
            <a:ext cx="1536192" cy="274320"/>
          </a:xfrm>
          <a:prstGeom prst="rect">
            <a:avLst/>
          </a:prstGeom>
          <a:noFill/>
        </p:spPr>
        <p:txBody>
          <a:bodyPr wrap="square" anchor="ctr" lIns="0" rIns="0" tIns="0" bIns="0">
            <a:spAutoFit/>
          </a:bodyPr>
          <a:lstStyle/>
          <a:p>
            <a:pPr algn="ctr">
              <a:spcAft>
                <a:spcPts val="400"/>
              </a:spcAft>
            </a:pPr>
            <a:r>
              <a:rPr sz="1200" b="0" i="0">
                <a:solidFill>
                  <a:srgbClr val="323139"/>
                </a:solidFill>
                <a:latin typeface="Segoe Sans Display Semibold"/>
              </a:rPr>
              <a:t>Discuss</a:t>
            </a:r>
          </a:p>
        </p:txBody>
      </p:sp>
      <p:sp>
        <p:nvSpPr>
          <p:cNvPr id="58" name="TextBox 57"/>
          <p:cNvSpPr txBox="1"/>
          <p:nvPr/>
        </p:nvSpPr>
        <p:spPr>
          <a:xfrm>
            <a:off x="777240" y="5303520"/>
            <a:ext cx="6492240" cy="1005840"/>
          </a:xfrm>
          <a:prstGeom prst="rect">
            <a:avLst/>
          </a:prstGeom>
          <a:noFill/>
        </p:spPr>
        <p:txBody>
          <a:bodyPr wrap="square" anchor="ctr" lIns="0" rIns="0" tIns="0" bIns="0">
            <a:spAutoFit/>
          </a:bodyPr>
          <a:lstStyle/>
          <a:p>
            <a:pPr algn="l">
              <a:lnSpc>
                <a:spcPct val="105000"/>
              </a:lnSpc>
              <a:spcAft>
                <a:spcPts val="400"/>
              </a:spcAft>
            </a:pPr>
            <a:r>
              <a:rPr sz="1400" b="0" i="0">
                <a:solidFill>
                  <a:srgbClr val="323139"/>
                </a:solidFill>
                <a:latin typeface="Segoe Sans Display"/>
              </a:rPr>
              <a:t>Which recurring HR question would you turn into a skill next, and what must it </a:t>
            </a:r>
            <a:r>
              <a:rPr sz="1400" b="1" i="0">
                <a:solidFill>
                  <a:srgbClr val="323139"/>
                </a:solidFill>
                <a:latin typeface="Segoe Sans Display"/>
              </a:rPr>
              <a:t>never</a:t>
            </a:r>
            <a:r>
              <a:rPr sz="1400" b="0" i="0">
                <a:solidFill>
                  <a:srgbClr val="323139"/>
                </a:solidFill>
                <a:latin typeface="Segoe Sans Display"/>
              </a:rPr>
              <a:t> answer?</a:t>
            </a:r>
          </a:p>
        </p:txBody>
      </p:sp>
      <p:sp>
        <p:nvSpPr>
          <p:cNvPr id="59" name="Rounded Rectangle 58">
            <a:extLst>
              <a:ext uri="{C183D7F6-B498-43B3-948B-1728B52AA6E4}">
                <ns5:decorative xmlns:ns5="http://schemas.microsoft.com/office/drawing/2017/decorative" val="1"/>
              </a:ext>
            </a:extLst>
          </p:cNvPr>
          <p:cNvSpPr/>
          <p:nvPr/>
        </p:nvSpPr>
        <p:spPr>
          <a:xfrm>
            <a:off x="7763256" y="1188720"/>
            <a:ext cx="4224528" cy="2194560"/>
          </a:xfrm>
          <a:prstGeom prst="roundRect">
            <a:avLst>
              <a:gd name="adj" fmla="val 6000"/>
            </a:avLst>
          </a:prstGeom>
          <a:solidFill>
            <a:srgbClr val="FFF9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Rounded Rectangle 59">
            <a:extLst>
              <a:ext uri="{C183D7F6-B498-43B3-948B-1728B52AA6E4}">
                <ns6:decorative xmlns:ns6="http://schemas.microsoft.com/office/drawing/2017/decorative" val="1"/>
              </a:ext>
            </a:extLst>
          </p:cNvPr>
          <p:cNvSpPr/>
          <p:nvPr/>
        </p:nvSpPr>
        <p:spPr>
          <a:xfrm>
            <a:off x="9107424" y="1051560"/>
            <a:ext cx="15361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TextBox 60"/>
          <p:cNvSpPr txBox="1"/>
          <p:nvPr/>
        </p:nvSpPr>
        <p:spPr>
          <a:xfrm>
            <a:off x="9107424" y="1051560"/>
            <a:ext cx="1536192" cy="274320"/>
          </a:xfrm>
          <a:prstGeom prst="rect">
            <a:avLst/>
          </a:prstGeom>
          <a:noFill/>
        </p:spPr>
        <p:txBody>
          <a:bodyPr wrap="square" anchor="ctr" lIns="0" rIns="0" tIns="0" bIns="0">
            <a:spAutoFit/>
          </a:bodyPr>
          <a:lstStyle/>
          <a:p>
            <a:pPr algn="ctr">
              <a:spcAft>
                <a:spcPts val="400"/>
              </a:spcAft>
            </a:pPr>
            <a:r>
              <a:rPr sz="1200" b="0" i="0">
                <a:solidFill>
                  <a:srgbClr val="323139"/>
                </a:solidFill>
                <a:latin typeface="Segoe Sans Display Semibold"/>
              </a:rPr>
              <a:t>Watch for</a:t>
            </a:r>
          </a:p>
        </p:txBody>
      </p:sp>
      <p:sp>
        <p:nvSpPr>
          <p:cNvPr id="62" name="TextBox 61"/>
          <p:cNvSpPr txBox="1"/>
          <p:nvPr/>
        </p:nvSpPr>
        <p:spPr>
          <a:xfrm>
            <a:off x="8001000" y="1572768"/>
            <a:ext cx="3794760" cy="1737360"/>
          </a:xfrm>
          <a:prstGeom prst="rect">
            <a:avLst/>
          </a:prstGeom>
          <a:noFill/>
        </p:spPr>
        <p:txBody>
          <a:bodyPr wrap="square" anchor="t" lIns="0" rIns="0" tIns="0" bIns="0">
            <a:spAutoFit/>
          </a:bodyPr>
          <a:lstStyle/>
          <a:p>
            <a:pPr algn="l" marL="182880" indent="-182880">
              <a:spcAft>
                <a:spcPts val="400"/>
              </a:spcAft>
              <a:buFont typeface="Arial"/>
              <a:buChar char="•"/>
            </a:pPr>
            <a:r>
              <a:rPr sz="1150" b="0" i="0">
                <a:solidFill>
                  <a:srgbClr val="323139"/>
                </a:solidFill>
                <a:latin typeface="Segoe UI"/>
              </a:rPr>
              <a:t>Scores: trigger clarity, instruction specificity, scope boundaries, robustness</a:t>
            </a:r>
          </a:p>
          <a:p>
            <a:pPr algn="l" marL="182880" indent="-182880">
              <a:spcAft>
                <a:spcPts val="400"/>
              </a:spcAft>
              <a:buFont typeface="Arial"/>
              <a:buChar char="•"/>
            </a:pPr>
            <a:r>
              <a:rPr sz="1150" b="0" i="0">
                <a:solidFill>
                  <a:srgbClr val="323139"/>
                </a:solidFill>
                <a:latin typeface="Segoe UI"/>
              </a:rPr>
              <a:t>Answer → Details → Source → “confirm with HR”</a:t>
            </a:r>
          </a:p>
          <a:p>
            <a:pPr algn="l" marL="182880" indent="-182880">
              <a:spcAft>
                <a:spcPts val="400"/>
              </a:spcAft>
              <a:buFont typeface="Arial"/>
              <a:buChar char="•"/>
            </a:pPr>
            <a:r>
              <a:rPr sz="1150" b="0" i="0">
                <a:solidFill>
                  <a:srgbClr val="323139"/>
                </a:solidFill>
                <a:latin typeface="Segoe UI"/>
              </a:rPr>
              <a:t>Keep the skill </a:t>
            </a:r>
            <a:r>
              <a:rPr sz="1150" b="1" i="0">
                <a:solidFill>
                  <a:srgbClr val="323139"/>
                </a:solidFill>
                <a:latin typeface="Segoe UI"/>
              </a:rPr>
              <a:t>“Only you”</a:t>
            </a:r>
            <a:r>
              <a:rPr sz="1150" b="0" i="0">
                <a:solidFill>
                  <a:srgbClr val="323139"/>
                </a:solidFill>
                <a:latin typeface="Segoe UI"/>
              </a:rPr>
              <a:t> in the shared tenant</a:t>
            </a:r>
          </a:p>
        </p:txBody>
      </p:sp>
      <p:sp>
        <p:nvSpPr>
          <p:cNvPr id="63" name="Rounded Rectangle 62">
            <a:extLst>
              <a:ext uri="{C183D7F6-B498-43B3-948B-1728B52AA6E4}">
                <ns7:decorative xmlns:ns7="http://schemas.microsoft.com/office/drawing/2017/decorative" val="1"/>
              </a:ext>
            </a:extLst>
          </p:cNvPr>
          <p:cNvSpPr/>
          <p:nvPr/>
        </p:nvSpPr>
        <p:spPr>
          <a:xfrm>
            <a:off x="7763256" y="3611880"/>
            <a:ext cx="4224528" cy="1691640"/>
          </a:xfrm>
          <a:prstGeom prst="roundRect">
            <a:avLst>
              <a:gd name="adj" fmla="val 8000"/>
            </a:avLst>
          </a:prstGeom>
          <a:solidFill>
            <a:srgbClr val="3414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Oval 63">
            <a:extLst>
              <a:ext uri="{C183D7F6-B498-43B3-948B-1728B52AA6E4}">
                <ns8:decorative xmlns:ns8="http://schemas.microsoft.com/office/drawing/2017/decorative" val="1"/>
              </a:ext>
            </a:extLst>
          </p:cNvPr>
          <p:cNvSpPr/>
          <p:nvPr/>
        </p:nvSpPr>
        <p:spPr>
          <a:xfrm>
            <a:off x="7543800" y="3401568"/>
            <a:ext cx="402336" cy="402336"/>
          </a:xfrm>
          <a:prstGeom prst="ellipse">
            <a:avLst/>
          </a:prstGeom>
          <a:solidFill>
            <a:srgbClr val="FFFFFF"/>
          </a:solidFill>
          <a:ln>
            <a:no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TextBox 64"/>
          <p:cNvSpPr txBox="1"/>
          <p:nvPr/>
        </p:nvSpPr>
        <p:spPr>
          <a:xfrm>
            <a:off x="7543800" y="3401568"/>
            <a:ext cx="402336" cy="402336"/>
          </a:xfrm>
          <a:prstGeom prst="rect">
            <a:avLst/>
          </a:prstGeom>
          <a:noFill/>
        </p:spPr>
        <p:txBody>
          <a:bodyPr wrap="square" anchor="ctr" lIns="0" rIns="0" tIns="0" bIns="0">
            <a:spAutoFit/>
          </a:bodyPr>
          <a:lstStyle/>
          <a:p>
            <a:pPr algn="ctr">
              <a:spcAft>
                <a:spcPts val="400"/>
              </a:spcAft>
            </a:pPr>
            <a:r>
              <a:rPr sz="1600" b="1" i="0">
                <a:solidFill>
                  <a:srgbClr val="3B1041"/>
                </a:solidFill>
                <a:latin typeface="Segoe UI"/>
              </a:rPr>
              <a:t>✓</a:t>
            </a:r>
          </a:p>
        </p:txBody>
      </p:sp>
      <p:sp>
        <p:nvSpPr>
          <p:cNvPr id="66" name="TextBox 65"/>
          <p:cNvSpPr txBox="1"/>
          <p:nvPr/>
        </p:nvSpPr>
        <p:spPr>
          <a:xfrm>
            <a:off x="8001000" y="3749039"/>
            <a:ext cx="3794760" cy="1463040"/>
          </a:xfrm>
          <a:prstGeom prst="rect">
            <a:avLst/>
          </a:prstGeom>
          <a:noFill/>
        </p:spPr>
        <p:txBody>
          <a:bodyPr wrap="square" anchor="ctr" lIns="0" rIns="0" tIns="0" bIns="0">
            <a:spAutoFit/>
          </a:bodyPr>
          <a:lstStyle/>
          <a:p>
            <a:pPr algn="l">
              <a:lnSpc>
                <a:spcPct val="105000"/>
              </a:lnSpc>
              <a:spcAft>
                <a:spcPts val="400"/>
              </a:spcAft>
            </a:pPr>
            <a:r>
              <a:rPr sz="1200" b="1" i="0">
                <a:solidFill>
                  <a:srgbClr val="FFFFFF"/>
                </a:solidFill>
                <a:latin typeface="Segoe Sans Display Semibold"/>
              </a:rPr>
              <a:t>Checkpoint: </a:t>
            </a:r>
            <a:r>
              <a:rPr sz="1200" b="0" i="0">
                <a:solidFill>
                  <a:srgbClr val="FFFFFF"/>
                </a:solidFill>
                <a:latin typeface="Segoe Sans Display"/>
              </a:rPr>
              <a:t>Your skill scores Good or better, triggers on its own, follows the format, and declines out-of-scope questions.</a:t>
            </a:r>
          </a:p>
        </p:txBody>
      </p:sp>
      <p:sp>
        <p:nvSpPr>
          <p:cNvPr id="67" name="Rounded Rectangle 66">
            <a:extLst>
              <a:ext uri="{C183D7F6-B498-43B3-948B-1728B52AA6E4}">
                <ns9:decorative xmlns:ns9="http://schemas.microsoft.com/office/drawing/2017/decorative" val="1"/>
              </a:ext>
            </a:extLst>
          </p:cNvPr>
          <p:cNvSpPr/>
          <p:nvPr/>
        </p:nvSpPr>
        <p:spPr>
          <a:xfrm>
            <a:off x="7763256" y="5486400"/>
            <a:ext cx="4224528" cy="960120"/>
          </a:xfrm>
          <a:prstGeom prst="roundRect">
            <a:avLst>
              <a:gd name="adj" fmla="val 10000"/>
            </a:avLst>
          </a:prstGeom>
          <a:solidFill>
            <a:srgbClr val="FFF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Box 67"/>
          <p:cNvSpPr txBox="1"/>
          <p:nvPr/>
        </p:nvSpPr>
        <p:spPr>
          <a:xfrm>
            <a:off x="8001000" y="5486400"/>
            <a:ext cx="3794760" cy="960120"/>
          </a:xfrm>
          <a:prstGeom prst="rect">
            <a:avLst/>
          </a:prstGeom>
          <a:noFill/>
        </p:spPr>
        <p:txBody>
          <a:bodyPr wrap="square" anchor="ctr" lIns="0" rIns="0" tIns="0" bIns="0">
            <a:spAutoFit/>
          </a:bodyPr>
          <a:lstStyle/>
          <a:p>
            <a:pPr algn="l">
              <a:lnSpc>
                <a:spcPct val="103000"/>
              </a:lnSpc>
              <a:spcAft>
                <a:spcPts val="400"/>
              </a:spcAft>
            </a:pPr>
            <a:r>
              <a:rPr sz="1100" b="1" i="0">
                <a:solidFill>
                  <a:srgbClr val="323139"/>
                </a:solidFill>
                <a:latin typeface="Segoe Sans Display Semibold"/>
              </a:rPr>
              <a:t>Stretch: </a:t>
            </a:r>
            <a:r>
              <a:rPr sz="1100" b="0" i="0">
                <a:solidFill>
                  <a:srgbClr val="323139"/>
                </a:solidFill>
                <a:latin typeface="Segoe Sans Display"/>
              </a:rPr>
              <a:t>Add a rule to link to the HR portal whenever a change requires a form.</a:t>
            </a:r>
          </a:p>
        </p:txBody>
      </p:sp>
    </p:spTree>
    <p:extLst>
      <p:ext uri="{BB962C8B-B14F-4D97-AF65-F5344CB8AC3E}">
        <p14:creationId xmlns:p14="http://schemas.microsoft.com/office/powerpoint/2010/main" val="1649947486"/>
      </p:ext>
    </p:extLst>
  </p:cSld>
  <p:clrMapOvr>
    <a:overrideClrMapping bg1="lt1" tx1="dk1" bg2="lt2" tx2="dk2" accent1="accent1" accent2="accent2" accent3="accent3" accent4="accent4" accent5="accent5" accent6="accent6" hlink="hlink" folHlink="folHlink"/>
  </p:clrMapOvr>
</p:sld>
</file>

<file path=ppt/slides/slide41.xml><?xml version="1.0" encoding="utf-8"?>
<p:sld xmlns:a="http://schemas.openxmlformats.org/drawingml/2006/main" xmlns:p="http://schemas.openxmlformats.org/presentationml/2006/main" xmlns:r="http://schemas.openxmlformats.org/officeDocument/2006/relationships">
  <p:cSld>
    <p:bg>
      <p:bgPr>
        <a:blipFill dpi="0" rotWithShape="1">
          <a:blip r:embed="rId5">
            <a:alphaModFix amt="70000"/>
            <a:lum/>
          </a:blip>
          <a:srcRect/>
          <a:stretch>
            <a:fillRect l="-2000" r="-2000"/>
          </a:stretch>
        </a:blipFill>
        <a:effectLst/>
      </p:bgPr>
    </p:bg>
    <p:spTree>
      <p:nvGrpSpPr>
        <p:cNvPr id="1" name="">
          <a:extLst>
            <a:ext uri="{FF2B5EF4-FFF2-40B4-BE49-F238E27FC236}">
              <a16:creationId xmlns:a16="http://schemas.microsoft.com/office/drawing/2014/main" id="{CC810B06-9C60-9BCB-DF49-73D043B037F2}"/>
            </a:ext>
          </a:extLst>
        </p:cNvPr>
        <p:cNvGrpSpPr/>
        <p:nvPr/>
      </p:nvGrpSpPr>
      <p:grpSpPr>
        <a:xfrm>
          <a:off x="0" y="0"/>
          <a:ext cx="0" cy="0"/>
          <a:chOff x="0" y="0"/>
          <a:chExt cx="0" cy="0"/>
        </a:xfrm>
      </p:grpSpPr>
      <p:sp>
        <p:nvSpPr>
          <p:cNvPr id="27" name="Title 3">
            <a:extLst>
              <a:ext uri="{FF2B5EF4-FFF2-40B4-BE49-F238E27FC236}">
                <a16:creationId xmlns:a16="http://schemas.microsoft.com/office/drawing/2014/main" id="{3EF2C483-DB46-D975-7E0E-09A75642D76B}"/>
              </a:ext>
            </a:extLst>
          </p:cNvPr>
          <p:cNvSpPr txBox="1">
            <a:spLocks/>
          </p:cNvSpPr>
          <p:nvPr/>
        </p:nvSpPr>
        <p:spPr>
          <a:xfrm>
            <a:off x="1925908" y="293473"/>
            <a:ext cx="7070725" cy="430887"/>
          </a:xfrm>
          <a:prstGeom prst="rect">
            <a:avLst/>
          </a:prstGeom>
        </p:spPr>
        <p:txBody>
          <a:bodyPr vert="horz" wrap="square" lIns="0" tIns="0" rIns="0" bIns="0" rtlCol="0" anchor="t">
            <a:spAutoFit/>
          </a:bodyPr>
          <a:lstStyle>
            <a:lvl1pPr algn="l" defTabSz="769520" rtl="0" eaLnBrk="1" latinLnBrk="0" hangingPunct="1">
              <a:lnSpc>
                <a:spcPct val="100000"/>
              </a:lnSpc>
              <a:spcBef>
                <a:spcPct val="0"/>
              </a:spcBef>
              <a:buNone/>
              <a:defRPr lang="en-US" sz="2000" b="0" kern="1200" cap="none" spc="0" baseline="0">
                <a:ln w="3175">
                  <a:noFill/>
                </a:ln>
                <a:solidFill>
                  <a:schemeClr val="tx1"/>
                </a:solidFill>
                <a:effectLst/>
                <a:latin typeface="+mj-lt"/>
                <a:ea typeface="+mn-ea"/>
                <a:cs typeface="Segoe Sans Display" pitchFamily="2" charset="0"/>
              </a:defRPr>
            </a:lvl1pPr>
          </a:lstStyle>
          <a:p>
            <a:pPr marL="0" marR="0" lvl="0" indent="0" algn="l" defTabSz="769520" rtl="0" eaLnBrk="1" fontAlgn="auto" latinLnBrk="0" hangingPunct="1">
              <a:lnSpc>
                <a:spcPct val="100000"/>
              </a:lnSpc>
              <a:spcBef>
                <a:spcPct val="0"/>
              </a:spcBef>
              <a:spcAft>
                <a:spcPts val="0"/>
              </a:spcAft>
              <a:buClrTx/>
              <a:buSzTx/>
              <a:buFontTx/>
              <a:buNone/>
              <a:tabLst/>
              <a:defRPr/>
            </a:pPr>
            <a:r>
              <a:rPr kumimoji="0" lang="en-US" sz="2800" b="0" i="0" u="none" strike="noStrike" kern="1200" cap="none" spc="0" normalizeH="0" baseline="0" noProof="0">
                <a:ln w="3175">
                  <a:noFill/>
                </a:ln>
                <a:solidFill>
                  <a:srgbClr val="323139"/>
                </a:solidFill>
                <a:effectLst/>
                <a:uLnTx/>
                <a:uFillTx/>
                <a:latin typeface="Segoe Sans Display" pitchFamily="2" charset="0"/>
                <a:ea typeface="+mn-ea"/>
                <a:cs typeface="Segoe Sans Display" pitchFamily="2" charset="0"/>
              </a:rPr>
              <a:t>Recruiting + Reporting</a:t>
            </a:r>
          </a:p>
        </p:txBody>
      </p:sp>
      <p:sp>
        <p:nvSpPr>
          <p:cNvPr id="28" name="NavPill_SitesPages">
            <a:extLst>
              <a:ext uri="{FF2B5EF4-FFF2-40B4-BE49-F238E27FC236}">
                <a16:creationId xmlns:a16="http://schemas.microsoft.com/office/drawing/2014/main" id="{57BB7AF5-33B6-DA4A-ABA7-2573FB8050B2}"/>
              </a:ext>
            </a:extLst>
          </p:cNvPr>
          <p:cNvSpPr/>
          <p:nvPr/>
        </p:nvSpPr>
        <p:spPr>
          <a:xfrm>
            <a:off x="350837" y="342900"/>
            <a:ext cx="1419239" cy="337762"/>
          </a:xfrm>
          <a:prstGeom prst="roundRect">
            <a:avLst>
              <a:gd name="adj" fmla="val 50000"/>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207091" rtl="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Ex 05</a:t>
            </a:r>
          </a:p>
        </p:txBody>
      </p:sp>
      <p:sp>
        <p:nvSpPr>
          <p:cNvPr id="33" name="Rectangle: Rounded Corners 32">
            <a:extLst>
              <a:ext uri="{FF2B5EF4-FFF2-40B4-BE49-F238E27FC236}">
                <a16:creationId xmlns:a16="http://schemas.microsoft.com/office/drawing/2014/main" id="{8D56FF72-D759-DB8C-C791-1089618B3EE4}"/>
              </a:ext>
            </a:extLst>
          </p:cNvPr>
          <p:cNvSpPr/>
          <p:nvPr/>
        </p:nvSpPr>
        <p:spPr bwMode="auto">
          <a:xfrm>
            <a:off x="424382" y="954763"/>
            <a:ext cx="3621360" cy="1127147"/>
          </a:xfrm>
          <a:prstGeom prst="roundRect">
            <a:avLst>
              <a:gd name="adj" fmla="val 9646"/>
            </a:avLst>
          </a:prstGeom>
          <a:solidFill>
            <a:srgbClr val="FFFC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Goal</a:t>
            </a:r>
            <a:r>
              <a:rPr kumimoji="0" lang="en-US" sz="1100" b="0" i="0" u="none" strike="noStrike" kern="0" cap="none" spc="0" normalizeH="0" baseline="0" noProof="0">
                <a:ln w="3175">
                  <a:noFill/>
                </a:ln>
                <a:solidFill>
                  <a:srgbClr val="323139"/>
                </a:solidFill>
                <a:effectLst/>
                <a:uLnTx/>
                <a:uFillTx/>
                <a:latin typeface="Segoe Sans Display Semibold" pitchFamily="2" charset="0"/>
                <a:ea typeface="+mn-ea"/>
                <a:cs typeface="Segoe Sans Display Semibold" pitchFamily="2" charset="0"/>
              </a:rPr>
              <a:t>: </a:t>
            </a:r>
            <a:r>
              <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rPr>
              <a:t>Attract the right candidates for an open role and get on top of the HR service queue in minutes.</a:t>
            </a:r>
          </a:p>
        </p:txBody>
      </p:sp>
      <p:sp>
        <p:nvSpPr>
          <p:cNvPr id="34" name="Rectangle: Rounded Corners 33">
            <a:extLst>
              <a:ext uri="{FF2B5EF4-FFF2-40B4-BE49-F238E27FC236}">
                <a16:creationId xmlns:a16="http://schemas.microsoft.com/office/drawing/2014/main" id="{58B7C25E-B49B-24B7-8F32-A2823589DFF3}"/>
              </a:ext>
            </a:extLst>
          </p:cNvPr>
          <p:cNvSpPr/>
          <p:nvPr/>
        </p:nvSpPr>
        <p:spPr bwMode="auto">
          <a:xfrm>
            <a:off x="4372822" y="978410"/>
            <a:ext cx="3621360" cy="1107187"/>
          </a:xfrm>
          <a:prstGeom prst="roundRect">
            <a:avLst>
              <a:gd name="adj" fmla="val 10584"/>
            </a:avLst>
          </a:prstGeom>
          <a:solidFill>
            <a:srgbClr val="FFFC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noProof="0">
                <a:ln w="3175">
                  <a:noFill/>
                </a:ln>
                <a:blipFill>
                  <a:blip r:embed="rId4"/>
                  <a:stretch>
                    <a:fillRect t="-26822" b="-26822"/>
                  </a:stretch>
                </a:blipFill>
                <a:effectLst/>
                <a:uLnTx/>
                <a:uFillTx/>
                <a:latin typeface="Segoe Sans Display Semibold"/>
                <a:ea typeface="+mn-ea"/>
                <a:cs typeface="Segoe Sans Display Semibold" pitchFamily="2" charset="0"/>
              </a:rPr>
              <a:t>Output</a:t>
            </a:r>
            <a:r>
              <a:rPr kumimoji="0" lang="en-US" sz="1100" b="0" i="0" u="none" strike="noStrike" kern="0" cap="none" spc="0" normalizeH="0" baseline="0" noProof="0">
                <a:ln w="3175">
                  <a:noFill/>
                </a:ln>
                <a:solidFill>
                  <a:srgbClr val="323139"/>
                </a:solidFill>
                <a:effectLst/>
                <a:uLnTx/>
                <a:uFillTx/>
                <a:latin typeface="Segoe Sans Display Semibold"/>
                <a:ea typeface="+mn-ea"/>
                <a:cs typeface="Segoe Sans Display Semibold" pitchFamily="2" charset="0"/>
              </a:rPr>
              <a:t>: </a:t>
            </a:r>
            <a:r>
              <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rPr>
              <a:t>An inclusive HR Coordinator job posting in Word, with off-putting wording flagged, and a ticket summary highlighting today’s high-priority open items.</a:t>
            </a:r>
          </a:p>
        </p:txBody>
      </p:sp>
      <p:sp>
        <p:nvSpPr>
          <p:cNvPr id="30" name="TextBox 29">
            <a:extLst>
              <a:ext uri="{FF2B5EF4-FFF2-40B4-BE49-F238E27FC236}">
                <a16:creationId xmlns:a16="http://schemas.microsoft.com/office/drawing/2014/main" id="{4519738B-A618-91E3-CAC4-D99F7E54632B}"/>
              </a:ext>
              <a:ext uri="{C183D7F6-B498-43B3-948B-1728B52AA6E4}">
                <ns0:decorative xmlns:ns0="http://schemas.microsoft.com/office/drawing/2017/decorative" val="1"/>
              </a:ext>
            </a:extLst>
          </p:cNvPr>
          <p:cNvSpPr txBox="1"/>
          <p:nvPr/>
        </p:nvSpPr>
        <p:spPr>
          <a:xfrm>
            <a:off x="8867052" y="119383"/>
            <a:ext cx="3092209" cy="338554"/>
          </a:xfrm>
          <a:prstGeom prst="roundRect">
            <a:avLst>
              <a:gd name="adj" fmla="val 19537"/>
            </a:avLst>
          </a:prstGeom>
          <a:solidFill>
            <a:srgbClr val="CB85FF">
              <a:lumMod val="20000"/>
              <a:lumOff val="80000"/>
            </a:srgbClr>
          </a:solidFill>
        </p:spPr>
        <p:txBody>
          <a:bodyPr wrap="square" lIns="1188720" tIns="45720" rIns="0" bIns="45720" anchor="ctr">
            <a:noAutofit/>
          </a:bodyPr>
          <a:lstStyle>
            <a:defPPr>
              <a:defRPr lang="en-US"/>
            </a:defPPr>
            <a:lvl1pPr>
              <a:spcAft>
                <a:spcPts val="776"/>
              </a:spcAft>
              <a:defRPr sz="1200">
                <a:latin typeface="+mj-lt"/>
                <a:cs typeface="Segoe Sans Display Semibold" pitchFamily="2" charset="0"/>
              </a:defRPr>
            </a:lvl1pPr>
          </a:lstStyle>
          <a:p>
            <a:pPr marL="0" marR="0" lvl="0" indent="0" algn="l" defTabSz="914294" rtl="0" eaLnBrk="1" fontAlgn="auto" latinLnBrk="0" hangingPunct="1">
              <a:lnSpc>
                <a:spcPct val="100000"/>
              </a:lnSpc>
              <a:spcBef>
                <a:spcPts val="0"/>
              </a:spcBef>
              <a:spcAft>
                <a:spcPts val="776"/>
              </a:spcAft>
              <a:buClrTx/>
              <a:buSzTx/>
              <a:buFontTx/>
              <a:buNone/>
              <a:tabLst/>
              <a:defRPr/>
            </a:pPr>
            <a:endParaRPr kumimoji="0" lang="en-US" sz="1200" b="0" i="0" u="none" strike="noStrike" kern="0" cap="none" spc="0" normalizeH="0" baseline="0" noProof="0">
              <a:ln>
                <a:noFill/>
              </a:ln>
              <a:solidFill>
                <a:srgbClr val="323139"/>
              </a:solidFill>
              <a:effectLst/>
              <a:uLnTx/>
              <a:uFillTx/>
              <a:latin typeface="Segoe Sans Display"/>
              <a:ea typeface="+mn-ea"/>
              <a:cs typeface="Segoe Sans Display Semibold" pitchFamily="2" charset="0"/>
            </a:endParaRPr>
          </a:p>
        </p:txBody>
      </p:sp>
      <p:sp>
        <p:nvSpPr>
          <p:cNvPr id="31" name="TextBox 30">
            <a:extLst>
              <a:ext uri="{FF2B5EF4-FFF2-40B4-BE49-F238E27FC236}">
                <a16:creationId xmlns:a16="http://schemas.microsoft.com/office/drawing/2014/main" id="{4B310F6E-1BD3-CF01-32AD-647BCF12AC0F}"/>
              </a:ext>
            </a:extLst>
          </p:cNvPr>
          <p:cNvSpPr txBox="1"/>
          <p:nvPr/>
        </p:nvSpPr>
        <p:spPr>
          <a:xfrm>
            <a:off x="8942688" y="173878"/>
            <a:ext cx="1280160" cy="233352"/>
          </a:xfrm>
          <a:prstGeom prst="roundRect">
            <a:avLst>
              <a:gd name="adj" fmla="val 16151"/>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5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defRPr lang="en-US"/>
            </a:defPPr>
            <a:lvl1pPr algn="ctr" defTabSz="932765" fontAlgn="base">
              <a:spcBef>
                <a:spcPct val="0"/>
              </a:spcBef>
              <a:spcAft>
                <a:spcPct val="0"/>
              </a:spcAft>
              <a:defRPr sz="1600">
                <a:solidFill>
                  <a:schemeClr val="accent1"/>
                </a:solidFill>
                <a:latin typeface="+mj-lt"/>
                <a:cs typeface="Segoe Sans Display Semibold" pitchFamily="2" charset="0"/>
              </a:defRPr>
            </a:lvl1pPr>
          </a:lstStyle>
          <a:p>
            <a:pPr marL="0" marR="0" lvl="0" indent="0" algn="l" defTabSz="932765" rtl="0" eaLnBrk="1" fontAlgn="base" latinLnBrk="0" hangingPunct="1">
              <a:lnSpc>
                <a:spcPct val="100000"/>
              </a:lnSpc>
              <a:spcBef>
                <a:spcPct val="0"/>
              </a:spcBef>
              <a:spcAft>
                <a:spcPct val="0"/>
              </a:spcAft>
              <a:buClrTx/>
              <a:buSzTx/>
              <a:buFontTx/>
              <a:buNone/>
              <a:tabLst/>
              <a:defRPr/>
            </a:pPr>
            <a:r>
              <a:rPr kumimoji="0" lang="en-IN" sz="1050" b="0" i="0" u="none" strike="noStrike" kern="0" cap="none" spc="0" normalizeH="0" baseline="0" noProof="0">
                <a:ln>
                  <a:noFill/>
                </a:ln>
                <a:solidFill>
                  <a:srgbClr val="323139"/>
                </a:solidFill>
                <a:effectLst/>
                <a:uLnTx/>
                <a:uFillTx/>
                <a:latin typeface="Segoe Sans Display"/>
                <a:ea typeface="+mn-ea"/>
                <a:cs typeface="Segoe Sans Display Semibold" pitchFamily="2" charset="0"/>
              </a:rPr>
              <a:t>Function</a:t>
            </a:r>
          </a:p>
        </p:txBody>
      </p:sp>
      <p:sp>
        <p:nvSpPr>
          <p:cNvPr id="50" name="TextBox 49">
            <a:extLst>
              <a:ext uri="{FF2B5EF4-FFF2-40B4-BE49-F238E27FC236}">
                <a16:creationId xmlns:a16="http://schemas.microsoft.com/office/drawing/2014/main" id="{0CE10D15-83B7-7915-49A3-0BD3A21E9731}"/>
              </a:ext>
            </a:extLst>
          </p:cNvPr>
          <p:cNvSpPr txBox="1"/>
          <p:nvPr/>
        </p:nvSpPr>
        <p:spPr>
          <a:xfrm>
            <a:off x="10298483" y="173490"/>
            <a:ext cx="1668779" cy="253916"/>
          </a:xfrm>
          <a:prstGeom prst="rect">
            <a:avLst/>
          </a:prstGeom>
          <a:noFill/>
        </p:spPr>
        <p:txBody>
          <a:bodyPr wrap="square">
            <a:spAutoFit/>
          </a:bodyPr>
          <a:lstStyle/>
          <a:p>
            <a:pPr marL="0" marR="0" lvl="0" indent="0" algn="l" defTabSz="914294"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323139"/>
                </a:solidFill>
                <a:effectLst/>
                <a:uLnTx/>
                <a:uFillTx/>
                <a:latin typeface="Segoe Sans Display"/>
                <a:ea typeface="+mn-ea"/>
                <a:cs typeface="Segoe Sans Display"/>
              </a:rPr>
              <a:t>HR · Talent &amp; Ops</a:t>
            </a:r>
          </a:p>
        </p:txBody>
      </p:sp>
      <p:sp>
        <p:nvSpPr>
          <p:cNvPr id="59" name="Rectangle: Rounded Corners 58">
            <a:extLst>
              <a:ext uri="{FF2B5EF4-FFF2-40B4-BE49-F238E27FC236}">
                <a16:creationId xmlns:a16="http://schemas.microsoft.com/office/drawing/2014/main" id="{4A73329A-1917-C156-E817-2B9E2D56CBE1}"/>
              </a:ext>
              <a:ext uri="{C183D7F6-B498-43B3-948B-1728B52AA6E4}">
                <ns1:decorative xmlns:ns1="http://schemas.microsoft.com/office/drawing/2017/decorative" val="1"/>
              </a:ext>
            </a:extLst>
          </p:cNvPr>
          <p:cNvSpPr/>
          <p:nvPr/>
        </p:nvSpPr>
        <p:spPr bwMode="auto">
          <a:xfrm>
            <a:off x="424381" y="2312313"/>
            <a:ext cx="7171849" cy="4327573"/>
          </a:xfrm>
          <a:prstGeom prst="roundRect">
            <a:avLst>
              <a:gd name="adj" fmla="val 1683"/>
            </a:avLst>
          </a:prstGeom>
          <a:solidFill>
            <a:srgbClr val="FFF9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B553FF"/>
              </a:solidFill>
              <a:effectLst/>
              <a:uLnTx/>
              <a:uFillTx/>
              <a:latin typeface="Segoe Sans Display Semibold" pitchFamily="2" charset="0"/>
              <a:ea typeface="+mn-ea"/>
              <a:cs typeface="Segoe Sans Display Semibold" pitchFamily="2" charset="0"/>
            </a:endParaRPr>
          </a:p>
        </p:txBody>
      </p:sp>
      <p:grpSp>
        <p:nvGrpSpPr>
          <p:cNvPr id="79" name="Group 78">
            <a:extLst>
              <a:ext uri="{FF2B5EF4-FFF2-40B4-BE49-F238E27FC236}">
                <a16:creationId xmlns:a16="http://schemas.microsoft.com/office/drawing/2014/main" id="{B857CF20-AAD8-92CD-98E7-73BD8662071B}"/>
              </a:ext>
            </a:extLst>
          </p:cNvPr>
          <p:cNvGrpSpPr/>
          <p:nvPr/>
        </p:nvGrpSpPr>
        <p:grpSpPr>
          <a:xfrm>
            <a:off x="199916" y="775485"/>
            <a:ext cx="398477" cy="398477"/>
            <a:chOff x="3403308" y="1083220"/>
            <a:chExt cx="398477" cy="398477"/>
          </a:xfrm>
        </p:grpSpPr>
        <p:sp>
          <p:nvSpPr>
            <p:cNvPr id="76" name="Oval 75">
              <a:extLst>
                <a:ext uri="{FF2B5EF4-FFF2-40B4-BE49-F238E27FC236}">
                  <a16:creationId xmlns:a16="http://schemas.microsoft.com/office/drawing/2014/main" id="{159C5AC1-FC57-57FC-51C9-4DC5847B88F1}"/>
                </a:ext>
                <a:ext uri="{C183D7F6-B498-43B3-948B-1728B52AA6E4}">
                  <ns2:decorative xmlns:ns2="http://schemas.microsoft.com/office/drawing/2017/decorative" val="1"/>
                </a:ext>
              </a:extLst>
            </p:cNvPr>
            <p:cNvSpPr/>
            <p:nvPr/>
          </p:nvSpPr>
          <p:spPr>
            <a:xfrm>
              <a:off x="3403308" y="1083220"/>
              <a:ext cx="398477" cy="398477"/>
            </a:xfrm>
            <a:prstGeom prst="ellipse">
              <a:avLst/>
            </a:prstGeom>
            <a:solidFill>
              <a:srgbClr val="FFF9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2" name="Graphic 5">
              <a:extLst>
                <a:ext uri="{FF2B5EF4-FFF2-40B4-BE49-F238E27FC236}">
                  <a16:creationId xmlns:a16="http://schemas.microsoft.com/office/drawing/2014/main" id="{9F306AE4-27E6-F02E-E553-1EF2C3FBAF65}"/>
                </a:ext>
                <a:ext uri="{C183D7F6-B498-43B3-948B-1728B52AA6E4}">
                  <adec:decorative xmlns:adec="http://schemas.microsoft.com/office/drawing/2017/decorative" val="1"/>
                </a:ext>
              </a:extLst>
            </p:cNvPr>
            <p:cNvSpPr>
              <a:spLocks/>
            </p:cNvSpPr>
            <p:nvPr/>
          </p:nvSpPr>
          <p:spPr>
            <a:xfrm>
              <a:off x="3474676" y="1157049"/>
              <a:ext cx="250822" cy="250818"/>
            </a:xfrm>
            <a:custGeom>
              <a:avLst/>
              <a:gdLst>
                <a:gd name="csX0" fmla="*/ 188408 w 190501"/>
                <a:gd name="csY0" fmla="*/ 45534 h 190500"/>
                <a:gd name="csX1" fmla="*/ 189957 w 190501"/>
                <a:gd name="csY1" fmla="*/ 37748 h 190500"/>
                <a:gd name="csX2" fmla="*/ 183357 w 190501"/>
                <a:gd name="csY2" fmla="*/ 33338 h 190500"/>
                <a:gd name="csX3" fmla="*/ 157162 w 190501"/>
                <a:gd name="csY3" fmla="*/ 33338 h 190500"/>
                <a:gd name="csX4" fmla="*/ 157162 w 190501"/>
                <a:gd name="csY4" fmla="*/ 7144 h 190500"/>
                <a:gd name="csX5" fmla="*/ 152751 w 190501"/>
                <a:gd name="csY5" fmla="*/ 544 h 190500"/>
                <a:gd name="csX6" fmla="*/ 144967 w 190501"/>
                <a:gd name="csY6" fmla="*/ 2093 h 190500"/>
                <a:gd name="csX7" fmla="*/ 121155 w 190501"/>
                <a:gd name="csY7" fmla="*/ 25906 h 190500"/>
                <a:gd name="csX8" fmla="*/ 119063 w 190501"/>
                <a:gd name="csY8" fmla="*/ 30957 h 190500"/>
                <a:gd name="csX9" fmla="*/ 119063 w 190501"/>
                <a:gd name="csY9" fmla="*/ 57967 h 190500"/>
                <a:gd name="csX10" fmla="*/ 100185 w 190501"/>
                <a:gd name="csY10" fmla="*/ 76846 h 190500"/>
                <a:gd name="csX11" fmla="*/ 95250 w 190501"/>
                <a:gd name="csY11" fmla="*/ 76201 h 190500"/>
                <a:gd name="csX12" fmla="*/ 76200 w 190501"/>
                <a:gd name="csY12" fmla="*/ 95251 h 190500"/>
                <a:gd name="csX13" fmla="*/ 95250 w 190501"/>
                <a:gd name="csY13" fmla="*/ 114301 h 190500"/>
                <a:gd name="csX14" fmla="*/ 114300 w 190501"/>
                <a:gd name="csY14" fmla="*/ 95251 h 190500"/>
                <a:gd name="csX15" fmla="*/ 113655 w 190501"/>
                <a:gd name="csY15" fmla="*/ 90316 h 190500"/>
                <a:gd name="csX16" fmla="*/ 132533 w 190501"/>
                <a:gd name="csY16" fmla="*/ 71438 h 190500"/>
                <a:gd name="csX17" fmla="*/ 159545 w 190501"/>
                <a:gd name="csY17" fmla="*/ 71438 h 190500"/>
                <a:gd name="csX18" fmla="*/ 164596 w 190501"/>
                <a:gd name="csY18" fmla="*/ 69346 h 190500"/>
                <a:gd name="csX19" fmla="*/ 188408 w 190501"/>
                <a:gd name="csY19" fmla="*/ 45534 h 190500"/>
                <a:gd name="csX20" fmla="*/ 95250 w 190501"/>
                <a:gd name="csY20" fmla="*/ 1 h 190500"/>
                <a:gd name="csX21" fmla="*/ 127860 w 190501"/>
                <a:gd name="csY21" fmla="*/ 5729 h 190500"/>
                <a:gd name="csX22" fmla="*/ 114419 w 190501"/>
                <a:gd name="csY22" fmla="*/ 19170 h 190500"/>
                <a:gd name="csX23" fmla="*/ 112781 w 190501"/>
                <a:gd name="csY23" fmla="*/ 21077 h 190500"/>
                <a:gd name="csX24" fmla="*/ 95250 w 190501"/>
                <a:gd name="csY24" fmla="*/ 19051 h 190500"/>
                <a:gd name="csX25" fmla="*/ 19050 w 190501"/>
                <a:gd name="csY25" fmla="*/ 95251 h 190500"/>
                <a:gd name="csX26" fmla="*/ 95250 w 190501"/>
                <a:gd name="csY26" fmla="*/ 171451 h 190500"/>
                <a:gd name="csX27" fmla="*/ 171450 w 190501"/>
                <a:gd name="csY27" fmla="*/ 95251 h 190500"/>
                <a:gd name="csX28" fmla="*/ 169424 w 190501"/>
                <a:gd name="csY28" fmla="*/ 77720 h 190500"/>
                <a:gd name="csX29" fmla="*/ 171331 w 190501"/>
                <a:gd name="csY29" fmla="*/ 76081 h 190500"/>
                <a:gd name="csX30" fmla="*/ 184772 w 190501"/>
                <a:gd name="csY30" fmla="*/ 62641 h 190500"/>
                <a:gd name="csX31" fmla="*/ 190500 w 190501"/>
                <a:gd name="csY31" fmla="*/ 95251 h 190500"/>
                <a:gd name="csX32" fmla="*/ 95250 w 190501"/>
                <a:gd name="csY32" fmla="*/ 190501 h 190500"/>
                <a:gd name="csX33" fmla="*/ 0 w 190501"/>
                <a:gd name="csY33" fmla="*/ 95251 h 190500"/>
                <a:gd name="csX34" fmla="*/ 95250 w 190501"/>
                <a:gd name="csY34" fmla="*/ 1 h 190500"/>
                <a:gd name="csX35" fmla="*/ 95250 w 190501"/>
                <a:gd name="csY35" fmla="*/ 38101 h 190500"/>
                <a:gd name="csX36" fmla="*/ 109538 w 190501"/>
                <a:gd name="csY36" fmla="*/ 39901 h 190500"/>
                <a:gd name="csX37" fmla="*/ 109538 w 190501"/>
                <a:gd name="csY37" fmla="*/ 54021 h 190500"/>
                <a:gd name="csX38" fmla="*/ 105592 w 190501"/>
                <a:gd name="csY38" fmla="*/ 57968 h 190500"/>
                <a:gd name="csX39" fmla="*/ 105131 w 190501"/>
                <a:gd name="csY39" fmla="*/ 58444 h 190500"/>
                <a:gd name="csX40" fmla="*/ 95250 w 190501"/>
                <a:gd name="csY40" fmla="*/ 57151 h 190500"/>
                <a:gd name="csX41" fmla="*/ 57150 w 190501"/>
                <a:gd name="csY41" fmla="*/ 95251 h 190500"/>
                <a:gd name="csX42" fmla="*/ 95250 w 190501"/>
                <a:gd name="csY42" fmla="*/ 133351 h 190500"/>
                <a:gd name="csX43" fmla="*/ 133350 w 190501"/>
                <a:gd name="csY43" fmla="*/ 95251 h 190500"/>
                <a:gd name="csX44" fmla="*/ 132057 w 190501"/>
                <a:gd name="csY44" fmla="*/ 85369 h 190500"/>
                <a:gd name="csX45" fmla="*/ 132533 w 190501"/>
                <a:gd name="csY45" fmla="*/ 84909 h 190500"/>
                <a:gd name="csX46" fmla="*/ 136478 w 190501"/>
                <a:gd name="csY46" fmla="*/ 80963 h 190500"/>
                <a:gd name="csX47" fmla="*/ 150600 w 190501"/>
                <a:gd name="csY47" fmla="*/ 80963 h 190500"/>
                <a:gd name="csX48" fmla="*/ 152400 w 190501"/>
                <a:gd name="csY48" fmla="*/ 95251 h 190500"/>
                <a:gd name="csX49" fmla="*/ 95250 w 190501"/>
                <a:gd name="csY49" fmla="*/ 152401 h 190500"/>
                <a:gd name="csX50" fmla="*/ 38100 w 190501"/>
                <a:gd name="csY50" fmla="*/ 95251 h 190500"/>
                <a:gd name="csX51" fmla="*/ 95250 w 190501"/>
                <a:gd name="csY51" fmla="*/ 38101 h 190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Lst>
              <a:rect l="l" t="t" r="r" b="b"/>
              <a:pathLst>
                <a:path w="190501" h="190500">
                  <a:moveTo>
                    <a:pt x="188408" y="45534"/>
                  </a:moveTo>
                  <a:cubicBezTo>
                    <a:pt x="190452" y="43491"/>
                    <a:pt x="191063" y="40418"/>
                    <a:pt x="189957" y="37748"/>
                  </a:cubicBezTo>
                  <a:cubicBezTo>
                    <a:pt x="188852" y="35079"/>
                    <a:pt x="186247" y="33338"/>
                    <a:pt x="183357" y="33338"/>
                  </a:cubicBezTo>
                  <a:lnTo>
                    <a:pt x="157162" y="33338"/>
                  </a:lnTo>
                  <a:lnTo>
                    <a:pt x="157162" y="7144"/>
                  </a:lnTo>
                  <a:cubicBezTo>
                    <a:pt x="157162" y="4255"/>
                    <a:pt x="155421" y="1650"/>
                    <a:pt x="152751" y="544"/>
                  </a:cubicBezTo>
                  <a:cubicBezTo>
                    <a:pt x="150083" y="-562"/>
                    <a:pt x="147010" y="50"/>
                    <a:pt x="144967" y="2093"/>
                  </a:cubicBezTo>
                  <a:lnTo>
                    <a:pt x="121155" y="25906"/>
                  </a:lnTo>
                  <a:cubicBezTo>
                    <a:pt x="119815" y="27246"/>
                    <a:pt x="119063" y="29063"/>
                    <a:pt x="119063" y="30957"/>
                  </a:cubicBezTo>
                  <a:lnTo>
                    <a:pt x="119063" y="57967"/>
                  </a:lnTo>
                  <a:lnTo>
                    <a:pt x="100185" y="76846"/>
                  </a:lnTo>
                  <a:cubicBezTo>
                    <a:pt x="98610" y="76425"/>
                    <a:pt x="96957" y="76201"/>
                    <a:pt x="95250" y="76201"/>
                  </a:cubicBezTo>
                  <a:cubicBezTo>
                    <a:pt x="84729" y="76201"/>
                    <a:pt x="76200" y="84730"/>
                    <a:pt x="76200" y="95251"/>
                  </a:cubicBezTo>
                  <a:cubicBezTo>
                    <a:pt x="76200" y="105771"/>
                    <a:pt x="84729" y="114301"/>
                    <a:pt x="95250" y="114301"/>
                  </a:cubicBezTo>
                  <a:cubicBezTo>
                    <a:pt x="105771" y="114301"/>
                    <a:pt x="114300" y="105771"/>
                    <a:pt x="114300" y="95251"/>
                  </a:cubicBezTo>
                  <a:cubicBezTo>
                    <a:pt x="114300" y="93544"/>
                    <a:pt x="114075" y="91891"/>
                    <a:pt x="113655" y="90316"/>
                  </a:cubicBezTo>
                  <a:lnTo>
                    <a:pt x="132533" y="71438"/>
                  </a:lnTo>
                  <a:lnTo>
                    <a:pt x="159545" y="71438"/>
                  </a:lnTo>
                  <a:cubicBezTo>
                    <a:pt x="161439" y="71438"/>
                    <a:pt x="163256" y="70686"/>
                    <a:pt x="164596" y="69346"/>
                  </a:cubicBezTo>
                  <a:lnTo>
                    <a:pt x="188408" y="45534"/>
                  </a:lnTo>
                  <a:close/>
                  <a:moveTo>
                    <a:pt x="95250" y="1"/>
                  </a:moveTo>
                  <a:cubicBezTo>
                    <a:pt x="106705" y="1"/>
                    <a:pt x="117687" y="2023"/>
                    <a:pt x="127860" y="5729"/>
                  </a:cubicBezTo>
                  <a:lnTo>
                    <a:pt x="114419" y="19170"/>
                  </a:lnTo>
                  <a:cubicBezTo>
                    <a:pt x="113823" y="19767"/>
                    <a:pt x="113275" y="20405"/>
                    <a:pt x="112781" y="21077"/>
                  </a:cubicBezTo>
                  <a:cubicBezTo>
                    <a:pt x="107152" y="19752"/>
                    <a:pt x="101283" y="19051"/>
                    <a:pt x="95250" y="19051"/>
                  </a:cubicBezTo>
                  <a:cubicBezTo>
                    <a:pt x="53166" y="19051"/>
                    <a:pt x="19050" y="53166"/>
                    <a:pt x="19050" y="95251"/>
                  </a:cubicBezTo>
                  <a:cubicBezTo>
                    <a:pt x="19050" y="137334"/>
                    <a:pt x="53166" y="171451"/>
                    <a:pt x="95250" y="171451"/>
                  </a:cubicBezTo>
                  <a:cubicBezTo>
                    <a:pt x="137334" y="171451"/>
                    <a:pt x="171450" y="137334"/>
                    <a:pt x="171450" y="95251"/>
                  </a:cubicBezTo>
                  <a:cubicBezTo>
                    <a:pt x="171450" y="89218"/>
                    <a:pt x="170749" y="83348"/>
                    <a:pt x="169424" y="77720"/>
                  </a:cubicBezTo>
                  <a:cubicBezTo>
                    <a:pt x="170096" y="77226"/>
                    <a:pt x="170734" y="76678"/>
                    <a:pt x="171331" y="76081"/>
                  </a:cubicBezTo>
                  <a:lnTo>
                    <a:pt x="184772" y="62641"/>
                  </a:lnTo>
                  <a:cubicBezTo>
                    <a:pt x="188478" y="72813"/>
                    <a:pt x="190500" y="83796"/>
                    <a:pt x="190500" y="95251"/>
                  </a:cubicBezTo>
                  <a:cubicBezTo>
                    <a:pt x="190500" y="147856"/>
                    <a:pt x="147855" y="190501"/>
                    <a:pt x="95250" y="190501"/>
                  </a:cubicBezTo>
                  <a:cubicBezTo>
                    <a:pt x="42645" y="190501"/>
                    <a:pt x="0" y="147856"/>
                    <a:pt x="0" y="95251"/>
                  </a:cubicBezTo>
                  <a:cubicBezTo>
                    <a:pt x="0" y="42645"/>
                    <a:pt x="42645" y="1"/>
                    <a:pt x="95250" y="1"/>
                  </a:cubicBezTo>
                  <a:close/>
                  <a:moveTo>
                    <a:pt x="95250" y="38101"/>
                  </a:moveTo>
                  <a:cubicBezTo>
                    <a:pt x="100184" y="38101"/>
                    <a:pt x="104971" y="38726"/>
                    <a:pt x="109538" y="39901"/>
                  </a:cubicBezTo>
                  <a:lnTo>
                    <a:pt x="109538" y="54021"/>
                  </a:lnTo>
                  <a:lnTo>
                    <a:pt x="105592" y="57968"/>
                  </a:lnTo>
                  <a:cubicBezTo>
                    <a:pt x="105435" y="58125"/>
                    <a:pt x="105282" y="58284"/>
                    <a:pt x="105131" y="58444"/>
                  </a:cubicBezTo>
                  <a:cubicBezTo>
                    <a:pt x="101980" y="57601"/>
                    <a:pt x="98668" y="57151"/>
                    <a:pt x="95250" y="57151"/>
                  </a:cubicBezTo>
                  <a:cubicBezTo>
                    <a:pt x="74208" y="57151"/>
                    <a:pt x="57150" y="74208"/>
                    <a:pt x="57150" y="95251"/>
                  </a:cubicBezTo>
                  <a:cubicBezTo>
                    <a:pt x="57150" y="116293"/>
                    <a:pt x="74208" y="133351"/>
                    <a:pt x="95250" y="133351"/>
                  </a:cubicBezTo>
                  <a:cubicBezTo>
                    <a:pt x="116292" y="133351"/>
                    <a:pt x="133350" y="116293"/>
                    <a:pt x="133350" y="95251"/>
                  </a:cubicBezTo>
                  <a:cubicBezTo>
                    <a:pt x="133350" y="91833"/>
                    <a:pt x="132900" y="88521"/>
                    <a:pt x="132057" y="85369"/>
                  </a:cubicBezTo>
                  <a:cubicBezTo>
                    <a:pt x="132217" y="85219"/>
                    <a:pt x="132376" y="85065"/>
                    <a:pt x="132533" y="84909"/>
                  </a:cubicBezTo>
                  <a:lnTo>
                    <a:pt x="136478" y="80963"/>
                  </a:lnTo>
                  <a:lnTo>
                    <a:pt x="150600" y="80963"/>
                  </a:lnTo>
                  <a:cubicBezTo>
                    <a:pt x="151775" y="85530"/>
                    <a:pt x="152400" y="90317"/>
                    <a:pt x="152400" y="95251"/>
                  </a:cubicBezTo>
                  <a:cubicBezTo>
                    <a:pt x="152400" y="126814"/>
                    <a:pt x="126813" y="152401"/>
                    <a:pt x="95250" y="152401"/>
                  </a:cubicBezTo>
                  <a:cubicBezTo>
                    <a:pt x="63687" y="152401"/>
                    <a:pt x="38100" y="126814"/>
                    <a:pt x="38100" y="95251"/>
                  </a:cubicBezTo>
                  <a:cubicBezTo>
                    <a:pt x="38100" y="63687"/>
                    <a:pt x="63687" y="38101"/>
                    <a:pt x="95250" y="38101"/>
                  </a:cubicBezTo>
                  <a:close/>
                </a:path>
              </a:pathLst>
            </a:custGeom>
            <a:solidFill>
              <a:srgbClr val="323139"/>
            </a:solidFill>
            <a:ln w="10477" cap="flat" cmpd="sng" algn="ctr">
              <a:noFill/>
              <a:prstDash val="solid"/>
              <a:miter/>
            </a:ln>
            <a:effectLst/>
          </p:spPr>
          <p:txBody>
            <a:bodyPr rot="0" spcFirstLastPara="0" vertOverflow="overflow" horzOverflow="overflow" vert="horz" wrap="square" lIns="338011" tIns="270406" rIns="338011" bIns="270406" numCol="1" spcCol="0" rtlCol="0" fromWordArt="0" anchor="t" anchorCtr="0" forceAA="0" compatLnSpc="1">
              <a:prstTxWarp prst="textNoShape">
                <a:avLst/>
              </a:prstTxWarp>
              <a:noAutofit/>
            </a:bodyPr>
            <a:lstStyle/>
            <a:p>
              <a:pPr marL="0" marR="0" lvl="0" indent="0" algn="l" defTabSz="1722411" rtl="0" eaLnBrk="1" fontAlgn="base" latinLnBrk="0" hangingPunct="1">
                <a:lnSpc>
                  <a:spcPct val="100000"/>
                </a:lnSpc>
                <a:spcBef>
                  <a:spcPct val="0"/>
                </a:spcBef>
                <a:spcAft>
                  <a:spcPct val="0"/>
                </a:spcAft>
                <a:buClrTx/>
                <a:buSzTx/>
                <a:buFontTx/>
                <a:buNone/>
                <a:tabLst/>
                <a:defRPr/>
              </a:pPr>
              <a:endParaRPr kumimoji="0" lang="en-US" sz="3622" b="1" i="0" u="none" strike="noStrike" kern="0" cap="none" spc="0" normalizeH="0" baseline="0" noProof="0">
                <a:ln>
                  <a:noFill/>
                </a:ln>
                <a:noFill/>
                <a:effectLst/>
                <a:uLnTx/>
                <a:uFillTx/>
                <a:latin typeface="Segoe UI Variable Display Semibold" pitchFamily="2" charset="0"/>
                <a:ea typeface="+mn-ea"/>
                <a:cs typeface="Segoe UI" pitchFamily="34" charset="0"/>
              </a:endParaRPr>
            </a:p>
          </p:txBody>
        </p:sp>
      </p:grpSp>
      <p:sp>
        <p:nvSpPr>
          <p:cNvPr id="78" name="Oval 77">
            <a:extLst>
              <a:ext uri="{FF2B5EF4-FFF2-40B4-BE49-F238E27FC236}">
                <a16:creationId xmlns:a16="http://schemas.microsoft.com/office/drawing/2014/main" id="{7ABF2AEF-7824-DEF7-C92E-0915DEF41F17}"/>
              </a:ext>
              <a:ext uri="{C183D7F6-B498-43B3-948B-1728B52AA6E4}">
                <ns3:decorative xmlns:ns3="http://schemas.microsoft.com/office/drawing/2017/decorative" val="1"/>
              </a:ext>
            </a:extLst>
          </p:cNvPr>
          <p:cNvSpPr/>
          <p:nvPr/>
        </p:nvSpPr>
        <p:spPr>
          <a:xfrm>
            <a:off x="4122028" y="779171"/>
            <a:ext cx="398477" cy="398477"/>
          </a:xfrm>
          <a:prstGeom prst="ellipse">
            <a:avLst/>
          </a:prstGeom>
          <a:solidFill>
            <a:srgbClr val="FFF9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6" name="Graphic 15">
            <a:extLst>
              <a:ext uri="{FF2B5EF4-FFF2-40B4-BE49-F238E27FC236}">
                <a16:creationId xmlns:a16="http://schemas.microsoft.com/office/drawing/2014/main" id="{09721564-91C5-D7C7-A65B-CFCBCAAA8285}"/>
              </a:ext>
              <a:ext uri="{C183D7F6-B498-43B3-948B-1728B52AA6E4}">
                <adec:decorative xmlns:adec="http://schemas.microsoft.com/office/drawing/2017/decorative" val="1"/>
              </a:ext>
            </a:extLst>
          </p:cNvPr>
          <p:cNvSpPr>
            <a:spLocks/>
          </p:cNvSpPr>
          <p:nvPr/>
        </p:nvSpPr>
        <p:spPr>
          <a:xfrm>
            <a:off x="4172482" y="836452"/>
            <a:ext cx="297568" cy="252931"/>
          </a:xfrm>
          <a:custGeom>
            <a:avLst/>
            <a:gdLst>
              <a:gd name="csX0" fmla="*/ 147926 w 190499"/>
              <a:gd name="csY0" fmla="*/ 2092 h 161924"/>
              <a:gd name="csX1" fmla="*/ 137824 w 190499"/>
              <a:gd name="csY1" fmla="*/ 2092 h 161924"/>
              <a:gd name="csX2" fmla="*/ 137824 w 190499"/>
              <a:gd name="csY2" fmla="*/ 12195 h 161924"/>
              <a:gd name="csX3" fmla="*/ 166109 w 190499"/>
              <a:gd name="csY3" fmla="*/ 40481 h 161924"/>
              <a:gd name="csX4" fmla="*/ 119063 w 190499"/>
              <a:gd name="csY4" fmla="*/ 40481 h 161924"/>
              <a:gd name="csX5" fmla="*/ 88106 w 190499"/>
              <a:gd name="csY5" fmla="*/ 71437 h 161924"/>
              <a:gd name="csX6" fmla="*/ 88106 w 190499"/>
              <a:gd name="csY6" fmla="*/ 100012 h 161924"/>
              <a:gd name="csX7" fmla="*/ 75437 w 190499"/>
              <a:gd name="csY7" fmla="*/ 116198 h 161924"/>
              <a:gd name="csX8" fmla="*/ 38100 w 190499"/>
              <a:gd name="csY8" fmla="*/ 85725 h 161924"/>
              <a:gd name="csX9" fmla="*/ 0 w 190499"/>
              <a:gd name="csY9" fmla="*/ 123825 h 161924"/>
              <a:gd name="csX10" fmla="*/ 38100 w 190499"/>
              <a:gd name="csY10" fmla="*/ 161925 h 161924"/>
              <a:gd name="csX11" fmla="*/ 75582 w 190499"/>
              <a:gd name="csY11" fmla="*/ 130693 h 161924"/>
              <a:gd name="csX12" fmla="*/ 102394 w 190499"/>
              <a:gd name="csY12" fmla="*/ 100012 h 161924"/>
              <a:gd name="csX13" fmla="*/ 102394 w 190499"/>
              <a:gd name="csY13" fmla="*/ 71437 h 161924"/>
              <a:gd name="csX14" fmla="*/ 119063 w 190499"/>
              <a:gd name="csY14" fmla="*/ 54769 h 161924"/>
              <a:gd name="csX15" fmla="*/ 166109 w 190499"/>
              <a:gd name="csY15" fmla="*/ 54769 h 161924"/>
              <a:gd name="csX16" fmla="*/ 137824 w 190499"/>
              <a:gd name="csY16" fmla="*/ 83055 h 161924"/>
              <a:gd name="csX17" fmla="*/ 137824 w 190499"/>
              <a:gd name="csY17" fmla="*/ 93157 h 161924"/>
              <a:gd name="csX18" fmla="*/ 147926 w 190499"/>
              <a:gd name="csY18" fmla="*/ 93157 h 161924"/>
              <a:gd name="csX19" fmla="*/ 188407 w 190499"/>
              <a:gd name="csY19" fmla="*/ 52676 h 161924"/>
              <a:gd name="csX20" fmla="*/ 188407 w 190499"/>
              <a:gd name="csY20" fmla="*/ 42574 h 161924"/>
              <a:gd name="csX21" fmla="*/ 147926 w 190499"/>
              <a:gd name="csY21" fmla="*/ 2092 h 1619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190499" h="161924">
                <a:moveTo>
                  <a:pt x="147926" y="2092"/>
                </a:moveTo>
                <a:cubicBezTo>
                  <a:pt x="145136" y="-697"/>
                  <a:pt x="140614" y="-697"/>
                  <a:pt x="137824" y="2092"/>
                </a:cubicBezTo>
                <a:cubicBezTo>
                  <a:pt x="135034" y="4882"/>
                  <a:pt x="135034" y="9405"/>
                  <a:pt x="137824" y="12195"/>
                </a:cubicBezTo>
                <a:lnTo>
                  <a:pt x="166109" y="40481"/>
                </a:lnTo>
                <a:lnTo>
                  <a:pt x="119063" y="40481"/>
                </a:lnTo>
                <a:cubicBezTo>
                  <a:pt x="101966" y="40481"/>
                  <a:pt x="88106" y="54341"/>
                  <a:pt x="88106" y="71437"/>
                </a:cubicBezTo>
                <a:lnTo>
                  <a:pt x="88106" y="100012"/>
                </a:lnTo>
                <a:cubicBezTo>
                  <a:pt x="88106" y="107840"/>
                  <a:pt x="82711" y="114408"/>
                  <a:pt x="75437" y="116198"/>
                </a:cubicBezTo>
                <a:cubicBezTo>
                  <a:pt x="71904" y="98811"/>
                  <a:pt x="56530" y="85725"/>
                  <a:pt x="38100" y="85725"/>
                </a:cubicBezTo>
                <a:cubicBezTo>
                  <a:pt x="17058" y="85725"/>
                  <a:pt x="0" y="102783"/>
                  <a:pt x="0" y="123825"/>
                </a:cubicBezTo>
                <a:cubicBezTo>
                  <a:pt x="0" y="144867"/>
                  <a:pt x="17058" y="161925"/>
                  <a:pt x="38100" y="161925"/>
                </a:cubicBezTo>
                <a:cubicBezTo>
                  <a:pt x="56797" y="161925"/>
                  <a:pt x="72348" y="148458"/>
                  <a:pt x="75582" y="130693"/>
                </a:cubicBezTo>
                <a:cubicBezTo>
                  <a:pt x="90719" y="128668"/>
                  <a:pt x="102394" y="115704"/>
                  <a:pt x="102394" y="100012"/>
                </a:cubicBezTo>
                <a:lnTo>
                  <a:pt x="102394" y="71437"/>
                </a:lnTo>
                <a:cubicBezTo>
                  <a:pt x="102394" y="62232"/>
                  <a:pt x="109857" y="54769"/>
                  <a:pt x="119063" y="54769"/>
                </a:cubicBezTo>
                <a:lnTo>
                  <a:pt x="166109" y="54769"/>
                </a:lnTo>
                <a:lnTo>
                  <a:pt x="137824" y="83055"/>
                </a:lnTo>
                <a:cubicBezTo>
                  <a:pt x="135034" y="85845"/>
                  <a:pt x="135034" y="90367"/>
                  <a:pt x="137824" y="93157"/>
                </a:cubicBezTo>
                <a:cubicBezTo>
                  <a:pt x="140614" y="95947"/>
                  <a:pt x="145136" y="95947"/>
                  <a:pt x="147926" y="93157"/>
                </a:cubicBezTo>
                <a:lnTo>
                  <a:pt x="188407" y="52676"/>
                </a:lnTo>
                <a:cubicBezTo>
                  <a:pt x="191197" y="49887"/>
                  <a:pt x="191197" y="45363"/>
                  <a:pt x="188407" y="42574"/>
                </a:cubicBezTo>
                <a:lnTo>
                  <a:pt x="147926" y="2092"/>
                </a:lnTo>
                <a:close/>
              </a:path>
            </a:pathLst>
          </a:custGeom>
          <a:solidFill>
            <a:srgbClr val="323139"/>
          </a:solidFill>
          <a:ln w="10477" cap="flat" cmpd="sng" algn="ctr">
            <a:noFill/>
            <a:prstDash val="solid"/>
            <a:miter/>
          </a:ln>
          <a:effectLst/>
        </p:spPr>
        <p:txBody>
          <a:bodyPr rot="0" spcFirstLastPara="0" vertOverflow="overflow" horzOverflow="overflow" vert="horz" wrap="square" lIns="338011" tIns="270406" rIns="338011" bIns="270406" numCol="1" spcCol="0" rtlCol="0" fromWordArt="0" anchor="t" anchorCtr="0" forceAA="0" compatLnSpc="1">
            <a:prstTxWarp prst="textNoShape">
              <a:avLst/>
            </a:prstTxWarp>
            <a:noAutofit/>
          </a:bodyPr>
          <a:lstStyle/>
          <a:p>
            <a:pPr marL="0" marR="0" lvl="0" indent="0" algn="l" defTabSz="1722411" rtl="0" eaLnBrk="1" fontAlgn="base" latinLnBrk="0" hangingPunct="1">
              <a:lnSpc>
                <a:spcPct val="100000"/>
              </a:lnSpc>
              <a:spcBef>
                <a:spcPct val="0"/>
              </a:spcBef>
              <a:spcAft>
                <a:spcPct val="0"/>
              </a:spcAft>
              <a:buClrTx/>
              <a:buSzTx/>
              <a:buFontTx/>
              <a:buNone/>
              <a:tabLst/>
              <a:defRPr/>
            </a:pPr>
            <a:endParaRPr kumimoji="0" lang="en-US" sz="3622" b="1" i="0" u="none" strike="noStrike" kern="0" cap="none" spc="0" normalizeH="0" baseline="0" noProof="0">
              <a:ln>
                <a:noFill/>
              </a:ln>
              <a:noFill/>
              <a:effectLst/>
              <a:uLnTx/>
              <a:uFillTx/>
              <a:latin typeface="Segoe UI Variable Display Semibold" pitchFamily="2" charset="0"/>
              <a:ea typeface="+mn-ea"/>
              <a:cs typeface="Segoe UI" pitchFamily="34" charset="0"/>
            </a:endParaRPr>
          </a:p>
        </p:txBody>
      </p:sp>
      <p:grpSp>
        <p:nvGrpSpPr>
          <p:cNvPr id="83" name="Group 82">
            <a:extLst>
              <a:ext uri="{FF2B5EF4-FFF2-40B4-BE49-F238E27FC236}">
                <a16:creationId xmlns:a16="http://schemas.microsoft.com/office/drawing/2014/main" id="{5A0CBAFC-5DED-D3E2-18ED-E34B74CAE926}"/>
              </a:ext>
            </a:extLst>
          </p:cNvPr>
          <p:cNvGrpSpPr/>
          <p:nvPr/>
        </p:nvGrpSpPr>
        <p:grpSpPr>
          <a:xfrm>
            <a:off x="3261739" y="2189487"/>
            <a:ext cx="1534355" cy="276999"/>
            <a:chOff x="3261739" y="2189487"/>
            <a:chExt cx="1534355" cy="276999"/>
          </a:xfrm>
        </p:grpSpPr>
        <p:sp>
          <p:nvSpPr>
            <p:cNvPr id="82" name="Rectangle: Rounded Corners 81">
              <a:extLst>
                <a:ext uri="{FF2B5EF4-FFF2-40B4-BE49-F238E27FC236}">
                  <a16:creationId xmlns:a16="http://schemas.microsoft.com/office/drawing/2014/main" id="{A21A551A-DE36-A716-13EE-21F822622FD5}"/>
                </a:ext>
                <a:ext uri="{C183D7F6-B498-43B3-948B-1728B52AA6E4}">
                  <ns4:decorative xmlns:ns4="http://schemas.microsoft.com/office/drawing/2017/decorative" val="1"/>
                </a:ext>
              </a:extLst>
            </p:cNvPr>
            <p:cNvSpPr/>
            <p:nvPr/>
          </p:nvSpPr>
          <p:spPr bwMode="auto">
            <a:xfrm>
              <a:off x="3261739" y="2213019"/>
              <a:ext cx="1534355" cy="244283"/>
            </a:xfrm>
            <a:prstGeom prst="roundRect">
              <a:avLst>
                <a:gd name="adj" fmla="val 50000"/>
              </a:avLst>
            </a:prstGeom>
            <a:solidFill>
              <a:srgbClr val="F3E5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endParaRPr>
            </a:p>
          </p:txBody>
        </p:sp>
        <p:sp>
          <p:nvSpPr>
            <p:cNvPr id="63" name="TextBox 62">
              <a:extLst>
                <a:ext uri="{FF2B5EF4-FFF2-40B4-BE49-F238E27FC236}">
                  <a16:creationId xmlns:a16="http://schemas.microsoft.com/office/drawing/2014/main" id="{197D0AEB-8A07-B4D6-7F33-85429D49214C}"/>
                </a:ext>
              </a:extLst>
            </p:cNvPr>
            <p:cNvSpPr txBox="1"/>
            <p:nvPr/>
          </p:nvSpPr>
          <p:spPr>
            <a:xfrm>
              <a:off x="3655077" y="2189487"/>
              <a:ext cx="710452"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Prompt</a:t>
              </a:r>
              <a:endParaRPr kumimoji="0" lang="en-IN" sz="12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endParaRPr>
            </a:p>
          </p:txBody>
        </p:sp>
      </p:grpSp>
      <p:sp>
        <p:nvSpPr>
          <p:cNvPr id="98" name="Rectangle: Rounded Corners 97">
            <a:extLst>
              <a:ext uri="{FF2B5EF4-FFF2-40B4-BE49-F238E27FC236}">
                <a16:creationId xmlns:a16="http://schemas.microsoft.com/office/drawing/2014/main" id="{AEBB3E1D-C5FB-7FC9-829F-F4815362ABD2}"/>
              </a:ext>
            </a:extLst>
          </p:cNvPr>
          <p:cNvSpPr/>
          <p:nvPr/>
        </p:nvSpPr>
        <p:spPr bwMode="auto">
          <a:xfrm>
            <a:off x="8334509" y="968486"/>
            <a:ext cx="3621360" cy="1107187"/>
          </a:xfrm>
          <a:prstGeom prst="roundRect">
            <a:avLst>
              <a:gd name="adj" fmla="val 10584"/>
            </a:avLst>
          </a:prstGeom>
          <a:solidFill>
            <a:srgbClr val="341434"/>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r>
              <a:rPr kumimoji="0" lang="en-US" sz="1100" b="1" i="0" u="none" strike="noStrike" kern="0" cap="none" spc="0" normalizeH="0" baseline="0" noProof="0">
                <a:ln>
                  <a:noFill/>
                </a:ln>
                <a:solidFill>
                  <a:prstClr val="white"/>
                </a:solidFill>
                <a:effectLst/>
                <a:uLnTx/>
                <a:uFillTx/>
                <a:latin typeface="Segoe Sans Display Semilight" pitchFamily="2" charset="0"/>
                <a:ea typeface="+mn-ea"/>
                <a:cs typeface="Segoe Sans Display Semilight" pitchFamily="2" charset="0"/>
              </a:rPr>
              <a:t>Why Cowork?: </a:t>
            </a:r>
            <a:r>
              <a:rPr kumimoji="0" lang="en-US" sz="1100" b="0" i="0" u="none" strike="noStrike" kern="0" cap="none" spc="0" normalizeH="0" baseline="0" noProof="0">
                <a:ln>
                  <a:noFill/>
                </a:ln>
                <a:solidFill>
                  <a:prstClr val="white"/>
                </a:solidFill>
                <a:effectLst/>
                <a:uLnTx/>
                <a:uFillTx/>
                <a:latin typeface="Segoe Sans Display Semilight" pitchFamily="2" charset="0"/>
                <a:ea typeface="+mn-ea"/>
                <a:cs typeface="Segoe Sans Display Semilight" pitchFamily="2" charset="0"/>
              </a:rPr>
              <a:t>One task reads a job description and writes a structured document; the other analyzes a spreadsheet and reports on it. Cowork picks the right skills (Word, Excel) for each and grounds both in your files.</a:t>
            </a:r>
            <a:endParaRPr kumimoji="0" lang="en-US" sz="1100" i="0" u="none" strike="noStrike" kern="0" cap="none" spc="0" normalizeH="0" baseline="0" noProof="0">
              <a:ln w="3175">
                <a:noFill/>
              </a:ln>
              <a:solidFill>
                <a:prstClr val="white"/>
              </a:solidFill>
              <a:effectLst/>
              <a:uLnTx/>
              <a:uFillTx/>
              <a:latin typeface="Segoe Sans Display Semilight" pitchFamily="2" charset="0"/>
              <a:cs typeface="Segoe Sans Display Semilight" pitchFamily="2" charset="0"/>
            </a:endParaRPr>
          </a:p>
        </p:txBody>
      </p:sp>
      <p:sp>
        <p:nvSpPr>
          <p:cNvPr id="100" name="Oval 99">
            <a:extLst>
              <a:ext uri="{FF2B5EF4-FFF2-40B4-BE49-F238E27FC236}">
                <a16:creationId xmlns:a16="http://schemas.microsoft.com/office/drawing/2014/main" id="{82CA9355-2BD9-0408-CC03-CCAC40D6F6BE}"/>
              </a:ext>
              <a:ext uri="{C183D7F6-B498-43B3-948B-1728B52AA6E4}">
                <ns5:decorative xmlns:ns5="http://schemas.microsoft.com/office/drawing/2017/decorative" val="1"/>
              </a:ext>
            </a:extLst>
          </p:cNvPr>
          <p:cNvSpPr/>
          <p:nvPr/>
        </p:nvSpPr>
        <p:spPr>
          <a:xfrm>
            <a:off x="8054943" y="775485"/>
            <a:ext cx="398477" cy="398477"/>
          </a:xfrm>
          <a:prstGeom prst="ellipse">
            <a:avLst/>
          </a:prstGeom>
          <a:solidFill>
            <a:srgbClr val="FFF9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11" name="Icon Question Mark"/>
          <p:cNvSpPr txBox="1"/>
          <p:nvPr/>
        </p:nvSpPr>
        <p:spPr>
          <a:xfrm>
            <a:off x="8054943" y="775485"/>
            <a:ext cx="252134" cy="398477"/>
          </a:xfrm>
          <a:prstGeom prst="rect">
            <a:avLst/>
          </a:prstGeom>
          <a:noFill/>
        </p:spPr>
        <p:txBody>
          <a:bodyPr wrap="none" lIns="0" tIns="0" rIns="0" bIns="0" anchor="ctr" anchorCtr="1">
            <a:normAutofit/>
          </a:bodyPr>
          <a:lstStyle/>
          <a:p>
            <a:pPr algn="ctr"/>
            <a:r>
              <a:rPr lang="en-US" sz="1800" b="1">
                <a:solidFill>
                  <a:srgbClr val="3B1041"/>
                </a:solidFill>
                <a:latin typeface="Segoe UI" pitchFamily="34" charset="0"/>
                <a:cs typeface="Segoe UI" pitchFamily="34" charset="0"/>
              </a:rPr>
              <a:t>?</a:t>
            </a:r>
            <a:endParaRPr lang="en-US" sz="1800" b="1"/>
          </a:p>
        </p:txBody>
      </p:sp>
      <p:grpSp>
        <p:nvGrpSpPr>
          <p:cNvPr id="8" name="Group 7">
            <a:extLst>
              <a:ext uri="{FF2B5EF4-FFF2-40B4-BE49-F238E27FC236}">
                <a16:creationId xmlns:a16="http://schemas.microsoft.com/office/drawing/2014/main" id="{1722D180-2D5E-7D8C-B4A2-59B15C0453BA}"/>
              </a:ext>
            </a:extLst>
          </p:cNvPr>
          <p:cNvGrpSpPr/>
          <p:nvPr/>
        </p:nvGrpSpPr>
        <p:grpSpPr>
          <a:xfrm>
            <a:off x="7762717" y="2189487"/>
            <a:ext cx="4227030" cy="2010821"/>
            <a:chOff x="7762717" y="4071694"/>
            <a:chExt cx="4227030" cy="2010821"/>
          </a:xfrm>
        </p:grpSpPr>
        <p:sp>
          <p:nvSpPr>
            <p:cNvPr id="12" name="Rectangle: Rounded Corners 11">
              <a:extLst>
                <a:ext uri="{FF2B5EF4-FFF2-40B4-BE49-F238E27FC236}">
                  <a16:creationId xmlns:a16="http://schemas.microsoft.com/office/drawing/2014/main" id="{D0A30958-8A91-8F1F-EAED-DFB3605D650E}"/>
                </a:ext>
                <a:ext uri="{C183D7F6-B498-43B3-948B-1728B52AA6E4}">
                  <ns6:decorative xmlns:ns6="http://schemas.microsoft.com/office/drawing/2017/decorative" val="1"/>
                </a:ext>
              </a:extLst>
            </p:cNvPr>
            <p:cNvSpPr/>
            <p:nvPr/>
          </p:nvSpPr>
          <p:spPr bwMode="auto">
            <a:xfrm>
              <a:off x="7762717" y="4194834"/>
              <a:ext cx="4227030" cy="1887681"/>
            </a:xfrm>
            <a:prstGeom prst="roundRect">
              <a:avLst>
                <a:gd name="adj" fmla="val 1683"/>
              </a:avLst>
            </a:prstGeom>
            <a:solidFill>
              <a:srgbClr val="FFF9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B553FF"/>
                </a:solidFill>
                <a:effectLst/>
                <a:uLnTx/>
                <a:uFillTx/>
                <a:latin typeface="Segoe Sans Display Semibold" pitchFamily="2" charset="0"/>
                <a:ea typeface="+mn-ea"/>
                <a:cs typeface="Segoe Sans Display Semibold" pitchFamily="2" charset="0"/>
              </a:endParaRPr>
            </a:p>
          </p:txBody>
        </p:sp>
        <p:grpSp>
          <p:nvGrpSpPr>
            <p:cNvPr id="14" name="Group 13">
              <a:extLst>
                <a:ext uri="{FF2B5EF4-FFF2-40B4-BE49-F238E27FC236}">
                  <a16:creationId xmlns:a16="http://schemas.microsoft.com/office/drawing/2014/main" id="{FF30221B-5C85-22FC-F18F-7F0E26EEB0E2}"/>
                </a:ext>
              </a:extLst>
            </p:cNvPr>
            <p:cNvGrpSpPr/>
            <p:nvPr/>
          </p:nvGrpSpPr>
          <p:grpSpPr>
            <a:xfrm>
              <a:off x="9064660" y="4071694"/>
              <a:ext cx="1534355" cy="339147"/>
              <a:chOff x="3261739" y="2198151"/>
              <a:chExt cx="1534355" cy="276999"/>
            </a:xfrm>
          </p:grpSpPr>
          <p:sp>
            <p:nvSpPr>
              <p:cNvPr id="15" name="Rectangle: Rounded Corners 14">
                <a:extLst>
                  <a:ext uri="{FF2B5EF4-FFF2-40B4-BE49-F238E27FC236}">
                    <a16:creationId xmlns:a16="http://schemas.microsoft.com/office/drawing/2014/main" id="{0B857C90-B398-E232-66D0-F3E7E6CB19FB}"/>
                  </a:ext>
                  <a:ext uri="{C183D7F6-B498-43B3-948B-1728B52AA6E4}">
                    <ns7:decorative xmlns:ns7="http://schemas.microsoft.com/office/drawing/2017/decorative" val="1"/>
                  </a:ext>
                </a:extLst>
              </p:cNvPr>
              <p:cNvSpPr/>
              <p:nvPr/>
            </p:nvSpPr>
            <p:spPr bwMode="auto">
              <a:xfrm>
                <a:off x="3261739" y="2213019"/>
                <a:ext cx="1534355" cy="244283"/>
              </a:xfrm>
              <a:prstGeom prst="roundRect">
                <a:avLst>
                  <a:gd name="adj" fmla="val 50000"/>
                </a:avLst>
              </a:prstGeom>
              <a:solidFill>
                <a:srgbClr val="F3E5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endParaRPr>
              </a:p>
            </p:txBody>
          </p:sp>
          <p:sp>
            <p:nvSpPr>
              <p:cNvPr id="16" name="TextBox 15">
                <a:extLst>
                  <a:ext uri="{FF2B5EF4-FFF2-40B4-BE49-F238E27FC236}">
                    <a16:creationId xmlns:a16="http://schemas.microsoft.com/office/drawing/2014/main" id="{7130A025-6B78-DCFA-A21F-4C83E42E79DB}"/>
                  </a:ext>
                </a:extLst>
              </p:cNvPr>
              <p:cNvSpPr txBox="1"/>
              <p:nvPr/>
            </p:nvSpPr>
            <p:spPr>
              <a:xfrm>
                <a:off x="3594912" y="2198151"/>
                <a:ext cx="864339"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Workflow</a:t>
                </a:r>
              </a:p>
            </p:txBody>
          </p:sp>
        </p:grpSp>
        <p:sp>
          <p:nvSpPr>
            <p:cNvPr id="57" name="TextBox 56">
              <a:extLst>
                <a:ext uri="{FF2B5EF4-FFF2-40B4-BE49-F238E27FC236}">
                  <a16:creationId xmlns:a16="http://schemas.microsoft.com/office/drawing/2014/main" id="{D4B4634D-9BFA-FCEC-CFE2-4FD4315DDD1A}"/>
                </a:ext>
              </a:extLst>
            </p:cNvPr>
            <p:cNvSpPr txBox="1"/>
            <p:nvPr/>
          </p:nvSpPr>
          <p:spPr>
            <a:xfrm>
              <a:off x="8001952" y="4410841"/>
              <a:ext cx="3756431" cy="1074461"/>
            </a:xfrm>
            <a:prstGeom prst="rect">
              <a:avLst/>
            </a:prstGeom>
            <a:noFill/>
          </p:spPr>
          <p:txBody>
            <a:bodyPr wrap="square" rtlCol="0">
              <a:spAutoFit/>
            </a:bodyPr>
            <a:lstStyle/>
            <a:p>
              <a:pPr marL="228600" indent="-228600">
                <a:lnSpc>
                  <a:spcPct val="150000"/>
                </a:lnSpc>
                <a:buFont typeface="+mj-lt"/>
                <a:buAutoNum type="arabicPeriod"/>
                <a:defRPr/>
              </a:pPr>
              <a:r>
                <a:rPr lang="en-US" sz="1100" b="1">
                  <a:solidFill>
                    <a:prstClr val="black"/>
                  </a:solidFill>
                  <a:latin typeface="Segoe Sans Display" pitchFamily="2" charset="0"/>
                  <a:cs typeface="Segoe Sans Display" pitchFamily="2" charset="0"/>
                </a:rPr>
                <a:t>Ground</a:t>
              </a:r>
              <a:r>
                <a:rPr lang="en-US" sz="1100">
                  <a:solidFill>
                    <a:prstClr val="black"/>
                  </a:solidFill>
                  <a:latin typeface="Segoe Sans Display" pitchFamily="2" charset="0"/>
                  <a:cs typeface="Segoe Sans Display" pitchFamily="2" charset="0"/>
                </a:rPr>
                <a:t> → Read the job description and ticket spreadsheet</a:t>
              </a:r>
              <a:endParaRPr kumimoji="0" lang="en-US" sz="1100" b="1"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a:p>
              <a:pPr marL="228600" indent="-228600">
                <a:lnSpc>
                  <a:spcPct val="150000"/>
                </a:lnSpc>
                <a:buFont typeface="+mj-lt"/>
                <a:buAutoNum type="arabicPeriod"/>
                <a:defRPr/>
              </a:pPr>
              <a:r>
                <a:rPr lang="en-US" sz="1100" b="1">
                  <a:solidFill>
                    <a:prstClr val="black"/>
                  </a:solidFill>
                  <a:latin typeface="Segoe Sans Display" pitchFamily="2" charset="0"/>
                  <a:cs typeface="Segoe Sans Display" pitchFamily="2" charset="0"/>
                </a:rPr>
                <a:t>Draft</a:t>
              </a:r>
              <a:r>
                <a:rPr lang="en-US" sz="1100">
                  <a:solidFill>
                    <a:prstClr val="black"/>
                  </a:solidFill>
                  <a:latin typeface="Segoe Sans Display" pitchFamily="2" charset="0"/>
                  <a:cs typeface="Segoe Sans Display" pitchFamily="2" charset="0"/>
                </a:rPr>
                <a:t> → Inclusive job posting (Word)</a:t>
              </a:r>
              <a:endParaRPr kumimoji="0" lang="en-US" sz="1100" b="1"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a:p>
              <a:pPr marL="228600" indent="-228600">
                <a:lnSpc>
                  <a:spcPct val="150000"/>
                </a:lnSpc>
                <a:buFont typeface="+mj-lt"/>
                <a:buAutoNum type="arabicPeriod"/>
                <a:defRPr/>
              </a:pPr>
              <a:r>
                <a:rPr lang="en-US" sz="1100" b="1">
                  <a:solidFill>
                    <a:prstClr val="black"/>
                  </a:solidFill>
                  <a:latin typeface="Segoe Sans Display" pitchFamily="2" charset="0"/>
                  <a:cs typeface="Segoe Sans Display" pitchFamily="2" charset="0"/>
                </a:rPr>
                <a:t>Analyze</a:t>
              </a:r>
              <a:r>
                <a:rPr lang="en-US" sz="1100">
                  <a:solidFill>
                    <a:prstClr val="black"/>
                  </a:solidFill>
                  <a:latin typeface="Segoe Sans Display" pitchFamily="2" charset="0"/>
                  <a:cs typeface="Segoe Sans Display" pitchFamily="2" charset="0"/>
                </a:rPr>
                <a:t> → Open vs. closed by category &amp; priority</a:t>
              </a:r>
              <a:endParaRPr kumimoji="0" lang="en-US" sz="1100" b="1"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a:p>
              <a:pPr marL="228600" indent="-228600">
                <a:lnSpc>
                  <a:spcPct val="150000"/>
                </a:lnSpc>
                <a:buFont typeface="+mj-lt"/>
                <a:buAutoNum type="arabicPeriod"/>
                <a:defRPr/>
              </a:pPr>
              <a:r>
                <a:rPr lang="en-US" sz="1100" b="1">
                  <a:solidFill>
                    <a:prstClr val="black"/>
                  </a:solidFill>
                  <a:latin typeface="Segoe Sans Display" pitchFamily="2" charset="0"/>
                  <a:cs typeface="Segoe Sans Display" pitchFamily="2" charset="0"/>
                </a:rPr>
                <a:t>Report</a:t>
              </a:r>
              <a:r>
                <a:rPr lang="en-US" sz="1100">
                  <a:solidFill>
                    <a:prstClr val="black"/>
                  </a:solidFill>
                  <a:latin typeface="Segoe Sans Display" pitchFamily="2" charset="0"/>
                  <a:cs typeface="Segoe Sans Display" pitchFamily="2" charset="0"/>
                </a:rPr>
                <a:t> → Today’s high-priority follow-ups</a:t>
              </a:r>
              <a:endParaRPr kumimoji="0" lang="en-US" sz="1100" b="1"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p:txBody>
        </p:sp>
      </p:grpSp>
      <p:sp>
        <p:nvSpPr>
          <p:cNvPr id="3" name="Text 25">
            <a:extLst>
              <a:ext uri="{FF2B5EF4-FFF2-40B4-BE49-F238E27FC236}">
                <a16:creationId xmlns:a16="http://schemas.microsoft.com/office/drawing/2014/main" id="{41B60886-5E17-E589-2FF8-1DDB98962F30}"/>
              </a:ext>
            </a:extLst>
          </p:cNvPr>
          <p:cNvSpPr/>
          <p:nvPr/>
        </p:nvSpPr>
        <p:spPr>
          <a:xfrm>
            <a:off x="632004" y="2684018"/>
            <a:ext cx="6734710" cy="3632476"/>
          </a:xfrm>
          <a:prstGeom prst="rect">
            <a:avLst/>
          </a:prstGeom>
          <a:noFill/>
          <a:ln/>
        </p:spPr>
        <p:txBody>
          <a:bodyPr wrap="square" lIns="0" tIns="0" rIns="0" bIns="0"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Task 5a — Inclusive job posting</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Using job-description-sample.docx, write an inclusive, engaging job posting for the HR Coordinator role for our careers page. Keep it under 350 words, with short What you’ll do, What you’ll bring, and What we offer sections, and mention the hybrid schedule. Then add a separate table that flags any wording in the original description that could discourage qualified applicants, with a suggested alternative for each. Save it as a Word doc.</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Task 5b — Ticket summary</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Using hr-tickets-sample.xlsx, summarize open vs. closed tickets by category and priority, and list the high-priority open items I should follow up on today. Put it in a short report.</a:t>
            </a:r>
          </a:p>
        </p:txBody>
      </p:sp>
      <p:grpSp>
        <p:nvGrpSpPr>
          <p:cNvPr id="17" name="Group 16">
            <a:extLst>
              <a:ext uri="{FF2B5EF4-FFF2-40B4-BE49-F238E27FC236}">
                <a16:creationId xmlns:a16="http://schemas.microsoft.com/office/drawing/2014/main" id="{317BDD88-DD13-C157-9D0C-376C7050CA18}"/>
              </a:ext>
            </a:extLst>
          </p:cNvPr>
          <p:cNvGrpSpPr/>
          <p:nvPr/>
        </p:nvGrpSpPr>
        <p:grpSpPr>
          <a:xfrm>
            <a:off x="7756139" y="4421568"/>
            <a:ext cx="1534355" cy="276999"/>
            <a:chOff x="3261739" y="2198151"/>
            <a:chExt cx="1534355" cy="276999"/>
          </a:xfrm>
        </p:grpSpPr>
        <p:sp>
          <p:nvSpPr>
            <p:cNvPr id="18" name="Rectangle: Rounded Corners 17">
              <a:extLst>
                <a:ext uri="{FF2B5EF4-FFF2-40B4-BE49-F238E27FC236}">
                  <a16:creationId xmlns:a16="http://schemas.microsoft.com/office/drawing/2014/main" id="{3E986E19-9FEA-1F60-BCDA-008D13564D09}"/>
                </a:ext>
                <a:ext uri="{C183D7F6-B498-43B3-948B-1728B52AA6E4}">
                  <ns8:decorative xmlns:ns8="http://schemas.microsoft.com/office/drawing/2017/decorative" val="1"/>
                </a:ext>
              </a:extLst>
            </p:cNvPr>
            <p:cNvSpPr/>
            <p:nvPr/>
          </p:nvSpPr>
          <p:spPr bwMode="auto">
            <a:xfrm>
              <a:off x="3261739" y="2213019"/>
              <a:ext cx="1534355" cy="244283"/>
            </a:xfrm>
            <a:prstGeom prst="roundRect">
              <a:avLst>
                <a:gd name="adj" fmla="val 50000"/>
              </a:avLst>
            </a:prstGeom>
            <a:solidFill>
              <a:srgbClr val="F3E5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endParaRPr>
            </a:p>
          </p:txBody>
        </p:sp>
        <p:sp>
          <p:nvSpPr>
            <p:cNvPr id="19" name="TextBox 18">
              <a:extLst>
                <a:ext uri="{FF2B5EF4-FFF2-40B4-BE49-F238E27FC236}">
                  <a16:creationId xmlns:a16="http://schemas.microsoft.com/office/drawing/2014/main" id="{66387F56-2C11-A4AD-4E15-4442F2454D48}"/>
                </a:ext>
              </a:extLst>
            </p:cNvPr>
            <p:cNvSpPr txBox="1"/>
            <p:nvPr/>
          </p:nvSpPr>
          <p:spPr>
            <a:xfrm>
              <a:off x="3472286" y="2198151"/>
              <a:ext cx="1109599"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Data Sources</a:t>
              </a:r>
            </a:p>
          </p:txBody>
        </p:sp>
      </p:grpSp>
      <p:grpSp>
        <p:nvGrpSpPr>
          <p:cNvPr id="13" name="Group 12">
            <a:extLst>
              <a:ext uri="{FF2B5EF4-FFF2-40B4-BE49-F238E27FC236}">
                <a16:creationId xmlns:a16="http://schemas.microsoft.com/office/drawing/2014/main" id="{6DC82203-C40E-B229-3216-8513934D28BD}"/>
              </a:ext>
            </a:extLst>
          </p:cNvPr>
          <p:cNvGrpSpPr/>
          <p:nvPr/>
        </p:nvGrpSpPr>
        <p:grpSpPr>
          <a:xfrm>
            <a:off x="9121309" y="4421568"/>
            <a:ext cx="1200156" cy="488252"/>
            <a:chOff x="10558227" y="4421568"/>
            <a:chExt cx="1200156" cy="488252"/>
          </a:xfrm>
        </p:grpSpPr>
        <p:pic>
          <p:nvPicPr>
            <p:cNvPr id="7" name="Picture 6" descr="OneDrive icon">
              <a:extLst>
                <a:ext uri="{FF2B5EF4-FFF2-40B4-BE49-F238E27FC236}">
                  <a16:creationId xmlns:a16="http://schemas.microsoft.com/office/drawing/2014/main" id="{8B0F26AD-79AC-E75B-C2DA-E6BBA636792A}"/>
                </a:ext>
              </a:extLst>
            </p:cNvPr>
            <p:cNvPicPr>
              <a:picLocks noChangeAspect="1"/>
            </p:cNvPicPr>
            <p:nvPr/>
          </p:nvPicPr>
          <p:blipFill>
            <a:blip r:embed="rId6"/>
            <a:stretch>
              <a:fillRect/>
            </a:stretch>
          </p:blipFill>
          <p:spPr>
            <a:xfrm>
              <a:off x="11014657" y="4421568"/>
              <a:ext cx="287296" cy="287296"/>
            </a:xfrm>
            <a:prstGeom prst="rect">
              <a:avLst/>
            </a:prstGeom>
          </p:spPr>
        </p:pic>
        <p:sp>
          <p:nvSpPr>
            <p:cNvPr id="9" name="TextBox 8">
              <a:extLst>
                <a:ext uri="{FF2B5EF4-FFF2-40B4-BE49-F238E27FC236}">
                  <a16:creationId xmlns:a16="http://schemas.microsoft.com/office/drawing/2014/main" id="{FE07ADF1-F66F-E626-BAE0-23ADC3E6D92F}"/>
                </a:ext>
              </a:extLst>
            </p:cNvPr>
            <p:cNvSpPr txBox="1"/>
            <p:nvPr/>
          </p:nvSpPr>
          <p:spPr>
            <a:xfrm>
              <a:off x="10558227" y="4678988"/>
              <a:ext cx="1200156"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rPr>
                <a:t>OneDrive</a:t>
              </a:r>
              <a:endParaRPr kumimoji="0" lang="en-IN" sz="900" b="0"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p:txBody>
        </p:sp>
      </p:grpSp>
    </p:spTree>
    <p:extLst>
      <p:ext uri="{BB962C8B-B14F-4D97-AF65-F5344CB8AC3E}">
        <p14:creationId xmlns:p14="http://schemas.microsoft.com/office/powerpoint/2010/main" val="1649947486"/>
      </p:ext>
    </p:extLst>
  </p:cSld>
  <p:clrMapOvr>
    <a:overrideClrMapping bg1="lt1" tx1="dk1" bg2="lt2" tx2="dk2" accent1="accent1" accent2="accent2" accent3="accent3" accent4="accent4" accent5="accent5" accent6="accent6" hlink="hlink" folHlink="folHlink"/>
  </p:clrMapOvr>
</p:sld>
</file>

<file path=ppt/slides/slide42.xml><?xml version="1.0" encoding="utf-8"?>
<p:sld xmlns:a="http://schemas.openxmlformats.org/drawingml/2006/main" xmlns:p="http://schemas.openxmlformats.org/presentationml/2006/main" xmlns:r="http://schemas.openxmlformats.org/officeDocument/2006/relationships">
  <p:cSld>
    <p:bg>
      <p:bgPr>
        <a:blipFill dpi="0" rotWithShape="1">
          <a:blip r:embed="rId5">
            <a:alphaModFix amt="70000"/>
            <a:lum/>
          </a:blip>
          <a:srcRect/>
          <a:stretch>
            <a:fillRect l="-2000" r="-2000"/>
          </a:stretch>
        </a:blipFill>
        <a:effectLst/>
      </p:bgPr>
    </p:bg>
    <p:spTree>
      <p:nvGrpSpPr>
        <p:cNvPr id="1" name="">
          <a:extLst>
            <a:ext uri="{FF2B5EF4-FFF2-40B4-BE49-F238E27FC236}">
              <a16:creationId xmlns:a16="http://schemas.microsoft.com/office/drawing/2014/main" id="{CC810B06-9C60-9BCB-DF49-73D043B037F2}"/>
            </a:ext>
          </a:extLst>
        </p:cNvPr>
        <p:cNvGrpSpPr/>
        <p:nvPr/>
      </p:nvGrpSpPr>
      <p:grpSpPr>
        <a:xfrm>
          <a:off x="0" y="0"/>
          <a:ext cx="0" cy="0"/>
          <a:chOff x="0" y="0"/>
          <a:chExt cx="0" cy="0"/>
        </a:xfrm>
      </p:grpSpPr>
      <p:sp>
        <p:nvSpPr>
          <p:cNvPr id="27" name="Title 3">
            <a:extLst>
              <a:ext uri="{FF2B5EF4-FFF2-40B4-BE49-F238E27FC236}">
                <a16:creationId xmlns:a16="http://schemas.microsoft.com/office/drawing/2014/main" id="{3EF2C483-DB46-D975-7E0E-09A75642D76B}"/>
              </a:ext>
            </a:extLst>
          </p:cNvPr>
          <p:cNvSpPr txBox="1">
            <a:spLocks/>
          </p:cNvSpPr>
          <p:nvPr/>
        </p:nvSpPr>
        <p:spPr>
          <a:xfrm>
            <a:off x="1925908" y="293473"/>
            <a:ext cx="7070725" cy="430887"/>
          </a:xfrm>
          <a:prstGeom prst="rect">
            <a:avLst/>
          </a:prstGeom>
        </p:spPr>
        <p:txBody>
          <a:bodyPr vert="horz" wrap="square" lIns="0" tIns="0" rIns="0" bIns="0" rtlCol="0" anchor="t">
            <a:spAutoFit/>
          </a:bodyPr>
          <a:lstStyle>
            <a:lvl1pPr algn="l" defTabSz="769520" rtl="0" eaLnBrk="1" latinLnBrk="0" hangingPunct="1">
              <a:lnSpc>
                <a:spcPct val="100000"/>
              </a:lnSpc>
              <a:spcBef>
                <a:spcPct val="0"/>
              </a:spcBef>
              <a:buNone/>
              <a:defRPr lang="en-US" sz="2000" b="0" kern="1200" cap="none" spc="0" baseline="0">
                <a:ln w="3175">
                  <a:noFill/>
                </a:ln>
                <a:solidFill>
                  <a:schemeClr val="tx1"/>
                </a:solidFill>
                <a:effectLst/>
                <a:latin typeface="+mj-lt"/>
                <a:ea typeface="+mn-ea"/>
                <a:cs typeface="Segoe Sans Display" pitchFamily="2" charset="0"/>
              </a:defRPr>
            </a:lvl1pPr>
          </a:lstStyle>
          <a:p>
            <a:pPr marL="0" marR="0" lvl="0" indent="0" algn="l" defTabSz="769520" rtl="0" eaLnBrk="1" fontAlgn="auto" latinLnBrk="0" hangingPunct="1">
              <a:lnSpc>
                <a:spcPct val="100000"/>
              </a:lnSpc>
              <a:spcBef>
                <a:spcPct val="0"/>
              </a:spcBef>
              <a:spcAft>
                <a:spcPts val="0"/>
              </a:spcAft>
              <a:buClrTx/>
              <a:buSzTx/>
              <a:buFontTx/>
              <a:buNone/>
              <a:tabLst/>
              <a:defRPr/>
            </a:pPr>
            <a:r>
              <a:rPr kumimoji="0" lang="en-US" sz="2800" b="0" i="0" u="none" strike="noStrike" kern="1200" cap="none" spc="0" normalizeH="0" baseline="0" noProof="0">
                <a:ln w="3175">
                  <a:noFill/>
                </a:ln>
                <a:solidFill>
                  <a:srgbClr val="323139"/>
                </a:solidFill>
                <a:effectLst/>
                <a:uLnTx/>
                <a:uFillTx/>
                <a:latin typeface="Segoe Sans Display" pitchFamily="2" charset="0"/>
                <a:ea typeface="+mn-ea"/>
                <a:cs typeface="Segoe Sans Display" pitchFamily="2" charset="0"/>
              </a:rPr>
              <a:t>Hands-on · Recruiting + Reporting</a:t>
            </a:r>
          </a:p>
        </p:txBody>
      </p:sp>
      <p:sp>
        <p:nvSpPr>
          <p:cNvPr id="28" name="NavPill_SitesPages">
            <a:extLst>
              <a:ext uri="{FF2B5EF4-FFF2-40B4-BE49-F238E27FC236}">
                <a16:creationId xmlns:a16="http://schemas.microsoft.com/office/drawing/2014/main" id="{57BB7AF5-33B6-DA4A-ABA7-2573FB8050B2}"/>
              </a:ext>
            </a:extLst>
          </p:cNvPr>
          <p:cNvSpPr/>
          <p:nvPr/>
        </p:nvSpPr>
        <p:spPr>
          <a:xfrm>
            <a:off x="350837" y="342900"/>
            <a:ext cx="1419239" cy="337762"/>
          </a:xfrm>
          <a:prstGeom prst="roundRect">
            <a:avLst>
              <a:gd name="adj" fmla="val 50000"/>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207091" rtl="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Ex 05</a:t>
            </a:r>
          </a:p>
        </p:txBody>
      </p:sp>
      <p:sp>
        <p:nvSpPr>
          <p:cNvPr id="30" name="TextBox 29">
            <a:extLst>
              <a:ext uri="{FF2B5EF4-FFF2-40B4-BE49-F238E27FC236}">
                <a16:creationId xmlns:a16="http://schemas.microsoft.com/office/drawing/2014/main" id="{4519738B-A618-91E3-CAC4-D99F7E54632B}"/>
              </a:ext>
              <a:ext uri="{C183D7F6-B498-43B3-948B-1728B52AA6E4}">
                <ns0:decorative xmlns:ns0="http://schemas.microsoft.com/office/drawing/2017/decorative" val="1"/>
              </a:ext>
            </a:extLst>
          </p:cNvPr>
          <p:cNvSpPr txBox="1"/>
          <p:nvPr/>
        </p:nvSpPr>
        <p:spPr>
          <a:xfrm>
            <a:off x="8867052" y="119383"/>
            <a:ext cx="3092209" cy="338554"/>
          </a:xfrm>
          <a:prstGeom prst="roundRect">
            <a:avLst>
              <a:gd name="adj" fmla="val 19537"/>
            </a:avLst>
          </a:prstGeom>
          <a:solidFill>
            <a:srgbClr val="CB85FF">
              <a:lumMod val="20000"/>
              <a:lumOff val="80000"/>
            </a:srgbClr>
          </a:solidFill>
        </p:spPr>
        <p:txBody>
          <a:bodyPr wrap="square" lIns="1188720" tIns="45720" rIns="0" bIns="45720" anchor="ctr">
            <a:noAutofit/>
          </a:bodyPr>
          <a:lstStyle>
            <a:defPPr>
              <a:defRPr lang="en-US"/>
            </a:defPPr>
            <a:lvl1pPr>
              <a:spcAft>
                <a:spcPts val="776"/>
              </a:spcAft>
              <a:defRPr sz="1200">
                <a:latin typeface="+mj-lt"/>
                <a:cs typeface="Segoe Sans Display Semibold" pitchFamily="2" charset="0"/>
              </a:defRPr>
            </a:lvl1pPr>
          </a:lstStyle>
          <a:p>
            <a:pPr marL="0" marR="0" lvl="0" indent="0" algn="l" defTabSz="914294" rtl="0" eaLnBrk="1" fontAlgn="auto" latinLnBrk="0" hangingPunct="1">
              <a:lnSpc>
                <a:spcPct val="100000"/>
              </a:lnSpc>
              <a:spcBef>
                <a:spcPts val="0"/>
              </a:spcBef>
              <a:spcAft>
                <a:spcPts val="776"/>
              </a:spcAft>
              <a:buClrTx/>
              <a:buSzTx/>
              <a:buFontTx/>
              <a:buNone/>
              <a:tabLst/>
              <a:defRPr/>
            </a:pPr>
            <a:endParaRPr kumimoji="0" lang="en-US" sz="1200" b="0" i="0" u="none" strike="noStrike" kern="0" cap="none" spc="0" normalizeH="0" baseline="0" noProof="0">
              <a:ln>
                <a:noFill/>
              </a:ln>
              <a:solidFill>
                <a:srgbClr val="323139"/>
              </a:solidFill>
              <a:effectLst/>
              <a:uLnTx/>
              <a:uFillTx/>
              <a:latin typeface="Segoe Sans Display"/>
              <a:ea typeface="+mn-ea"/>
              <a:cs typeface="Segoe Sans Display Semibold" pitchFamily="2" charset="0"/>
            </a:endParaRPr>
          </a:p>
        </p:txBody>
      </p:sp>
      <p:sp>
        <p:nvSpPr>
          <p:cNvPr id="31" name="TextBox 30">
            <a:extLst>
              <a:ext uri="{FF2B5EF4-FFF2-40B4-BE49-F238E27FC236}">
                <a16:creationId xmlns:a16="http://schemas.microsoft.com/office/drawing/2014/main" id="{4B310F6E-1BD3-CF01-32AD-647BCF12AC0F}"/>
              </a:ext>
            </a:extLst>
          </p:cNvPr>
          <p:cNvSpPr txBox="1"/>
          <p:nvPr/>
        </p:nvSpPr>
        <p:spPr>
          <a:xfrm>
            <a:off x="8942688" y="173878"/>
            <a:ext cx="1280160" cy="233352"/>
          </a:xfrm>
          <a:prstGeom prst="roundRect">
            <a:avLst>
              <a:gd name="adj" fmla="val 16151"/>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5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defRPr lang="en-US"/>
            </a:defPPr>
            <a:lvl1pPr algn="ctr" defTabSz="932765" fontAlgn="base">
              <a:spcBef>
                <a:spcPct val="0"/>
              </a:spcBef>
              <a:spcAft>
                <a:spcPct val="0"/>
              </a:spcAft>
              <a:defRPr sz="1600">
                <a:solidFill>
                  <a:schemeClr val="accent1"/>
                </a:solidFill>
                <a:latin typeface="+mj-lt"/>
                <a:cs typeface="Segoe Sans Display Semibold" pitchFamily="2" charset="0"/>
              </a:defRPr>
            </a:lvl1pPr>
          </a:lstStyle>
          <a:p>
            <a:pPr marL="0" marR="0" lvl="0" indent="0" algn="l" defTabSz="932765" rtl="0" eaLnBrk="1" fontAlgn="base" latinLnBrk="0" hangingPunct="1">
              <a:lnSpc>
                <a:spcPct val="100000"/>
              </a:lnSpc>
              <a:spcBef>
                <a:spcPct val="0"/>
              </a:spcBef>
              <a:spcAft>
                <a:spcPct val="0"/>
              </a:spcAft>
              <a:buClrTx/>
              <a:buSzTx/>
              <a:buFontTx/>
              <a:buNone/>
              <a:tabLst/>
              <a:defRPr/>
            </a:pPr>
            <a:r>
              <a:rPr kumimoji="0" lang="en-IN" sz="1050" b="0" i="0" u="none" strike="noStrike" kern="0" cap="none" spc="0" normalizeH="0" baseline="0" noProof="0">
                <a:ln>
                  <a:noFill/>
                </a:ln>
                <a:solidFill>
                  <a:srgbClr val="323139"/>
                </a:solidFill>
                <a:effectLst/>
                <a:uLnTx/>
                <a:uFillTx/>
                <a:latin typeface="Segoe Sans Display"/>
                <a:ea typeface="+mn-ea"/>
                <a:cs typeface="Segoe Sans Display Semibold" pitchFamily="2" charset="0"/>
              </a:rPr>
              <a:t>Time</a:t>
            </a:r>
          </a:p>
        </p:txBody>
      </p:sp>
      <p:sp>
        <p:nvSpPr>
          <p:cNvPr id="50" name="TextBox 49">
            <a:extLst>
              <a:ext uri="{FF2B5EF4-FFF2-40B4-BE49-F238E27FC236}">
                <a16:creationId xmlns:a16="http://schemas.microsoft.com/office/drawing/2014/main" id="{0CE10D15-83B7-7915-49A3-0BD3A21E9731}"/>
              </a:ext>
            </a:extLst>
          </p:cNvPr>
          <p:cNvSpPr txBox="1"/>
          <p:nvPr/>
        </p:nvSpPr>
        <p:spPr>
          <a:xfrm>
            <a:off x="10298483" y="173490"/>
            <a:ext cx="1668779" cy="253916"/>
          </a:xfrm>
          <a:prstGeom prst="rect">
            <a:avLst/>
          </a:prstGeom>
          <a:noFill/>
        </p:spPr>
        <p:txBody>
          <a:bodyPr wrap="square">
            <a:spAutoFit/>
          </a:bodyPr>
          <a:lstStyle/>
          <a:p>
            <a:pPr marL="0" marR="0" lvl="0" indent="0" algn="l" defTabSz="914294"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323139"/>
                </a:solidFill>
                <a:effectLst/>
                <a:uLnTx/>
                <a:uFillTx/>
                <a:latin typeface="Segoe Sans Display"/>
                <a:ea typeface="+mn-ea"/>
                <a:cs typeface="Segoe Sans Display"/>
              </a:rPr>
              <a:t>15 min</a:t>
            </a:r>
          </a:p>
        </p:txBody>
      </p:sp>
      <p:sp>
        <p:nvSpPr>
          <p:cNvPr id="51" name="Rounded Rectangle 50">
            <a:extLst>
              <a:ext uri="{C183D7F6-B498-43B3-948B-1728B52AA6E4}">
                <ns1:decorative xmlns:ns1="http://schemas.microsoft.com/office/drawing/2017/decorative" val="1"/>
              </a:ext>
            </a:extLst>
          </p:cNvPr>
          <p:cNvSpPr/>
          <p:nvPr/>
        </p:nvSpPr>
        <p:spPr>
          <a:xfrm>
            <a:off x="420624" y="1188720"/>
            <a:ext cx="7168896" cy="3611880"/>
          </a:xfrm>
          <a:prstGeom prst="roundRect">
            <a:avLst>
              <a:gd name="adj" fmla="val 5000"/>
            </a:avLst>
          </a:prstGeom>
          <a:solidFill>
            <a:srgbClr val="FFF9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ounded Rectangle 51">
            <a:extLst>
              <a:ext uri="{C183D7F6-B498-43B3-948B-1728B52AA6E4}">
                <ns2:decorative xmlns:ns2="http://schemas.microsoft.com/office/drawing/2017/decorative" val="1"/>
              </a:ext>
            </a:extLst>
          </p:cNvPr>
          <p:cNvSpPr/>
          <p:nvPr/>
        </p:nvSpPr>
        <p:spPr>
          <a:xfrm>
            <a:off x="3236976" y="1051560"/>
            <a:ext cx="15361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3236976" y="1051560"/>
            <a:ext cx="1536192" cy="274320"/>
          </a:xfrm>
          <a:prstGeom prst="rect">
            <a:avLst/>
          </a:prstGeom>
          <a:noFill/>
        </p:spPr>
        <p:txBody>
          <a:bodyPr wrap="square" anchor="ctr" lIns="0" rIns="0" tIns="0" bIns="0">
            <a:spAutoFit/>
          </a:bodyPr>
          <a:lstStyle/>
          <a:p>
            <a:pPr algn="ctr">
              <a:spcAft>
                <a:spcPts val="400"/>
              </a:spcAft>
            </a:pPr>
            <a:r>
              <a:rPr sz="1200" b="0" i="0">
                <a:solidFill>
                  <a:srgbClr val="323139"/>
                </a:solidFill>
                <a:latin typeface="Segoe Sans Display Semibold"/>
              </a:rPr>
              <a:t>Steps</a:t>
            </a:r>
          </a:p>
        </p:txBody>
      </p:sp>
      <p:sp>
        <p:nvSpPr>
          <p:cNvPr id="54" name="TextBox 53"/>
          <p:cNvSpPr txBox="1"/>
          <p:nvPr/>
        </p:nvSpPr>
        <p:spPr>
          <a:xfrm>
            <a:off x="777240" y="1572768"/>
            <a:ext cx="6492240" cy="3154680"/>
          </a:xfrm>
          <a:prstGeom prst="rect">
            <a:avLst/>
          </a:prstGeom>
          <a:noFill/>
        </p:spPr>
        <p:txBody>
          <a:bodyPr wrap="square" anchor="t" lIns="0" rIns="0" tIns="0" bIns="0">
            <a:spAutoFit/>
          </a:bodyPr>
          <a:lstStyle/>
          <a:p>
            <a:pPr algn="l" marL="237744" indent="-237744">
              <a:lnSpc>
                <a:spcPct val="105000"/>
              </a:lnSpc>
              <a:spcAft>
                <a:spcPts val="900"/>
              </a:spcAft>
              <a:buFont typeface="+mj-lt"/>
              <a:buAutoNum type="arabicPeriod"/>
            </a:pPr>
            <a:r>
              <a:rPr sz="1500" b="1" i="0">
                <a:solidFill>
                  <a:srgbClr val="323139"/>
                </a:solidFill>
                <a:latin typeface="Segoe UI"/>
              </a:rPr>
              <a:t>Task 5a:</a:t>
            </a:r>
            <a:r>
              <a:rPr sz="1500" b="0" i="0">
                <a:solidFill>
                  <a:srgbClr val="323139"/>
                </a:solidFill>
                <a:latin typeface="Segoe UI"/>
              </a:rPr>
              <a:t> attach job-description-sample.docx; write the inclusive job posting and save it as Word.</a:t>
            </a:r>
          </a:p>
          <a:p>
            <a:pPr algn="l" marL="237744" indent="-237744">
              <a:lnSpc>
                <a:spcPct val="105000"/>
              </a:lnSpc>
              <a:spcAft>
                <a:spcPts val="900"/>
              </a:spcAft>
              <a:buFont typeface="+mj-lt"/>
              <a:buAutoNum type="arabicPeriod"/>
            </a:pPr>
            <a:r>
              <a:rPr sz="1500" b="1" i="0">
                <a:solidFill>
                  <a:srgbClr val="323139"/>
                </a:solidFill>
                <a:latin typeface="Segoe UI"/>
              </a:rPr>
              <a:t>Check</a:t>
            </a:r>
            <a:r>
              <a:rPr sz="1500" b="0" i="0">
                <a:solidFill>
                  <a:srgbClr val="323139"/>
                </a:solidFill>
                <a:latin typeface="Segoe UI"/>
              </a:rPr>
              <a:t> the wording-review table: do you agree with every flag?</a:t>
            </a:r>
          </a:p>
          <a:p>
            <a:pPr algn="l" marL="237744" indent="-237744">
              <a:lnSpc>
                <a:spcPct val="105000"/>
              </a:lnSpc>
              <a:spcAft>
                <a:spcPts val="900"/>
              </a:spcAft>
              <a:buFont typeface="+mj-lt"/>
              <a:buAutoNum type="arabicPeriod"/>
            </a:pPr>
            <a:r>
              <a:rPr sz="1500" b="1" i="0">
                <a:solidFill>
                  <a:srgbClr val="323139"/>
                </a:solidFill>
                <a:latin typeface="Segoe UI"/>
              </a:rPr>
              <a:t>Task 5b:</a:t>
            </a:r>
            <a:r>
              <a:rPr sz="1500" b="0" i="0">
                <a:solidFill>
                  <a:srgbClr val="323139"/>
                </a:solidFill>
                <a:latin typeface="Segoe UI"/>
              </a:rPr>
              <a:t> attach hr-tickets-sample.xlsx; summarize open vs. closed by category and priority.</a:t>
            </a:r>
          </a:p>
          <a:p>
            <a:pPr algn="l" marL="237744" indent="-237744">
              <a:lnSpc>
                <a:spcPct val="105000"/>
              </a:lnSpc>
              <a:spcAft>
                <a:spcPts val="900"/>
              </a:spcAft>
              <a:buFont typeface="+mj-lt"/>
              <a:buAutoNum type="arabicPeriod"/>
            </a:pPr>
            <a:r>
              <a:rPr sz="1500" b="1" i="0">
                <a:solidFill>
                  <a:srgbClr val="323139"/>
                </a:solidFill>
                <a:latin typeface="Segoe UI"/>
              </a:rPr>
              <a:t>List</a:t>
            </a:r>
            <a:r>
              <a:rPr sz="1500" b="0" i="0">
                <a:solidFill>
                  <a:srgbClr val="323139"/>
                </a:solidFill>
                <a:latin typeface="Segoe UI"/>
              </a:rPr>
              <a:t> today’s high-priority open items to follow up.</a:t>
            </a:r>
          </a:p>
        </p:txBody>
      </p:sp>
      <p:sp>
        <p:nvSpPr>
          <p:cNvPr id="55" name="Rounded Rectangle 54">
            <a:extLst>
              <a:ext uri="{C183D7F6-B498-43B3-948B-1728B52AA6E4}">
                <ns3:decorative xmlns:ns3="http://schemas.microsoft.com/office/drawing/2017/decorative" val="1"/>
              </a:ext>
            </a:extLst>
          </p:cNvPr>
          <p:cNvSpPr/>
          <p:nvPr/>
        </p:nvSpPr>
        <p:spPr>
          <a:xfrm>
            <a:off x="420624" y="5074920"/>
            <a:ext cx="7168896" cy="1371600"/>
          </a:xfrm>
          <a:prstGeom prst="roundRect">
            <a:avLst>
              <a:gd name="adj" fmla="val 10000"/>
            </a:avLst>
          </a:prstGeom>
          <a:solidFill>
            <a:srgbClr val="FFF9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Rounded Rectangle 55">
            <a:extLst>
              <a:ext uri="{C183D7F6-B498-43B3-948B-1728B52AA6E4}">
                <ns4:decorative xmlns:ns4="http://schemas.microsoft.com/office/drawing/2017/decorative" val="1"/>
              </a:ext>
            </a:extLst>
          </p:cNvPr>
          <p:cNvSpPr/>
          <p:nvPr/>
        </p:nvSpPr>
        <p:spPr>
          <a:xfrm>
            <a:off x="3236976" y="4937760"/>
            <a:ext cx="15361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3236976" y="4937760"/>
            <a:ext cx="1536192" cy="274320"/>
          </a:xfrm>
          <a:prstGeom prst="rect">
            <a:avLst/>
          </a:prstGeom>
          <a:noFill/>
        </p:spPr>
        <p:txBody>
          <a:bodyPr wrap="square" anchor="ctr" lIns="0" rIns="0" tIns="0" bIns="0">
            <a:spAutoFit/>
          </a:bodyPr>
          <a:lstStyle/>
          <a:p>
            <a:pPr algn="ctr">
              <a:spcAft>
                <a:spcPts val="400"/>
              </a:spcAft>
            </a:pPr>
            <a:r>
              <a:rPr sz="1200" b="0" i="0">
                <a:solidFill>
                  <a:srgbClr val="323139"/>
                </a:solidFill>
                <a:latin typeface="Segoe Sans Display Semibold"/>
              </a:rPr>
              <a:t>Discuss</a:t>
            </a:r>
          </a:p>
        </p:txBody>
      </p:sp>
      <p:sp>
        <p:nvSpPr>
          <p:cNvPr id="58" name="TextBox 57"/>
          <p:cNvSpPr txBox="1"/>
          <p:nvPr/>
        </p:nvSpPr>
        <p:spPr>
          <a:xfrm>
            <a:off x="777240" y="5303520"/>
            <a:ext cx="6492240" cy="1005840"/>
          </a:xfrm>
          <a:prstGeom prst="rect">
            <a:avLst/>
          </a:prstGeom>
          <a:noFill/>
        </p:spPr>
        <p:txBody>
          <a:bodyPr wrap="square" anchor="ctr" lIns="0" rIns="0" tIns="0" bIns="0">
            <a:spAutoFit/>
          </a:bodyPr>
          <a:lstStyle/>
          <a:p>
            <a:pPr algn="l">
              <a:lnSpc>
                <a:spcPct val="105000"/>
              </a:lnSpc>
              <a:spcAft>
                <a:spcPts val="400"/>
              </a:spcAft>
            </a:pPr>
            <a:r>
              <a:rPr sz="1400" b="0" i="0">
                <a:solidFill>
                  <a:srgbClr val="323139"/>
                </a:solidFill>
                <a:latin typeface="Segoe Sans Display"/>
              </a:rPr>
              <a:t>Which recruiting or reporting task eats most of your week today?</a:t>
            </a:r>
          </a:p>
        </p:txBody>
      </p:sp>
      <p:sp>
        <p:nvSpPr>
          <p:cNvPr id="59" name="Rounded Rectangle 58">
            <a:extLst>
              <a:ext uri="{C183D7F6-B498-43B3-948B-1728B52AA6E4}">
                <ns5:decorative xmlns:ns5="http://schemas.microsoft.com/office/drawing/2017/decorative" val="1"/>
              </a:ext>
            </a:extLst>
          </p:cNvPr>
          <p:cNvSpPr/>
          <p:nvPr/>
        </p:nvSpPr>
        <p:spPr>
          <a:xfrm>
            <a:off x="7763256" y="1188720"/>
            <a:ext cx="4224528" cy="2194560"/>
          </a:xfrm>
          <a:prstGeom prst="roundRect">
            <a:avLst>
              <a:gd name="adj" fmla="val 6000"/>
            </a:avLst>
          </a:prstGeom>
          <a:solidFill>
            <a:srgbClr val="FFF9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Rounded Rectangle 59">
            <a:extLst>
              <a:ext uri="{C183D7F6-B498-43B3-948B-1728B52AA6E4}">
                <ns6:decorative xmlns:ns6="http://schemas.microsoft.com/office/drawing/2017/decorative" val="1"/>
              </a:ext>
            </a:extLst>
          </p:cNvPr>
          <p:cNvSpPr/>
          <p:nvPr/>
        </p:nvSpPr>
        <p:spPr>
          <a:xfrm>
            <a:off x="9107424" y="1051560"/>
            <a:ext cx="15361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TextBox 60"/>
          <p:cNvSpPr txBox="1"/>
          <p:nvPr/>
        </p:nvSpPr>
        <p:spPr>
          <a:xfrm>
            <a:off x="9107424" y="1051560"/>
            <a:ext cx="1536192" cy="274320"/>
          </a:xfrm>
          <a:prstGeom prst="rect">
            <a:avLst/>
          </a:prstGeom>
          <a:noFill/>
        </p:spPr>
        <p:txBody>
          <a:bodyPr wrap="square" anchor="ctr" lIns="0" rIns="0" tIns="0" bIns="0">
            <a:spAutoFit/>
          </a:bodyPr>
          <a:lstStyle/>
          <a:p>
            <a:pPr algn="ctr">
              <a:spcAft>
                <a:spcPts val="400"/>
              </a:spcAft>
            </a:pPr>
            <a:r>
              <a:rPr sz="1200" b="0" i="0">
                <a:solidFill>
                  <a:srgbClr val="323139"/>
                </a:solidFill>
                <a:latin typeface="Segoe Sans Display Semibold"/>
              </a:rPr>
              <a:t>Watch for</a:t>
            </a:r>
          </a:p>
        </p:txBody>
      </p:sp>
      <p:sp>
        <p:nvSpPr>
          <p:cNvPr id="62" name="TextBox 61"/>
          <p:cNvSpPr txBox="1"/>
          <p:nvPr/>
        </p:nvSpPr>
        <p:spPr>
          <a:xfrm>
            <a:off x="8001000" y="1572768"/>
            <a:ext cx="3794760" cy="1737360"/>
          </a:xfrm>
          <a:prstGeom prst="rect">
            <a:avLst/>
          </a:prstGeom>
          <a:noFill/>
        </p:spPr>
        <p:txBody>
          <a:bodyPr wrap="square" anchor="t" lIns="0" rIns="0" tIns="0" bIns="0">
            <a:spAutoFit/>
          </a:bodyPr>
          <a:lstStyle/>
          <a:p>
            <a:pPr algn="l" marL="182880" indent="-182880">
              <a:spcAft>
                <a:spcPts val="400"/>
              </a:spcAft>
              <a:buFont typeface="Arial"/>
              <a:buChar char="•"/>
            </a:pPr>
            <a:r>
              <a:rPr sz="1150" b="1" i="0">
                <a:solidFill>
                  <a:srgbClr val="323139"/>
                </a:solidFill>
                <a:latin typeface="Segoe UI"/>
              </a:rPr>
              <a:t>Word</a:t>
            </a:r>
            <a:r>
              <a:rPr sz="1150" b="0" i="0">
                <a:solidFill>
                  <a:srgbClr val="323139"/>
                </a:solidFill>
                <a:latin typeface="Segoe UI"/>
              </a:rPr>
              <a:t> for the posting; </a:t>
            </a:r>
            <a:r>
              <a:rPr sz="1150" b="1" i="0">
                <a:solidFill>
                  <a:srgbClr val="323139"/>
                </a:solidFill>
                <a:latin typeface="Segoe UI"/>
              </a:rPr>
              <a:t>Excel</a:t>
            </a:r>
            <a:r>
              <a:rPr sz="1150" b="0" i="0">
                <a:solidFill>
                  <a:srgbClr val="323139"/>
                </a:solidFill>
                <a:latin typeface="Segoe UI"/>
              </a:rPr>
              <a:t> for the analysis</a:t>
            </a:r>
          </a:p>
          <a:p>
            <a:pPr algn="l" marL="182880" indent="-182880">
              <a:spcAft>
                <a:spcPts val="400"/>
              </a:spcAft>
              <a:buFont typeface="Arial"/>
              <a:buChar char="•"/>
            </a:pPr>
            <a:r>
              <a:rPr sz="1150" b="0" i="0">
                <a:solidFill>
                  <a:srgbClr val="323139"/>
                </a:solidFill>
                <a:latin typeface="Segoe UI"/>
              </a:rPr>
              <a:t>The High/Open overtime ticket (T-2008)</a:t>
            </a:r>
          </a:p>
          <a:p>
            <a:pPr algn="l" marL="182880" indent="-182880">
              <a:spcAft>
                <a:spcPts val="400"/>
              </a:spcAft>
              <a:buFont typeface="Arial"/>
              <a:buChar char="•"/>
            </a:pPr>
            <a:r>
              <a:rPr sz="1150" b="0" i="0">
                <a:solidFill>
                  <a:srgbClr val="323139"/>
                </a:solidFill>
                <a:latin typeface="Segoe UI"/>
              </a:rPr>
              <a:t>You’ll automate this report in Exercise 7</a:t>
            </a:r>
          </a:p>
        </p:txBody>
      </p:sp>
      <p:sp>
        <p:nvSpPr>
          <p:cNvPr id="63" name="Rounded Rectangle 62">
            <a:extLst>
              <a:ext uri="{C183D7F6-B498-43B3-948B-1728B52AA6E4}">
                <ns7:decorative xmlns:ns7="http://schemas.microsoft.com/office/drawing/2017/decorative" val="1"/>
              </a:ext>
            </a:extLst>
          </p:cNvPr>
          <p:cNvSpPr/>
          <p:nvPr/>
        </p:nvSpPr>
        <p:spPr>
          <a:xfrm>
            <a:off x="7763256" y="3611880"/>
            <a:ext cx="4224528" cy="1691640"/>
          </a:xfrm>
          <a:prstGeom prst="roundRect">
            <a:avLst>
              <a:gd name="adj" fmla="val 8000"/>
            </a:avLst>
          </a:prstGeom>
          <a:solidFill>
            <a:srgbClr val="3414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Oval 63">
            <a:extLst>
              <a:ext uri="{C183D7F6-B498-43B3-948B-1728B52AA6E4}">
                <ns8:decorative xmlns:ns8="http://schemas.microsoft.com/office/drawing/2017/decorative" val="1"/>
              </a:ext>
            </a:extLst>
          </p:cNvPr>
          <p:cNvSpPr/>
          <p:nvPr/>
        </p:nvSpPr>
        <p:spPr>
          <a:xfrm>
            <a:off x="7543800" y="3401568"/>
            <a:ext cx="402336" cy="402336"/>
          </a:xfrm>
          <a:prstGeom prst="ellipse">
            <a:avLst/>
          </a:prstGeom>
          <a:solidFill>
            <a:srgbClr val="FFFFFF"/>
          </a:solidFill>
          <a:ln>
            <a:no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TextBox 64"/>
          <p:cNvSpPr txBox="1"/>
          <p:nvPr/>
        </p:nvSpPr>
        <p:spPr>
          <a:xfrm>
            <a:off x="7543800" y="3401568"/>
            <a:ext cx="402336" cy="402336"/>
          </a:xfrm>
          <a:prstGeom prst="rect">
            <a:avLst/>
          </a:prstGeom>
          <a:noFill/>
        </p:spPr>
        <p:txBody>
          <a:bodyPr wrap="square" anchor="ctr" lIns="0" rIns="0" tIns="0" bIns="0">
            <a:spAutoFit/>
          </a:bodyPr>
          <a:lstStyle/>
          <a:p>
            <a:pPr algn="ctr">
              <a:spcAft>
                <a:spcPts val="400"/>
              </a:spcAft>
            </a:pPr>
            <a:r>
              <a:rPr sz="1600" b="1" i="0">
                <a:solidFill>
                  <a:srgbClr val="3B1041"/>
                </a:solidFill>
                <a:latin typeface="Segoe UI"/>
              </a:rPr>
              <a:t>✓</a:t>
            </a:r>
          </a:p>
        </p:txBody>
      </p:sp>
      <p:sp>
        <p:nvSpPr>
          <p:cNvPr id="66" name="TextBox 65"/>
          <p:cNvSpPr txBox="1"/>
          <p:nvPr/>
        </p:nvSpPr>
        <p:spPr>
          <a:xfrm>
            <a:off x="8001000" y="3749039"/>
            <a:ext cx="3794760" cy="1463040"/>
          </a:xfrm>
          <a:prstGeom prst="rect">
            <a:avLst/>
          </a:prstGeom>
          <a:noFill/>
        </p:spPr>
        <p:txBody>
          <a:bodyPr wrap="square" anchor="ctr" lIns="0" rIns="0" tIns="0" bIns="0">
            <a:spAutoFit/>
          </a:bodyPr>
          <a:lstStyle/>
          <a:p>
            <a:pPr algn="l">
              <a:lnSpc>
                <a:spcPct val="105000"/>
              </a:lnSpc>
              <a:spcAft>
                <a:spcPts val="400"/>
              </a:spcAft>
            </a:pPr>
            <a:r>
              <a:rPr sz="1200" b="1" i="0">
                <a:solidFill>
                  <a:srgbClr val="FFFFFF"/>
                </a:solidFill>
                <a:latin typeface="Segoe Sans Display Semibold"/>
              </a:rPr>
              <a:t>Checkpoint: </a:t>
            </a:r>
            <a:r>
              <a:rPr sz="1200" b="0" i="0">
                <a:solidFill>
                  <a:srgbClr val="FFFFFF"/>
                </a:solidFill>
                <a:latin typeface="Segoe Sans Display"/>
              </a:rPr>
              <a:t>A Word job posting with a wording-review table, and a ticket summary: 6 open / 14 closed, with T-2008 as the only high-priority open ticket.</a:t>
            </a:r>
          </a:p>
        </p:txBody>
      </p:sp>
      <p:sp>
        <p:nvSpPr>
          <p:cNvPr id="67" name="Rounded Rectangle 66">
            <a:extLst>
              <a:ext uri="{C183D7F6-B498-43B3-948B-1728B52AA6E4}">
                <ns9:decorative xmlns:ns9="http://schemas.microsoft.com/office/drawing/2017/decorative" val="1"/>
              </a:ext>
            </a:extLst>
          </p:cNvPr>
          <p:cNvSpPr/>
          <p:nvPr/>
        </p:nvSpPr>
        <p:spPr>
          <a:xfrm>
            <a:off x="7763256" y="5486400"/>
            <a:ext cx="4224528" cy="960120"/>
          </a:xfrm>
          <a:prstGeom prst="roundRect">
            <a:avLst>
              <a:gd name="adj" fmla="val 10000"/>
            </a:avLst>
          </a:prstGeom>
          <a:solidFill>
            <a:srgbClr val="FFF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Box 67"/>
          <p:cNvSpPr txBox="1"/>
          <p:nvPr/>
        </p:nvSpPr>
        <p:spPr>
          <a:xfrm>
            <a:off x="8001000" y="5486400"/>
            <a:ext cx="3794760" cy="960120"/>
          </a:xfrm>
          <a:prstGeom prst="rect">
            <a:avLst/>
          </a:prstGeom>
          <a:noFill/>
        </p:spPr>
        <p:txBody>
          <a:bodyPr wrap="square" anchor="ctr" lIns="0" rIns="0" tIns="0" bIns="0">
            <a:spAutoFit/>
          </a:bodyPr>
          <a:lstStyle/>
          <a:p>
            <a:pPr algn="l">
              <a:lnSpc>
                <a:spcPct val="103000"/>
              </a:lnSpc>
              <a:spcAft>
                <a:spcPts val="400"/>
              </a:spcAft>
            </a:pPr>
            <a:r>
              <a:rPr sz="1100" b="1" i="0">
                <a:solidFill>
                  <a:srgbClr val="323139"/>
                </a:solidFill>
                <a:latin typeface="Segoe Sans Display Semibold"/>
              </a:rPr>
              <a:t>Stretch: </a:t>
            </a:r>
            <a:r>
              <a:rPr sz="1100" b="0" i="0">
                <a:solidFill>
                  <a:srgbClr val="323139"/>
                </a:solidFill>
                <a:latin typeface="Segoe Sans Display"/>
              </a:rPr>
              <a:t>Summarize employee-roster-sample.xlsx: headcount by department, remote vs. on-site, average PTO used.</a:t>
            </a:r>
          </a:p>
        </p:txBody>
      </p:sp>
    </p:spTree>
    <p:extLst>
      <p:ext uri="{BB962C8B-B14F-4D97-AF65-F5344CB8AC3E}">
        <p14:creationId xmlns:p14="http://schemas.microsoft.com/office/powerpoint/2010/main" val="1649947486"/>
      </p:ext>
    </p:extLst>
  </p:cSld>
  <p:clrMapOvr>
    <a:overrideClrMapping bg1="lt1" tx1="dk1" bg2="lt2" tx2="dk2" accent1="accent1" accent2="accent2" accent3="accent3" accent4="accent4" accent5="accent5" accent6="accent6" hlink="hlink" folHlink="folHlink"/>
  </p:clrMapOvr>
</p:sld>
</file>

<file path=ppt/slides/slide43.xml><?xml version="1.0" encoding="utf-8"?>
<p:sld xmlns:a="http://schemas.openxmlformats.org/drawingml/2006/main" xmlns:p="http://schemas.openxmlformats.org/presentationml/2006/main" xmlns:r="http://schemas.openxmlformats.org/officeDocument/2006/relationships">
  <p:cSld>
    <p:bg>
      <p:bgPr>
        <a:blipFill dpi="0" rotWithShape="1">
          <a:blip r:embed="rId5">
            <a:alphaModFix amt="70000"/>
            <a:lum/>
          </a:blip>
          <a:srcRect/>
          <a:stretch>
            <a:fillRect l="-2000" r="-2000"/>
          </a:stretch>
        </a:blipFill>
        <a:effectLst/>
      </p:bgPr>
    </p:bg>
    <p:spTree>
      <p:nvGrpSpPr>
        <p:cNvPr id="1" name="">
          <a:extLst>
            <a:ext uri="{FF2B5EF4-FFF2-40B4-BE49-F238E27FC236}">
              <a16:creationId xmlns:a16="http://schemas.microsoft.com/office/drawing/2014/main" id="{CC810B06-9C60-9BCB-DF49-73D043B037F2}"/>
            </a:ext>
          </a:extLst>
        </p:cNvPr>
        <p:cNvGrpSpPr/>
        <p:nvPr/>
      </p:nvGrpSpPr>
      <p:grpSpPr>
        <a:xfrm>
          <a:off x="0" y="0"/>
          <a:ext cx="0" cy="0"/>
          <a:chOff x="0" y="0"/>
          <a:chExt cx="0" cy="0"/>
        </a:xfrm>
      </p:grpSpPr>
      <p:sp>
        <p:nvSpPr>
          <p:cNvPr id="2" name="TextBox 1"/>
          <p:cNvSpPr txBox="1"/>
          <p:nvPr/>
        </p:nvSpPr>
        <p:spPr>
          <a:xfrm>
            <a:off x="914400" y="2148840"/>
            <a:ext cx="10332720" cy="1188720"/>
          </a:xfrm>
          <a:prstGeom prst="rect">
            <a:avLst/>
          </a:prstGeom>
          <a:noFill/>
        </p:spPr>
        <p:txBody>
          <a:bodyPr wrap="square" anchor="ctr" lIns="0" rIns="0" tIns="0" bIns="0">
            <a:spAutoFit/>
          </a:bodyPr>
          <a:lstStyle/>
          <a:p>
            <a:pPr algn="ctr">
              <a:spcAft>
                <a:spcPts val="400"/>
              </a:spcAft>
            </a:pPr>
            <a:r>
              <a:rPr sz="5400" b="0" i="0">
                <a:solidFill>
                  <a:srgbClr val="323139"/>
                </a:solidFill>
                <a:latin typeface="Segoe Sans Display"/>
              </a:rPr>
              <a:t>☕  Break · 10 minutes</a:t>
            </a:r>
          </a:p>
        </p:txBody>
      </p:sp>
      <p:sp>
        <p:nvSpPr>
          <p:cNvPr id="3" name="TextBox 2"/>
          <p:cNvSpPr txBox="1"/>
          <p:nvPr/>
        </p:nvSpPr>
        <p:spPr>
          <a:xfrm>
            <a:off x="1371600" y="3429000"/>
            <a:ext cx="9418320" cy="548640"/>
          </a:xfrm>
          <a:prstGeom prst="rect">
            <a:avLst/>
          </a:prstGeom>
          <a:noFill/>
        </p:spPr>
        <p:txBody>
          <a:bodyPr wrap="square" anchor="t" lIns="0" rIns="0" tIns="0" bIns="0">
            <a:spAutoFit/>
          </a:bodyPr>
          <a:lstStyle/>
          <a:p>
            <a:pPr algn="ctr">
              <a:spcAft>
                <a:spcPts val="400"/>
              </a:spcAft>
            </a:pPr>
            <a:r>
              <a:rPr sz="1800" b="0" i="0">
                <a:solidFill>
                  <a:srgbClr val="323139"/>
                </a:solidFill>
                <a:latin typeface="Segoe Sans Display"/>
              </a:rPr>
              <a:t>Stretch, refill, and note one task you'd hand to Cowork tomorrow.</a:t>
            </a:r>
          </a:p>
        </p:txBody>
      </p:sp>
      <p:sp>
        <p:nvSpPr>
          <p:cNvPr id="4" name="Rounded Rectangle 3">
            <a:extLst>
              <a:ext uri="{C183D7F6-B498-43B3-948B-1728B52AA6E4}">
                <ns0:decorative xmlns:ns0="http://schemas.microsoft.com/office/drawing/2017/decorative" val="1"/>
              </a:ext>
            </a:extLst>
          </p:cNvPr>
          <p:cNvSpPr/>
          <p:nvPr/>
        </p:nvSpPr>
        <p:spPr>
          <a:xfrm>
            <a:off x="3566160" y="4343400"/>
            <a:ext cx="5056632" cy="5029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3566160" y="4343400"/>
            <a:ext cx="5056632" cy="502920"/>
          </a:xfrm>
          <a:prstGeom prst="rect">
            <a:avLst/>
          </a:prstGeom>
          <a:noFill/>
        </p:spPr>
        <p:txBody>
          <a:bodyPr wrap="square" anchor="ctr" lIns="0" rIns="0" tIns="0" bIns="0">
            <a:spAutoFit/>
          </a:bodyPr>
          <a:lstStyle/>
          <a:p>
            <a:pPr algn="ctr">
              <a:spcAft>
                <a:spcPts val="400"/>
              </a:spcAft>
            </a:pPr>
            <a:r>
              <a:rPr sz="1500" b="0" i="0">
                <a:solidFill>
                  <a:srgbClr val="323139"/>
                </a:solidFill>
                <a:latin typeface="Segoe Sans Display Semibold"/>
              </a:rPr>
              <a:t>Next up: Ex 6 · Onboarding pack</a:t>
            </a:r>
          </a:p>
        </p:txBody>
      </p:sp>
    </p:spTree>
    <p:extLst>
      <p:ext uri="{BB962C8B-B14F-4D97-AF65-F5344CB8AC3E}">
        <p14:creationId xmlns:p14="http://schemas.microsoft.com/office/powerpoint/2010/main" val="1649947486"/>
      </p:ext>
    </p:extLst>
  </p:cSld>
  <p:clrMapOvr>
    <a:overrideClrMapping bg1="lt1" tx1="dk1" bg2="lt2" tx2="dk2" accent1="accent1" accent2="accent2" accent3="accent3" accent4="accent4" accent5="accent5" accent6="accent6" hlink="hlink" folHlink="folHlink"/>
  </p:clrMapOvr>
</p:sld>
</file>

<file path=ppt/slides/slide44.xml><?xml version="1.0" encoding="utf-8"?>
<p:sld xmlns:a="http://schemas.openxmlformats.org/drawingml/2006/main" xmlns:p="http://schemas.openxmlformats.org/presentationml/2006/main" xmlns:r="http://schemas.openxmlformats.org/officeDocument/2006/relationships">
  <p:cSld>
    <p:bg>
      <p:bgPr>
        <a:blipFill dpi="0" rotWithShape="1">
          <a:blip r:embed="rId5">
            <a:alphaModFix amt="70000"/>
            <a:lum/>
          </a:blip>
          <a:srcRect/>
          <a:stretch>
            <a:fillRect l="-2000" r="-2000"/>
          </a:stretch>
        </a:blipFill>
        <a:effectLst/>
      </p:bgPr>
    </p:bg>
    <p:spTree>
      <p:nvGrpSpPr>
        <p:cNvPr id="1" name="">
          <a:extLst>
            <a:ext uri="{FF2B5EF4-FFF2-40B4-BE49-F238E27FC236}">
              <a16:creationId xmlns:a16="http://schemas.microsoft.com/office/drawing/2014/main" id="{CC810B06-9C60-9BCB-DF49-73D043B037F2}"/>
            </a:ext>
          </a:extLst>
        </p:cNvPr>
        <p:cNvGrpSpPr/>
        <p:nvPr/>
      </p:nvGrpSpPr>
      <p:grpSpPr>
        <a:xfrm>
          <a:off x="0" y="0"/>
          <a:ext cx="0" cy="0"/>
          <a:chOff x="0" y="0"/>
          <a:chExt cx="0" cy="0"/>
        </a:xfrm>
      </p:grpSpPr>
      <p:sp>
        <p:nvSpPr>
          <p:cNvPr id="27" name="Title 3">
            <a:extLst>
              <a:ext uri="{FF2B5EF4-FFF2-40B4-BE49-F238E27FC236}">
                <a16:creationId xmlns:a16="http://schemas.microsoft.com/office/drawing/2014/main" id="{3EF2C483-DB46-D975-7E0E-09A75642D76B}"/>
              </a:ext>
            </a:extLst>
          </p:cNvPr>
          <p:cNvSpPr txBox="1">
            <a:spLocks/>
          </p:cNvSpPr>
          <p:nvPr/>
        </p:nvSpPr>
        <p:spPr>
          <a:xfrm>
            <a:off x="1925908" y="293473"/>
            <a:ext cx="7070725" cy="430887"/>
          </a:xfrm>
          <a:prstGeom prst="rect">
            <a:avLst/>
          </a:prstGeom>
        </p:spPr>
        <p:txBody>
          <a:bodyPr vert="horz" wrap="square" lIns="0" tIns="0" rIns="0" bIns="0" rtlCol="0" anchor="t">
            <a:spAutoFit/>
          </a:bodyPr>
          <a:lstStyle>
            <a:lvl1pPr algn="l" defTabSz="769520" rtl="0" eaLnBrk="1" latinLnBrk="0" hangingPunct="1">
              <a:lnSpc>
                <a:spcPct val="100000"/>
              </a:lnSpc>
              <a:spcBef>
                <a:spcPct val="0"/>
              </a:spcBef>
              <a:buNone/>
              <a:defRPr lang="en-US" sz="2000" b="0" kern="1200" cap="none" spc="0" baseline="0">
                <a:ln w="3175">
                  <a:noFill/>
                </a:ln>
                <a:solidFill>
                  <a:schemeClr val="tx1"/>
                </a:solidFill>
                <a:effectLst/>
                <a:latin typeface="+mj-lt"/>
                <a:ea typeface="+mn-ea"/>
                <a:cs typeface="Segoe Sans Display" pitchFamily="2" charset="0"/>
              </a:defRPr>
            </a:lvl1pPr>
          </a:lstStyle>
          <a:p>
            <a:pPr marL="0" marR="0" lvl="0" indent="0" algn="l" defTabSz="769520" rtl="0" eaLnBrk="1" fontAlgn="auto" latinLnBrk="0" hangingPunct="1">
              <a:lnSpc>
                <a:spcPct val="100000"/>
              </a:lnSpc>
              <a:spcBef>
                <a:spcPct val="0"/>
              </a:spcBef>
              <a:spcAft>
                <a:spcPts val="0"/>
              </a:spcAft>
              <a:buClrTx/>
              <a:buSzTx/>
              <a:buFontTx/>
              <a:buNone/>
              <a:tabLst/>
              <a:defRPr/>
            </a:pPr>
            <a:r>
              <a:rPr kumimoji="0" lang="en-US" sz="2800" b="0" i="0" u="none" strike="noStrike" kern="1200" cap="none" spc="0" normalizeH="0" baseline="0" noProof="0">
                <a:ln w="3175">
                  <a:noFill/>
                </a:ln>
                <a:solidFill>
                  <a:srgbClr val="323139"/>
                </a:solidFill>
                <a:effectLst/>
                <a:uLnTx/>
                <a:uFillTx/>
                <a:latin typeface="Segoe Sans Display" pitchFamily="2" charset="0"/>
                <a:ea typeface="+mn-ea"/>
                <a:cs typeface="Segoe Sans Display" pitchFamily="2" charset="0"/>
              </a:rPr>
              <a:t>Onboarding Orientation Pack</a:t>
            </a:r>
          </a:p>
        </p:txBody>
      </p:sp>
      <p:sp>
        <p:nvSpPr>
          <p:cNvPr id="28" name="NavPill_SitesPages">
            <a:extLst>
              <a:ext uri="{FF2B5EF4-FFF2-40B4-BE49-F238E27FC236}">
                <a16:creationId xmlns:a16="http://schemas.microsoft.com/office/drawing/2014/main" id="{57BB7AF5-33B6-DA4A-ABA7-2573FB8050B2}"/>
              </a:ext>
            </a:extLst>
          </p:cNvPr>
          <p:cNvSpPr/>
          <p:nvPr/>
        </p:nvSpPr>
        <p:spPr>
          <a:xfrm>
            <a:off x="350837" y="342900"/>
            <a:ext cx="1419239" cy="337762"/>
          </a:xfrm>
          <a:prstGeom prst="roundRect">
            <a:avLst>
              <a:gd name="adj" fmla="val 50000"/>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207091" rtl="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Ex 06</a:t>
            </a:r>
          </a:p>
        </p:txBody>
      </p:sp>
      <p:sp>
        <p:nvSpPr>
          <p:cNvPr id="33" name="Rectangle: Rounded Corners 32">
            <a:extLst>
              <a:ext uri="{FF2B5EF4-FFF2-40B4-BE49-F238E27FC236}">
                <a16:creationId xmlns:a16="http://schemas.microsoft.com/office/drawing/2014/main" id="{8D56FF72-D759-DB8C-C791-1089618B3EE4}"/>
              </a:ext>
            </a:extLst>
          </p:cNvPr>
          <p:cNvSpPr/>
          <p:nvPr/>
        </p:nvSpPr>
        <p:spPr bwMode="auto">
          <a:xfrm>
            <a:off x="424382" y="954763"/>
            <a:ext cx="3621360" cy="1127147"/>
          </a:xfrm>
          <a:prstGeom prst="roundRect">
            <a:avLst>
              <a:gd name="adj" fmla="val 9646"/>
            </a:avLst>
          </a:prstGeom>
          <a:solidFill>
            <a:srgbClr val="FFFC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Goal</a:t>
            </a:r>
            <a:r>
              <a:rPr kumimoji="0" lang="en-US" sz="1100" b="0" i="0" u="none" strike="noStrike" kern="0" cap="none" spc="0" normalizeH="0" baseline="0" noProof="0">
                <a:ln w="3175">
                  <a:noFill/>
                </a:ln>
                <a:solidFill>
                  <a:srgbClr val="323139"/>
                </a:solidFill>
                <a:effectLst/>
                <a:uLnTx/>
                <a:uFillTx/>
                <a:latin typeface="Segoe Sans Display Semibold" pitchFamily="2" charset="0"/>
                <a:ea typeface="+mn-ea"/>
                <a:cs typeface="Segoe Sans Display Semibold" pitchFamily="2" charset="0"/>
              </a:rPr>
              <a:t>: </a:t>
            </a:r>
            <a:r>
              <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rPr>
              <a:t>Give a new hire a polished first-day experience without assembling it by hand.</a:t>
            </a:r>
          </a:p>
        </p:txBody>
      </p:sp>
      <p:sp>
        <p:nvSpPr>
          <p:cNvPr id="34" name="Rectangle: Rounded Corners 33">
            <a:extLst>
              <a:ext uri="{FF2B5EF4-FFF2-40B4-BE49-F238E27FC236}">
                <a16:creationId xmlns:a16="http://schemas.microsoft.com/office/drawing/2014/main" id="{58B7C25E-B49B-24B7-8F32-A2823589DFF3}"/>
              </a:ext>
            </a:extLst>
          </p:cNvPr>
          <p:cNvSpPr/>
          <p:nvPr/>
        </p:nvSpPr>
        <p:spPr bwMode="auto">
          <a:xfrm>
            <a:off x="4372822" y="978410"/>
            <a:ext cx="3621360" cy="1107187"/>
          </a:xfrm>
          <a:prstGeom prst="roundRect">
            <a:avLst>
              <a:gd name="adj" fmla="val 10584"/>
            </a:avLst>
          </a:prstGeom>
          <a:solidFill>
            <a:srgbClr val="FFFC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noProof="0">
                <a:ln w="3175">
                  <a:noFill/>
                </a:ln>
                <a:blipFill>
                  <a:blip r:embed="rId4"/>
                  <a:stretch>
                    <a:fillRect t="-26822" b="-26822"/>
                  </a:stretch>
                </a:blipFill>
                <a:effectLst/>
                <a:uLnTx/>
                <a:uFillTx/>
                <a:latin typeface="Segoe Sans Display Semibold"/>
                <a:ea typeface="+mn-ea"/>
                <a:cs typeface="Segoe Sans Display Semibold" pitchFamily="2" charset="0"/>
              </a:rPr>
              <a:t>Output</a:t>
            </a:r>
            <a:r>
              <a:rPr kumimoji="0" lang="en-US" sz="1100" b="0" i="0" u="none" strike="noStrike" kern="0" cap="none" spc="0" normalizeH="0" baseline="0" noProof="0">
                <a:ln w="3175">
                  <a:noFill/>
                </a:ln>
                <a:solidFill>
                  <a:srgbClr val="323139"/>
                </a:solidFill>
                <a:effectLst/>
                <a:uLnTx/>
                <a:uFillTx/>
                <a:latin typeface="Segoe Sans Display Semibold"/>
                <a:ea typeface="+mn-ea"/>
                <a:cs typeface="Segoe Sans Display Semibold" pitchFamily="2" charset="0"/>
              </a:rPr>
              <a:t>: </a:t>
            </a:r>
            <a:r>
              <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rPr>
              <a:t>A 6–8 slide orientation deck, a scheduled kickoff with a Teams link, and a team announcement draft for Sofia Alvarez, Zava’s new HR Coordinator.</a:t>
            </a:r>
          </a:p>
        </p:txBody>
      </p:sp>
      <p:sp>
        <p:nvSpPr>
          <p:cNvPr id="30" name="TextBox 29">
            <a:extLst>
              <a:ext uri="{FF2B5EF4-FFF2-40B4-BE49-F238E27FC236}">
                <a16:creationId xmlns:a16="http://schemas.microsoft.com/office/drawing/2014/main" id="{4519738B-A618-91E3-CAC4-D99F7E54632B}"/>
              </a:ext>
              <a:ext uri="{C183D7F6-B498-43B3-948B-1728B52AA6E4}">
                <ns0:decorative xmlns:ns0="http://schemas.microsoft.com/office/drawing/2017/decorative" val="1"/>
              </a:ext>
            </a:extLst>
          </p:cNvPr>
          <p:cNvSpPr txBox="1"/>
          <p:nvPr/>
        </p:nvSpPr>
        <p:spPr>
          <a:xfrm>
            <a:off x="8867052" y="119383"/>
            <a:ext cx="3092209" cy="338554"/>
          </a:xfrm>
          <a:prstGeom prst="roundRect">
            <a:avLst>
              <a:gd name="adj" fmla="val 19537"/>
            </a:avLst>
          </a:prstGeom>
          <a:solidFill>
            <a:srgbClr val="CB85FF">
              <a:lumMod val="20000"/>
              <a:lumOff val="80000"/>
            </a:srgbClr>
          </a:solidFill>
        </p:spPr>
        <p:txBody>
          <a:bodyPr wrap="square" lIns="1188720" tIns="45720" rIns="0" bIns="45720" anchor="ctr">
            <a:noAutofit/>
          </a:bodyPr>
          <a:lstStyle>
            <a:defPPr>
              <a:defRPr lang="en-US"/>
            </a:defPPr>
            <a:lvl1pPr>
              <a:spcAft>
                <a:spcPts val="776"/>
              </a:spcAft>
              <a:defRPr sz="1200">
                <a:latin typeface="+mj-lt"/>
                <a:cs typeface="Segoe Sans Display Semibold" pitchFamily="2" charset="0"/>
              </a:defRPr>
            </a:lvl1pPr>
          </a:lstStyle>
          <a:p>
            <a:pPr marL="0" marR="0" lvl="0" indent="0" algn="l" defTabSz="914294" rtl="0" eaLnBrk="1" fontAlgn="auto" latinLnBrk="0" hangingPunct="1">
              <a:lnSpc>
                <a:spcPct val="100000"/>
              </a:lnSpc>
              <a:spcBef>
                <a:spcPts val="0"/>
              </a:spcBef>
              <a:spcAft>
                <a:spcPts val="776"/>
              </a:spcAft>
              <a:buClrTx/>
              <a:buSzTx/>
              <a:buFontTx/>
              <a:buNone/>
              <a:tabLst/>
              <a:defRPr/>
            </a:pPr>
            <a:endParaRPr kumimoji="0" lang="en-US" sz="1200" b="0" i="0" u="none" strike="noStrike" kern="0" cap="none" spc="0" normalizeH="0" baseline="0" noProof="0">
              <a:ln>
                <a:noFill/>
              </a:ln>
              <a:solidFill>
                <a:srgbClr val="323139"/>
              </a:solidFill>
              <a:effectLst/>
              <a:uLnTx/>
              <a:uFillTx/>
              <a:latin typeface="Segoe Sans Display"/>
              <a:ea typeface="+mn-ea"/>
              <a:cs typeface="Segoe Sans Display Semibold" pitchFamily="2" charset="0"/>
            </a:endParaRPr>
          </a:p>
        </p:txBody>
      </p:sp>
      <p:sp>
        <p:nvSpPr>
          <p:cNvPr id="31" name="TextBox 30">
            <a:extLst>
              <a:ext uri="{FF2B5EF4-FFF2-40B4-BE49-F238E27FC236}">
                <a16:creationId xmlns:a16="http://schemas.microsoft.com/office/drawing/2014/main" id="{4B310F6E-1BD3-CF01-32AD-647BCF12AC0F}"/>
              </a:ext>
            </a:extLst>
          </p:cNvPr>
          <p:cNvSpPr txBox="1"/>
          <p:nvPr/>
        </p:nvSpPr>
        <p:spPr>
          <a:xfrm>
            <a:off x="8942688" y="173878"/>
            <a:ext cx="1280160" cy="233352"/>
          </a:xfrm>
          <a:prstGeom prst="roundRect">
            <a:avLst>
              <a:gd name="adj" fmla="val 16151"/>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5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defRPr lang="en-US"/>
            </a:defPPr>
            <a:lvl1pPr algn="ctr" defTabSz="932765" fontAlgn="base">
              <a:spcBef>
                <a:spcPct val="0"/>
              </a:spcBef>
              <a:spcAft>
                <a:spcPct val="0"/>
              </a:spcAft>
              <a:defRPr sz="1600">
                <a:solidFill>
                  <a:schemeClr val="accent1"/>
                </a:solidFill>
                <a:latin typeface="+mj-lt"/>
                <a:cs typeface="Segoe Sans Display Semibold" pitchFamily="2" charset="0"/>
              </a:defRPr>
            </a:lvl1pPr>
          </a:lstStyle>
          <a:p>
            <a:pPr marL="0" marR="0" lvl="0" indent="0" algn="l" defTabSz="932765" rtl="0" eaLnBrk="1" fontAlgn="base" latinLnBrk="0" hangingPunct="1">
              <a:lnSpc>
                <a:spcPct val="100000"/>
              </a:lnSpc>
              <a:spcBef>
                <a:spcPct val="0"/>
              </a:spcBef>
              <a:spcAft>
                <a:spcPct val="0"/>
              </a:spcAft>
              <a:buClrTx/>
              <a:buSzTx/>
              <a:buFontTx/>
              <a:buNone/>
              <a:tabLst/>
              <a:defRPr/>
            </a:pPr>
            <a:r>
              <a:rPr kumimoji="0" lang="en-IN" sz="1050" b="0" i="0" u="none" strike="noStrike" kern="0" cap="none" spc="0" normalizeH="0" baseline="0" noProof="0">
                <a:ln>
                  <a:noFill/>
                </a:ln>
                <a:solidFill>
                  <a:srgbClr val="323139"/>
                </a:solidFill>
                <a:effectLst/>
                <a:uLnTx/>
                <a:uFillTx/>
                <a:latin typeface="Segoe Sans Display"/>
                <a:ea typeface="+mn-ea"/>
                <a:cs typeface="Segoe Sans Display Semibold" pitchFamily="2" charset="0"/>
              </a:rPr>
              <a:t>Function</a:t>
            </a:r>
          </a:p>
        </p:txBody>
      </p:sp>
      <p:sp>
        <p:nvSpPr>
          <p:cNvPr id="50" name="TextBox 49">
            <a:extLst>
              <a:ext uri="{FF2B5EF4-FFF2-40B4-BE49-F238E27FC236}">
                <a16:creationId xmlns:a16="http://schemas.microsoft.com/office/drawing/2014/main" id="{0CE10D15-83B7-7915-49A3-0BD3A21E9731}"/>
              </a:ext>
            </a:extLst>
          </p:cNvPr>
          <p:cNvSpPr txBox="1"/>
          <p:nvPr/>
        </p:nvSpPr>
        <p:spPr>
          <a:xfrm>
            <a:off x="10298483" y="173490"/>
            <a:ext cx="1668779" cy="253916"/>
          </a:xfrm>
          <a:prstGeom prst="rect">
            <a:avLst/>
          </a:prstGeom>
          <a:noFill/>
        </p:spPr>
        <p:txBody>
          <a:bodyPr wrap="square">
            <a:spAutoFit/>
          </a:bodyPr>
          <a:lstStyle/>
          <a:p>
            <a:pPr marL="0" marR="0" lvl="0" indent="0" algn="l" defTabSz="914294"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323139"/>
                </a:solidFill>
                <a:effectLst/>
                <a:uLnTx/>
                <a:uFillTx/>
                <a:latin typeface="Segoe Sans Display"/>
                <a:ea typeface="+mn-ea"/>
                <a:cs typeface="Segoe Sans Display"/>
              </a:rPr>
              <a:t>HR · Onboarding</a:t>
            </a:r>
          </a:p>
        </p:txBody>
      </p:sp>
      <p:sp>
        <p:nvSpPr>
          <p:cNvPr id="59" name="Rectangle: Rounded Corners 58">
            <a:extLst>
              <a:ext uri="{FF2B5EF4-FFF2-40B4-BE49-F238E27FC236}">
                <a16:creationId xmlns:a16="http://schemas.microsoft.com/office/drawing/2014/main" id="{4A73329A-1917-C156-E817-2B9E2D56CBE1}"/>
              </a:ext>
              <a:ext uri="{C183D7F6-B498-43B3-948B-1728B52AA6E4}">
                <ns1:decorative xmlns:ns1="http://schemas.microsoft.com/office/drawing/2017/decorative" val="1"/>
              </a:ext>
            </a:extLst>
          </p:cNvPr>
          <p:cNvSpPr/>
          <p:nvPr/>
        </p:nvSpPr>
        <p:spPr bwMode="auto">
          <a:xfrm>
            <a:off x="424381" y="2312313"/>
            <a:ext cx="7171849" cy="4327573"/>
          </a:xfrm>
          <a:prstGeom prst="roundRect">
            <a:avLst>
              <a:gd name="adj" fmla="val 1683"/>
            </a:avLst>
          </a:prstGeom>
          <a:solidFill>
            <a:srgbClr val="FFF9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B553FF"/>
              </a:solidFill>
              <a:effectLst/>
              <a:uLnTx/>
              <a:uFillTx/>
              <a:latin typeface="Segoe Sans Display Semibold" pitchFamily="2" charset="0"/>
              <a:ea typeface="+mn-ea"/>
              <a:cs typeface="Segoe Sans Display Semibold" pitchFamily="2" charset="0"/>
            </a:endParaRPr>
          </a:p>
        </p:txBody>
      </p:sp>
      <p:grpSp>
        <p:nvGrpSpPr>
          <p:cNvPr id="79" name="Group 78">
            <a:extLst>
              <a:ext uri="{FF2B5EF4-FFF2-40B4-BE49-F238E27FC236}">
                <a16:creationId xmlns:a16="http://schemas.microsoft.com/office/drawing/2014/main" id="{B857CF20-AAD8-92CD-98E7-73BD8662071B}"/>
              </a:ext>
            </a:extLst>
          </p:cNvPr>
          <p:cNvGrpSpPr/>
          <p:nvPr/>
        </p:nvGrpSpPr>
        <p:grpSpPr>
          <a:xfrm>
            <a:off x="199916" y="775485"/>
            <a:ext cx="398477" cy="398477"/>
            <a:chOff x="3403308" y="1083220"/>
            <a:chExt cx="398477" cy="398477"/>
          </a:xfrm>
        </p:grpSpPr>
        <p:sp>
          <p:nvSpPr>
            <p:cNvPr id="76" name="Oval 75">
              <a:extLst>
                <a:ext uri="{FF2B5EF4-FFF2-40B4-BE49-F238E27FC236}">
                  <a16:creationId xmlns:a16="http://schemas.microsoft.com/office/drawing/2014/main" id="{159C5AC1-FC57-57FC-51C9-4DC5847B88F1}"/>
                </a:ext>
                <a:ext uri="{C183D7F6-B498-43B3-948B-1728B52AA6E4}">
                  <ns2:decorative xmlns:ns2="http://schemas.microsoft.com/office/drawing/2017/decorative" val="1"/>
                </a:ext>
              </a:extLst>
            </p:cNvPr>
            <p:cNvSpPr/>
            <p:nvPr/>
          </p:nvSpPr>
          <p:spPr>
            <a:xfrm>
              <a:off x="3403308" y="1083220"/>
              <a:ext cx="398477" cy="398477"/>
            </a:xfrm>
            <a:prstGeom prst="ellipse">
              <a:avLst/>
            </a:prstGeom>
            <a:solidFill>
              <a:srgbClr val="FFF9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2" name="Graphic 5">
              <a:extLst>
                <a:ext uri="{FF2B5EF4-FFF2-40B4-BE49-F238E27FC236}">
                  <a16:creationId xmlns:a16="http://schemas.microsoft.com/office/drawing/2014/main" id="{9F306AE4-27E6-F02E-E553-1EF2C3FBAF65}"/>
                </a:ext>
                <a:ext uri="{C183D7F6-B498-43B3-948B-1728B52AA6E4}">
                  <adec:decorative xmlns:adec="http://schemas.microsoft.com/office/drawing/2017/decorative" val="1"/>
                </a:ext>
              </a:extLst>
            </p:cNvPr>
            <p:cNvSpPr>
              <a:spLocks/>
            </p:cNvSpPr>
            <p:nvPr/>
          </p:nvSpPr>
          <p:spPr>
            <a:xfrm>
              <a:off x="3474676" y="1157049"/>
              <a:ext cx="250822" cy="250818"/>
            </a:xfrm>
            <a:custGeom>
              <a:avLst/>
              <a:gdLst>
                <a:gd name="csX0" fmla="*/ 188408 w 190501"/>
                <a:gd name="csY0" fmla="*/ 45534 h 190500"/>
                <a:gd name="csX1" fmla="*/ 189957 w 190501"/>
                <a:gd name="csY1" fmla="*/ 37748 h 190500"/>
                <a:gd name="csX2" fmla="*/ 183357 w 190501"/>
                <a:gd name="csY2" fmla="*/ 33338 h 190500"/>
                <a:gd name="csX3" fmla="*/ 157162 w 190501"/>
                <a:gd name="csY3" fmla="*/ 33338 h 190500"/>
                <a:gd name="csX4" fmla="*/ 157162 w 190501"/>
                <a:gd name="csY4" fmla="*/ 7144 h 190500"/>
                <a:gd name="csX5" fmla="*/ 152751 w 190501"/>
                <a:gd name="csY5" fmla="*/ 544 h 190500"/>
                <a:gd name="csX6" fmla="*/ 144967 w 190501"/>
                <a:gd name="csY6" fmla="*/ 2093 h 190500"/>
                <a:gd name="csX7" fmla="*/ 121155 w 190501"/>
                <a:gd name="csY7" fmla="*/ 25906 h 190500"/>
                <a:gd name="csX8" fmla="*/ 119063 w 190501"/>
                <a:gd name="csY8" fmla="*/ 30957 h 190500"/>
                <a:gd name="csX9" fmla="*/ 119063 w 190501"/>
                <a:gd name="csY9" fmla="*/ 57967 h 190500"/>
                <a:gd name="csX10" fmla="*/ 100185 w 190501"/>
                <a:gd name="csY10" fmla="*/ 76846 h 190500"/>
                <a:gd name="csX11" fmla="*/ 95250 w 190501"/>
                <a:gd name="csY11" fmla="*/ 76201 h 190500"/>
                <a:gd name="csX12" fmla="*/ 76200 w 190501"/>
                <a:gd name="csY12" fmla="*/ 95251 h 190500"/>
                <a:gd name="csX13" fmla="*/ 95250 w 190501"/>
                <a:gd name="csY13" fmla="*/ 114301 h 190500"/>
                <a:gd name="csX14" fmla="*/ 114300 w 190501"/>
                <a:gd name="csY14" fmla="*/ 95251 h 190500"/>
                <a:gd name="csX15" fmla="*/ 113655 w 190501"/>
                <a:gd name="csY15" fmla="*/ 90316 h 190500"/>
                <a:gd name="csX16" fmla="*/ 132533 w 190501"/>
                <a:gd name="csY16" fmla="*/ 71438 h 190500"/>
                <a:gd name="csX17" fmla="*/ 159545 w 190501"/>
                <a:gd name="csY17" fmla="*/ 71438 h 190500"/>
                <a:gd name="csX18" fmla="*/ 164596 w 190501"/>
                <a:gd name="csY18" fmla="*/ 69346 h 190500"/>
                <a:gd name="csX19" fmla="*/ 188408 w 190501"/>
                <a:gd name="csY19" fmla="*/ 45534 h 190500"/>
                <a:gd name="csX20" fmla="*/ 95250 w 190501"/>
                <a:gd name="csY20" fmla="*/ 1 h 190500"/>
                <a:gd name="csX21" fmla="*/ 127860 w 190501"/>
                <a:gd name="csY21" fmla="*/ 5729 h 190500"/>
                <a:gd name="csX22" fmla="*/ 114419 w 190501"/>
                <a:gd name="csY22" fmla="*/ 19170 h 190500"/>
                <a:gd name="csX23" fmla="*/ 112781 w 190501"/>
                <a:gd name="csY23" fmla="*/ 21077 h 190500"/>
                <a:gd name="csX24" fmla="*/ 95250 w 190501"/>
                <a:gd name="csY24" fmla="*/ 19051 h 190500"/>
                <a:gd name="csX25" fmla="*/ 19050 w 190501"/>
                <a:gd name="csY25" fmla="*/ 95251 h 190500"/>
                <a:gd name="csX26" fmla="*/ 95250 w 190501"/>
                <a:gd name="csY26" fmla="*/ 171451 h 190500"/>
                <a:gd name="csX27" fmla="*/ 171450 w 190501"/>
                <a:gd name="csY27" fmla="*/ 95251 h 190500"/>
                <a:gd name="csX28" fmla="*/ 169424 w 190501"/>
                <a:gd name="csY28" fmla="*/ 77720 h 190500"/>
                <a:gd name="csX29" fmla="*/ 171331 w 190501"/>
                <a:gd name="csY29" fmla="*/ 76081 h 190500"/>
                <a:gd name="csX30" fmla="*/ 184772 w 190501"/>
                <a:gd name="csY30" fmla="*/ 62641 h 190500"/>
                <a:gd name="csX31" fmla="*/ 190500 w 190501"/>
                <a:gd name="csY31" fmla="*/ 95251 h 190500"/>
                <a:gd name="csX32" fmla="*/ 95250 w 190501"/>
                <a:gd name="csY32" fmla="*/ 190501 h 190500"/>
                <a:gd name="csX33" fmla="*/ 0 w 190501"/>
                <a:gd name="csY33" fmla="*/ 95251 h 190500"/>
                <a:gd name="csX34" fmla="*/ 95250 w 190501"/>
                <a:gd name="csY34" fmla="*/ 1 h 190500"/>
                <a:gd name="csX35" fmla="*/ 95250 w 190501"/>
                <a:gd name="csY35" fmla="*/ 38101 h 190500"/>
                <a:gd name="csX36" fmla="*/ 109538 w 190501"/>
                <a:gd name="csY36" fmla="*/ 39901 h 190500"/>
                <a:gd name="csX37" fmla="*/ 109538 w 190501"/>
                <a:gd name="csY37" fmla="*/ 54021 h 190500"/>
                <a:gd name="csX38" fmla="*/ 105592 w 190501"/>
                <a:gd name="csY38" fmla="*/ 57968 h 190500"/>
                <a:gd name="csX39" fmla="*/ 105131 w 190501"/>
                <a:gd name="csY39" fmla="*/ 58444 h 190500"/>
                <a:gd name="csX40" fmla="*/ 95250 w 190501"/>
                <a:gd name="csY40" fmla="*/ 57151 h 190500"/>
                <a:gd name="csX41" fmla="*/ 57150 w 190501"/>
                <a:gd name="csY41" fmla="*/ 95251 h 190500"/>
                <a:gd name="csX42" fmla="*/ 95250 w 190501"/>
                <a:gd name="csY42" fmla="*/ 133351 h 190500"/>
                <a:gd name="csX43" fmla="*/ 133350 w 190501"/>
                <a:gd name="csY43" fmla="*/ 95251 h 190500"/>
                <a:gd name="csX44" fmla="*/ 132057 w 190501"/>
                <a:gd name="csY44" fmla="*/ 85369 h 190500"/>
                <a:gd name="csX45" fmla="*/ 132533 w 190501"/>
                <a:gd name="csY45" fmla="*/ 84909 h 190500"/>
                <a:gd name="csX46" fmla="*/ 136478 w 190501"/>
                <a:gd name="csY46" fmla="*/ 80963 h 190500"/>
                <a:gd name="csX47" fmla="*/ 150600 w 190501"/>
                <a:gd name="csY47" fmla="*/ 80963 h 190500"/>
                <a:gd name="csX48" fmla="*/ 152400 w 190501"/>
                <a:gd name="csY48" fmla="*/ 95251 h 190500"/>
                <a:gd name="csX49" fmla="*/ 95250 w 190501"/>
                <a:gd name="csY49" fmla="*/ 152401 h 190500"/>
                <a:gd name="csX50" fmla="*/ 38100 w 190501"/>
                <a:gd name="csY50" fmla="*/ 95251 h 190500"/>
                <a:gd name="csX51" fmla="*/ 95250 w 190501"/>
                <a:gd name="csY51" fmla="*/ 38101 h 190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Lst>
              <a:rect l="l" t="t" r="r" b="b"/>
              <a:pathLst>
                <a:path w="190501" h="190500">
                  <a:moveTo>
                    <a:pt x="188408" y="45534"/>
                  </a:moveTo>
                  <a:cubicBezTo>
                    <a:pt x="190452" y="43491"/>
                    <a:pt x="191063" y="40418"/>
                    <a:pt x="189957" y="37748"/>
                  </a:cubicBezTo>
                  <a:cubicBezTo>
                    <a:pt x="188852" y="35079"/>
                    <a:pt x="186247" y="33338"/>
                    <a:pt x="183357" y="33338"/>
                  </a:cubicBezTo>
                  <a:lnTo>
                    <a:pt x="157162" y="33338"/>
                  </a:lnTo>
                  <a:lnTo>
                    <a:pt x="157162" y="7144"/>
                  </a:lnTo>
                  <a:cubicBezTo>
                    <a:pt x="157162" y="4255"/>
                    <a:pt x="155421" y="1650"/>
                    <a:pt x="152751" y="544"/>
                  </a:cubicBezTo>
                  <a:cubicBezTo>
                    <a:pt x="150083" y="-562"/>
                    <a:pt x="147010" y="50"/>
                    <a:pt x="144967" y="2093"/>
                  </a:cubicBezTo>
                  <a:lnTo>
                    <a:pt x="121155" y="25906"/>
                  </a:lnTo>
                  <a:cubicBezTo>
                    <a:pt x="119815" y="27246"/>
                    <a:pt x="119063" y="29063"/>
                    <a:pt x="119063" y="30957"/>
                  </a:cubicBezTo>
                  <a:lnTo>
                    <a:pt x="119063" y="57967"/>
                  </a:lnTo>
                  <a:lnTo>
                    <a:pt x="100185" y="76846"/>
                  </a:lnTo>
                  <a:cubicBezTo>
                    <a:pt x="98610" y="76425"/>
                    <a:pt x="96957" y="76201"/>
                    <a:pt x="95250" y="76201"/>
                  </a:cubicBezTo>
                  <a:cubicBezTo>
                    <a:pt x="84729" y="76201"/>
                    <a:pt x="76200" y="84730"/>
                    <a:pt x="76200" y="95251"/>
                  </a:cubicBezTo>
                  <a:cubicBezTo>
                    <a:pt x="76200" y="105771"/>
                    <a:pt x="84729" y="114301"/>
                    <a:pt x="95250" y="114301"/>
                  </a:cubicBezTo>
                  <a:cubicBezTo>
                    <a:pt x="105771" y="114301"/>
                    <a:pt x="114300" y="105771"/>
                    <a:pt x="114300" y="95251"/>
                  </a:cubicBezTo>
                  <a:cubicBezTo>
                    <a:pt x="114300" y="93544"/>
                    <a:pt x="114075" y="91891"/>
                    <a:pt x="113655" y="90316"/>
                  </a:cubicBezTo>
                  <a:lnTo>
                    <a:pt x="132533" y="71438"/>
                  </a:lnTo>
                  <a:lnTo>
                    <a:pt x="159545" y="71438"/>
                  </a:lnTo>
                  <a:cubicBezTo>
                    <a:pt x="161439" y="71438"/>
                    <a:pt x="163256" y="70686"/>
                    <a:pt x="164596" y="69346"/>
                  </a:cubicBezTo>
                  <a:lnTo>
                    <a:pt x="188408" y="45534"/>
                  </a:lnTo>
                  <a:close/>
                  <a:moveTo>
                    <a:pt x="95250" y="1"/>
                  </a:moveTo>
                  <a:cubicBezTo>
                    <a:pt x="106705" y="1"/>
                    <a:pt x="117687" y="2023"/>
                    <a:pt x="127860" y="5729"/>
                  </a:cubicBezTo>
                  <a:lnTo>
                    <a:pt x="114419" y="19170"/>
                  </a:lnTo>
                  <a:cubicBezTo>
                    <a:pt x="113823" y="19767"/>
                    <a:pt x="113275" y="20405"/>
                    <a:pt x="112781" y="21077"/>
                  </a:cubicBezTo>
                  <a:cubicBezTo>
                    <a:pt x="107152" y="19752"/>
                    <a:pt x="101283" y="19051"/>
                    <a:pt x="95250" y="19051"/>
                  </a:cubicBezTo>
                  <a:cubicBezTo>
                    <a:pt x="53166" y="19051"/>
                    <a:pt x="19050" y="53166"/>
                    <a:pt x="19050" y="95251"/>
                  </a:cubicBezTo>
                  <a:cubicBezTo>
                    <a:pt x="19050" y="137334"/>
                    <a:pt x="53166" y="171451"/>
                    <a:pt x="95250" y="171451"/>
                  </a:cubicBezTo>
                  <a:cubicBezTo>
                    <a:pt x="137334" y="171451"/>
                    <a:pt x="171450" y="137334"/>
                    <a:pt x="171450" y="95251"/>
                  </a:cubicBezTo>
                  <a:cubicBezTo>
                    <a:pt x="171450" y="89218"/>
                    <a:pt x="170749" y="83348"/>
                    <a:pt x="169424" y="77720"/>
                  </a:cubicBezTo>
                  <a:cubicBezTo>
                    <a:pt x="170096" y="77226"/>
                    <a:pt x="170734" y="76678"/>
                    <a:pt x="171331" y="76081"/>
                  </a:cubicBezTo>
                  <a:lnTo>
                    <a:pt x="184772" y="62641"/>
                  </a:lnTo>
                  <a:cubicBezTo>
                    <a:pt x="188478" y="72813"/>
                    <a:pt x="190500" y="83796"/>
                    <a:pt x="190500" y="95251"/>
                  </a:cubicBezTo>
                  <a:cubicBezTo>
                    <a:pt x="190500" y="147856"/>
                    <a:pt x="147855" y="190501"/>
                    <a:pt x="95250" y="190501"/>
                  </a:cubicBezTo>
                  <a:cubicBezTo>
                    <a:pt x="42645" y="190501"/>
                    <a:pt x="0" y="147856"/>
                    <a:pt x="0" y="95251"/>
                  </a:cubicBezTo>
                  <a:cubicBezTo>
                    <a:pt x="0" y="42645"/>
                    <a:pt x="42645" y="1"/>
                    <a:pt x="95250" y="1"/>
                  </a:cubicBezTo>
                  <a:close/>
                  <a:moveTo>
                    <a:pt x="95250" y="38101"/>
                  </a:moveTo>
                  <a:cubicBezTo>
                    <a:pt x="100184" y="38101"/>
                    <a:pt x="104971" y="38726"/>
                    <a:pt x="109538" y="39901"/>
                  </a:cubicBezTo>
                  <a:lnTo>
                    <a:pt x="109538" y="54021"/>
                  </a:lnTo>
                  <a:lnTo>
                    <a:pt x="105592" y="57968"/>
                  </a:lnTo>
                  <a:cubicBezTo>
                    <a:pt x="105435" y="58125"/>
                    <a:pt x="105282" y="58284"/>
                    <a:pt x="105131" y="58444"/>
                  </a:cubicBezTo>
                  <a:cubicBezTo>
                    <a:pt x="101980" y="57601"/>
                    <a:pt x="98668" y="57151"/>
                    <a:pt x="95250" y="57151"/>
                  </a:cubicBezTo>
                  <a:cubicBezTo>
                    <a:pt x="74208" y="57151"/>
                    <a:pt x="57150" y="74208"/>
                    <a:pt x="57150" y="95251"/>
                  </a:cubicBezTo>
                  <a:cubicBezTo>
                    <a:pt x="57150" y="116293"/>
                    <a:pt x="74208" y="133351"/>
                    <a:pt x="95250" y="133351"/>
                  </a:cubicBezTo>
                  <a:cubicBezTo>
                    <a:pt x="116292" y="133351"/>
                    <a:pt x="133350" y="116293"/>
                    <a:pt x="133350" y="95251"/>
                  </a:cubicBezTo>
                  <a:cubicBezTo>
                    <a:pt x="133350" y="91833"/>
                    <a:pt x="132900" y="88521"/>
                    <a:pt x="132057" y="85369"/>
                  </a:cubicBezTo>
                  <a:cubicBezTo>
                    <a:pt x="132217" y="85219"/>
                    <a:pt x="132376" y="85065"/>
                    <a:pt x="132533" y="84909"/>
                  </a:cubicBezTo>
                  <a:lnTo>
                    <a:pt x="136478" y="80963"/>
                  </a:lnTo>
                  <a:lnTo>
                    <a:pt x="150600" y="80963"/>
                  </a:lnTo>
                  <a:cubicBezTo>
                    <a:pt x="151775" y="85530"/>
                    <a:pt x="152400" y="90317"/>
                    <a:pt x="152400" y="95251"/>
                  </a:cubicBezTo>
                  <a:cubicBezTo>
                    <a:pt x="152400" y="126814"/>
                    <a:pt x="126813" y="152401"/>
                    <a:pt x="95250" y="152401"/>
                  </a:cubicBezTo>
                  <a:cubicBezTo>
                    <a:pt x="63687" y="152401"/>
                    <a:pt x="38100" y="126814"/>
                    <a:pt x="38100" y="95251"/>
                  </a:cubicBezTo>
                  <a:cubicBezTo>
                    <a:pt x="38100" y="63687"/>
                    <a:pt x="63687" y="38101"/>
                    <a:pt x="95250" y="38101"/>
                  </a:cubicBezTo>
                  <a:close/>
                </a:path>
              </a:pathLst>
            </a:custGeom>
            <a:solidFill>
              <a:srgbClr val="323139"/>
            </a:solidFill>
            <a:ln w="10477" cap="flat" cmpd="sng" algn="ctr">
              <a:noFill/>
              <a:prstDash val="solid"/>
              <a:miter/>
            </a:ln>
            <a:effectLst/>
          </p:spPr>
          <p:txBody>
            <a:bodyPr rot="0" spcFirstLastPara="0" vertOverflow="overflow" horzOverflow="overflow" vert="horz" wrap="square" lIns="338011" tIns="270406" rIns="338011" bIns="270406" numCol="1" spcCol="0" rtlCol="0" fromWordArt="0" anchor="t" anchorCtr="0" forceAA="0" compatLnSpc="1">
              <a:prstTxWarp prst="textNoShape">
                <a:avLst/>
              </a:prstTxWarp>
              <a:noAutofit/>
            </a:bodyPr>
            <a:lstStyle/>
            <a:p>
              <a:pPr marL="0" marR="0" lvl="0" indent="0" algn="l" defTabSz="1722411" rtl="0" eaLnBrk="1" fontAlgn="base" latinLnBrk="0" hangingPunct="1">
                <a:lnSpc>
                  <a:spcPct val="100000"/>
                </a:lnSpc>
                <a:spcBef>
                  <a:spcPct val="0"/>
                </a:spcBef>
                <a:spcAft>
                  <a:spcPct val="0"/>
                </a:spcAft>
                <a:buClrTx/>
                <a:buSzTx/>
                <a:buFontTx/>
                <a:buNone/>
                <a:tabLst/>
                <a:defRPr/>
              </a:pPr>
              <a:endParaRPr kumimoji="0" lang="en-US" sz="3622" b="1" i="0" u="none" strike="noStrike" kern="0" cap="none" spc="0" normalizeH="0" baseline="0" noProof="0">
                <a:ln>
                  <a:noFill/>
                </a:ln>
                <a:noFill/>
                <a:effectLst/>
                <a:uLnTx/>
                <a:uFillTx/>
                <a:latin typeface="Segoe UI Variable Display Semibold" pitchFamily="2" charset="0"/>
                <a:ea typeface="+mn-ea"/>
                <a:cs typeface="Segoe UI" pitchFamily="34" charset="0"/>
              </a:endParaRPr>
            </a:p>
          </p:txBody>
        </p:sp>
      </p:grpSp>
      <p:sp>
        <p:nvSpPr>
          <p:cNvPr id="78" name="Oval 77">
            <a:extLst>
              <a:ext uri="{FF2B5EF4-FFF2-40B4-BE49-F238E27FC236}">
                <a16:creationId xmlns:a16="http://schemas.microsoft.com/office/drawing/2014/main" id="{7ABF2AEF-7824-DEF7-C92E-0915DEF41F17}"/>
              </a:ext>
              <a:ext uri="{C183D7F6-B498-43B3-948B-1728B52AA6E4}">
                <ns3:decorative xmlns:ns3="http://schemas.microsoft.com/office/drawing/2017/decorative" val="1"/>
              </a:ext>
            </a:extLst>
          </p:cNvPr>
          <p:cNvSpPr/>
          <p:nvPr/>
        </p:nvSpPr>
        <p:spPr>
          <a:xfrm>
            <a:off x="4122028" y="779171"/>
            <a:ext cx="398477" cy="398477"/>
          </a:xfrm>
          <a:prstGeom prst="ellipse">
            <a:avLst/>
          </a:prstGeom>
          <a:solidFill>
            <a:srgbClr val="FFF9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6" name="Graphic 15">
            <a:extLst>
              <a:ext uri="{FF2B5EF4-FFF2-40B4-BE49-F238E27FC236}">
                <a16:creationId xmlns:a16="http://schemas.microsoft.com/office/drawing/2014/main" id="{09721564-91C5-D7C7-A65B-CFCBCAAA8285}"/>
              </a:ext>
              <a:ext uri="{C183D7F6-B498-43B3-948B-1728B52AA6E4}">
                <adec:decorative xmlns:adec="http://schemas.microsoft.com/office/drawing/2017/decorative" val="1"/>
              </a:ext>
            </a:extLst>
          </p:cNvPr>
          <p:cNvSpPr>
            <a:spLocks/>
          </p:cNvSpPr>
          <p:nvPr/>
        </p:nvSpPr>
        <p:spPr>
          <a:xfrm>
            <a:off x="4172482" y="836452"/>
            <a:ext cx="297568" cy="252931"/>
          </a:xfrm>
          <a:custGeom>
            <a:avLst/>
            <a:gdLst>
              <a:gd name="csX0" fmla="*/ 147926 w 190499"/>
              <a:gd name="csY0" fmla="*/ 2092 h 161924"/>
              <a:gd name="csX1" fmla="*/ 137824 w 190499"/>
              <a:gd name="csY1" fmla="*/ 2092 h 161924"/>
              <a:gd name="csX2" fmla="*/ 137824 w 190499"/>
              <a:gd name="csY2" fmla="*/ 12195 h 161924"/>
              <a:gd name="csX3" fmla="*/ 166109 w 190499"/>
              <a:gd name="csY3" fmla="*/ 40481 h 161924"/>
              <a:gd name="csX4" fmla="*/ 119063 w 190499"/>
              <a:gd name="csY4" fmla="*/ 40481 h 161924"/>
              <a:gd name="csX5" fmla="*/ 88106 w 190499"/>
              <a:gd name="csY5" fmla="*/ 71437 h 161924"/>
              <a:gd name="csX6" fmla="*/ 88106 w 190499"/>
              <a:gd name="csY6" fmla="*/ 100012 h 161924"/>
              <a:gd name="csX7" fmla="*/ 75437 w 190499"/>
              <a:gd name="csY7" fmla="*/ 116198 h 161924"/>
              <a:gd name="csX8" fmla="*/ 38100 w 190499"/>
              <a:gd name="csY8" fmla="*/ 85725 h 161924"/>
              <a:gd name="csX9" fmla="*/ 0 w 190499"/>
              <a:gd name="csY9" fmla="*/ 123825 h 161924"/>
              <a:gd name="csX10" fmla="*/ 38100 w 190499"/>
              <a:gd name="csY10" fmla="*/ 161925 h 161924"/>
              <a:gd name="csX11" fmla="*/ 75582 w 190499"/>
              <a:gd name="csY11" fmla="*/ 130693 h 161924"/>
              <a:gd name="csX12" fmla="*/ 102394 w 190499"/>
              <a:gd name="csY12" fmla="*/ 100012 h 161924"/>
              <a:gd name="csX13" fmla="*/ 102394 w 190499"/>
              <a:gd name="csY13" fmla="*/ 71437 h 161924"/>
              <a:gd name="csX14" fmla="*/ 119063 w 190499"/>
              <a:gd name="csY14" fmla="*/ 54769 h 161924"/>
              <a:gd name="csX15" fmla="*/ 166109 w 190499"/>
              <a:gd name="csY15" fmla="*/ 54769 h 161924"/>
              <a:gd name="csX16" fmla="*/ 137824 w 190499"/>
              <a:gd name="csY16" fmla="*/ 83055 h 161924"/>
              <a:gd name="csX17" fmla="*/ 137824 w 190499"/>
              <a:gd name="csY17" fmla="*/ 93157 h 161924"/>
              <a:gd name="csX18" fmla="*/ 147926 w 190499"/>
              <a:gd name="csY18" fmla="*/ 93157 h 161924"/>
              <a:gd name="csX19" fmla="*/ 188407 w 190499"/>
              <a:gd name="csY19" fmla="*/ 52676 h 161924"/>
              <a:gd name="csX20" fmla="*/ 188407 w 190499"/>
              <a:gd name="csY20" fmla="*/ 42574 h 161924"/>
              <a:gd name="csX21" fmla="*/ 147926 w 190499"/>
              <a:gd name="csY21" fmla="*/ 2092 h 1619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190499" h="161924">
                <a:moveTo>
                  <a:pt x="147926" y="2092"/>
                </a:moveTo>
                <a:cubicBezTo>
                  <a:pt x="145136" y="-697"/>
                  <a:pt x="140614" y="-697"/>
                  <a:pt x="137824" y="2092"/>
                </a:cubicBezTo>
                <a:cubicBezTo>
                  <a:pt x="135034" y="4882"/>
                  <a:pt x="135034" y="9405"/>
                  <a:pt x="137824" y="12195"/>
                </a:cubicBezTo>
                <a:lnTo>
                  <a:pt x="166109" y="40481"/>
                </a:lnTo>
                <a:lnTo>
                  <a:pt x="119063" y="40481"/>
                </a:lnTo>
                <a:cubicBezTo>
                  <a:pt x="101966" y="40481"/>
                  <a:pt x="88106" y="54341"/>
                  <a:pt x="88106" y="71437"/>
                </a:cubicBezTo>
                <a:lnTo>
                  <a:pt x="88106" y="100012"/>
                </a:lnTo>
                <a:cubicBezTo>
                  <a:pt x="88106" y="107840"/>
                  <a:pt x="82711" y="114408"/>
                  <a:pt x="75437" y="116198"/>
                </a:cubicBezTo>
                <a:cubicBezTo>
                  <a:pt x="71904" y="98811"/>
                  <a:pt x="56530" y="85725"/>
                  <a:pt x="38100" y="85725"/>
                </a:cubicBezTo>
                <a:cubicBezTo>
                  <a:pt x="17058" y="85725"/>
                  <a:pt x="0" y="102783"/>
                  <a:pt x="0" y="123825"/>
                </a:cubicBezTo>
                <a:cubicBezTo>
                  <a:pt x="0" y="144867"/>
                  <a:pt x="17058" y="161925"/>
                  <a:pt x="38100" y="161925"/>
                </a:cubicBezTo>
                <a:cubicBezTo>
                  <a:pt x="56797" y="161925"/>
                  <a:pt x="72348" y="148458"/>
                  <a:pt x="75582" y="130693"/>
                </a:cubicBezTo>
                <a:cubicBezTo>
                  <a:pt x="90719" y="128668"/>
                  <a:pt x="102394" y="115704"/>
                  <a:pt x="102394" y="100012"/>
                </a:cubicBezTo>
                <a:lnTo>
                  <a:pt x="102394" y="71437"/>
                </a:lnTo>
                <a:cubicBezTo>
                  <a:pt x="102394" y="62232"/>
                  <a:pt x="109857" y="54769"/>
                  <a:pt x="119063" y="54769"/>
                </a:cubicBezTo>
                <a:lnTo>
                  <a:pt x="166109" y="54769"/>
                </a:lnTo>
                <a:lnTo>
                  <a:pt x="137824" y="83055"/>
                </a:lnTo>
                <a:cubicBezTo>
                  <a:pt x="135034" y="85845"/>
                  <a:pt x="135034" y="90367"/>
                  <a:pt x="137824" y="93157"/>
                </a:cubicBezTo>
                <a:cubicBezTo>
                  <a:pt x="140614" y="95947"/>
                  <a:pt x="145136" y="95947"/>
                  <a:pt x="147926" y="93157"/>
                </a:cubicBezTo>
                <a:lnTo>
                  <a:pt x="188407" y="52676"/>
                </a:lnTo>
                <a:cubicBezTo>
                  <a:pt x="191197" y="49887"/>
                  <a:pt x="191197" y="45363"/>
                  <a:pt x="188407" y="42574"/>
                </a:cubicBezTo>
                <a:lnTo>
                  <a:pt x="147926" y="2092"/>
                </a:lnTo>
                <a:close/>
              </a:path>
            </a:pathLst>
          </a:custGeom>
          <a:solidFill>
            <a:srgbClr val="323139"/>
          </a:solidFill>
          <a:ln w="10477" cap="flat" cmpd="sng" algn="ctr">
            <a:noFill/>
            <a:prstDash val="solid"/>
            <a:miter/>
          </a:ln>
          <a:effectLst/>
        </p:spPr>
        <p:txBody>
          <a:bodyPr rot="0" spcFirstLastPara="0" vertOverflow="overflow" horzOverflow="overflow" vert="horz" wrap="square" lIns="338011" tIns="270406" rIns="338011" bIns="270406" numCol="1" spcCol="0" rtlCol="0" fromWordArt="0" anchor="t" anchorCtr="0" forceAA="0" compatLnSpc="1">
            <a:prstTxWarp prst="textNoShape">
              <a:avLst/>
            </a:prstTxWarp>
            <a:noAutofit/>
          </a:bodyPr>
          <a:lstStyle/>
          <a:p>
            <a:pPr marL="0" marR="0" lvl="0" indent="0" algn="l" defTabSz="1722411" rtl="0" eaLnBrk="1" fontAlgn="base" latinLnBrk="0" hangingPunct="1">
              <a:lnSpc>
                <a:spcPct val="100000"/>
              </a:lnSpc>
              <a:spcBef>
                <a:spcPct val="0"/>
              </a:spcBef>
              <a:spcAft>
                <a:spcPct val="0"/>
              </a:spcAft>
              <a:buClrTx/>
              <a:buSzTx/>
              <a:buFontTx/>
              <a:buNone/>
              <a:tabLst/>
              <a:defRPr/>
            </a:pPr>
            <a:endParaRPr kumimoji="0" lang="en-US" sz="3622" b="1" i="0" u="none" strike="noStrike" kern="0" cap="none" spc="0" normalizeH="0" baseline="0" noProof="0">
              <a:ln>
                <a:noFill/>
              </a:ln>
              <a:noFill/>
              <a:effectLst/>
              <a:uLnTx/>
              <a:uFillTx/>
              <a:latin typeface="Segoe UI Variable Display Semibold" pitchFamily="2" charset="0"/>
              <a:ea typeface="+mn-ea"/>
              <a:cs typeface="Segoe UI" pitchFamily="34" charset="0"/>
            </a:endParaRPr>
          </a:p>
        </p:txBody>
      </p:sp>
      <p:grpSp>
        <p:nvGrpSpPr>
          <p:cNvPr id="83" name="Group 82">
            <a:extLst>
              <a:ext uri="{FF2B5EF4-FFF2-40B4-BE49-F238E27FC236}">
                <a16:creationId xmlns:a16="http://schemas.microsoft.com/office/drawing/2014/main" id="{5A0CBAFC-5DED-D3E2-18ED-E34B74CAE926}"/>
              </a:ext>
            </a:extLst>
          </p:cNvPr>
          <p:cNvGrpSpPr/>
          <p:nvPr/>
        </p:nvGrpSpPr>
        <p:grpSpPr>
          <a:xfrm>
            <a:off x="3261739" y="2189487"/>
            <a:ext cx="1534355" cy="276999"/>
            <a:chOff x="3261739" y="2189487"/>
            <a:chExt cx="1534355" cy="276999"/>
          </a:xfrm>
        </p:grpSpPr>
        <p:sp>
          <p:nvSpPr>
            <p:cNvPr id="82" name="Rectangle: Rounded Corners 81">
              <a:extLst>
                <a:ext uri="{FF2B5EF4-FFF2-40B4-BE49-F238E27FC236}">
                  <a16:creationId xmlns:a16="http://schemas.microsoft.com/office/drawing/2014/main" id="{A21A551A-DE36-A716-13EE-21F822622FD5}"/>
                </a:ext>
                <a:ext uri="{C183D7F6-B498-43B3-948B-1728B52AA6E4}">
                  <ns4:decorative xmlns:ns4="http://schemas.microsoft.com/office/drawing/2017/decorative" val="1"/>
                </a:ext>
              </a:extLst>
            </p:cNvPr>
            <p:cNvSpPr/>
            <p:nvPr/>
          </p:nvSpPr>
          <p:spPr bwMode="auto">
            <a:xfrm>
              <a:off x="3261739" y="2213019"/>
              <a:ext cx="1534355" cy="244283"/>
            </a:xfrm>
            <a:prstGeom prst="roundRect">
              <a:avLst>
                <a:gd name="adj" fmla="val 50000"/>
              </a:avLst>
            </a:prstGeom>
            <a:solidFill>
              <a:srgbClr val="F3E5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endParaRPr>
            </a:p>
          </p:txBody>
        </p:sp>
        <p:sp>
          <p:nvSpPr>
            <p:cNvPr id="63" name="TextBox 62">
              <a:extLst>
                <a:ext uri="{FF2B5EF4-FFF2-40B4-BE49-F238E27FC236}">
                  <a16:creationId xmlns:a16="http://schemas.microsoft.com/office/drawing/2014/main" id="{197D0AEB-8A07-B4D6-7F33-85429D49214C}"/>
                </a:ext>
              </a:extLst>
            </p:cNvPr>
            <p:cNvSpPr txBox="1"/>
            <p:nvPr/>
          </p:nvSpPr>
          <p:spPr>
            <a:xfrm>
              <a:off x="3655077" y="2189487"/>
              <a:ext cx="710452"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Prompt</a:t>
              </a:r>
              <a:endParaRPr kumimoji="0" lang="en-IN" sz="12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endParaRPr>
            </a:p>
          </p:txBody>
        </p:sp>
      </p:grpSp>
      <p:sp>
        <p:nvSpPr>
          <p:cNvPr id="98" name="Rectangle: Rounded Corners 97">
            <a:extLst>
              <a:ext uri="{FF2B5EF4-FFF2-40B4-BE49-F238E27FC236}">
                <a16:creationId xmlns:a16="http://schemas.microsoft.com/office/drawing/2014/main" id="{AEBB3E1D-C5FB-7FC9-829F-F4815362ABD2}"/>
              </a:ext>
            </a:extLst>
          </p:cNvPr>
          <p:cNvSpPr/>
          <p:nvPr/>
        </p:nvSpPr>
        <p:spPr bwMode="auto">
          <a:xfrm>
            <a:off x="8334509" y="968486"/>
            <a:ext cx="3621360" cy="1107187"/>
          </a:xfrm>
          <a:prstGeom prst="roundRect">
            <a:avLst>
              <a:gd name="adj" fmla="val 10584"/>
            </a:avLst>
          </a:prstGeom>
          <a:solidFill>
            <a:srgbClr val="341434"/>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r>
              <a:rPr kumimoji="0" lang="en-US" sz="1100" b="1" i="0" u="none" strike="noStrike" kern="0" cap="none" spc="0" normalizeH="0" baseline="0" noProof="0">
                <a:ln>
                  <a:noFill/>
                </a:ln>
                <a:solidFill>
                  <a:prstClr val="white"/>
                </a:solidFill>
                <a:effectLst/>
                <a:uLnTx/>
                <a:uFillTx/>
                <a:latin typeface="Segoe Sans Display Semilight" pitchFamily="2" charset="0"/>
                <a:ea typeface="+mn-ea"/>
                <a:cs typeface="Segoe Sans Display Semilight" pitchFamily="2" charset="0"/>
              </a:rPr>
              <a:t>Why Cowork?: </a:t>
            </a:r>
            <a:r>
              <a:rPr kumimoji="0" lang="en-US" sz="1100" b="0" i="0" u="none" strike="noStrike" kern="0" cap="none" spc="0" normalizeH="0" baseline="0" noProof="0">
                <a:ln>
                  <a:noFill/>
                </a:ln>
                <a:solidFill>
                  <a:prstClr val="white"/>
                </a:solidFill>
                <a:effectLst/>
                <a:uLnTx/>
                <a:uFillTx/>
                <a:latin typeface="Segoe Sans Display Semilight" pitchFamily="2" charset="0"/>
                <a:ea typeface="+mn-ea"/>
                <a:cs typeface="Segoe Sans Display Semilight" pitchFamily="2" charset="0"/>
              </a:rPr>
              <a:t>Onboarding spans documents, calendars, and communications. Cowork chains PowerPoint, Scheduling, and Communications skills in one flow, grounded in your checklist, handbook, and benefits.</a:t>
            </a:r>
            <a:endParaRPr kumimoji="0" lang="en-US" sz="1100" i="0" u="none" strike="noStrike" kern="0" cap="none" spc="0" normalizeH="0" baseline="0" noProof="0">
              <a:ln w="3175">
                <a:noFill/>
              </a:ln>
              <a:solidFill>
                <a:prstClr val="white"/>
              </a:solidFill>
              <a:effectLst/>
              <a:uLnTx/>
              <a:uFillTx/>
              <a:latin typeface="Segoe Sans Display Semilight" pitchFamily="2" charset="0"/>
              <a:cs typeface="Segoe Sans Display Semilight" pitchFamily="2" charset="0"/>
            </a:endParaRPr>
          </a:p>
        </p:txBody>
      </p:sp>
      <p:sp>
        <p:nvSpPr>
          <p:cNvPr id="100" name="Oval 99">
            <a:extLst>
              <a:ext uri="{FF2B5EF4-FFF2-40B4-BE49-F238E27FC236}">
                <a16:creationId xmlns:a16="http://schemas.microsoft.com/office/drawing/2014/main" id="{82CA9355-2BD9-0408-CC03-CCAC40D6F6BE}"/>
              </a:ext>
              <a:ext uri="{C183D7F6-B498-43B3-948B-1728B52AA6E4}">
                <ns5:decorative xmlns:ns5="http://schemas.microsoft.com/office/drawing/2017/decorative" val="1"/>
              </a:ext>
            </a:extLst>
          </p:cNvPr>
          <p:cNvSpPr/>
          <p:nvPr/>
        </p:nvSpPr>
        <p:spPr>
          <a:xfrm>
            <a:off x="8054943" y="775485"/>
            <a:ext cx="398477" cy="398477"/>
          </a:xfrm>
          <a:prstGeom prst="ellipse">
            <a:avLst/>
          </a:prstGeom>
          <a:solidFill>
            <a:srgbClr val="FFF9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11" name="Icon Question Mark"/>
          <p:cNvSpPr txBox="1"/>
          <p:nvPr/>
        </p:nvSpPr>
        <p:spPr>
          <a:xfrm>
            <a:off x="8054943" y="775485"/>
            <a:ext cx="252134" cy="398477"/>
          </a:xfrm>
          <a:prstGeom prst="rect">
            <a:avLst/>
          </a:prstGeom>
          <a:noFill/>
        </p:spPr>
        <p:txBody>
          <a:bodyPr wrap="none" lIns="0" tIns="0" rIns="0" bIns="0" anchor="ctr" anchorCtr="1">
            <a:normAutofit/>
          </a:bodyPr>
          <a:lstStyle/>
          <a:p>
            <a:pPr algn="ctr"/>
            <a:r>
              <a:rPr lang="en-US" sz="1800" b="1">
                <a:solidFill>
                  <a:srgbClr val="3B1041"/>
                </a:solidFill>
                <a:latin typeface="Segoe UI" pitchFamily="34" charset="0"/>
                <a:cs typeface="Segoe UI" pitchFamily="34" charset="0"/>
              </a:rPr>
              <a:t>?</a:t>
            </a:r>
            <a:endParaRPr lang="en-US" sz="1800" b="1"/>
          </a:p>
        </p:txBody>
      </p:sp>
      <p:grpSp>
        <p:nvGrpSpPr>
          <p:cNvPr id="8" name="Group 7">
            <a:extLst>
              <a:ext uri="{FF2B5EF4-FFF2-40B4-BE49-F238E27FC236}">
                <a16:creationId xmlns:a16="http://schemas.microsoft.com/office/drawing/2014/main" id="{1722D180-2D5E-7D8C-B4A2-59B15C0453BA}"/>
              </a:ext>
            </a:extLst>
          </p:cNvPr>
          <p:cNvGrpSpPr/>
          <p:nvPr/>
        </p:nvGrpSpPr>
        <p:grpSpPr>
          <a:xfrm>
            <a:off x="7762717" y="2189487"/>
            <a:ext cx="4227030" cy="2010821"/>
            <a:chOff x="7762717" y="4071694"/>
            <a:chExt cx="4227030" cy="2010821"/>
          </a:xfrm>
        </p:grpSpPr>
        <p:sp>
          <p:nvSpPr>
            <p:cNvPr id="12" name="Rectangle: Rounded Corners 11">
              <a:extLst>
                <a:ext uri="{FF2B5EF4-FFF2-40B4-BE49-F238E27FC236}">
                  <a16:creationId xmlns:a16="http://schemas.microsoft.com/office/drawing/2014/main" id="{D0A30958-8A91-8F1F-EAED-DFB3605D650E}"/>
                </a:ext>
                <a:ext uri="{C183D7F6-B498-43B3-948B-1728B52AA6E4}">
                  <ns6:decorative xmlns:ns6="http://schemas.microsoft.com/office/drawing/2017/decorative" val="1"/>
                </a:ext>
              </a:extLst>
            </p:cNvPr>
            <p:cNvSpPr/>
            <p:nvPr/>
          </p:nvSpPr>
          <p:spPr bwMode="auto">
            <a:xfrm>
              <a:off x="7762717" y="4194834"/>
              <a:ext cx="4227030" cy="1887681"/>
            </a:xfrm>
            <a:prstGeom prst="roundRect">
              <a:avLst>
                <a:gd name="adj" fmla="val 1683"/>
              </a:avLst>
            </a:prstGeom>
            <a:solidFill>
              <a:srgbClr val="FFF9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B553FF"/>
                </a:solidFill>
                <a:effectLst/>
                <a:uLnTx/>
                <a:uFillTx/>
                <a:latin typeface="Segoe Sans Display Semibold" pitchFamily="2" charset="0"/>
                <a:ea typeface="+mn-ea"/>
                <a:cs typeface="Segoe Sans Display Semibold" pitchFamily="2" charset="0"/>
              </a:endParaRPr>
            </a:p>
          </p:txBody>
        </p:sp>
        <p:grpSp>
          <p:nvGrpSpPr>
            <p:cNvPr id="14" name="Group 13">
              <a:extLst>
                <a:ext uri="{FF2B5EF4-FFF2-40B4-BE49-F238E27FC236}">
                  <a16:creationId xmlns:a16="http://schemas.microsoft.com/office/drawing/2014/main" id="{FF30221B-5C85-22FC-F18F-7F0E26EEB0E2}"/>
                </a:ext>
              </a:extLst>
            </p:cNvPr>
            <p:cNvGrpSpPr/>
            <p:nvPr/>
          </p:nvGrpSpPr>
          <p:grpSpPr>
            <a:xfrm>
              <a:off x="9064660" y="4071694"/>
              <a:ext cx="1534355" cy="339147"/>
              <a:chOff x="3261739" y="2198151"/>
              <a:chExt cx="1534355" cy="276999"/>
            </a:xfrm>
          </p:grpSpPr>
          <p:sp>
            <p:nvSpPr>
              <p:cNvPr id="15" name="Rectangle: Rounded Corners 14">
                <a:extLst>
                  <a:ext uri="{FF2B5EF4-FFF2-40B4-BE49-F238E27FC236}">
                    <a16:creationId xmlns:a16="http://schemas.microsoft.com/office/drawing/2014/main" id="{0B857C90-B398-E232-66D0-F3E7E6CB19FB}"/>
                  </a:ext>
                  <a:ext uri="{C183D7F6-B498-43B3-948B-1728B52AA6E4}">
                    <ns7:decorative xmlns:ns7="http://schemas.microsoft.com/office/drawing/2017/decorative" val="1"/>
                  </a:ext>
                </a:extLst>
              </p:cNvPr>
              <p:cNvSpPr/>
              <p:nvPr/>
            </p:nvSpPr>
            <p:spPr bwMode="auto">
              <a:xfrm>
                <a:off x="3261739" y="2213019"/>
                <a:ext cx="1534355" cy="244283"/>
              </a:xfrm>
              <a:prstGeom prst="roundRect">
                <a:avLst>
                  <a:gd name="adj" fmla="val 50000"/>
                </a:avLst>
              </a:prstGeom>
              <a:solidFill>
                <a:srgbClr val="F3E5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endParaRPr>
              </a:p>
            </p:txBody>
          </p:sp>
          <p:sp>
            <p:nvSpPr>
              <p:cNvPr id="16" name="TextBox 15">
                <a:extLst>
                  <a:ext uri="{FF2B5EF4-FFF2-40B4-BE49-F238E27FC236}">
                    <a16:creationId xmlns:a16="http://schemas.microsoft.com/office/drawing/2014/main" id="{7130A025-6B78-DCFA-A21F-4C83E42E79DB}"/>
                  </a:ext>
                </a:extLst>
              </p:cNvPr>
              <p:cNvSpPr txBox="1"/>
              <p:nvPr/>
            </p:nvSpPr>
            <p:spPr>
              <a:xfrm>
                <a:off x="3594912" y="2198151"/>
                <a:ext cx="864339"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Workflow</a:t>
                </a:r>
              </a:p>
            </p:txBody>
          </p:sp>
        </p:grpSp>
        <p:sp>
          <p:nvSpPr>
            <p:cNvPr id="57" name="TextBox 56">
              <a:extLst>
                <a:ext uri="{FF2B5EF4-FFF2-40B4-BE49-F238E27FC236}">
                  <a16:creationId xmlns:a16="http://schemas.microsoft.com/office/drawing/2014/main" id="{D4B4634D-9BFA-FCEC-CFE2-4FD4315DDD1A}"/>
                </a:ext>
              </a:extLst>
            </p:cNvPr>
            <p:cNvSpPr txBox="1"/>
            <p:nvPr/>
          </p:nvSpPr>
          <p:spPr>
            <a:xfrm>
              <a:off x="8001952" y="4410841"/>
              <a:ext cx="3756431" cy="1074461"/>
            </a:xfrm>
            <a:prstGeom prst="rect">
              <a:avLst/>
            </a:prstGeom>
            <a:noFill/>
          </p:spPr>
          <p:txBody>
            <a:bodyPr wrap="square" rtlCol="0">
              <a:spAutoFit/>
            </a:bodyPr>
            <a:lstStyle/>
            <a:p>
              <a:pPr marL="228600" indent="-228600">
                <a:lnSpc>
                  <a:spcPct val="150000"/>
                </a:lnSpc>
                <a:buFont typeface="+mj-lt"/>
                <a:buAutoNum type="arabicPeriod"/>
                <a:defRPr/>
              </a:pPr>
              <a:r>
                <a:rPr lang="en-US" sz="1100" b="1">
                  <a:solidFill>
                    <a:prstClr val="black"/>
                  </a:solidFill>
                  <a:latin typeface="Segoe Sans Display" pitchFamily="2" charset="0"/>
                  <a:cs typeface="Segoe Sans Display" pitchFamily="2" charset="0"/>
                </a:rPr>
                <a:t>Ground</a:t>
              </a:r>
              <a:r>
                <a:rPr lang="en-US" sz="1100">
                  <a:solidFill>
                    <a:prstClr val="black"/>
                  </a:solidFill>
                  <a:latin typeface="Segoe Sans Display" pitchFamily="2" charset="0"/>
                  <a:cs typeface="Segoe Sans Display" pitchFamily="2" charset="0"/>
                </a:rPr>
                <a:t> → Checklist, handbook, benefits</a:t>
              </a:r>
              <a:endParaRPr kumimoji="0" lang="en-US" sz="1100" b="1"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a:p>
              <a:pPr marL="228600" indent="-228600">
                <a:lnSpc>
                  <a:spcPct val="150000"/>
                </a:lnSpc>
                <a:buFont typeface="+mj-lt"/>
                <a:buAutoNum type="arabicPeriod"/>
                <a:defRPr/>
              </a:pPr>
              <a:r>
                <a:rPr lang="en-US" sz="1100" b="1">
                  <a:solidFill>
                    <a:prstClr val="black"/>
                  </a:solidFill>
                  <a:latin typeface="Segoe Sans Display" pitchFamily="2" charset="0"/>
                  <a:cs typeface="Segoe Sans Display" pitchFamily="2" charset="0"/>
                </a:rPr>
                <a:t>Build</a:t>
              </a:r>
              <a:r>
                <a:rPr lang="en-US" sz="1100">
                  <a:solidFill>
                    <a:prstClr val="black"/>
                  </a:solidFill>
                  <a:latin typeface="Segoe Sans Display" pitchFamily="2" charset="0"/>
                  <a:cs typeface="Segoe Sans Display" pitchFamily="2" charset="0"/>
                </a:rPr>
                <a:t> → Orientation deck (PowerPoint)</a:t>
              </a:r>
              <a:endParaRPr kumimoji="0" lang="en-US" sz="1100" b="1"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a:p>
              <a:pPr marL="228600" indent="-228600">
                <a:lnSpc>
                  <a:spcPct val="150000"/>
                </a:lnSpc>
                <a:buFont typeface="+mj-lt"/>
                <a:buAutoNum type="arabicPeriod"/>
                <a:defRPr/>
              </a:pPr>
              <a:r>
                <a:rPr lang="en-US" sz="1100" b="1">
                  <a:solidFill>
                    <a:prstClr val="black"/>
                  </a:solidFill>
                  <a:latin typeface="Segoe Sans Display" pitchFamily="2" charset="0"/>
                  <a:cs typeface="Segoe Sans Display" pitchFamily="2" charset="0"/>
                </a:rPr>
                <a:t>Schedule</a:t>
              </a:r>
              <a:r>
                <a:rPr lang="en-US" sz="1100">
                  <a:solidFill>
                    <a:prstClr val="black"/>
                  </a:solidFill>
                  <a:latin typeface="Segoe Sans Display" pitchFamily="2" charset="0"/>
                  <a:cs typeface="Segoe Sans Display" pitchFamily="2" charset="0"/>
                </a:rPr>
                <a:t> → 30-min kickoff with a Teams link</a:t>
              </a:r>
              <a:endParaRPr kumimoji="0" lang="en-US" sz="1100" b="1"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a:p>
              <a:pPr marL="228600" indent="-228600">
                <a:lnSpc>
                  <a:spcPct val="150000"/>
                </a:lnSpc>
                <a:buFont typeface="+mj-lt"/>
                <a:buAutoNum type="arabicPeriod"/>
                <a:defRPr/>
              </a:pPr>
              <a:r>
                <a:rPr lang="en-US" sz="1100" b="1">
                  <a:solidFill>
                    <a:prstClr val="black"/>
                  </a:solidFill>
                  <a:latin typeface="Segoe Sans Display" pitchFamily="2" charset="0"/>
                  <a:cs typeface="Segoe Sans Display" pitchFamily="2" charset="0"/>
                </a:rPr>
                <a:t>Communicate</a:t>
              </a:r>
              <a:r>
                <a:rPr lang="en-US" sz="1100">
                  <a:solidFill>
                    <a:prstClr val="black"/>
                  </a:solidFill>
                  <a:latin typeface="Segoe Sans Display" pitchFamily="2" charset="0"/>
                  <a:cs typeface="Segoe Sans Display" pitchFamily="2" charset="0"/>
                </a:rPr>
                <a:t> → Team announcement draft</a:t>
              </a:r>
              <a:endParaRPr kumimoji="0" lang="en-US" sz="1100" b="1"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p:txBody>
        </p:sp>
      </p:grpSp>
      <p:sp>
        <p:nvSpPr>
          <p:cNvPr id="3" name="Text 25">
            <a:extLst>
              <a:ext uri="{FF2B5EF4-FFF2-40B4-BE49-F238E27FC236}">
                <a16:creationId xmlns:a16="http://schemas.microsoft.com/office/drawing/2014/main" id="{41B60886-5E17-E589-2FF8-1DDB98962F30}"/>
              </a:ext>
            </a:extLst>
          </p:cNvPr>
          <p:cNvSpPr/>
          <p:nvPr/>
        </p:nvSpPr>
        <p:spPr>
          <a:xfrm>
            <a:off x="632004" y="2684018"/>
            <a:ext cx="6734710" cy="3632476"/>
          </a:xfrm>
          <a:prstGeom prst="rect">
            <a:avLst/>
          </a:prstGeom>
          <a:noFill/>
          <a:ln/>
        </p:spPr>
        <p:txBody>
          <a:bodyPr wrap="square" lIns="0" tIns="0" rIns="0" bIns="0"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Task 6a — Orientation deck</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Using onboarding-checklist.docx, employee-handbook-excerpt.docx, and benefits-summary.docx, build a short onboarding orientation PowerPoint (6–8 slides) covering first-day logistics, PTO, remote/hybrid work, and benefits basics. Keep it clean and friendly.</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Task 6b — Schedule the kickoff</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Schedule a 30-minute onboarding kickoff for Sofia Alvarez’s first day, next Monday at 9:30 AM, add a Teams meeting link, and invite only me. Show it to me before you send it.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Task 6c — Team announcement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Draft a warm, inclusive team announcement introducing Sofia Alvarez, our new HR Coordinator starting next Monday, and her first-week plan, using onboarding-checklist.docx. Save it as an Outlook email draft addressed to me; don’t send it.</a:t>
            </a:r>
          </a:p>
        </p:txBody>
      </p:sp>
      <p:grpSp>
        <p:nvGrpSpPr>
          <p:cNvPr id="17" name="Group 16">
            <a:extLst>
              <a:ext uri="{FF2B5EF4-FFF2-40B4-BE49-F238E27FC236}">
                <a16:creationId xmlns:a16="http://schemas.microsoft.com/office/drawing/2014/main" id="{317BDD88-DD13-C157-9D0C-376C7050CA18}"/>
              </a:ext>
            </a:extLst>
          </p:cNvPr>
          <p:cNvGrpSpPr/>
          <p:nvPr/>
        </p:nvGrpSpPr>
        <p:grpSpPr>
          <a:xfrm>
            <a:off x="7756139" y="4421568"/>
            <a:ext cx="1534355" cy="276999"/>
            <a:chOff x="3261739" y="2198151"/>
            <a:chExt cx="1534355" cy="276999"/>
          </a:xfrm>
        </p:grpSpPr>
        <p:sp>
          <p:nvSpPr>
            <p:cNvPr id="18" name="Rectangle: Rounded Corners 17">
              <a:extLst>
                <a:ext uri="{FF2B5EF4-FFF2-40B4-BE49-F238E27FC236}">
                  <a16:creationId xmlns:a16="http://schemas.microsoft.com/office/drawing/2014/main" id="{3E986E19-9FEA-1F60-BCDA-008D13564D09}"/>
                </a:ext>
                <a:ext uri="{C183D7F6-B498-43B3-948B-1728B52AA6E4}">
                  <ns8:decorative xmlns:ns8="http://schemas.microsoft.com/office/drawing/2017/decorative" val="1"/>
                </a:ext>
              </a:extLst>
            </p:cNvPr>
            <p:cNvSpPr/>
            <p:nvPr/>
          </p:nvSpPr>
          <p:spPr bwMode="auto">
            <a:xfrm>
              <a:off x="3261739" y="2213019"/>
              <a:ext cx="1534355" cy="244283"/>
            </a:xfrm>
            <a:prstGeom prst="roundRect">
              <a:avLst>
                <a:gd name="adj" fmla="val 50000"/>
              </a:avLst>
            </a:prstGeom>
            <a:solidFill>
              <a:srgbClr val="F3E5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endParaRPr>
            </a:p>
          </p:txBody>
        </p:sp>
        <p:sp>
          <p:nvSpPr>
            <p:cNvPr id="19" name="TextBox 18">
              <a:extLst>
                <a:ext uri="{FF2B5EF4-FFF2-40B4-BE49-F238E27FC236}">
                  <a16:creationId xmlns:a16="http://schemas.microsoft.com/office/drawing/2014/main" id="{66387F56-2C11-A4AD-4E15-4442F2454D48}"/>
                </a:ext>
              </a:extLst>
            </p:cNvPr>
            <p:cNvSpPr txBox="1"/>
            <p:nvPr/>
          </p:nvSpPr>
          <p:spPr>
            <a:xfrm>
              <a:off x="3472286" y="2198151"/>
              <a:ext cx="1109599"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Data Sources</a:t>
              </a:r>
            </a:p>
          </p:txBody>
        </p:sp>
      </p:grpSp>
      <p:grpSp>
        <p:nvGrpSpPr>
          <p:cNvPr id="13" name="Group 12">
            <a:extLst>
              <a:ext uri="{FF2B5EF4-FFF2-40B4-BE49-F238E27FC236}">
                <a16:creationId xmlns:a16="http://schemas.microsoft.com/office/drawing/2014/main" id="{6DC82203-C40E-B229-3216-8513934D28BD}"/>
              </a:ext>
            </a:extLst>
          </p:cNvPr>
          <p:cNvGrpSpPr/>
          <p:nvPr/>
        </p:nvGrpSpPr>
        <p:grpSpPr>
          <a:xfrm>
            <a:off x="9121309" y="4421568"/>
            <a:ext cx="1200156" cy="488252"/>
            <a:chOff x="10558227" y="4421568"/>
            <a:chExt cx="1200156" cy="488252"/>
          </a:xfrm>
        </p:grpSpPr>
        <p:pic>
          <p:nvPicPr>
            <p:cNvPr id="7" name="Picture 6" descr="OneDrive icon">
              <a:extLst>
                <a:ext uri="{FF2B5EF4-FFF2-40B4-BE49-F238E27FC236}">
                  <a16:creationId xmlns:a16="http://schemas.microsoft.com/office/drawing/2014/main" id="{8B0F26AD-79AC-E75B-C2DA-E6BBA636792A}"/>
                </a:ext>
              </a:extLst>
            </p:cNvPr>
            <p:cNvPicPr>
              <a:picLocks noChangeAspect="1"/>
            </p:cNvPicPr>
            <p:nvPr/>
          </p:nvPicPr>
          <p:blipFill>
            <a:blip r:embed="rId6"/>
            <a:stretch>
              <a:fillRect/>
            </a:stretch>
          </p:blipFill>
          <p:spPr>
            <a:xfrm>
              <a:off x="11014657" y="4421568"/>
              <a:ext cx="287296" cy="287296"/>
            </a:xfrm>
            <a:prstGeom prst="rect">
              <a:avLst/>
            </a:prstGeom>
          </p:spPr>
        </p:pic>
        <p:sp>
          <p:nvSpPr>
            <p:cNvPr id="9" name="TextBox 8">
              <a:extLst>
                <a:ext uri="{FF2B5EF4-FFF2-40B4-BE49-F238E27FC236}">
                  <a16:creationId xmlns:a16="http://schemas.microsoft.com/office/drawing/2014/main" id="{FE07ADF1-F66F-E626-BAE0-23ADC3E6D92F}"/>
                </a:ext>
              </a:extLst>
            </p:cNvPr>
            <p:cNvSpPr txBox="1"/>
            <p:nvPr/>
          </p:nvSpPr>
          <p:spPr>
            <a:xfrm>
              <a:off x="10558227" y="4678988"/>
              <a:ext cx="1200156"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rPr>
                <a:t>OneDrive</a:t>
              </a:r>
              <a:endParaRPr kumimoji="0" lang="en-IN" sz="900" b="0"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p:txBody>
        </p:sp>
      </p:grpSp>
      <p:grpSp>
        <p:nvGrpSpPr>
          <p:cNvPr id="912" name="Group 12">
            <a:extLst>
              <a:ext uri="{FF2B5EF4-FFF2-40B4-BE49-F238E27FC236}">
                <a16:creationId xmlns:a16="http://schemas.microsoft.com/office/drawing/2014/main" id="{6DC82203-C40E-B229-3216-8513934D28BD}"/>
              </a:ext>
            </a:extLst>
          </p:cNvPr>
          <p:cNvGrpSpPr/>
          <p:nvPr/>
        </p:nvGrpSpPr>
        <p:grpSpPr>
          <a:xfrm>
            <a:off x="10035709" y="4421568"/>
            <a:ext cx="1200156" cy="488252"/>
            <a:chOff x="10558227" y="4421568"/>
            <a:chExt cx="1200156" cy="488252"/>
          </a:xfrm>
        </p:grpSpPr>
        <p:pic>
          <p:nvPicPr>
            <p:cNvPr id="913" name="Picture 6" descr="Microsoft 365 data icon">
              <a:extLst>
                <a:ext uri="{FF2B5EF4-FFF2-40B4-BE49-F238E27FC236}">
                  <a16:creationId xmlns:a16="http://schemas.microsoft.com/office/drawing/2014/main" id="{8B0F26AD-79AC-E75B-C2DA-E6BBA636792A}"/>
                </a:ext>
              </a:extLst>
            </p:cNvPr>
            <p:cNvPicPr>
              <a:picLocks noChangeAspect="1"/>
            </p:cNvPicPr>
            <p:nvPr/>
          </p:nvPicPr>
          <p:blipFill>
            <a:blip r:embed="rId3"/>
            <a:stretch>
              <a:fillRect/>
            </a:stretch>
          </p:blipFill>
          <p:spPr>
            <a:xfrm>
              <a:off x="11014657" y="4421568"/>
              <a:ext cx="287296" cy="287296"/>
            </a:xfrm>
            <a:prstGeom prst="rect">
              <a:avLst/>
            </a:prstGeom>
          </p:spPr>
        </p:pic>
        <p:sp>
          <p:nvSpPr>
            <p:cNvPr id="914" name="TextBox 8">
              <a:extLst>
                <a:ext uri="{FF2B5EF4-FFF2-40B4-BE49-F238E27FC236}">
                  <a16:creationId xmlns:a16="http://schemas.microsoft.com/office/drawing/2014/main" id="{FE07ADF1-F66F-E626-BAE0-23ADC3E6D92F}"/>
                </a:ext>
              </a:extLst>
            </p:cNvPr>
            <p:cNvSpPr txBox="1"/>
            <p:nvPr/>
          </p:nvSpPr>
          <p:spPr>
            <a:xfrm>
              <a:off x="10558227" y="4678988"/>
              <a:ext cx="1200156"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rPr>
                <a:t>M365 Data</a:t>
              </a:r>
              <a:endParaRPr kumimoji="0" lang="en-IN" sz="900" b="0"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p:txBody>
        </p:sp>
      </p:grpSp>
    </p:spTree>
    <p:extLst>
      <p:ext uri="{BB962C8B-B14F-4D97-AF65-F5344CB8AC3E}">
        <p14:creationId xmlns:p14="http://schemas.microsoft.com/office/powerpoint/2010/main" val="1649947486"/>
      </p:ext>
    </p:extLst>
  </p:cSld>
  <p:clrMapOvr>
    <a:overrideClrMapping bg1="lt1" tx1="dk1" bg2="lt2" tx2="dk2" accent1="accent1" accent2="accent2" accent3="accent3" accent4="accent4" accent5="accent5" accent6="accent6" hlink="hlink" folHlink="folHlink"/>
  </p:clrMapOvr>
</p:sld>
</file>

<file path=ppt/slides/slide45.xml><?xml version="1.0" encoding="utf-8"?>
<p:sld xmlns:a="http://schemas.openxmlformats.org/drawingml/2006/main" xmlns:p="http://schemas.openxmlformats.org/presentationml/2006/main" xmlns:r="http://schemas.openxmlformats.org/officeDocument/2006/relationships">
  <p:cSld>
    <p:bg>
      <p:bgPr>
        <a:blipFill dpi="0" rotWithShape="1">
          <a:blip r:embed="rId5">
            <a:alphaModFix amt="70000"/>
            <a:lum/>
          </a:blip>
          <a:srcRect/>
          <a:stretch>
            <a:fillRect l="-2000" r="-2000"/>
          </a:stretch>
        </a:blipFill>
        <a:effectLst/>
      </p:bgPr>
    </p:bg>
    <p:spTree>
      <p:nvGrpSpPr>
        <p:cNvPr id="1" name="">
          <a:extLst>
            <a:ext uri="{FF2B5EF4-FFF2-40B4-BE49-F238E27FC236}">
              <a16:creationId xmlns:a16="http://schemas.microsoft.com/office/drawing/2014/main" id="{CC810B06-9C60-9BCB-DF49-73D043B037F2}"/>
            </a:ext>
          </a:extLst>
        </p:cNvPr>
        <p:cNvGrpSpPr/>
        <p:nvPr/>
      </p:nvGrpSpPr>
      <p:grpSpPr>
        <a:xfrm>
          <a:off x="0" y="0"/>
          <a:ext cx="0" cy="0"/>
          <a:chOff x="0" y="0"/>
          <a:chExt cx="0" cy="0"/>
        </a:xfrm>
      </p:grpSpPr>
      <p:sp>
        <p:nvSpPr>
          <p:cNvPr id="27" name="Title 3">
            <a:extLst>
              <a:ext uri="{FF2B5EF4-FFF2-40B4-BE49-F238E27FC236}">
                <a16:creationId xmlns:a16="http://schemas.microsoft.com/office/drawing/2014/main" id="{3EF2C483-DB46-D975-7E0E-09A75642D76B}"/>
              </a:ext>
            </a:extLst>
          </p:cNvPr>
          <p:cNvSpPr txBox="1">
            <a:spLocks/>
          </p:cNvSpPr>
          <p:nvPr/>
        </p:nvSpPr>
        <p:spPr>
          <a:xfrm>
            <a:off x="1925908" y="293473"/>
            <a:ext cx="7070725" cy="430887"/>
          </a:xfrm>
          <a:prstGeom prst="rect">
            <a:avLst/>
          </a:prstGeom>
        </p:spPr>
        <p:txBody>
          <a:bodyPr vert="horz" wrap="square" lIns="0" tIns="0" rIns="0" bIns="0" rtlCol="0" anchor="t">
            <a:spAutoFit/>
          </a:bodyPr>
          <a:lstStyle>
            <a:lvl1pPr algn="l" defTabSz="769520" rtl="0" eaLnBrk="1" latinLnBrk="0" hangingPunct="1">
              <a:lnSpc>
                <a:spcPct val="100000"/>
              </a:lnSpc>
              <a:spcBef>
                <a:spcPct val="0"/>
              </a:spcBef>
              <a:buNone/>
              <a:defRPr lang="en-US" sz="2000" b="0" kern="1200" cap="none" spc="0" baseline="0">
                <a:ln w="3175">
                  <a:noFill/>
                </a:ln>
                <a:solidFill>
                  <a:schemeClr val="tx1"/>
                </a:solidFill>
                <a:effectLst/>
                <a:latin typeface="+mj-lt"/>
                <a:ea typeface="+mn-ea"/>
                <a:cs typeface="Segoe Sans Display" pitchFamily="2" charset="0"/>
              </a:defRPr>
            </a:lvl1pPr>
          </a:lstStyle>
          <a:p>
            <a:pPr marL="0" marR="0" lvl="0" indent="0" algn="l" defTabSz="769520" rtl="0" eaLnBrk="1" fontAlgn="auto" latinLnBrk="0" hangingPunct="1">
              <a:lnSpc>
                <a:spcPct val="100000"/>
              </a:lnSpc>
              <a:spcBef>
                <a:spcPct val="0"/>
              </a:spcBef>
              <a:spcAft>
                <a:spcPts val="0"/>
              </a:spcAft>
              <a:buClrTx/>
              <a:buSzTx/>
              <a:buFontTx/>
              <a:buNone/>
              <a:tabLst/>
              <a:defRPr/>
            </a:pPr>
            <a:r>
              <a:rPr kumimoji="0" lang="en-US" sz="2800" b="0" i="0" u="none" strike="noStrike" kern="1200" cap="none" spc="0" normalizeH="0" baseline="0" noProof="0">
                <a:ln w="3175">
                  <a:noFill/>
                </a:ln>
                <a:solidFill>
                  <a:srgbClr val="323139"/>
                </a:solidFill>
                <a:effectLst/>
                <a:uLnTx/>
                <a:uFillTx/>
                <a:latin typeface="Segoe Sans Display" pitchFamily="2" charset="0"/>
                <a:ea typeface="+mn-ea"/>
                <a:cs typeface="Segoe Sans Display" pitchFamily="2" charset="0"/>
              </a:rPr>
              <a:t>Hands-on · Onboarding Pack</a:t>
            </a:r>
          </a:p>
        </p:txBody>
      </p:sp>
      <p:sp>
        <p:nvSpPr>
          <p:cNvPr id="28" name="NavPill_SitesPages">
            <a:extLst>
              <a:ext uri="{FF2B5EF4-FFF2-40B4-BE49-F238E27FC236}">
                <a16:creationId xmlns:a16="http://schemas.microsoft.com/office/drawing/2014/main" id="{57BB7AF5-33B6-DA4A-ABA7-2573FB8050B2}"/>
              </a:ext>
            </a:extLst>
          </p:cNvPr>
          <p:cNvSpPr/>
          <p:nvPr/>
        </p:nvSpPr>
        <p:spPr>
          <a:xfrm>
            <a:off x="350837" y="342900"/>
            <a:ext cx="1419239" cy="337762"/>
          </a:xfrm>
          <a:prstGeom prst="roundRect">
            <a:avLst>
              <a:gd name="adj" fmla="val 50000"/>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207091" rtl="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Ex 06</a:t>
            </a:r>
          </a:p>
        </p:txBody>
      </p:sp>
      <p:sp>
        <p:nvSpPr>
          <p:cNvPr id="30" name="TextBox 29">
            <a:extLst>
              <a:ext uri="{FF2B5EF4-FFF2-40B4-BE49-F238E27FC236}">
                <a16:creationId xmlns:a16="http://schemas.microsoft.com/office/drawing/2014/main" id="{4519738B-A618-91E3-CAC4-D99F7E54632B}"/>
              </a:ext>
              <a:ext uri="{C183D7F6-B498-43B3-948B-1728B52AA6E4}">
                <ns0:decorative xmlns:ns0="http://schemas.microsoft.com/office/drawing/2017/decorative" val="1"/>
              </a:ext>
            </a:extLst>
          </p:cNvPr>
          <p:cNvSpPr txBox="1"/>
          <p:nvPr/>
        </p:nvSpPr>
        <p:spPr>
          <a:xfrm>
            <a:off x="8867052" y="119383"/>
            <a:ext cx="3092209" cy="338554"/>
          </a:xfrm>
          <a:prstGeom prst="roundRect">
            <a:avLst>
              <a:gd name="adj" fmla="val 19537"/>
            </a:avLst>
          </a:prstGeom>
          <a:solidFill>
            <a:srgbClr val="CB85FF">
              <a:lumMod val="20000"/>
              <a:lumOff val="80000"/>
            </a:srgbClr>
          </a:solidFill>
        </p:spPr>
        <p:txBody>
          <a:bodyPr wrap="square" lIns="1188720" tIns="45720" rIns="0" bIns="45720" anchor="ctr">
            <a:noAutofit/>
          </a:bodyPr>
          <a:lstStyle>
            <a:defPPr>
              <a:defRPr lang="en-US"/>
            </a:defPPr>
            <a:lvl1pPr>
              <a:spcAft>
                <a:spcPts val="776"/>
              </a:spcAft>
              <a:defRPr sz="1200">
                <a:latin typeface="+mj-lt"/>
                <a:cs typeface="Segoe Sans Display Semibold" pitchFamily="2" charset="0"/>
              </a:defRPr>
            </a:lvl1pPr>
          </a:lstStyle>
          <a:p>
            <a:pPr marL="0" marR="0" lvl="0" indent="0" algn="l" defTabSz="914294" rtl="0" eaLnBrk="1" fontAlgn="auto" latinLnBrk="0" hangingPunct="1">
              <a:lnSpc>
                <a:spcPct val="100000"/>
              </a:lnSpc>
              <a:spcBef>
                <a:spcPts val="0"/>
              </a:spcBef>
              <a:spcAft>
                <a:spcPts val="776"/>
              </a:spcAft>
              <a:buClrTx/>
              <a:buSzTx/>
              <a:buFontTx/>
              <a:buNone/>
              <a:tabLst/>
              <a:defRPr/>
            </a:pPr>
            <a:endParaRPr kumimoji="0" lang="en-US" sz="1200" b="0" i="0" u="none" strike="noStrike" kern="0" cap="none" spc="0" normalizeH="0" baseline="0" noProof="0">
              <a:ln>
                <a:noFill/>
              </a:ln>
              <a:solidFill>
                <a:srgbClr val="323139"/>
              </a:solidFill>
              <a:effectLst/>
              <a:uLnTx/>
              <a:uFillTx/>
              <a:latin typeface="Segoe Sans Display"/>
              <a:ea typeface="+mn-ea"/>
              <a:cs typeface="Segoe Sans Display Semibold" pitchFamily="2" charset="0"/>
            </a:endParaRPr>
          </a:p>
        </p:txBody>
      </p:sp>
      <p:sp>
        <p:nvSpPr>
          <p:cNvPr id="31" name="TextBox 30">
            <a:extLst>
              <a:ext uri="{FF2B5EF4-FFF2-40B4-BE49-F238E27FC236}">
                <a16:creationId xmlns:a16="http://schemas.microsoft.com/office/drawing/2014/main" id="{4B310F6E-1BD3-CF01-32AD-647BCF12AC0F}"/>
              </a:ext>
            </a:extLst>
          </p:cNvPr>
          <p:cNvSpPr txBox="1"/>
          <p:nvPr/>
        </p:nvSpPr>
        <p:spPr>
          <a:xfrm>
            <a:off x="8942688" y="173878"/>
            <a:ext cx="1280160" cy="233352"/>
          </a:xfrm>
          <a:prstGeom prst="roundRect">
            <a:avLst>
              <a:gd name="adj" fmla="val 16151"/>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5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defRPr lang="en-US"/>
            </a:defPPr>
            <a:lvl1pPr algn="ctr" defTabSz="932765" fontAlgn="base">
              <a:spcBef>
                <a:spcPct val="0"/>
              </a:spcBef>
              <a:spcAft>
                <a:spcPct val="0"/>
              </a:spcAft>
              <a:defRPr sz="1600">
                <a:solidFill>
                  <a:schemeClr val="accent1"/>
                </a:solidFill>
                <a:latin typeface="+mj-lt"/>
                <a:cs typeface="Segoe Sans Display Semibold" pitchFamily="2" charset="0"/>
              </a:defRPr>
            </a:lvl1pPr>
          </a:lstStyle>
          <a:p>
            <a:pPr marL="0" marR="0" lvl="0" indent="0" algn="l" defTabSz="932765" rtl="0" eaLnBrk="1" fontAlgn="base" latinLnBrk="0" hangingPunct="1">
              <a:lnSpc>
                <a:spcPct val="100000"/>
              </a:lnSpc>
              <a:spcBef>
                <a:spcPct val="0"/>
              </a:spcBef>
              <a:spcAft>
                <a:spcPct val="0"/>
              </a:spcAft>
              <a:buClrTx/>
              <a:buSzTx/>
              <a:buFontTx/>
              <a:buNone/>
              <a:tabLst/>
              <a:defRPr/>
            </a:pPr>
            <a:r>
              <a:rPr kumimoji="0" lang="en-IN" sz="1050" b="0" i="0" u="none" strike="noStrike" kern="0" cap="none" spc="0" normalizeH="0" baseline="0" noProof="0">
                <a:ln>
                  <a:noFill/>
                </a:ln>
                <a:solidFill>
                  <a:srgbClr val="323139"/>
                </a:solidFill>
                <a:effectLst/>
                <a:uLnTx/>
                <a:uFillTx/>
                <a:latin typeface="Segoe Sans Display"/>
                <a:ea typeface="+mn-ea"/>
                <a:cs typeface="Segoe Sans Display Semibold" pitchFamily="2" charset="0"/>
              </a:rPr>
              <a:t>Time</a:t>
            </a:r>
          </a:p>
        </p:txBody>
      </p:sp>
      <p:sp>
        <p:nvSpPr>
          <p:cNvPr id="50" name="TextBox 49">
            <a:extLst>
              <a:ext uri="{FF2B5EF4-FFF2-40B4-BE49-F238E27FC236}">
                <a16:creationId xmlns:a16="http://schemas.microsoft.com/office/drawing/2014/main" id="{0CE10D15-83B7-7915-49A3-0BD3A21E9731}"/>
              </a:ext>
            </a:extLst>
          </p:cNvPr>
          <p:cNvSpPr txBox="1"/>
          <p:nvPr/>
        </p:nvSpPr>
        <p:spPr>
          <a:xfrm>
            <a:off x="10298483" y="173490"/>
            <a:ext cx="1668779" cy="253916"/>
          </a:xfrm>
          <a:prstGeom prst="rect">
            <a:avLst/>
          </a:prstGeom>
          <a:noFill/>
        </p:spPr>
        <p:txBody>
          <a:bodyPr wrap="square">
            <a:spAutoFit/>
          </a:bodyPr>
          <a:lstStyle/>
          <a:p>
            <a:pPr marL="0" marR="0" lvl="0" indent="0" algn="l" defTabSz="914294"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323139"/>
                </a:solidFill>
                <a:effectLst/>
                <a:uLnTx/>
                <a:uFillTx/>
                <a:latin typeface="Segoe Sans Display"/>
                <a:ea typeface="+mn-ea"/>
                <a:cs typeface="Segoe Sans Display"/>
              </a:rPr>
              <a:t>20 min</a:t>
            </a:r>
          </a:p>
        </p:txBody>
      </p:sp>
      <p:sp>
        <p:nvSpPr>
          <p:cNvPr id="51" name="Rounded Rectangle 50">
            <a:extLst>
              <a:ext uri="{C183D7F6-B498-43B3-948B-1728B52AA6E4}">
                <ns1:decorative xmlns:ns1="http://schemas.microsoft.com/office/drawing/2017/decorative" val="1"/>
              </a:ext>
            </a:extLst>
          </p:cNvPr>
          <p:cNvSpPr/>
          <p:nvPr/>
        </p:nvSpPr>
        <p:spPr>
          <a:xfrm>
            <a:off x="420624" y="1188720"/>
            <a:ext cx="7168896" cy="3611880"/>
          </a:xfrm>
          <a:prstGeom prst="roundRect">
            <a:avLst>
              <a:gd name="adj" fmla="val 5000"/>
            </a:avLst>
          </a:prstGeom>
          <a:solidFill>
            <a:srgbClr val="FFF9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ounded Rectangle 51">
            <a:extLst>
              <a:ext uri="{C183D7F6-B498-43B3-948B-1728B52AA6E4}">
                <ns2:decorative xmlns:ns2="http://schemas.microsoft.com/office/drawing/2017/decorative" val="1"/>
              </a:ext>
            </a:extLst>
          </p:cNvPr>
          <p:cNvSpPr/>
          <p:nvPr/>
        </p:nvSpPr>
        <p:spPr>
          <a:xfrm>
            <a:off x="3236976" y="1051560"/>
            <a:ext cx="15361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3236976" y="1051560"/>
            <a:ext cx="1536192" cy="274320"/>
          </a:xfrm>
          <a:prstGeom prst="rect">
            <a:avLst/>
          </a:prstGeom>
          <a:noFill/>
        </p:spPr>
        <p:txBody>
          <a:bodyPr wrap="square" anchor="ctr" lIns="0" rIns="0" tIns="0" bIns="0">
            <a:spAutoFit/>
          </a:bodyPr>
          <a:lstStyle/>
          <a:p>
            <a:pPr algn="ctr">
              <a:spcAft>
                <a:spcPts val="400"/>
              </a:spcAft>
            </a:pPr>
            <a:r>
              <a:rPr sz="1200" b="0" i="0">
                <a:solidFill>
                  <a:srgbClr val="323139"/>
                </a:solidFill>
                <a:latin typeface="Segoe Sans Display Semibold"/>
              </a:rPr>
              <a:t>Steps</a:t>
            </a:r>
          </a:p>
        </p:txBody>
      </p:sp>
      <p:sp>
        <p:nvSpPr>
          <p:cNvPr id="54" name="TextBox 53"/>
          <p:cNvSpPr txBox="1"/>
          <p:nvPr/>
        </p:nvSpPr>
        <p:spPr>
          <a:xfrm>
            <a:off x="777240" y="1572768"/>
            <a:ext cx="6492240" cy="3154680"/>
          </a:xfrm>
          <a:prstGeom prst="rect">
            <a:avLst/>
          </a:prstGeom>
          <a:noFill/>
        </p:spPr>
        <p:txBody>
          <a:bodyPr wrap="square" anchor="t" lIns="0" rIns="0" tIns="0" bIns="0">
            <a:spAutoFit/>
          </a:bodyPr>
          <a:lstStyle/>
          <a:p>
            <a:pPr algn="l" marL="237744" indent="-237744">
              <a:lnSpc>
                <a:spcPct val="105000"/>
              </a:lnSpc>
              <a:spcAft>
                <a:spcPts val="900"/>
              </a:spcAft>
              <a:buFont typeface="+mj-lt"/>
              <a:buAutoNum type="arabicPeriod"/>
            </a:pPr>
            <a:r>
              <a:rPr sz="1500" b="1" i="0">
                <a:solidFill>
                  <a:srgbClr val="323139"/>
                </a:solidFill>
                <a:latin typeface="Segoe UI"/>
              </a:rPr>
              <a:t>Task 6a:</a:t>
            </a:r>
            <a:r>
              <a:rPr sz="1500" b="0" i="0">
                <a:solidFill>
                  <a:srgbClr val="323139"/>
                </a:solidFill>
                <a:latin typeface="Segoe UI"/>
              </a:rPr>
              <a:t> attach the checklist, handbook, and benefits files; build a 6–8 slide orientation deck.</a:t>
            </a:r>
          </a:p>
          <a:p>
            <a:pPr algn="l" marL="237744" indent="-237744">
              <a:lnSpc>
                <a:spcPct val="105000"/>
              </a:lnSpc>
              <a:spcAft>
                <a:spcPts val="900"/>
              </a:spcAft>
              <a:buFont typeface="+mj-lt"/>
              <a:buAutoNum type="arabicPeriod"/>
            </a:pPr>
            <a:r>
              <a:rPr sz="1500" b="1" i="0">
                <a:solidFill>
                  <a:srgbClr val="323139"/>
                </a:solidFill>
                <a:latin typeface="Segoe UI"/>
              </a:rPr>
              <a:t>Task 6b:</a:t>
            </a:r>
            <a:r>
              <a:rPr sz="1500" b="0" i="0">
                <a:solidFill>
                  <a:srgbClr val="323139"/>
                </a:solidFill>
                <a:latin typeface="Segoe UI"/>
              </a:rPr>
              <a:t> schedule a 30-minute kickoff with a Teams link — invite </a:t>
            </a:r>
            <a:r>
              <a:rPr sz="1500" b="1" i="0">
                <a:solidFill>
                  <a:srgbClr val="323139"/>
                </a:solidFill>
                <a:latin typeface="Segoe UI"/>
              </a:rPr>
              <a:t>only yourself</a:t>
            </a:r>
            <a:r>
              <a:rPr sz="1500" b="0" i="0">
                <a:solidFill>
                  <a:srgbClr val="323139"/>
                </a:solidFill>
                <a:latin typeface="Segoe UI"/>
              </a:rPr>
              <a:t>.</a:t>
            </a:r>
          </a:p>
          <a:p>
            <a:pPr algn="l" marL="237744" indent="-237744">
              <a:lnSpc>
                <a:spcPct val="105000"/>
              </a:lnSpc>
              <a:spcAft>
                <a:spcPts val="900"/>
              </a:spcAft>
              <a:buFont typeface="+mj-lt"/>
              <a:buAutoNum type="arabicPeriod"/>
            </a:pPr>
            <a:r>
              <a:rPr sz="1500" b="1" i="0">
                <a:solidFill>
                  <a:srgbClr val="323139"/>
                </a:solidFill>
                <a:latin typeface="Segoe UI"/>
              </a:rPr>
              <a:t>Task 6c:</a:t>
            </a:r>
            <a:r>
              <a:rPr sz="1500" b="0" i="0">
                <a:solidFill>
                  <a:srgbClr val="323139"/>
                </a:solidFill>
                <a:latin typeface="Segoe UI"/>
              </a:rPr>
              <a:t> draft a warm team announcement and save it as an Outlook draft to yourself.</a:t>
            </a:r>
          </a:p>
          <a:p>
            <a:pPr algn="l" marL="237744" indent="-237744">
              <a:lnSpc>
                <a:spcPct val="105000"/>
              </a:lnSpc>
              <a:spcAft>
                <a:spcPts val="900"/>
              </a:spcAft>
              <a:buFont typeface="+mj-lt"/>
              <a:buAutoNum type="arabicPeriod"/>
            </a:pPr>
            <a:r>
              <a:rPr sz="1500" b="1" i="0">
                <a:solidFill>
                  <a:srgbClr val="323139"/>
                </a:solidFill>
                <a:latin typeface="Segoe UI"/>
              </a:rPr>
              <a:t>Review</a:t>
            </a:r>
            <a:r>
              <a:rPr sz="1500" b="0" i="0">
                <a:solidFill>
                  <a:srgbClr val="323139"/>
                </a:solidFill>
                <a:latin typeface="Segoe UI"/>
              </a:rPr>
              <a:t> each artifact at its checkpoint.</a:t>
            </a:r>
          </a:p>
        </p:txBody>
      </p:sp>
      <p:sp>
        <p:nvSpPr>
          <p:cNvPr id="55" name="Rounded Rectangle 54">
            <a:extLst>
              <a:ext uri="{C183D7F6-B498-43B3-948B-1728B52AA6E4}">
                <ns3:decorative xmlns:ns3="http://schemas.microsoft.com/office/drawing/2017/decorative" val="1"/>
              </a:ext>
            </a:extLst>
          </p:cNvPr>
          <p:cNvSpPr/>
          <p:nvPr/>
        </p:nvSpPr>
        <p:spPr>
          <a:xfrm>
            <a:off x="420624" y="5074920"/>
            <a:ext cx="7168896" cy="1371600"/>
          </a:xfrm>
          <a:prstGeom prst="roundRect">
            <a:avLst>
              <a:gd name="adj" fmla="val 10000"/>
            </a:avLst>
          </a:prstGeom>
          <a:solidFill>
            <a:srgbClr val="FFF9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Rounded Rectangle 55">
            <a:extLst>
              <a:ext uri="{C183D7F6-B498-43B3-948B-1728B52AA6E4}">
                <ns4:decorative xmlns:ns4="http://schemas.microsoft.com/office/drawing/2017/decorative" val="1"/>
              </a:ext>
            </a:extLst>
          </p:cNvPr>
          <p:cNvSpPr/>
          <p:nvPr/>
        </p:nvSpPr>
        <p:spPr>
          <a:xfrm>
            <a:off x="3236976" y="4937760"/>
            <a:ext cx="15361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3236976" y="4937760"/>
            <a:ext cx="1536192" cy="274320"/>
          </a:xfrm>
          <a:prstGeom prst="rect">
            <a:avLst/>
          </a:prstGeom>
          <a:noFill/>
        </p:spPr>
        <p:txBody>
          <a:bodyPr wrap="square" anchor="ctr" lIns="0" rIns="0" tIns="0" bIns="0">
            <a:spAutoFit/>
          </a:bodyPr>
          <a:lstStyle/>
          <a:p>
            <a:pPr algn="ctr">
              <a:spcAft>
                <a:spcPts val="400"/>
              </a:spcAft>
            </a:pPr>
            <a:r>
              <a:rPr sz="1200" b="0" i="0">
                <a:solidFill>
                  <a:srgbClr val="323139"/>
                </a:solidFill>
                <a:latin typeface="Segoe Sans Display Semibold"/>
              </a:rPr>
              <a:t>Discuss</a:t>
            </a:r>
          </a:p>
        </p:txBody>
      </p:sp>
      <p:sp>
        <p:nvSpPr>
          <p:cNvPr id="58" name="TextBox 57"/>
          <p:cNvSpPr txBox="1"/>
          <p:nvPr/>
        </p:nvSpPr>
        <p:spPr>
          <a:xfrm>
            <a:off x="777240" y="5303520"/>
            <a:ext cx="6492240" cy="1005840"/>
          </a:xfrm>
          <a:prstGeom prst="rect">
            <a:avLst/>
          </a:prstGeom>
          <a:noFill/>
        </p:spPr>
        <p:txBody>
          <a:bodyPr wrap="square" anchor="ctr" lIns="0" rIns="0" tIns="0" bIns="0">
            <a:spAutoFit/>
          </a:bodyPr>
          <a:lstStyle/>
          <a:p>
            <a:pPr algn="l">
              <a:lnSpc>
                <a:spcPct val="105000"/>
              </a:lnSpc>
              <a:spcAft>
                <a:spcPts val="400"/>
              </a:spcAft>
            </a:pPr>
            <a:r>
              <a:rPr sz="1400" b="0" i="0">
                <a:solidFill>
                  <a:srgbClr val="323139"/>
                </a:solidFill>
                <a:latin typeface="Segoe Sans Display"/>
              </a:rPr>
              <a:t>What else belongs in a new-hire pack at your organization — and who should review it?</a:t>
            </a:r>
          </a:p>
        </p:txBody>
      </p:sp>
      <p:sp>
        <p:nvSpPr>
          <p:cNvPr id="59" name="Rounded Rectangle 58">
            <a:extLst>
              <a:ext uri="{C183D7F6-B498-43B3-948B-1728B52AA6E4}">
                <ns5:decorative xmlns:ns5="http://schemas.microsoft.com/office/drawing/2017/decorative" val="1"/>
              </a:ext>
            </a:extLst>
          </p:cNvPr>
          <p:cNvSpPr/>
          <p:nvPr/>
        </p:nvSpPr>
        <p:spPr>
          <a:xfrm>
            <a:off x="7763256" y="1188720"/>
            <a:ext cx="4224528" cy="2194560"/>
          </a:xfrm>
          <a:prstGeom prst="roundRect">
            <a:avLst>
              <a:gd name="adj" fmla="val 6000"/>
            </a:avLst>
          </a:prstGeom>
          <a:solidFill>
            <a:srgbClr val="FFF9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Rounded Rectangle 59">
            <a:extLst>
              <a:ext uri="{C183D7F6-B498-43B3-948B-1728B52AA6E4}">
                <ns6:decorative xmlns:ns6="http://schemas.microsoft.com/office/drawing/2017/decorative" val="1"/>
              </a:ext>
            </a:extLst>
          </p:cNvPr>
          <p:cNvSpPr/>
          <p:nvPr/>
        </p:nvSpPr>
        <p:spPr>
          <a:xfrm>
            <a:off x="9107424" y="1051560"/>
            <a:ext cx="15361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TextBox 60"/>
          <p:cNvSpPr txBox="1"/>
          <p:nvPr/>
        </p:nvSpPr>
        <p:spPr>
          <a:xfrm>
            <a:off x="9107424" y="1051560"/>
            <a:ext cx="1536192" cy="274320"/>
          </a:xfrm>
          <a:prstGeom prst="rect">
            <a:avLst/>
          </a:prstGeom>
          <a:noFill/>
        </p:spPr>
        <p:txBody>
          <a:bodyPr wrap="square" anchor="ctr" lIns="0" rIns="0" tIns="0" bIns="0">
            <a:spAutoFit/>
          </a:bodyPr>
          <a:lstStyle/>
          <a:p>
            <a:pPr algn="ctr">
              <a:spcAft>
                <a:spcPts val="400"/>
              </a:spcAft>
            </a:pPr>
            <a:r>
              <a:rPr sz="1200" b="0" i="0">
                <a:solidFill>
                  <a:srgbClr val="323139"/>
                </a:solidFill>
                <a:latin typeface="Segoe Sans Display Semibold"/>
              </a:rPr>
              <a:t>Watch for</a:t>
            </a:r>
          </a:p>
        </p:txBody>
      </p:sp>
      <p:sp>
        <p:nvSpPr>
          <p:cNvPr id="62" name="TextBox 61"/>
          <p:cNvSpPr txBox="1"/>
          <p:nvPr/>
        </p:nvSpPr>
        <p:spPr>
          <a:xfrm>
            <a:off x="8001000" y="1572768"/>
            <a:ext cx="3794760" cy="1737360"/>
          </a:xfrm>
          <a:prstGeom prst="rect">
            <a:avLst/>
          </a:prstGeom>
          <a:noFill/>
        </p:spPr>
        <p:txBody>
          <a:bodyPr wrap="square" anchor="t" lIns="0" rIns="0" tIns="0" bIns="0">
            <a:spAutoFit/>
          </a:bodyPr>
          <a:lstStyle/>
          <a:p>
            <a:pPr algn="l" marL="182880" indent="-182880">
              <a:spcAft>
                <a:spcPts val="400"/>
              </a:spcAft>
              <a:buFont typeface="Arial"/>
              <a:buChar char="•"/>
            </a:pPr>
            <a:r>
              <a:rPr sz="1150" b="1" i="0">
                <a:solidFill>
                  <a:srgbClr val="323139"/>
                </a:solidFill>
                <a:latin typeface="Segoe UI"/>
              </a:rPr>
              <a:t>PowerPoint</a:t>
            </a:r>
            <a:r>
              <a:rPr sz="1150" b="0" i="0">
                <a:solidFill>
                  <a:srgbClr val="323139"/>
                </a:solidFill>
                <a:latin typeface="Segoe UI"/>
              </a:rPr>
              <a:t>, </a:t>
            </a:r>
            <a:r>
              <a:rPr sz="1150" b="1" i="0">
                <a:solidFill>
                  <a:srgbClr val="323139"/>
                </a:solidFill>
                <a:latin typeface="Segoe UI"/>
              </a:rPr>
              <a:t>Scheduling/Calendar</a:t>
            </a:r>
            <a:r>
              <a:rPr sz="1150" b="0" i="0">
                <a:solidFill>
                  <a:srgbClr val="323139"/>
                </a:solidFill>
                <a:latin typeface="Segoe UI"/>
              </a:rPr>
              <a:t>, and </a:t>
            </a:r>
            <a:r>
              <a:rPr sz="1150" b="1" i="0">
                <a:solidFill>
                  <a:srgbClr val="323139"/>
                </a:solidFill>
                <a:latin typeface="Segoe UI"/>
              </a:rPr>
              <a:t>Communications</a:t>
            </a:r>
            <a:r>
              <a:rPr sz="1150" b="0" i="0">
                <a:solidFill>
                  <a:srgbClr val="323139"/>
                </a:solidFill>
                <a:latin typeface="Segoe UI"/>
              </a:rPr>
              <a:t> chips</a:t>
            </a:r>
          </a:p>
          <a:p>
            <a:pPr algn="l" marL="182880" indent="-182880">
              <a:spcAft>
                <a:spcPts val="400"/>
              </a:spcAft>
              <a:buFont typeface="Arial"/>
              <a:buChar char="•"/>
            </a:pPr>
            <a:r>
              <a:rPr sz="1150" b="0" i="0">
                <a:solidFill>
                  <a:srgbClr val="323139"/>
                </a:solidFill>
                <a:latin typeface="Segoe UI"/>
              </a:rPr>
              <a:t>No real invitees in the shared tenant</a:t>
            </a:r>
          </a:p>
          <a:p>
            <a:pPr algn="l" marL="182880" indent="-182880">
              <a:spcAft>
                <a:spcPts val="400"/>
              </a:spcAft>
              <a:buFont typeface="Arial"/>
              <a:buChar char="•"/>
            </a:pPr>
            <a:r>
              <a:rPr sz="1150" b="0" i="0">
                <a:solidFill>
                  <a:srgbClr val="323139"/>
                </a:solidFill>
                <a:latin typeface="Segoe UI"/>
              </a:rPr>
              <a:t>Short on time? Do 6a + 6c; watch 6b as a demo</a:t>
            </a:r>
          </a:p>
        </p:txBody>
      </p:sp>
      <p:sp>
        <p:nvSpPr>
          <p:cNvPr id="63" name="Rounded Rectangle 62">
            <a:extLst>
              <a:ext uri="{C183D7F6-B498-43B3-948B-1728B52AA6E4}">
                <ns7:decorative xmlns:ns7="http://schemas.microsoft.com/office/drawing/2017/decorative" val="1"/>
              </a:ext>
            </a:extLst>
          </p:cNvPr>
          <p:cNvSpPr/>
          <p:nvPr/>
        </p:nvSpPr>
        <p:spPr>
          <a:xfrm>
            <a:off x="7763256" y="3611880"/>
            <a:ext cx="4224528" cy="1691640"/>
          </a:xfrm>
          <a:prstGeom prst="roundRect">
            <a:avLst>
              <a:gd name="adj" fmla="val 8000"/>
            </a:avLst>
          </a:prstGeom>
          <a:solidFill>
            <a:srgbClr val="3414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Oval 63">
            <a:extLst>
              <a:ext uri="{C183D7F6-B498-43B3-948B-1728B52AA6E4}">
                <ns8:decorative xmlns:ns8="http://schemas.microsoft.com/office/drawing/2017/decorative" val="1"/>
              </a:ext>
            </a:extLst>
          </p:cNvPr>
          <p:cNvSpPr/>
          <p:nvPr/>
        </p:nvSpPr>
        <p:spPr>
          <a:xfrm>
            <a:off x="7543800" y="3401568"/>
            <a:ext cx="402336" cy="402336"/>
          </a:xfrm>
          <a:prstGeom prst="ellipse">
            <a:avLst/>
          </a:prstGeom>
          <a:solidFill>
            <a:srgbClr val="FFFFFF"/>
          </a:solidFill>
          <a:ln>
            <a:no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TextBox 64"/>
          <p:cNvSpPr txBox="1"/>
          <p:nvPr/>
        </p:nvSpPr>
        <p:spPr>
          <a:xfrm>
            <a:off x="7543800" y="3401568"/>
            <a:ext cx="402336" cy="402336"/>
          </a:xfrm>
          <a:prstGeom prst="rect">
            <a:avLst/>
          </a:prstGeom>
          <a:noFill/>
        </p:spPr>
        <p:txBody>
          <a:bodyPr wrap="square" anchor="ctr" lIns="0" rIns="0" tIns="0" bIns="0">
            <a:spAutoFit/>
          </a:bodyPr>
          <a:lstStyle/>
          <a:p>
            <a:pPr algn="ctr">
              <a:spcAft>
                <a:spcPts val="400"/>
              </a:spcAft>
            </a:pPr>
            <a:r>
              <a:rPr sz="1600" b="1" i="0">
                <a:solidFill>
                  <a:srgbClr val="3B1041"/>
                </a:solidFill>
                <a:latin typeface="Segoe UI"/>
              </a:rPr>
              <a:t>✓</a:t>
            </a:r>
          </a:p>
        </p:txBody>
      </p:sp>
      <p:sp>
        <p:nvSpPr>
          <p:cNvPr id="66" name="TextBox 65"/>
          <p:cNvSpPr txBox="1"/>
          <p:nvPr/>
        </p:nvSpPr>
        <p:spPr>
          <a:xfrm>
            <a:off x="8001000" y="3749039"/>
            <a:ext cx="3794760" cy="1463040"/>
          </a:xfrm>
          <a:prstGeom prst="rect">
            <a:avLst/>
          </a:prstGeom>
          <a:noFill/>
        </p:spPr>
        <p:txBody>
          <a:bodyPr wrap="square" anchor="ctr" lIns="0" rIns="0" tIns="0" bIns="0">
            <a:spAutoFit/>
          </a:bodyPr>
          <a:lstStyle/>
          <a:p>
            <a:pPr algn="l">
              <a:lnSpc>
                <a:spcPct val="105000"/>
              </a:lnSpc>
              <a:spcAft>
                <a:spcPts val="400"/>
              </a:spcAft>
            </a:pPr>
            <a:r>
              <a:rPr sz="1200" b="1" i="0">
                <a:solidFill>
                  <a:srgbClr val="FFFFFF"/>
                </a:solidFill>
                <a:latin typeface="Segoe Sans Display Semibold"/>
              </a:rPr>
              <a:t>Checkpoint: </a:t>
            </a:r>
            <a:r>
              <a:rPr sz="1200" b="0" i="0">
                <a:solidFill>
                  <a:srgbClr val="FFFFFF"/>
                </a:solidFill>
                <a:latin typeface="Segoe Sans Display"/>
              </a:rPr>
              <a:t>An orientation deck, a reviewed kickoff invite, and a team announcement draft for Sofia Alvarez.</a:t>
            </a:r>
          </a:p>
        </p:txBody>
      </p:sp>
      <p:sp>
        <p:nvSpPr>
          <p:cNvPr id="67" name="Rounded Rectangle 66">
            <a:extLst>
              <a:ext uri="{C183D7F6-B498-43B3-948B-1728B52AA6E4}">
                <ns9:decorative xmlns:ns9="http://schemas.microsoft.com/office/drawing/2017/decorative" val="1"/>
              </a:ext>
            </a:extLst>
          </p:cNvPr>
          <p:cNvSpPr/>
          <p:nvPr/>
        </p:nvSpPr>
        <p:spPr>
          <a:xfrm>
            <a:off x="7763256" y="5486400"/>
            <a:ext cx="4224528" cy="960120"/>
          </a:xfrm>
          <a:prstGeom prst="roundRect">
            <a:avLst>
              <a:gd name="adj" fmla="val 10000"/>
            </a:avLst>
          </a:prstGeom>
          <a:solidFill>
            <a:srgbClr val="FFF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Box 67"/>
          <p:cNvSpPr txBox="1"/>
          <p:nvPr/>
        </p:nvSpPr>
        <p:spPr>
          <a:xfrm>
            <a:off x="8001000" y="5486400"/>
            <a:ext cx="3794760" cy="960120"/>
          </a:xfrm>
          <a:prstGeom prst="rect">
            <a:avLst/>
          </a:prstGeom>
          <a:noFill/>
        </p:spPr>
        <p:txBody>
          <a:bodyPr wrap="square" anchor="ctr" lIns="0" rIns="0" tIns="0" bIns="0">
            <a:spAutoFit/>
          </a:bodyPr>
          <a:lstStyle/>
          <a:p>
            <a:pPr algn="l">
              <a:lnSpc>
                <a:spcPct val="103000"/>
              </a:lnSpc>
              <a:spcAft>
                <a:spcPts val="400"/>
              </a:spcAft>
            </a:pPr>
            <a:r>
              <a:rPr sz="1100" b="1" i="0">
                <a:solidFill>
                  <a:srgbClr val="323139"/>
                </a:solidFill>
                <a:latin typeface="Segoe Sans Display Semibold"/>
              </a:rPr>
              <a:t>Stretch: </a:t>
            </a:r>
            <a:r>
              <a:rPr sz="1100" b="0" i="0">
                <a:solidFill>
                  <a:srgbClr val="323139"/>
                </a:solidFill>
                <a:latin typeface="Segoe Sans Display"/>
              </a:rPr>
              <a:t>Turn the orientation deck into a one-page PDF handout.</a:t>
            </a:r>
          </a:p>
        </p:txBody>
      </p:sp>
    </p:spTree>
    <p:extLst>
      <p:ext uri="{BB962C8B-B14F-4D97-AF65-F5344CB8AC3E}">
        <p14:creationId xmlns:p14="http://schemas.microsoft.com/office/powerpoint/2010/main" val="1649947486"/>
      </p:ext>
    </p:extLst>
  </p:cSld>
  <p:clrMapOvr>
    <a:overrideClrMapping bg1="lt1" tx1="dk1" bg2="lt2" tx2="dk2" accent1="accent1" accent2="accent2" accent3="accent3" accent4="accent4" accent5="accent5" accent6="accent6" hlink="hlink" folHlink="folHlink"/>
  </p:clrMapOvr>
</p:sld>
</file>

<file path=ppt/slides/slide46.xml><?xml version="1.0" encoding="utf-8"?>
<p:sld xmlns:a="http://schemas.openxmlformats.org/drawingml/2006/main" xmlns:p="http://schemas.openxmlformats.org/presentationml/2006/main" xmlns:r="http://schemas.openxmlformats.org/officeDocument/2006/relationships">
  <p:cSld>
    <p:bg>
      <p:bgPr>
        <a:blipFill dpi="0" rotWithShape="1">
          <a:blip r:embed="rId5">
            <a:alphaModFix amt="70000"/>
            <a:lum/>
          </a:blip>
          <a:srcRect/>
          <a:stretch>
            <a:fillRect l="-2000" r="-2000"/>
          </a:stretch>
        </a:blipFill>
        <a:effectLst/>
      </p:bgPr>
    </p:bg>
    <p:spTree>
      <p:nvGrpSpPr>
        <p:cNvPr id="1" name="">
          <a:extLst>
            <a:ext uri="{FF2B5EF4-FFF2-40B4-BE49-F238E27FC236}">
              <a16:creationId xmlns:a16="http://schemas.microsoft.com/office/drawing/2014/main" id="{CC810B06-9C60-9BCB-DF49-73D043B037F2}"/>
            </a:ext>
          </a:extLst>
        </p:cNvPr>
        <p:cNvGrpSpPr/>
        <p:nvPr/>
      </p:nvGrpSpPr>
      <p:grpSpPr>
        <a:xfrm>
          <a:off x="0" y="0"/>
          <a:ext cx="0" cy="0"/>
          <a:chOff x="0" y="0"/>
          <a:chExt cx="0" cy="0"/>
        </a:xfrm>
      </p:grpSpPr>
      <p:sp>
        <p:nvSpPr>
          <p:cNvPr id="27" name="Title 3">
            <a:extLst>
              <a:ext uri="{FF2B5EF4-FFF2-40B4-BE49-F238E27FC236}">
                <a16:creationId xmlns:a16="http://schemas.microsoft.com/office/drawing/2014/main" id="{3EF2C483-DB46-D975-7E0E-09A75642D76B}"/>
              </a:ext>
            </a:extLst>
          </p:cNvPr>
          <p:cNvSpPr txBox="1">
            <a:spLocks/>
          </p:cNvSpPr>
          <p:nvPr/>
        </p:nvSpPr>
        <p:spPr>
          <a:xfrm>
            <a:off x="1925908" y="293473"/>
            <a:ext cx="7070725" cy="430887"/>
          </a:xfrm>
          <a:prstGeom prst="rect">
            <a:avLst/>
          </a:prstGeom>
        </p:spPr>
        <p:txBody>
          <a:bodyPr vert="horz" wrap="square" lIns="0" tIns="0" rIns="0" bIns="0" rtlCol="0" anchor="t">
            <a:spAutoFit/>
          </a:bodyPr>
          <a:lstStyle>
            <a:lvl1pPr algn="l" defTabSz="769520" rtl="0" eaLnBrk="1" latinLnBrk="0" hangingPunct="1">
              <a:lnSpc>
                <a:spcPct val="100000"/>
              </a:lnSpc>
              <a:spcBef>
                <a:spcPct val="0"/>
              </a:spcBef>
              <a:buNone/>
              <a:defRPr lang="en-US" sz="2000" b="0" kern="1200" cap="none" spc="0" baseline="0">
                <a:ln w="3175">
                  <a:noFill/>
                </a:ln>
                <a:solidFill>
                  <a:schemeClr val="tx1"/>
                </a:solidFill>
                <a:effectLst/>
                <a:latin typeface="+mj-lt"/>
                <a:ea typeface="+mn-ea"/>
                <a:cs typeface="Segoe Sans Display" pitchFamily="2" charset="0"/>
              </a:defRPr>
            </a:lvl1pPr>
          </a:lstStyle>
          <a:p>
            <a:pPr marL="0" marR="0" lvl="0" indent="0" algn="l" defTabSz="769520" rtl="0" eaLnBrk="1" fontAlgn="auto" latinLnBrk="0" hangingPunct="1">
              <a:lnSpc>
                <a:spcPct val="100000"/>
              </a:lnSpc>
              <a:spcBef>
                <a:spcPct val="0"/>
              </a:spcBef>
              <a:spcAft>
                <a:spcPts val="0"/>
              </a:spcAft>
              <a:buClrTx/>
              <a:buSzTx/>
              <a:buFontTx/>
              <a:buNone/>
              <a:tabLst/>
              <a:defRPr/>
            </a:pPr>
            <a:r>
              <a:rPr kumimoji="0" lang="en-US" sz="2800" b="0" i="0" u="none" strike="noStrike" kern="1200" cap="none" spc="0" normalizeH="0" baseline="0" noProof="0">
                <a:ln w="3175">
                  <a:noFill/>
                </a:ln>
                <a:solidFill>
                  <a:srgbClr val="323139"/>
                </a:solidFill>
                <a:effectLst/>
                <a:uLnTx/>
                <a:uFillTx/>
                <a:latin typeface="Segoe Sans Display" pitchFamily="2" charset="0"/>
                <a:ea typeface="+mn-ea"/>
                <a:cs typeface="Segoe Sans Display" pitchFamily="2" charset="0"/>
              </a:rPr>
              <a:t>Automate &amp; Share</a:t>
            </a:r>
          </a:p>
        </p:txBody>
      </p:sp>
      <p:sp>
        <p:nvSpPr>
          <p:cNvPr id="28" name="NavPill_SitesPages">
            <a:extLst>
              <a:ext uri="{FF2B5EF4-FFF2-40B4-BE49-F238E27FC236}">
                <a16:creationId xmlns:a16="http://schemas.microsoft.com/office/drawing/2014/main" id="{57BB7AF5-33B6-DA4A-ABA7-2573FB8050B2}"/>
              </a:ext>
            </a:extLst>
          </p:cNvPr>
          <p:cNvSpPr/>
          <p:nvPr/>
        </p:nvSpPr>
        <p:spPr>
          <a:xfrm>
            <a:off x="350837" y="342900"/>
            <a:ext cx="1419239" cy="337762"/>
          </a:xfrm>
          <a:prstGeom prst="roundRect">
            <a:avLst>
              <a:gd name="adj" fmla="val 50000"/>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207091" rtl="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Ex 07</a:t>
            </a:r>
          </a:p>
        </p:txBody>
      </p:sp>
      <p:sp>
        <p:nvSpPr>
          <p:cNvPr id="33" name="Rectangle: Rounded Corners 32">
            <a:extLst>
              <a:ext uri="{FF2B5EF4-FFF2-40B4-BE49-F238E27FC236}">
                <a16:creationId xmlns:a16="http://schemas.microsoft.com/office/drawing/2014/main" id="{8D56FF72-D759-DB8C-C791-1089618B3EE4}"/>
              </a:ext>
            </a:extLst>
          </p:cNvPr>
          <p:cNvSpPr/>
          <p:nvPr/>
        </p:nvSpPr>
        <p:spPr bwMode="auto">
          <a:xfrm>
            <a:off x="424382" y="954763"/>
            <a:ext cx="3621360" cy="1127147"/>
          </a:xfrm>
          <a:prstGeom prst="roundRect">
            <a:avLst>
              <a:gd name="adj" fmla="val 9646"/>
            </a:avLst>
          </a:prstGeom>
          <a:solidFill>
            <a:srgbClr val="FFFC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Goal</a:t>
            </a:r>
            <a:r>
              <a:rPr kumimoji="0" lang="en-US" sz="1100" b="0" i="0" u="none" strike="noStrike" kern="0" cap="none" spc="0" normalizeH="0" baseline="0" noProof="0">
                <a:ln w="3175">
                  <a:noFill/>
                </a:ln>
                <a:solidFill>
                  <a:srgbClr val="323139"/>
                </a:solidFill>
                <a:effectLst/>
                <a:uLnTx/>
                <a:uFillTx/>
                <a:latin typeface="Segoe Sans Display Semibold" pitchFamily="2" charset="0"/>
                <a:ea typeface="+mn-ea"/>
                <a:cs typeface="Segoe Sans Display Semibold" pitchFamily="2" charset="0"/>
              </a:rPr>
              <a:t>: </a:t>
            </a:r>
            <a:r>
              <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rPr>
              <a:t>Stop re-asking for the same work — put it on a schedule and share what you built.</a:t>
            </a:r>
          </a:p>
        </p:txBody>
      </p:sp>
      <p:sp>
        <p:nvSpPr>
          <p:cNvPr id="34" name="Rectangle: Rounded Corners 33">
            <a:extLst>
              <a:ext uri="{FF2B5EF4-FFF2-40B4-BE49-F238E27FC236}">
                <a16:creationId xmlns:a16="http://schemas.microsoft.com/office/drawing/2014/main" id="{58B7C25E-B49B-24B7-8F32-A2823589DFF3}"/>
              </a:ext>
            </a:extLst>
          </p:cNvPr>
          <p:cNvSpPr/>
          <p:nvPr/>
        </p:nvSpPr>
        <p:spPr bwMode="auto">
          <a:xfrm>
            <a:off x="4372822" y="978410"/>
            <a:ext cx="3621360" cy="1107187"/>
          </a:xfrm>
          <a:prstGeom prst="roundRect">
            <a:avLst>
              <a:gd name="adj" fmla="val 10584"/>
            </a:avLst>
          </a:prstGeom>
          <a:solidFill>
            <a:srgbClr val="FFFC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noProof="0">
                <a:ln w="3175">
                  <a:noFill/>
                </a:ln>
                <a:blipFill>
                  <a:blip r:embed="rId4"/>
                  <a:stretch>
                    <a:fillRect t="-26822" b="-26822"/>
                  </a:stretch>
                </a:blipFill>
                <a:effectLst/>
                <a:uLnTx/>
                <a:uFillTx/>
                <a:latin typeface="Segoe Sans Display Semibold"/>
                <a:ea typeface="+mn-ea"/>
                <a:cs typeface="Segoe Sans Display Semibold" pitchFamily="2" charset="0"/>
              </a:rPr>
              <a:t>Output</a:t>
            </a:r>
            <a:r>
              <a:rPr kumimoji="0" lang="en-US" sz="1100" b="0" i="0" u="none" strike="noStrike" kern="0" cap="none" spc="0" normalizeH="0" baseline="0" noProof="0">
                <a:ln w="3175">
                  <a:noFill/>
                </a:ln>
                <a:solidFill>
                  <a:srgbClr val="323139"/>
                </a:solidFill>
                <a:effectLst/>
                <a:uLnTx/>
                <a:uFillTx/>
                <a:latin typeface="Segoe Sans Display Semibold"/>
                <a:ea typeface="+mn-ea"/>
                <a:cs typeface="Segoe Sans Display Semibold" pitchFamily="2" charset="0"/>
              </a:rPr>
              <a:t>: </a:t>
            </a:r>
            <a:r>
              <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rPr>
              <a:t>An active weekly automation (Monday HR-ticket digest), a Daily Briefing, and your custom skill shared (or kept private) and re-shared after an edit.</a:t>
            </a:r>
          </a:p>
        </p:txBody>
      </p:sp>
      <p:sp>
        <p:nvSpPr>
          <p:cNvPr id="30" name="TextBox 29">
            <a:extLst>
              <a:ext uri="{FF2B5EF4-FFF2-40B4-BE49-F238E27FC236}">
                <a16:creationId xmlns:a16="http://schemas.microsoft.com/office/drawing/2014/main" id="{4519738B-A618-91E3-CAC4-D99F7E54632B}"/>
              </a:ext>
              <a:ext uri="{C183D7F6-B498-43B3-948B-1728B52AA6E4}">
                <ns0:decorative xmlns:ns0="http://schemas.microsoft.com/office/drawing/2017/decorative" val="1"/>
              </a:ext>
            </a:extLst>
          </p:cNvPr>
          <p:cNvSpPr txBox="1"/>
          <p:nvPr/>
        </p:nvSpPr>
        <p:spPr>
          <a:xfrm>
            <a:off x="8867052" y="119383"/>
            <a:ext cx="3092209" cy="338554"/>
          </a:xfrm>
          <a:prstGeom prst="roundRect">
            <a:avLst>
              <a:gd name="adj" fmla="val 19537"/>
            </a:avLst>
          </a:prstGeom>
          <a:solidFill>
            <a:srgbClr val="CB85FF">
              <a:lumMod val="20000"/>
              <a:lumOff val="80000"/>
            </a:srgbClr>
          </a:solidFill>
        </p:spPr>
        <p:txBody>
          <a:bodyPr wrap="square" lIns="1188720" tIns="45720" rIns="0" bIns="45720" anchor="ctr">
            <a:noAutofit/>
          </a:bodyPr>
          <a:lstStyle>
            <a:defPPr>
              <a:defRPr lang="en-US"/>
            </a:defPPr>
            <a:lvl1pPr>
              <a:spcAft>
                <a:spcPts val="776"/>
              </a:spcAft>
              <a:defRPr sz="1200">
                <a:latin typeface="+mj-lt"/>
                <a:cs typeface="Segoe Sans Display Semibold" pitchFamily="2" charset="0"/>
              </a:defRPr>
            </a:lvl1pPr>
          </a:lstStyle>
          <a:p>
            <a:pPr marL="0" marR="0" lvl="0" indent="0" algn="l" defTabSz="914294" rtl="0" eaLnBrk="1" fontAlgn="auto" latinLnBrk="0" hangingPunct="1">
              <a:lnSpc>
                <a:spcPct val="100000"/>
              </a:lnSpc>
              <a:spcBef>
                <a:spcPts val="0"/>
              </a:spcBef>
              <a:spcAft>
                <a:spcPts val="776"/>
              </a:spcAft>
              <a:buClrTx/>
              <a:buSzTx/>
              <a:buFontTx/>
              <a:buNone/>
              <a:tabLst/>
              <a:defRPr/>
            </a:pPr>
            <a:endParaRPr kumimoji="0" lang="en-US" sz="1200" b="0" i="0" u="none" strike="noStrike" kern="0" cap="none" spc="0" normalizeH="0" baseline="0" noProof="0">
              <a:ln>
                <a:noFill/>
              </a:ln>
              <a:solidFill>
                <a:srgbClr val="323139"/>
              </a:solidFill>
              <a:effectLst/>
              <a:uLnTx/>
              <a:uFillTx/>
              <a:latin typeface="Segoe Sans Display"/>
              <a:ea typeface="+mn-ea"/>
              <a:cs typeface="Segoe Sans Display Semibold" pitchFamily="2" charset="0"/>
            </a:endParaRPr>
          </a:p>
        </p:txBody>
      </p:sp>
      <p:sp>
        <p:nvSpPr>
          <p:cNvPr id="31" name="TextBox 30">
            <a:extLst>
              <a:ext uri="{FF2B5EF4-FFF2-40B4-BE49-F238E27FC236}">
                <a16:creationId xmlns:a16="http://schemas.microsoft.com/office/drawing/2014/main" id="{4B310F6E-1BD3-CF01-32AD-647BCF12AC0F}"/>
              </a:ext>
            </a:extLst>
          </p:cNvPr>
          <p:cNvSpPr txBox="1"/>
          <p:nvPr/>
        </p:nvSpPr>
        <p:spPr>
          <a:xfrm>
            <a:off x="8942688" y="173878"/>
            <a:ext cx="1280160" cy="233352"/>
          </a:xfrm>
          <a:prstGeom prst="roundRect">
            <a:avLst>
              <a:gd name="adj" fmla="val 16151"/>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5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defRPr lang="en-US"/>
            </a:defPPr>
            <a:lvl1pPr algn="ctr" defTabSz="932765" fontAlgn="base">
              <a:spcBef>
                <a:spcPct val="0"/>
              </a:spcBef>
              <a:spcAft>
                <a:spcPct val="0"/>
              </a:spcAft>
              <a:defRPr sz="1600">
                <a:solidFill>
                  <a:schemeClr val="accent1"/>
                </a:solidFill>
                <a:latin typeface="+mj-lt"/>
                <a:cs typeface="Segoe Sans Display Semibold" pitchFamily="2" charset="0"/>
              </a:defRPr>
            </a:lvl1pPr>
          </a:lstStyle>
          <a:p>
            <a:pPr marL="0" marR="0" lvl="0" indent="0" algn="l" defTabSz="932765" rtl="0" eaLnBrk="1" fontAlgn="base" latinLnBrk="0" hangingPunct="1">
              <a:lnSpc>
                <a:spcPct val="100000"/>
              </a:lnSpc>
              <a:spcBef>
                <a:spcPct val="0"/>
              </a:spcBef>
              <a:spcAft>
                <a:spcPct val="0"/>
              </a:spcAft>
              <a:buClrTx/>
              <a:buSzTx/>
              <a:buFontTx/>
              <a:buNone/>
              <a:tabLst/>
              <a:defRPr/>
            </a:pPr>
            <a:r>
              <a:rPr kumimoji="0" lang="en-IN" sz="1050" b="0" i="0" u="none" strike="noStrike" kern="0" cap="none" spc="0" normalizeH="0" baseline="0" noProof="0">
                <a:ln>
                  <a:noFill/>
                </a:ln>
                <a:solidFill>
                  <a:srgbClr val="323139"/>
                </a:solidFill>
                <a:effectLst/>
                <a:uLnTx/>
                <a:uFillTx/>
                <a:latin typeface="Segoe Sans Display"/>
                <a:ea typeface="+mn-ea"/>
                <a:cs typeface="Segoe Sans Display Semibold" pitchFamily="2" charset="0"/>
              </a:rPr>
              <a:t>Function</a:t>
            </a:r>
          </a:p>
        </p:txBody>
      </p:sp>
      <p:sp>
        <p:nvSpPr>
          <p:cNvPr id="50" name="TextBox 49">
            <a:extLst>
              <a:ext uri="{FF2B5EF4-FFF2-40B4-BE49-F238E27FC236}">
                <a16:creationId xmlns:a16="http://schemas.microsoft.com/office/drawing/2014/main" id="{0CE10D15-83B7-7915-49A3-0BD3A21E9731}"/>
              </a:ext>
            </a:extLst>
          </p:cNvPr>
          <p:cNvSpPr txBox="1"/>
          <p:nvPr/>
        </p:nvSpPr>
        <p:spPr>
          <a:xfrm>
            <a:off x="10298483" y="173490"/>
            <a:ext cx="1668779" cy="253916"/>
          </a:xfrm>
          <a:prstGeom prst="rect">
            <a:avLst/>
          </a:prstGeom>
          <a:noFill/>
        </p:spPr>
        <p:txBody>
          <a:bodyPr wrap="square">
            <a:spAutoFit/>
          </a:bodyPr>
          <a:lstStyle/>
          <a:p>
            <a:pPr marL="0" marR="0" lvl="0" indent="0" algn="l" defTabSz="914294"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323139"/>
                </a:solidFill>
                <a:effectLst/>
                <a:uLnTx/>
                <a:uFillTx/>
                <a:latin typeface="Segoe Sans Display"/>
                <a:ea typeface="+mn-ea"/>
                <a:cs typeface="Segoe Sans Display"/>
              </a:rPr>
              <a:t>HR · Operations</a:t>
            </a:r>
          </a:p>
        </p:txBody>
      </p:sp>
      <p:sp>
        <p:nvSpPr>
          <p:cNvPr id="59" name="Rectangle: Rounded Corners 58">
            <a:extLst>
              <a:ext uri="{FF2B5EF4-FFF2-40B4-BE49-F238E27FC236}">
                <a16:creationId xmlns:a16="http://schemas.microsoft.com/office/drawing/2014/main" id="{4A73329A-1917-C156-E817-2B9E2D56CBE1}"/>
              </a:ext>
              <a:ext uri="{C183D7F6-B498-43B3-948B-1728B52AA6E4}">
                <ns1:decorative xmlns:ns1="http://schemas.microsoft.com/office/drawing/2017/decorative" val="1"/>
              </a:ext>
            </a:extLst>
          </p:cNvPr>
          <p:cNvSpPr/>
          <p:nvPr/>
        </p:nvSpPr>
        <p:spPr bwMode="auto">
          <a:xfrm>
            <a:off x="424381" y="2312313"/>
            <a:ext cx="7171849" cy="4327573"/>
          </a:xfrm>
          <a:prstGeom prst="roundRect">
            <a:avLst>
              <a:gd name="adj" fmla="val 1683"/>
            </a:avLst>
          </a:prstGeom>
          <a:solidFill>
            <a:srgbClr val="FFF9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B553FF"/>
              </a:solidFill>
              <a:effectLst/>
              <a:uLnTx/>
              <a:uFillTx/>
              <a:latin typeface="Segoe Sans Display Semibold" pitchFamily="2" charset="0"/>
              <a:ea typeface="+mn-ea"/>
              <a:cs typeface="Segoe Sans Display Semibold" pitchFamily="2" charset="0"/>
            </a:endParaRPr>
          </a:p>
        </p:txBody>
      </p:sp>
      <p:grpSp>
        <p:nvGrpSpPr>
          <p:cNvPr id="79" name="Group 78">
            <a:extLst>
              <a:ext uri="{FF2B5EF4-FFF2-40B4-BE49-F238E27FC236}">
                <a16:creationId xmlns:a16="http://schemas.microsoft.com/office/drawing/2014/main" id="{B857CF20-AAD8-92CD-98E7-73BD8662071B}"/>
              </a:ext>
            </a:extLst>
          </p:cNvPr>
          <p:cNvGrpSpPr/>
          <p:nvPr/>
        </p:nvGrpSpPr>
        <p:grpSpPr>
          <a:xfrm>
            <a:off x="199916" y="775485"/>
            <a:ext cx="398477" cy="398477"/>
            <a:chOff x="3403308" y="1083220"/>
            <a:chExt cx="398477" cy="398477"/>
          </a:xfrm>
        </p:grpSpPr>
        <p:sp>
          <p:nvSpPr>
            <p:cNvPr id="76" name="Oval 75">
              <a:extLst>
                <a:ext uri="{FF2B5EF4-FFF2-40B4-BE49-F238E27FC236}">
                  <a16:creationId xmlns:a16="http://schemas.microsoft.com/office/drawing/2014/main" id="{159C5AC1-FC57-57FC-51C9-4DC5847B88F1}"/>
                </a:ext>
                <a:ext uri="{C183D7F6-B498-43B3-948B-1728B52AA6E4}">
                  <ns2:decorative xmlns:ns2="http://schemas.microsoft.com/office/drawing/2017/decorative" val="1"/>
                </a:ext>
              </a:extLst>
            </p:cNvPr>
            <p:cNvSpPr/>
            <p:nvPr/>
          </p:nvSpPr>
          <p:spPr>
            <a:xfrm>
              <a:off x="3403308" y="1083220"/>
              <a:ext cx="398477" cy="398477"/>
            </a:xfrm>
            <a:prstGeom prst="ellipse">
              <a:avLst/>
            </a:prstGeom>
            <a:solidFill>
              <a:srgbClr val="FFF9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2" name="Graphic 5">
              <a:extLst>
                <a:ext uri="{FF2B5EF4-FFF2-40B4-BE49-F238E27FC236}">
                  <a16:creationId xmlns:a16="http://schemas.microsoft.com/office/drawing/2014/main" id="{9F306AE4-27E6-F02E-E553-1EF2C3FBAF65}"/>
                </a:ext>
                <a:ext uri="{C183D7F6-B498-43B3-948B-1728B52AA6E4}">
                  <adec:decorative xmlns:adec="http://schemas.microsoft.com/office/drawing/2017/decorative" val="1"/>
                </a:ext>
              </a:extLst>
            </p:cNvPr>
            <p:cNvSpPr>
              <a:spLocks/>
            </p:cNvSpPr>
            <p:nvPr/>
          </p:nvSpPr>
          <p:spPr>
            <a:xfrm>
              <a:off x="3474676" y="1157049"/>
              <a:ext cx="250822" cy="250818"/>
            </a:xfrm>
            <a:custGeom>
              <a:avLst/>
              <a:gdLst>
                <a:gd name="csX0" fmla="*/ 188408 w 190501"/>
                <a:gd name="csY0" fmla="*/ 45534 h 190500"/>
                <a:gd name="csX1" fmla="*/ 189957 w 190501"/>
                <a:gd name="csY1" fmla="*/ 37748 h 190500"/>
                <a:gd name="csX2" fmla="*/ 183357 w 190501"/>
                <a:gd name="csY2" fmla="*/ 33338 h 190500"/>
                <a:gd name="csX3" fmla="*/ 157162 w 190501"/>
                <a:gd name="csY3" fmla="*/ 33338 h 190500"/>
                <a:gd name="csX4" fmla="*/ 157162 w 190501"/>
                <a:gd name="csY4" fmla="*/ 7144 h 190500"/>
                <a:gd name="csX5" fmla="*/ 152751 w 190501"/>
                <a:gd name="csY5" fmla="*/ 544 h 190500"/>
                <a:gd name="csX6" fmla="*/ 144967 w 190501"/>
                <a:gd name="csY6" fmla="*/ 2093 h 190500"/>
                <a:gd name="csX7" fmla="*/ 121155 w 190501"/>
                <a:gd name="csY7" fmla="*/ 25906 h 190500"/>
                <a:gd name="csX8" fmla="*/ 119063 w 190501"/>
                <a:gd name="csY8" fmla="*/ 30957 h 190500"/>
                <a:gd name="csX9" fmla="*/ 119063 w 190501"/>
                <a:gd name="csY9" fmla="*/ 57967 h 190500"/>
                <a:gd name="csX10" fmla="*/ 100185 w 190501"/>
                <a:gd name="csY10" fmla="*/ 76846 h 190500"/>
                <a:gd name="csX11" fmla="*/ 95250 w 190501"/>
                <a:gd name="csY11" fmla="*/ 76201 h 190500"/>
                <a:gd name="csX12" fmla="*/ 76200 w 190501"/>
                <a:gd name="csY12" fmla="*/ 95251 h 190500"/>
                <a:gd name="csX13" fmla="*/ 95250 w 190501"/>
                <a:gd name="csY13" fmla="*/ 114301 h 190500"/>
                <a:gd name="csX14" fmla="*/ 114300 w 190501"/>
                <a:gd name="csY14" fmla="*/ 95251 h 190500"/>
                <a:gd name="csX15" fmla="*/ 113655 w 190501"/>
                <a:gd name="csY15" fmla="*/ 90316 h 190500"/>
                <a:gd name="csX16" fmla="*/ 132533 w 190501"/>
                <a:gd name="csY16" fmla="*/ 71438 h 190500"/>
                <a:gd name="csX17" fmla="*/ 159545 w 190501"/>
                <a:gd name="csY17" fmla="*/ 71438 h 190500"/>
                <a:gd name="csX18" fmla="*/ 164596 w 190501"/>
                <a:gd name="csY18" fmla="*/ 69346 h 190500"/>
                <a:gd name="csX19" fmla="*/ 188408 w 190501"/>
                <a:gd name="csY19" fmla="*/ 45534 h 190500"/>
                <a:gd name="csX20" fmla="*/ 95250 w 190501"/>
                <a:gd name="csY20" fmla="*/ 1 h 190500"/>
                <a:gd name="csX21" fmla="*/ 127860 w 190501"/>
                <a:gd name="csY21" fmla="*/ 5729 h 190500"/>
                <a:gd name="csX22" fmla="*/ 114419 w 190501"/>
                <a:gd name="csY22" fmla="*/ 19170 h 190500"/>
                <a:gd name="csX23" fmla="*/ 112781 w 190501"/>
                <a:gd name="csY23" fmla="*/ 21077 h 190500"/>
                <a:gd name="csX24" fmla="*/ 95250 w 190501"/>
                <a:gd name="csY24" fmla="*/ 19051 h 190500"/>
                <a:gd name="csX25" fmla="*/ 19050 w 190501"/>
                <a:gd name="csY25" fmla="*/ 95251 h 190500"/>
                <a:gd name="csX26" fmla="*/ 95250 w 190501"/>
                <a:gd name="csY26" fmla="*/ 171451 h 190500"/>
                <a:gd name="csX27" fmla="*/ 171450 w 190501"/>
                <a:gd name="csY27" fmla="*/ 95251 h 190500"/>
                <a:gd name="csX28" fmla="*/ 169424 w 190501"/>
                <a:gd name="csY28" fmla="*/ 77720 h 190500"/>
                <a:gd name="csX29" fmla="*/ 171331 w 190501"/>
                <a:gd name="csY29" fmla="*/ 76081 h 190500"/>
                <a:gd name="csX30" fmla="*/ 184772 w 190501"/>
                <a:gd name="csY30" fmla="*/ 62641 h 190500"/>
                <a:gd name="csX31" fmla="*/ 190500 w 190501"/>
                <a:gd name="csY31" fmla="*/ 95251 h 190500"/>
                <a:gd name="csX32" fmla="*/ 95250 w 190501"/>
                <a:gd name="csY32" fmla="*/ 190501 h 190500"/>
                <a:gd name="csX33" fmla="*/ 0 w 190501"/>
                <a:gd name="csY33" fmla="*/ 95251 h 190500"/>
                <a:gd name="csX34" fmla="*/ 95250 w 190501"/>
                <a:gd name="csY34" fmla="*/ 1 h 190500"/>
                <a:gd name="csX35" fmla="*/ 95250 w 190501"/>
                <a:gd name="csY35" fmla="*/ 38101 h 190500"/>
                <a:gd name="csX36" fmla="*/ 109538 w 190501"/>
                <a:gd name="csY36" fmla="*/ 39901 h 190500"/>
                <a:gd name="csX37" fmla="*/ 109538 w 190501"/>
                <a:gd name="csY37" fmla="*/ 54021 h 190500"/>
                <a:gd name="csX38" fmla="*/ 105592 w 190501"/>
                <a:gd name="csY38" fmla="*/ 57968 h 190500"/>
                <a:gd name="csX39" fmla="*/ 105131 w 190501"/>
                <a:gd name="csY39" fmla="*/ 58444 h 190500"/>
                <a:gd name="csX40" fmla="*/ 95250 w 190501"/>
                <a:gd name="csY40" fmla="*/ 57151 h 190500"/>
                <a:gd name="csX41" fmla="*/ 57150 w 190501"/>
                <a:gd name="csY41" fmla="*/ 95251 h 190500"/>
                <a:gd name="csX42" fmla="*/ 95250 w 190501"/>
                <a:gd name="csY42" fmla="*/ 133351 h 190500"/>
                <a:gd name="csX43" fmla="*/ 133350 w 190501"/>
                <a:gd name="csY43" fmla="*/ 95251 h 190500"/>
                <a:gd name="csX44" fmla="*/ 132057 w 190501"/>
                <a:gd name="csY44" fmla="*/ 85369 h 190500"/>
                <a:gd name="csX45" fmla="*/ 132533 w 190501"/>
                <a:gd name="csY45" fmla="*/ 84909 h 190500"/>
                <a:gd name="csX46" fmla="*/ 136478 w 190501"/>
                <a:gd name="csY46" fmla="*/ 80963 h 190500"/>
                <a:gd name="csX47" fmla="*/ 150600 w 190501"/>
                <a:gd name="csY47" fmla="*/ 80963 h 190500"/>
                <a:gd name="csX48" fmla="*/ 152400 w 190501"/>
                <a:gd name="csY48" fmla="*/ 95251 h 190500"/>
                <a:gd name="csX49" fmla="*/ 95250 w 190501"/>
                <a:gd name="csY49" fmla="*/ 152401 h 190500"/>
                <a:gd name="csX50" fmla="*/ 38100 w 190501"/>
                <a:gd name="csY50" fmla="*/ 95251 h 190500"/>
                <a:gd name="csX51" fmla="*/ 95250 w 190501"/>
                <a:gd name="csY51" fmla="*/ 38101 h 190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Lst>
              <a:rect l="l" t="t" r="r" b="b"/>
              <a:pathLst>
                <a:path w="190501" h="190500">
                  <a:moveTo>
                    <a:pt x="188408" y="45534"/>
                  </a:moveTo>
                  <a:cubicBezTo>
                    <a:pt x="190452" y="43491"/>
                    <a:pt x="191063" y="40418"/>
                    <a:pt x="189957" y="37748"/>
                  </a:cubicBezTo>
                  <a:cubicBezTo>
                    <a:pt x="188852" y="35079"/>
                    <a:pt x="186247" y="33338"/>
                    <a:pt x="183357" y="33338"/>
                  </a:cubicBezTo>
                  <a:lnTo>
                    <a:pt x="157162" y="33338"/>
                  </a:lnTo>
                  <a:lnTo>
                    <a:pt x="157162" y="7144"/>
                  </a:lnTo>
                  <a:cubicBezTo>
                    <a:pt x="157162" y="4255"/>
                    <a:pt x="155421" y="1650"/>
                    <a:pt x="152751" y="544"/>
                  </a:cubicBezTo>
                  <a:cubicBezTo>
                    <a:pt x="150083" y="-562"/>
                    <a:pt x="147010" y="50"/>
                    <a:pt x="144967" y="2093"/>
                  </a:cubicBezTo>
                  <a:lnTo>
                    <a:pt x="121155" y="25906"/>
                  </a:lnTo>
                  <a:cubicBezTo>
                    <a:pt x="119815" y="27246"/>
                    <a:pt x="119063" y="29063"/>
                    <a:pt x="119063" y="30957"/>
                  </a:cubicBezTo>
                  <a:lnTo>
                    <a:pt x="119063" y="57967"/>
                  </a:lnTo>
                  <a:lnTo>
                    <a:pt x="100185" y="76846"/>
                  </a:lnTo>
                  <a:cubicBezTo>
                    <a:pt x="98610" y="76425"/>
                    <a:pt x="96957" y="76201"/>
                    <a:pt x="95250" y="76201"/>
                  </a:cubicBezTo>
                  <a:cubicBezTo>
                    <a:pt x="84729" y="76201"/>
                    <a:pt x="76200" y="84730"/>
                    <a:pt x="76200" y="95251"/>
                  </a:cubicBezTo>
                  <a:cubicBezTo>
                    <a:pt x="76200" y="105771"/>
                    <a:pt x="84729" y="114301"/>
                    <a:pt x="95250" y="114301"/>
                  </a:cubicBezTo>
                  <a:cubicBezTo>
                    <a:pt x="105771" y="114301"/>
                    <a:pt x="114300" y="105771"/>
                    <a:pt x="114300" y="95251"/>
                  </a:cubicBezTo>
                  <a:cubicBezTo>
                    <a:pt x="114300" y="93544"/>
                    <a:pt x="114075" y="91891"/>
                    <a:pt x="113655" y="90316"/>
                  </a:cubicBezTo>
                  <a:lnTo>
                    <a:pt x="132533" y="71438"/>
                  </a:lnTo>
                  <a:lnTo>
                    <a:pt x="159545" y="71438"/>
                  </a:lnTo>
                  <a:cubicBezTo>
                    <a:pt x="161439" y="71438"/>
                    <a:pt x="163256" y="70686"/>
                    <a:pt x="164596" y="69346"/>
                  </a:cubicBezTo>
                  <a:lnTo>
                    <a:pt x="188408" y="45534"/>
                  </a:lnTo>
                  <a:close/>
                  <a:moveTo>
                    <a:pt x="95250" y="1"/>
                  </a:moveTo>
                  <a:cubicBezTo>
                    <a:pt x="106705" y="1"/>
                    <a:pt x="117687" y="2023"/>
                    <a:pt x="127860" y="5729"/>
                  </a:cubicBezTo>
                  <a:lnTo>
                    <a:pt x="114419" y="19170"/>
                  </a:lnTo>
                  <a:cubicBezTo>
                    <a:pt x="113823" y="19767"/>
                    <a:pt x="113275" y="20405"/>
                    <a:pt x="112781" y="21077"/>
                  </a:cubicBezTo>
                  <a:cubicBezTo>
                    <a:pt x="107152" y="19752"/>
                    <a:pt x="101283" y="19051"/>
                    <a:pt x="95250" y="19051"/>
                  </a:cubicBezTo>
                  <a:cubicBezTo>
                    <a:pt x="53166" y="19051"/>
                    <a:pt x="19050" y="53166"/>
                    <a:pt x="19050" y="95251"/>
                  </a:cubicBezTo>
                  <a:cubicBezTo>
                    <a:pt x="19050" y="137334"/>
                    <a:pt x="53166" y="171451"/>
                    <a:pt x="95250" y="171451"/>
                  </a:cubicBezTo>
                  <a:cubicBezTo>
                    <a:pt x="137334" y="171451"/>
                    <a:pt x="171450" y="137334"/>
                    <a:pt x="171450" y="95251"/>
                  </a:cubicBezTo>
                  <a:cubicBezTo>
                    <a:pt x="171450" y="89218"/>
                    <a:pt x="170749" y="83348"/>
                    <a:pt x="169424" y="77720"/>
                  </a:cubicBezTo>
                  <a:cubicBezTo>
                    <a:pt x="170096" y="77226"/>
                    <a:pt x="170734" y="76678"/>
                    <a:pt x="171331" y="76081"/>
                  </a:cubicBezTo>
                  <a:lnTo>
                    <a:pt x="184772" y="62641"/>
                  </a:lnTo>
                  <a:cubicBezTo>
                    <a:pt x="188478" y="72813"/>
                    <a:pt x="190500" y="83796"/>
                    <a:pt x="190500" y="95251"/>
                  </a:cubicBezTo>
                  <a:cubicBezTo>
                    <a:pt x="190500" y="147856"/>
                    <a:pt x="147855" y="190501"/>
                    <a:pt x="95250" y="190501"/>
                  </a:cubicBezTo>
                  <a:cubicBezTo>
                    <a:pt x="42645" y="190501"/>
                    <a:pt x="0" y="147856"/>
                    <a:pt x="0" y="95251"/>
                  </a:cubicBezTo>
                  <a:cubicBezTo>
                    <a:pt x="0" y="42645"/>
                    <a:pt x="42645" y="1"/>
                    <a:pt x="95250" y="1"/>
                  </a:cubicBezTo>
                  <a:close/>
                  <a:moveTo>
                    <a:pt x="95250" y="38101"/>
                  </a:moveTo>
                  <a:cubicBezTo>
                    <a:pt x="100184" y="38101"/>
                    <a:pt x="104971" y="38726"/>
                    <a:pt x="109538" y="39901"/>
                  </a:cubicBezTo>
                  <a:lnTo>
                    <a:pt x="109538" y="54021"/>
                  </a:lnTo>
                  <a:lnTo>
                    <a:pt x="105592" y="57968"/>
                  </a:lnTo>
                  <a:cubicBezTo>
                    <a:pt x="105435" y="58125"/>
                    <a:pt x="105282" y="58284"/>
                    <a:pt x="105131" y="58444"/>
                  </a:cubicBezTo>
                  <a:cubicBezTo>
                    <a:pt x="101980" y="57601"/>
                    <a:pt x="98668" y="57151"/>
                    <a:pt x="95250" y="57151"/>
                  </a:cubicBezTo>
                  <a:cubicBezTo>
                    <a:pt x="74208" y="57151"/>
                    <a:pt x="57150" y="74208"/>
                    <a:pt x="57150" y="95251"/>
                  </a:cubicBezTo>
                  <a:cubicBezTo>
                    <a:pt x="57150" y="116293"/>
                    <a:pt x="74208" y="133351"/>
                    <a:pt x="95250" y="133351"/>
                  </a:cubicBezTo>
                  <a:cubicBezTo>
                    <a:pt x="116292" y="133351"/>
                    <a:pt x="133350" y="116293"/>
                    <a:pt x="133350" y="95251"/>
                  </a:cubicBezTo>
                  <a:cubicBezTo>
                    <a:pt x="133350" y="91833"/>
                    <a:pt x="132900" y="88521"/>
                    <a:pt x="132057" y="85369"/>
                  </a:cubicBezTo>
                  <a:cubicBezTo>
                    <a:pt x="132217" y="85219"/>
                    <a:pt x="132376" y="85065"/>
                    <a:pt x="132533" y="84909"/>
                  </a:cubicBezTo>
                  <a:lnTo>
                    <a:pt x="136478" y="80963"/>
                  </a:lnTo>
                  <a:lnTo>
                    <a:pt x="150600" y="80963"/>
                  </a:lnTo>
                  <a:cubicBezTo>
                    <a:pt x="151775" y="85530"/>
                    <a:pt x="152400" y="90317"/>
                    <a:pt x="152400" y="95251"/>
                  </a:cubicBezTo>
                  <a:cubicBezTo>
                    <a:pt x="152400" y="126814"/>
                    <a:pt x="126813" y="152401"/>
                    <a:pt x="95250" y="152401"/>
                  </a:cubicBezTo>
                  <a:cubicBezTo>
                    <a:pt x="63687" y="152401"/>
                    <a:pt x="38100" y="126814"/>
                    <a:pt x="38100" y="95251"/>
                  </a:cubicBezTo>
                  <a:cubicBezTo>
                    <a:pt x="38100" y="63687"/>
                    <a:pt x="63687" y="38101"/>
                    <a:pt x="95250" y="38101"/>
                  </a:cubicBezTo>
                  <a:close/>
                </a:path>
              </a:pathLst>
            </a:custGeom>
            <a:solidFill>
              <a:srgbClr val="323139"/>
            </a:solidFill>
            <a:ln w="10477" cap="flat" cmpd="sng" algn="ctr">
              <a:noFill/>
              <a:prstDash val="solid"/>
              <a:miter/>
            </a:ln>
            <a:effectLst/>
          </p:spPr>
          <p:txBody>
            <a:bodyPr rot="0" spcFirstLastPara="0" vertOverflow="overflow" horzOverflow="overflow" vert="horz" wrap="square" lIns="338011" tIns="270406" rIns="338011" bIns="270406" numCol="1" spcCol="0" rtlCol="0" fromWordArt="0" anchor="t" anchorCtr="0" forceAA="0" compatLnSpc="1">
              <a:prstTxWarp prst="textNoShape">
                <a:avLst/>
              </a:prstTxWarp>
              <a:noAutofit/>
            </a:bodyPr>
            <a:lstStyle/>
            <a:p>
              <a:pPr marL="0" marR="0" lvl="0" indent="0" algn="l" defTabSz="1722411" rtl="0" eaLnBrk="1" fontAlgn="base" latinLnBrk="0" hangingPunct="1">
                <a:lnSpc>
                  <a:spcPct val="100000"/>
                </a:lnSpc>
                <a:spcBef>
                  <a:spcPct val="0"/>
                </a:spcBef>
                <a:spcAft>
                  <a:spcPct val="0"/>
                </a:spcAft>
                <a:buClrTx/>
                <a:buSzTx/>
                <a:buFontTx/>
                <a:buNone/>
                <a:tabLst/>
                <a:defRPr/>
              </a:pPr>
              <a:endParaRPr kumimoji="0" lang="en-US" sz="3622" b="1" i="0" u="none" strike="noStrike" kern="0" cap="none" spc="0" normalizeH="0" baseline="0" noProof="0">
                <a:ln>
                  <a:noFill/>
                </a:ln>
                <a:noFill/>
                <a:effectLst/>
                <a:uLnTx/>
                <a:uFillTx/>
                <a:latin typeface="Segoe UI Variable Display Semibold" pitchFamily="2" charset="0"/>
                <a:ea typeface="+mn-ea"/>
                <a:cs typeface="Segoe UI" pitchFamily="34" charset="0"/>
              </a:endParaRPr>
            </a:p>
          </p:txBody>
        </p:sp>
      </p:grpSp>
      <p:sp>
        <p:nvSpPr>
          <p:cNvPr id="78" name="Oval 77">
            <a:extLst>
              <a:ext uri="{FF2B5EF4-FFF2-40B4-BE49-F238E27FC236}">
                <a16:creationId xmlns:a16="http://schemas.microsoft.com/office/drawing/2014/main" id="{7ABF2AEF-7824-DEF7-C92E-0915DEF41F17}"/>
              </a:ext>
              <a:ext uri="{C183D7F6-B498-43B3-948B-1728B52AA6E4}">
                <ns3:decorative xmlns:ns3="http://schemas.microsoft.com/office/drawing/2017/decorative" val="1"/>
              </a:ext>
            </a:extLst>
          </p:cNvPr>
          <p:cNvSpPr/>
          <p:nvPr/>
        </p:nvSpPr>
        <p:spPr>
          <a:xfrm>
            <a:off x="4122028" y="779171"/>
            <a:ext cx="398477" cy="398477"/>
          </a:xfrm>
          <a:prstGeom prst="ellipse">
            <a:avLst/>
          </a:prstGeom>
          <a:solidFill>
            <a:srgbClr val="FFF9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6" name="Graphic 15">
            <a:extLst>
              <a:ext uri="{FF2B5EF4-FFF2-40B4-BE49-F238E27FC236}">
                <a16:creationId xmlns:a16="http://schemas.microsoft.com/office/drawing/2014/main" id="{09721564-91C5-D7C7-A65B-CFCBCAAA8285}"/>
              </a:ext>
              <a:ext uri="{C183D7F6-B498-43B3-948B-1728B52AA6E4}">
                <adec:decorative xmlns:adec="http://schemas.microsoft.com/office/drawing/2017/decorative" val="1"/>
              </a:ext>
            </a:extLst>
          </p:cNvPr>
          <p:cNvSpPr>
            <a:spLocks/>
          </p:cNvSpPr>
          <p:nvPr/>
        </p:nvSpPr>
        <p:spPr>
          <a:xfrm>
            <a:off x="4172482" y="836452"/>
            <a:ext cx="297568" cy="252931"/>
          </a:xfrm>
          <a:custGeom>
            <a:avLst/>
            <a:gdLst>
              <a:gd name="csX0" fmla="*/ 147926 w 190499"/>
              <a:gd name="csY0" fmla="*/ 2092 h 161924"/>
              <a:gd name="csX1" fmla="*/ 137824 w 190499"/>
              <a:gd name="csY1" fmla="*/ 2092 h 161924"/>
              <a:gd name="csX2" fmla="*/ 137824 w 190499"/>
              <a:gd name="csY2" fmla="*/ 12195 h 161924"/>
              <a:gd name="csX3" fmla="*/ 166109 w 190499"/>
              <a:gd name="csY3" fmla="*/ 40481 h 161924"/>
              <a:gd name="csX4" fmla="*/ 119063 w 190499"/>
              <a:gd name="csY4" fmla="*/ 40481 h 161924"/>
              <a:gd name="csX5" fmla="*/ 88106 w 190499"/>
              <a:gd name="csY5" fmla="*/ 71437 h 161924"/>
              <a:gd name="csX6" fmla="*/ 88106 w 190499"/>
              <a:gd name="csY6" fmla="*/ 100012 h 161924"/>
              <a:gd name="csX7" fmla="*/ 75437 w 190499"/>
              <a:gd name="csY7" fmla="*/ 116198 h 161924"/>
              <a:gd name="csX8" fmla="*/ 38100 w 190499"/>
              <a:gd name="csY8" fmla="*/ 85725 h 161924"/>
              <a:gd name="csX9" fmla="*/ 0 w 190499"/>
              <a:gd name="csY9" fmla="*/ 123825 h 161924"/>
              <a:gd name="csX10" fmla="*/ 38100 w 190499"/>
              <a:gd name="csY10" fmla="*/ 161925 h 161924"/>
              <a:gd name="csX11" fmla="*/ 75582 w 190499"/>
              <a:gd name="csY11" fmla="*/ 130693 h 161924"/>
              <a:gd name="csX12" fmla="*/ 102394 w 190499"/>
              <a:gd name="csY12" fmla="*/ 100012 h 161924"/>
              <a:gd name="csX13" fmla="*/ 102394 w 190499"/>
              <a:gd name="csY13" fmla="*/ 71437 h 161924"/>
              <a:gd name="csX14" fmla="*/ 119063 w 190499"/>
              <a:gd name="csY14" fmla="*/ 54769 h 161924"/>
              <a:gd name="csX15" fmla="*/ 166109 w 190499"/>
              <a:gd name="csY15" fmla="*/ 54769 h 161924"/>
              <a:gd name="csX16" fmla="*/ 137824 w 190499"/>
              <a:gd name="csY16" fmla="*/ 83055 h 161924"/>
              <a:gd name="csX17" fmla="*/ 137824 w 190499"/>
              <a:gd name="csY17" fmla="*/ 93157 h 161924"/>
              <a:gd name="csX18" fmla="*/ 147926 w 190499"/>
              <a:gd name="csY18" fmla="*/ 93157 h 161924"/>
              <a:gd name="csX19" fmla="*/ 188407 w 190499"/>
              <a:gd name="csY19" fmla="*/ 52676 h 161924"/>
              <a:gd name="csX20" fmla="*/ 188407 w 190499"/>
              <a:gd name="csY20" fmla="*/ 42574 h 161924"/>
              <a:gd name="csX21" fmla="*/ 147926 w 190499"/>
              <a:gd name="csY21" fmla="*/ 2092 h 1619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190499" h="161924">
                <a:moveTo>
                  <a:pt x="147926" y="2092"/>
                </a:moveTo>
                <a:cubicBezTo>
                  <a:pt x="145136" y="-697"/>
                  <a:pt x="140614" y="-697"/>
                  <a:pt x="137824" y="2092"/>
                </a:cubicBezTo>
                <a:cubicBezTo>
                  <a:pt x="135034" y="4882"/>
                  <a:pt x="135034" y="9405"/>
                  <a:pt x="137824" y="12195"/>
                </a:cubicBezTo>
                <a:lnTo>
                  <a:pt x="166109" y="40481"/>
                </a:lnTo>
                <a:lnTo>
                  <a:pt x="119063" y="40481"/>
                </a:lnTo>
                <a:cubicBezTo>
                  <a:pt x="101966" y="40481"/>
                  <a:pt x="88106" y="54341"/>
                  <a:pt x="88106" y="71437"/>
                </a:cubicBezTo>
                <a:lnTo>
                  <a:pt x="88106" y="100012"/>
                </a:lnTo>
                <a:cubicBezTo>
                  <a:pt x="88106" y="107840"/>
                  <a:pt x="82711" y="114408"/>
                  <a:pt x="75437" y="116198"/>
                </a:cubicBezTo>
                <a:cubicBezTo>
                  <a:pt x="71904" y="98811"/>
                  <a:pt x="56530" y="85725"/>
                  <a:pt x="38100" y="85725"/>
                </a:cubicBezTo>
                <a:cubicBezTo>
                  <a:pt x="17058" y="85725"/>
                  <a:pt x="0" y="102783"/>
                  <a:pt x="0" y="123825"/>
                </a:cubicBezTo>
                <a:cubicBezTo>
                  <a:pt x="0" y="144867"/>
                  <a:pt x="17058" y="161925"/>
                  <a:pt x="38100" y="161925"/>
                </a:cubicBezTo>
                <a:cubicBezTo>
                  <a:pt x="56797" y="161925"/>
                  <a:pt x="72348" y="148458"/>
                  <a:pt x="75582" y="130693"/>
                </a:cubicBezTo>
                <a:cubicBezTo>
                  <a:pt x="90719" y="128668"/>
                  <a:pt x="102394" y="115704"/>
                  <a:pt x="102394" y="100012"/>
                </a:cubicBezTo>
                <a:lnTo>
                  <a:pt x="102394" y="71437"/>
                </a:lnTo>
                <a:cubicBezTo>
                  <a:pt x="102394" y="62232"/>
                  <a:pt x="109857" y="54769"/>
                  <a:pt x="119063" y="54769"/>
                </a:cubicBezTo>
                <a:lnTo>
                  <a:pt x="166109" y="54769"/>
                </a:lnTo>
                <a:lnTo>
                  <a:pt x="137824" y="83055"/>
                </a:lnTo>
                <a:cubicBezTo>
                  <a:pt x="135034" y="85845"/>
                  <a:pt x="135034" y="90367"/>
                  <a:pt x="137824" y="93157"/>
                </a:cubicBezTo>
                <a:cubicBezTo>
                  <a:pt x="140614" y="95947"/>
                  <a:pt x="145136" y="95947"/>
                  <a:pt x="147926" y="93157"/>
                </a:cubicBezTo>
                <a:lnTo>
                  <a:pt x="188407" y="52676"/>
                </a:lnTo>
                <a:cubicBezTo>
                  <a:pt x="191197" y="49887"/>
                  <a:pt x="191197" y="45363"/>
                  <a:pt x="188407" y="42574"/>
                </a:cubicBezTo>
                <a:lnTo>
                  <a:pt x="147926" y="2092"/>
                </a:lnTo>
                <a:close/>
              </a:path>
            </a:pathLst>
          </a:custGeom>
          <a:solidFill>
            <a:srgbClr val="323139"/>
          </a:solidFill>
          <a:ln w="10477" cap="flat" cmpd="sng" algn="ctr">
            <a:noFill/>
            <a:prstDash val="solid"/>
            <a:miter/>
          </a:ln>
          <a:effectLst/>
        </p:spPr>
        <p:txBody>
          <a:bodyPr rot="0" spcFirstLastPara="0" vertOverflow="overflow" horzOverflow="overflow" vert="horz" wrap="square" lIns="338011" tIns="270406" rIns="338011" bIns="270406" numCol="1" spcCol="0" rtlCol="0" fromWordArt="0" anchor="t" anchorCtr="0" forceAA="0" compatLnSpc="1">
            <a:prstTxWarp prst="textNoShape">
              <a:avLst/>
            </a:prstTxWarp>
            <a:noAutofit/>
          </a:bodyPr>
          <a:lstStyle/>
          <a:p>
            <a:pPr marL="0" marR="0" lvl="0" indent="0" algn="l" defTabSz="1722411" rtl="0" eaLnBrk="1" fontAlgn="base" latinLnBrk="0" hangingPunct="1">
              <a:lnSpc>
                <a:spcPct val="100000"/>
              </a:lnSpc>
              <a:spcBef>
                <a:spcPct val="0"/>
              </a:spcBef>
              <a:spcAft>
                <a:spcPct val="0"/>
              </a:spcAft>
              <a:buClrTx/>
              <a:buSzTx/>
              <a:buFontTx/>
              <a:buNone/>
              <a:tabLst/>
              <a:defRPr/>
            </a:pPr>
            <a:endParaRPr kumimoji="0" lang="en-US" sz="3622" b="1" i="0" u="none" strike="noStrike" kern="0" cap="none" spc="0" normalizeH="0" baseline="0" noProof="0">
              <a:ln>
                <a:noFill/>
              </a:ln>
              <a:noFill/>
              <a:effectLst/>
              <a:uLnTx/>
              <a:uFillTx/>
              <a:latin typeface="Segoe UI Variable Display Semibold" pitchFamily="2" charset="0"/>
              <a:ea typeface="+mn-ea"/>
              <a:cs typeface="Segoe UI" pitchFamily="34" charset="0"/>
            </a:endParaRPr>
          </a:p>
        </p:txBody>
      </p:sp>
      <p:grpSp>
        <p:nvGrpSpPr>
          <p:cNvPr id="83" name="Group 82">
            <a:extLst>
              <a:ext uri="{FF2B5EF4-FFF2-40B4-BE49-F238E27FC236}">
                <a16:creationId xmlns:a16="http://schemas.microsoft.com/office/drawing/2014/main" id="{5A0CBAFC-5DED-D3E2-18ED-E34B74CAE926}"/>
              </a:ext>
            </a:extLst>
          </p:cNvPr>
          <p:cNvGrpSpPr/>
          <p:nvPr/>
        </p:nvGrpSpPr>
        <p:grpSpPr>
          <a:xfrm>
            <a:off x="3261739" y="2189487"/>
            <a:ext cx="1534355" cy="276999"/>
            <a:chOff x="3261739" y="2189487"/>
            <a:chExt cx="1534355" cy="276999"/>
          </a:xfrm>
        </p:grpSpPr>
        <p:sp>
          <p:nvSpPr>
            <p:cNvPr id="82" name="Rectangle: Rounded Corners 81">
              <a:extLst>
                <a:ext uri="{FF2B5EF4-FFF2-40B4-BE49-F238E27FC236}">
                  <a16:creationId xmlns:a16="http://schemas.microsoft.com/office/drawing/2014/main" id="{A21A551A-DE36-A716-13EE-21F822622FD5}"/>
                </a:ext>
                <a:ext uri="{C183D7F6-B498-43B3-948B-1728B52AA6E4}">
                  <ns4:decorative xmlns:ns4="http://schemas.microsoft.com/office/drawing/2017/decorative" val="1"/>
                </a:ext>
              </a:extLst>
            </p:cNvPr>
            <p:cNvSpPr/>
            <p:nvPr/>
          </p:nvSpPr>
          <p:spPr bwMode="auto">
            <a:xfrm>
              <a:off x="3261739" y="2213019"/>
              <a:ext cx="1534355" cy="244283"/>
            </a:xfrm>
            <a:prstGeom prst="roundRect">
              <a:avLst>
                <a:gd name="adj" fmla="val 50000"/>
              </a:avLst>
            </a:prstGeom>
            <a:solidFill>
              <a:srgbClr val="F3E5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endParaRPr>
            </a:p>
          </p:txBody>
        </p:sp>
        <p:sp>
          <p:nvSpPr>
            <p:cNvPr id="63" name="TextBox 62">
              <a:extLst>
                <a:ext uri="{FF2B5EF4-FFF2-40B4-BE49-F238E27FC236}">
                  <a16:creationId xmlns:a16="http://schemas.microsoft.com/office/drawing/2014/main" id="{197D0AEB-8A07-B4D6-7F33-85429D49214C}"/>
                </a:ext>
              </a:extLst>
            </p:cNvPr>
            <p:cNvSpPr txBox="1"/>
            <p:nvPr/>
          </p:nvSpPr>
          <p:spPr>
            <a:xfrm>
              <a:off x="3655077" y="2189487"/>
              <a:ext cx="710452"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Prompt</a:t>
              </a:r>
              <a:endParaRPr kumimoji="0" lang="en-IN" sz="12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endParaRPr>
            </a:p>
          </p:txBody>
        </p:sp>
      </p:grpSp>
      <p:sp>
        <p:nvSpPr>
          <p:cNvPr id="98" name="Rectangle: Rounded Corners 97">
            <a:extLst>
              <a:ext uri="{FF2B5EF4-FFF2-40B4-BE49-F238E27FC236}">
                <a16:creationId xmlns:a16="http://schemas.microsoft.com/office/drawing/2014/main" id="{AEBB3E1D-C5FB-7FC9-829F-F4815362ABD2}"/>
              </a:ext>
            </a:extLst>
          </p:cNvPr>
          <p:cNvSpPr/>
          <p:nvPr/>
        </p:nvSpPr>
        <p:spPr bwMode="auto">
          <a:xfrm>
            <a:off x="8334509" y="968486"/>
            <a:ext cx="3621360" cy="1107187"/>
          </a:xfrm>
          <a:prstGeom prst="roundRect">
            <a:avLst>
              <a:gd name="adj" fmla="val 10584"/>
            </a:avLst>
          </a:prstGeom>
          <a:solidFill>
            <a:srgbClr val="341434"/>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r>
              <a:rPr kumimoji="0" lang="en-US" sz="1100" b="1" i="0" u="none" strike="noStrike" kern="0" cap="none" spc="0" normalizeH="0" baseline="0" noProof="0">
                <a:ln>
                  <a:noFill/>
                </a:ln>
                <a:solidFill>
                  <a:prstClr val="white"/>
                </a:solidFill>
                <a:effectLst/>
                <a:uLnTx/>
                <a:uFillTx/>
                <a:latin typeface="Segoe Sans Display Semilight" pitchFamily="2" charset="0"/>
                <a:ea typeface="+mn-ea"/>
                <a:cs typeface="Segoe Sans Display Semilight" pitchFamily="2" charset="0"/>
              </a:rPr>
              <a:t>Why Cowork?: </a:t>
            </a:r>
            <a:r>
              <a:rPr kumimoji="0" lang="en-US" sz="1100" b="0" i="0" u="none" strike="noStrike" kern="0" cap="none" spc="0" normalizeH="0" baseline="0" noProof="0">
                <a:ln>
                  <a:noFill/>
                </a:ln>
                <a:solidFill>
                  <a:prstClr val="white"/>
                </a:solidFill>
                <a:effectLst/>
                <a:uLnTx/>
                <a:uFillTx/>
                <a:latin typeface="Segoe Sans Display Semilight" pitchFamily="2" charset="0"/>
                <a:ea typeface="+mn-ea"/>
                <a:cs typeface="Segoe Sans Display Semilight" pitchFamily="2" charset="0"/>
              </a:rPr>
              <a:t>Recurring work belongs on autopilot. Automations run prompts on a schedule or on events, Daily Briefing pulls your day together, and sharing turns a personal skill into a team asset.</a:t>
            </a:r>
            <a:endParaRPr kumimoji="0" lang="en-US" sz="1100" i="0" u="none" strike="noStrike" kern="0" cap="none" spc="0" normalizeH="0" baseline="0" noProof="0">
              <a:ln w="3175">
                <a:noFill/>
              </a:ln>
              <a:solidFill>
                <a:prstClr val="white"/>
              </a:solidFill>
              <a:effectLst/>
              <a:uLnTx/>
              <a:uFillTx/>
              <a:latin typeface="Segoe Sans Display Semilight" pitchFamily="2" charset="0"/>
              <a:cs typeface="Segoe Sans Display Semilight" pitchFamily="2" charset="0"/>
            </a:endParaRPr>
          </a:p>
        </p:txBody>
      </p:sp>
      <p:sp>
        <p:nvSpPr>
          <p:cNvPr id="100" name="Oval 99">
            <a:extLst>
              <a:ext uri="{FF2B5EF4-FFF2-40B4-BE49-F238E27FC236}">
                <a16:creationId xmlns:a16="http://schemas.microsoft.com/office/drawing/2014/main" id="{82CA9355-2BD9-0408-CC03-CCAC40D6F6BE}"/>
              </a:ext>
              <a:ext uri="{C183D7F6-B498-43B3-948B-1728B52AA6E4}">
                <ns5:decorative xmlns:ns5="http://schemas.microsoft.com/office/drawing/2017/decorative" val="1"/>
              </a:ext>
            </a:extLst>
          </p:cNvPr>
          <p:cNvSpPr/>
          <p:nvPr/>
        </p:nvSpPr>
        <p:spPr>
          <a:xfrm>
            <a:off x="8054943" y="775485"/>
            <a:ext cx="398477" cy="398477"/>
          </a:xfrm>
          <a:prstGeom prst="ellipse">
            <a:avLst/>
          </a:prstGeom>
          <a:solidFill>
            <a:srgbClr val="FFF9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11" name="Icon Question Mark"/>
          <p:cNvSpPr txBox="1"/>
          <p:nvPr/>
        </p:nvSpPr>
        <p:spPr>
          <a:xfrm>
            <a:off x="8054943" y="775485"/>
            <a:ext cx="252134" cy="398477"/>
          </a:xfrm>
          <a:prstGeom prst="rect">
            <a:avLst/>
          </a:prstGeom>
          <a:noFill/>
        </p:spPr>
        <p:txBody>
          <a:bodyPr wrap="none" lIns="0" tIns="0" rIns="0" bIns="0" anchor="ctr" anchorCtr="1">
            <a:normAutofit/>
          </a:bodyPr>
          <a:lstStyle/>
          <a:p>
            <a:pPr algn="ctr"/>
            <a:r>
              <a:rPr lang="en-US" sz="1800" b="1">
                <a:solidFill>
                  <a:srgbClr val="3B1041"/>
                </a:solidFill>
                <a:latin typeface="Segoe UI" pitchFamily="34" charset="0"/>
                <a:cs typeface="Segoe UI" pitchFamily="34" charset="0"/>
              </a:rPr>
              <a:t>?</a:t>
            </a:r>
            <a:endParaRPr lang="en-US" sz="1800" b="1"/>
          </a:p>
        </p:txBody>
      </p:sp>
      <p:grpSp>
        <p:nvGrpSpPr>
          <p:cNvPr id="8" name="Group 7">
            <a:extLst>
              <a:ext uri="{FF2B5EF4-FFF2-40B4-BE49-F238E27FC236}">
                <a16:creationId xmlns:a16="http://schemas.microsoft.com/office/drawing/2014/main" id="{1722D180-2D5E-7D8C-B4A2-59B15C0453BA}"/>
              </a:ext>
            </a:extLst>
          </p:cNvPr>
          <p:cNvGrpSpPr/>
          <p:nvPr/>
        </p:nvGrpSpPr>
        <p:grpSpPr>
          <a:xfrm>
            <a:off x="7762717" y="2189487"/>
            <a:ext cx="4227030" cy="2010821"/>
            <a:chOff x="7762717" y="4071694"/>
            <a:chExt cx="4227030" cy="2010821"/>
          </a:xfrm>
        </p:grpSpPr>
        <p:sp>
          <p:nvSpPr>
            <p:cNvPr id="12" name="Rectangle: Rounded Corners 11">
              <a:extLst>
                <a:ext uri="{FF2B5EF4-FFF2-40B4-BE49-F238E27FC236}">
                  <a16:creationId xmlns:a16="http://schemas.microsoft.com/office/drawing/2014/main" id="{D0A30958-8A91-8F1F-EAED-DFB3605D650E}"/>
                </a:ext>
                <a:ext uri="{C183D7F6-B498-43B3-948B-1728B52AA6E4}">
                  <ns6:decorative xmlns:ns6="http://schemas.microsoft.com/office/drawing/2017/decorative" val="1"/>
                </a:ext>
              </a:extLst>
            </p:cNvPr>
            <p:cNvSpPr/>
            <p:nvPr/>
          </p:nvSpPr>
          <p:spPr bwMode="auto">
            <a:xfrm>
              <a:off x="7762717" y="4194834"/>
              <a:ext cx="4227030" cy="1887681"/>
            </a:xfrm>
            <a:prstGeom prst="roundRect">
              <a:avLst>
                <a:gd name="adj" fmla="val 1683"/>
              </a:avLst>
            </a:prstGeom>
            <a:solidFill>
              <a:srgbClr val="FFF9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B553FF"/>
                </a:solidFill>
                <a:effectLst/>
                <a:uLnTx/>
                <a:uFillTx/>
                <a:latin typeface="Segoe Sans Display Semibold" pitchFamily="2" charset="0"/>
                <a:ea typeface="+mn-ea"/>
                <a:cs typeface="Segoe Sans Display Semibold" pitchFamily="2" charset="0"/>
              </a:endParaRPr>
            </a:p>
          </p:txBody>
        </p:sp>
        <p:grpSp>
          <p:nvGrpSpPr>
            <p:cNvPr id="14" name="Group 13">
              <a:extLst>
                <a:ext uri="{FF2B5EF4-FFF2-40B4-BE49-F238E27FC236}">
                  <a16:creationId xmlns:a16="http://schemas.microsoft.com/office/drawing/2014/main" id="{FF30221B-5C85-22FC-F18F-7F0E26EEB0E2}"/>
                </a:ext>
              </a:extLst>
            </p:cNvPr>
            <p:cNvGrpSpPr/>
            <p:nvPr/>
          </p:nvGrpSpPr>
          <p:grpSpPr>
            <a:xfrm>
              <a:off x="9064660" y="4071694"/>
              <a:ext cx="1534355" cy="339147"/>
              <a:chOff x="3261739" y="2198151"/>
              <a:chExt cx="1534355" cy="276999"/>
            </a:xfrm>
          </p:grpSpPr>
          <p:sp>
            <p:nvSpPr>
              <p:cNvPr id="15" name="Rectangle: Rounded Corners 14">
                <a:extLst>
                  <a:ext uri="{FF2B5EF4-FFF2-40B4-BE49-F238E27FC236}">
                    <a16:creationId xmlns:a16="http://schemas.microsoft.com/office/drawing/2014/main" id="{0B857C90-B398-E232-66D0-F3E7E6CB19FB}"/>
                  </a:ext>
                  <a:ext uri="{C183D7F6-B498-43B3-948B-1728B52AA6E4}">
                    <ns7:decorative xmlns:ns7="http://schemas.microsoft.com/office/drawing/2017/decorative" val="1"/>
                  </a:ext>
                </a:extLst>
              </p:cNvPr>
              <p:cNvSpPr/>
              <p:nvPr/>
            </p:nvSpPr>
            <p:spPr bwMode="auto">
              <a:xfrm>
                <a:off x="3261739" y="2213019"/>
                <a:ext cx="1534355" cy="244283"/>
              </a:xfrm>
              <a:prstGeom prst="roundRect">
                <a:avLst>
                  <a:gd name="adj" fmla="val 50000"/>
                </a:avLst>
              </a:prstGeom>
              <a:solidFill>
                <a:srgbClr val="F3E5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endParaRPr>
              </a:p>
            </p:txBody>
          </p:sp>
          <p:sp>
            <p:nvSpPr>
              <p:cNvPr id="16" name="TextBox 15">
                <a:extLst>
                  <a:ext uri="{FF2B5EF4-FFF2-40B4-BE49-F238E27FC236}">
                    <a16:creationId xmlns:a16="http://schemas.microsoft.com/office/drawing/2014/main" id="{7130A025-6B78-DCFA-A21F-4C83E42E79DB}"/>
                  </a:ext>
                </a:extLst>
              </p:cNvPr>
              <p:cNvSpPr txBox="1"/>
              <p:nvPr/>
            </p:nvSpPr>
            <p:spPr>
              <a:xfrm>
                <a:off x="3594912" y="2198151"/>
                <a:ext cx="864339"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Workflow</a:t>
                </a:r>
              </a:p>
            </p:txBody>
          </p:sp>
        </p:grpSp>
        <p:sp>
          <p:nvSpPr>
            <p:cNvPr id="57" name="TextBox 56">
              <a:extLst>
                <a:ext uri="{FF2B5EF4-FFF2-40B4-BE49-F238E27FC236}">
                  <a16:creationId xmlns:a16="http://schemas.microsoft.com/office/drawing/2014/main" id="{D4B4634D-9BFA-FCEC-CFE2-4FD4315DDD1A}"/>
                </a:ext>
              </a:extLst>
            </p:cNvPr>
            <p:cNvSpPr txBox="1"/>
            <p:nvPr/>
          </p:nvSpPr>
          <p:spPr>
            <a:xfrm>
              <a:off x="8001952" y="4410841"/>
              <a:ext cx="3756431" cy="1074461"/>
            </a:xfrm>
            <a:prstGeom prst="rect">
              <a:avLst/>
            </a:prstGeom>
            <a:noFill/>
          </p:spPr>
          <p:txBody>
            <a:bodyPr wrap="square" rtlCol="0">
              <a:spAutoFit/>
            </a:bodyPr>
            <a:lstStyle/>
            <a:p>
              <a:pPr marL="228600" indent="-228600">
                <a:lnSpc>
                  <a:spcPct val="150000"/>
                </a:lnSpc>
                <a:buFont typeface="+mj-lt"/>
                <a:buAutoNum type="arabicPeriod"/>
                <a:defRPr/>
              </a:pPr>
              <a:r>
                <a:rPr lang="en-US" sz="1100" b="1">
                  <a:solidFill>
                    <a:prstClr val="black"/>
                  </a:solidFill>
                  <a:latin typeface="Segoe Sans Display" pitchFamily="2" charset="0"/>
                  <a:cs typeface="Segoe Sans Display" pitchFamily="2" charset="0"/>
                </a:rPr>
                <a:t>Automations</a:t>
              </a:r>
              <a:r>
                <a:rPr lang="en-US" sz="1100">
                  <a:solidFill>
                    <a:prstClr val="black"/>
                  </a:solidFill>
                  <a:latin typeface="Segoe Sans Display" pitchFamily="2" charset="0"/>
                  <a:cs typeface="Segoe Sans Display" pitchFamily="2" charset="0"/>
                </a:rPr>
                <a:t> → Create a weekly schedule</a:t>
              </a:r>
              <a:endParaRPr kumimoji="0" lang="en-US" sz="1100" b="1"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a:p>
              <a:pPr marL="228600" indent="-228600">
                <a:lnSpc>
                  <a:spcPct val="150000"/>
                </a:lnSpc>
                <a:buFont typeface="+mj-lt"/>
                <a:buAutoNum type="arabicPeriod"/>
                <a:defRPr/>
              </a:pPr>
              <a:r>
                <a:rPr lang="en-US" sz="1100" b="1">
                  <a:solidFill>
                    <a:prstClr val="black"/>
                  </a:solidFill>
                  <a:latin typeface="Segoe Sans Display" pitchFamily="2" charset="0"/>
                  <a:cs typeface="Segoe Sans Display" pitchFamily="2" charset="0"/>
                </a:rPr>
                <a:t>Monitor</a:t>
              </a:r>
              <a:r>
                <a:rPr lang="en-US" sz="1100">
                  <a:solidFill>
                    <a:prstClr val="black"/>
                  </a:solidFill>
                  <a:latin typeface="Segoe Sans Display" pitchFamily="2" charset="0"/>
                  <a:cs typeface="Segoe Sans Display" pitchFamily="2" charset="0"/>
                </a:rPr>
                <a:t> → Runs and Manage schedules</a:t>
              </a:r>
              <a:endParaRPr kumimoji="0" lang="en-US" sz="1100" b="1"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a:p>
              <a:pPr marL="228600" indent="-228600">
                <a:lnSpc>
                  <a:spcPct val="150000"/>
                </a:lnSpc>
                <a:buFont typeface="+mj-lt"/>
                <a:buAutoNum type="arabicPeriod"/>
                <a:defRPr/>
              </a:pPr>
              <a:r>
                <a:rPr lang="en-US" sz="1100" b="1">
                  <a:solidFill>
                    <a:prstClr val="black"/>
                  </a:solidFill>
                  <a:latin typeface="Segoe Sans Display" pitchFamily="2" charset="0"/>
                  <a:cs typeface="Segoe Sans Display" pitchFamily="2" charset="0"/>
                </a:rPr>
                <a:t>Brief</a:t>
              </a:r>
              <a:r>
                <a:rPr lang="en-US" sz="1100">
                  <a:solidFill>
                    <a:prstClr val="black"/>
                  </a:solidFill>
                  <a:latin typeface="Segoe Sans Display" pitchFamily="2" charset="0"/>
                  <a:cs typeface="Segoe Sans Display" pitchFamily="2" charset="0"/>
                </a:rPr>
                <a:t> → Daily Briefing for today</a:t>
              </a:r>
              <a:endParaRPr kumimoji="0" lang="en-US" sz="1100" b="1"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a:p>
              <a:pPr marL="228600" indent="-228600">
                <a:lnSpc>
                  <a:spcPct val="150000"/>
                </a:lnSpc>
                <a:buFont typeface="+mj-lt"/>
                <a:buAutoNum type="arabicPeriod"/>
                <a:defRPr/>
              </a:pPr>
              <a:r>
                <a:rPr lang="en-US" sz="1100" b="1">
                  <a:solidFill>
                    <a:prstClr val="black"/>
                  </a:solidFill>
                  <a:latin typeface="Segoe Sans Display" pitchFamily="2" charset="0"/>
                  <a:cs typeface="Segoe Sans Display" pitchFamily="2" charset="0"/>
                </a:rPr>
                <a:t>Share</a:t>
              </a:r>
              <a:r>
                <a:rPr lang="en-US" sz="1100">
                  <a:solidFill>
                    <a:prstClr val="black"/>
                  </a:solidFill>
                  <a:latin typeface="Segoe Sans Display" pitchFamily="2" charset="0"/>
                  <a:cs typeface="Segoe Sans Display" pitchFamily="2" charset="0"/>
                </a:rPr>
                <a:t> → Share / re-share your skill</a:t>
              </a:r>
              <a:endParaRPr kumimoji="0" lang="en-US" sz="1100" b="1"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p:txBody>
        </p:sp>
      </p:grpSp>
      <p:sp>
        <p:nvSpPr>
          <p:cNvPr id="3" name="Text 25">
            <a:extLst>
              <a:ext uri="{FF2B5EF4-FFF2-40B4-BE49-F238E27FC236}">
                <a16:creationId xmlns:a16="http://schemas.microsoft.com/office/drawing/2014/main" id="{41B60886-5E17-E589-2FF8-1DDB98962F30}"/>
              </a:ext>
            </a:extLst>
          </p:cNvPr>
          <p:cNvSpPr/>
          <p:nvPr/>
        </p:nvSpPr>
        <p:spPr>
          <a:xfrm>
            <a:off x="632004" y="2684018"/>
            <a:ext cx="6734710" cy="3632476"/>
          </a:xfrm>
          <a:prstGeom prst="rect">
            <a:avLst/>
          </a:prstGeom>
          <a:noFill/>
          <a:ln/>
        </p:spPr>
        <p:txBody>
          <a:bodyPr wrap="square" lIns="0" tIns="0" rIns="0" bIns="0"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Task 7a — Automations → Create</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Every Monday at 8:00 AM, read hr-tickets-sample.xlsx in my OneDrive folder Documents/Cowork, summarize open tickets by category and priority, list high-priority open tickets first, and put it in a short report. Don’t email anyone.</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Choose Activate and run now to see the first run in class.</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Task 7b — New task</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Give me a Daily Briefing focused on my HR tasks and meetings for today.</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Task 7c — Share your skill</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Open HR Policy Answer on the Customize page → Share. Keep it “Only you” or share to one colleague (add your initials first). Make a small edit, then Re-share.</a:t>
            </a:r>
          </a:p>
        </p:txBody>
      </p:sp>
      <p:grpSp>
        <p:nvGrpSpPr>
          <p:cNvPr id="17" name="Group 16">
            <a:extLst>
              <a:ext uri="{FF2B5EF4-FFF2-40B4-BE49-F238E27FC236}">
                <a16:creationId xmlns:a16="http://schemas.microsoft.com/office/drawing/2014/main" id="{317BDD88-DD13-C157-9D0C-376C7050CA18}"/>
              </a:ext>
            </a:extLst>
          </p:cNvPr>
          <p:cNvGrpSpPr/>
          <p:nvPr/>
        </p:nvGrpSpPr>
        <p:grpSpPr>
          <a:xfrm>
            <a:off x="7756139" y="4421568"/>
            <a:ext cx="1534355" cy="276999"/>
            <a:chOff x="3261739" y="2198151"/>
            <a:chExt cx="1534355" cy="276999"/>
          </a:xfrm>
        </p:grpSpPr>
        <p:sp>
          <p:nvSpPr>
            <p:cNvPr id="18" name="Rectangle: Rounded Corners 17">
              <a:extLst>
                <a:ext uri="{FF2B5EF4-FFF2-40B4-BE49-F238E27FC236}">
                  <a16:creationId xmlns:a16="http://schemas.microsoft.com/office/drawing/2014/main" id="{3E986E19-9FEA-1F60-BCDA-008D13564D09}"/>
                </a:ext>
                <a:ext uri="{C183D7F6-B498-43B3-948B-1728B52AA6E4}">
                  <ns8:decorative xmlns:ns8="http://schemas.microsoft.com/office/drawing/2017/decorative" val="1"/>
                </a:ext>
              </a:extLst>
            </p:cNvPr>
            <p:cNvSpPr/>
            <p:nvPr/>
          </p:nvSpPr>
          <p:spPr bwMode="auto">
            <a:xfrm>
              <a:off x="3261739" y="2213019"/>
              <a:ext cx="1534355" cy="244283"/>
            </a:xfrm>
            <a:prstGeom prst="roundRect">
              <a:avLst>
                <a:gd name="adj" fmla="val 50000"/>
              </a:avLst>
            </a:prstGeom>
            <a:solidFill>
              <a:srgbClr val="F3E5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endParaRPr>
            </a:p>
          </p:txBody>
        </p:sp>
        <p:sp>
          <p:nvSpPr>
            <p:cNvPr id="19" name="TextBox 18">
              <a:extLst>
                <a:ext uri="{FF2B5EF4-FFF2-40B4-BE49-F238E27FC236}">
                  <a16:creationId xmlns:a16="http://schemas.microsoft.com/office/drawing/2014/main" id="{66387F56-2C11-A4AD-4E15-4442F2454D48}"/>
                </a:ext>
              </a:extLst>
            </p:cNvPr>
            <p:cNvSpPr txBox="1"/>
            <p:nvPr/>
          </p:nvSpPr>
          <p:spPr>
            <a:xfrm>
              <a:off x="3472286" y="2198151"/>
              <a:ext cx="1109599"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Data Sources</a:t>
              </a:r>
            </a:p>
          </p:txBody>
        </p:sp>
      </p:grpSp>
      <p:grpSp>
        <p:nvGrpSpPr>
          <p:cNvPr id="13" name="Group 12">
            <a:extLst>
              <a:ext uri="{FF2B5EF4-FFF2-40B4-BE49-F238E27FC236}">
                <a16:creationId xmlns:a16="http://schemas.microsoft.com/office/drawing/2014/main" id="{6DC82203-C40E-B229-3216-8513934D28BD}"/>
              </a:ext>
            </a:extLst>
          </p:cNvPr>
          <p:cNvGrpSpPr/>
          <p:nvPr/>
        </p:nvGrpSpPr>
        <p:grpSpPr>
          <a:xfrm>
            <a:off x="9121309" y="4421568"/>
            <a:ext cx="1200156" cy="488252"/>
            <a:chOff x="10558227" y="4421568"/>
            <a:chExt cx="1200156" cy="488252"/>
          </a:xfrm>
        </p:grpSpPr>
        <p:pic>
          <p:nvPicPr>
            <p:cNvPr id="7" name="Picture 6" descr="Microsoft 365 data icon">
              <a:extLst>
                <a:ext uri="{FF2B5EF4-FFF2-40B4-BE49-F238E27FC236}">
                  <a16:creationId xmlns:a16="http://schemas.microsoft.com/office/drawing/2014/main" id="{8B0F26AD-79AC-E75B-C2DA-E6BBA636792A}"/>
                </a:ext>
              </a:extLst>
            </p:cNvPr>
            <p:cNvPicPr>
              <a:picLocks noChangeAspect="1"/>
            </p:cNvPicPr>
            <p:nvPr/>
          </p:nvPicPr>
          <p:blipFill>
            <a:blip r:embed="rId3"/>
            <a:stretch>
              <a:fillRect/>
            </a:stretch>
          </p:blipFill>
          <p:spPr>
            <a:xfrm>
              <a:off x="11014657" y="4421568"/>
              <a:ext cx="287296" cy="287296"/>
            </a:xfrm>
            <a:prstGeom prst="rect">
              <a:avLst/>
            </a:prstGeom>
          </p:spPr>
        </p:pic>
        <p:sp>
          <p:nvSpPr>
            <p:cNvPr id="9" name="TextBox 8">
              <a:extLst>
                <a:ext uri="{FF2B5EF4-FFF2-40B4-BE49-F238E27FC236}">
                  <a16:creationId xmlns:a16="http://schemas.microsoft.com/office/drawing/2014/main" id="{FE07ADF1-F66F-E626-BAE0-23ADC3E6D92F}"/>
                </a:ext>
              </a:extLst>
            </p:cNvPr>
            <p:cNvSpPr txBox="1"/>
            <p:nvPr/>
          </p:nvSpPr>
          <p:spPr>
            <a:xfrm>
              <a:off x="10558227" y="4678988"/>
              <a:ext cx="1200156"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rPr>
                <a:t>M365 Data</a:t>
              </a:r>
              <a:endParaRPr kumimoji="0" lang="en-IN" sz="900" b="0"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p:txBody>
        </p:sp>
      </p:grpSp>
      <p:grpSp>
        <p:nvGrpSpPr>
          <p:cNvPr id="912" name="Group 12">
            <a:extLst>
              <a:ext uri="{FF2B5EF4-FFF2-40B4-BE49-F238E27FC236}">
                <a16:creationId xmlns:a16="http://schemas.microsoft.com/office/drawing/2014/main" id="{6DC82203-C40E-B229-3216-8513934D28BD}"/>
              </a:ext>
            </a:extLst>
          </p:cNvPr>
          <p:cNvGrpSpPr/>
          <p:nvPr/>
        </p:nvGrpSpPr>
        <p:grpSpPr>
          <a:xfrm>
            <a:off x="10035709" y="4421568"/>
            <a:ext cx="1200156" cy="488252"/>
            <a:chOff x="10558227" y="4421568"/>
            <a:chExt cx="1200156" cy="488252"/>
          </a:xfrm>
        </p:grpSpPr>
        <p:pic>
          <p:nvPicPr>
            <p:cNvPr id="913" name="Picture 6" descr="OneDrive icon">
              <a:extLst>
                <a:ext uri="{FF2B5EF4-FFF2-40B4-BE49-F238E27FC236}">
                  <a16:creationId xmlns:a16="http://schemas.microsoft.com/office/drawing/2014/main" id="{8B0F26AD-79AC-E75B-C2DA-E6BBA636792A}"/>
                </a:ext>
              </a:extLst>
            </p:cNvPr>
            <p:cNvPicPr>
              <a:picLocks noChangeAspect="1"/>
            </p:cNvPicPr>
            <p:nvPr/>
          </p:nvPicPr>
          <p:blipFill>
            <a:blip r:embed="rId6"/>
            <a:stretch>
              <a:fillRect/>
            </a:stretch>
          </p:blipFill>
          <p:spPr>
            <a:xfrm>
              <a:off x="11014657" y="4421568"/>
              <a:ext cx="287296" cy="287296"/>
            </a:xfrm>
            <a:prstGeom prst="rect">
              <a:avLst/>
            </a:prstGeom>
          </p:spPr>
        </p:pic>
        <p:sp>
          <p:nvSpPr>
            <p:cNvPr id="914" name="TextBox 8">
              <a:extLst>
                <a:ext uri="{FF2B5EF4-FFF2-40B4-BE49-F238E27FC236}">
                  <a16:creationId xmlns:a16="http://schemas.microsoft.com/office/drawing/2014/main" id="{FE07ADF1-F66F-E626-BAE0-23ADC3E6D92F}"/>
                </a:ext>
              </a:extLst>
            </p:cNvPr>
            <p:cNvSpPr txBox="1"/>
            <p:nvPr/>
          </p:nvSpPr>
          <p:spPr>
            <a:xfrm>
              <a:off x="10558227" y="4678988"/>
              <a:ext cx="1200156"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rPr>
                <a:t>OneDrive</a:t>
              </a:r>
              <a:endParaRPr kumimoji="0" lang="en-IN" sz="900" b="0"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p:txBody>
        </p:sp>
      </p:grpSp>
    </p:spTree>
    <p:extLst>
      <p:ext uri="{BB962C8B-B14F-4D97-AF65-F5344CB8AC3E}">
        <p14:creationId xmlns:p14="http://schemas.microsoft.com/office/powerpoint/2010/main" val="1649947486"/>
      </p:ext>
    </p:extLst>
  </p:cSld>
  <p:clrMapOvr>
    <a:overrideClrMapping bg1="lt1" tx1="dk1" bg2="lt2" tx2="dk2" accent1="accent1" accent2="accent2" accent3="accent3" accent4="accent4" accent5="accent5" accent6="accent6" hlink="hlink" folHlink="folHlink"/>
  </p:clrMapOvr>
</p:sld>
</file>

<file path=ppt/slides/slide47.xml><?xml version="1.0" encoding="utf-8"?>
<p:sld xmlns:a="http://schemas.openxmlformats.org/drawingml/2006/main" xmlns:p="http://schemas.openxmlformats.org/presentationml/2006/main" xmlns:r="http://schemas.openxmlformats.org/officeDocument/2006/relationships">
  <p:cSld>
    <p:bg>
      <p:bgPr>
        <a:blipFill dpi="0" rotWithShape="1">
          <a:blip r:embed="rId5">
            <a:alphaModFix amt="70000"/>
            <a:lum/>
          </a:blip>
          <a:srcRect/>
          <a:stretch>
            <a:fillRect l="-2000" r="-2000"/>
          </a:stretch>
        </a:blipFill>
        <a:effectLst/>
      </p:bgPr>
    </p:bg>
    <p:spTree>
      <p:nvGrpSpPr>
        <p:cNvPr id="1" name="">
          <a:extLst>
            <a:ext uri="{FF2B5EF4-FFF2-40B4-BE49-F238E27FC236}">
              <a16:creationId xmlns:a16="http://schemas.microsoft.com/office/drawing/2014/main" id="{CC810B06-9C60-9BCB-DF49-73D043B037F2}"/>
            </a:ext>
          </a:extLst>
        </p:cNvPr>
        <p:cNvGrpSpPr/>
        <p:nvPr/>
      </p:nvGrpSpPr>
      <p:grpSpPr>
        <a:xfrm>
          <a:off x="0" y="0"/>
          <a:ext cx="0" cy="0"/>
          <a:chOff x="0" y="0"/>
          <a:chExt cx="0" cy="0"/>
        </a:xfrm>
      </p:grpSpPr>
      <p:sp>
        <p:nvSpPr>
          <p:cNvPr id="27" name="Title 3">
            <a:extLst>
              <a:ext uri="{FF2B5EF4-FFF2-40B4-BE49-F238E27FC236}">
                <a16:creationId xmlns:a16="http://schemas.microsoft.com/office/drawing/2014/main" id="{3EF2C483-DB46-D975-7E0E-09A75642D76B}"/>
              </a:ext>
            </a:extLst>
          </p:cNvPr>
          <p:cNvSpPr txBox="1">
            <a:spLocks/>
          </p:cNvSpPr>
          <p:nvPr/>
        </p:nvSpPr>
        <p:spPr>
          <a:xfrm>
            <a:off x="1925908" y="293473"/>
            <a:ext cx="7070725" cy="430887"/>
          </a:xfrm>
          <a:prstGeom prst="rect">
            <a:avLst/>
          </a:prstGeom>
        </p:spPr>
        <p:txBody>
          <a:bodyPr vert="horz" wrap="square" lIns="0" tIns="0" rIns="0" bIns="0" rtlCol="0" anchor="t">
            <a:spAutoFit/>
          </a:bodyPr>
          <a:lstStyle>
            <a:lvl1pPr algn="l" defTabSz="769520" rtl="0" eaLnBrk="1" latinLnBrk="0" hangingPunct="1">
              <a:lnSpc>
                <a:spcPct val="100000"/>
              </a:lnSpc>
              <a:spcBef>
                <a:spcPct val="0"/>
              </a:spcBef>
              <a:buNone/>
              <a:defRPr lang="en-US" sz="2000" b="0" kern="1200" cap="none" spc="0" baseline="0">
                <a:ln w="3175">
                  <a:noFill/>
                </a:ln>
                <a:solidFill>
                  <a:schemeClr val="tx1"/>
                </a:solidFill>
                <a:effectLst/>
                <a:latin typeface="+mj-lt"/>
                <a:ea typeface="+mn-ea"/>
                <a:cs typeface="Segoe Sans Display" pitchFamily="2" charset="0"/>
              </a:defRPr>
            </a:lvl1pPr>
          </a:lstStyle>
          <a:p>
            <a:pPr marL="0" marR="0" lvl="0" indent="0" algn="l" defTabSz="769520" rtl="0" eaLnBrk="1" fontAlgn="auto" latinLnBrk="0" hangingPunct="1">
              <a:lnSpc>
                <a:spcPct val="100000"/>
              </a:lnSpc>
              <a:spcBef>
                <a:spcPct val="0"/>
              </a:spcBef>
              <a:spcAft>
                <a:spcPts val="0"/>
              </a:spcAft>
              <a:buClrTx/>
              <a:buSzTx/>
              <a:buFontTx/>
              <a:buNone/>
              <a:tabLst/>
              <a:defRPr/>
            </a:pPr>
            <a:r>
              <a:rPr kumimoji="0" lang="en-US" sz="2800" b="0" i="0" u="none" strike="noStrike" kern="1200" cap="none" spc="0" normalizeH="0" baseline="0" noProof="0">
                <a:ln w="3175">
                  <a:noFill/>
                </a:ln>
                <a:solidFill>
                  <a:srgbClr val="323139"/>
                </a:solidFill>
                <a:effectLst/>
                <a:uLnTx/>
                <a:uFillTx/>
                <a:latin typeface="Segoe Sans Display" pitchFamily="2" charset="0"/>
                <a:ea typeface="+mn-ea"/>
                <a:cs typeface="Segoe Sans Display" pitchFamily="2" charset="0"/>
              </a:rPr>
              <a:t>Hands-on · Automate &amp; Share</a:t>
            </a:r>
          </a:p>
        </p:txBody>
      </p:sp>
      <p:sp>
        <p:nvSpPr>
          <p:cNvPr id="28" name="NavPill_SitesPages">
            <a:extLst>
              <a:ext uri="{FF2B5EF4-FFF2-40B4-BE49-F238E27FC236}">
                <a16:creationId xmlns:a16="http://schemas.microsoft.com/office/drawing/2014/main" id="{57BB7AF5-33B6-DA4A-ABA7-2573FB8050B2}"/>
              </a:ext>
            </a:extLst>
          </p:cNvPr>
          <p:cNvSpPr/>
          <p:nvPr/>
        </p:nvSpPr>
        <p:spPr>
          <a:xfrm>
            <a:off x="350837" y="342900"/>
            <a:ext cx="1419239" cy="337762"/>
          </a:xfrm>
          <a:prstGeom prst="roundRect">
            <a:avLst>
              <a:gd name="adj" fmla="val 50000"/>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207091" rtl="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Ex 07</a:t>
            </a:r>
          </a:p>
        </p:txBody>
      </p:sp>
      <p:sp>
        <p:nvSpPr>
          <p:cNvPr id="30" name="TextBox 29">
            <a:extLst>
              <a:ext uri="{FF2B5EF4-FFF2-40B4-BE49-F238E27FC236}">
                <a16:creationId xmlns:a16="http://schemas.microsoft.com/office/drawing/2014/main" id="{4519738B-A618-91E3-CAC4-D99F7E54632B}"/>
              </a:ext>
              <a:ext uri="{C183D7F6-B498-43B3-948B-1728B52AA6E4}">
                <ns0:decorative xmlns:ns0="http://schemas.microsoft.com/office/drawing/2017/decorative" val="1"/>
              </a:ext>
            </a:extLst>
          </p:cNvPr>
          <p:cNvSpPr txBox="1"/>
          <p:nvPr/>
        </p:nvSpPr>
        <p:spPr>
          <a:xfrm>
            <a:off x="8867052" y="119383"/>
            <a:ext cx="3092209" cy="338554"/>
          </a:xfrm>
          <a:prstGeom prst="roundRect">
            <a:avLst>
              <a:gd name="adj" fmla="val 19537"/>
            </a:avLst>
          </a:prstGeom>
          <a:solidFill>
            <a:srgbClr val="CB85FF">
              <a:lumMod val="20000"/>
              <a:lumOff val="80000"/>
            </a:srgbClr>
          </a:solidFill>
        </p:spPr>
        <p:txBody>
          <a:bodyPr wrap="square" lIns="1188720" tIns="45720" rIns="0" bIns="45720" anchor="ctr">
            <a:noAutofit/>
          </a:bodyPr>
          <a:lstStyle>
            <a:defPPr>
              <a:defRPr lang="en-US"/>
            </a:defPPr>
            <a:lvl1pPr>
              <a:spcAft>
                <a:spcPts val="776"/>
              </a:spcAft>
              <a:defRPr sz="1200">
                <a:latin typeface="+mj-lt"/>
                <a:cs typeface="Segoe Sans Display Semibold" pitchFamily="2" charset="0"/>
              </a:defRPr>
            </a:lvl1pPr>
          </a:lstStyle>
          <a:p>
            <a:pPr marL="0" marR="0" lvl="0" indent="0" algn="l" defTabSz="914294" rtl="0" eaLnBrk="1" fontAlgn="auto" latinLnBrk="0" hangingPunct="1">
              <a:lnSpc>
                <a:spcPct val="100000"/>
              </a:lnSpc>
              <a:spcBef>
                <a:spcPts val="0"/>
              </a:spcBef>
              <a:spcAft>
                <a:spcPts val="776"/>
              </a:spcAft>
              <a:buClrTx/>
              <a:buSzTx/>
              <a:buFontTx/>
              <a:buNone/>
              <a:tabLst/>
              <a:defRPr/>
            </a:pPr>
            <a:endParaRPr kumimoji="0" lang="en-US" sz="1200" b="0" i="0" u="none" strike="noStrike" kern="0" cap="none" spc="0" normalizeH="0" baseline="0" noProof="0">
              <a:ln>
                <a:noFill/>
              </a:ln>
              <a:solidFill>
                <a:srgbClr val="323139"/>
              </a:solidFill>
              <a:effectLst/>
              <a:uLnTx/>
              <a:uFillTx/>
              <a:latin typeface="Segoe Sans Display"/>
              <a:ea typeface="+mn-ea"/>
              <a:cs typeface="Segoe Sans Display Semibold" pitchFamily="2" charset="0"/>
            </a:endParaRPr>
          </a:p>
        </p:txBody>
      </p:sp>
      <p:sp>
        <p:nvSpPr>
          <p:cNvPr id="31" name="TextBox 30">
            <a:extLst>
              <a:ext uri="{FF2B5EF4-FFF2-40B4-BE49-F238E27FC236}">
                <a16:creationId xmlns:a16="http://schemas.microsoft.com/office/drawing/2014/main" id="{4B310F6E-1BD3-CF01-32AD-647BCF12AC0F}"/>
              </a:ext>
            </a:extLst>
          </p:cNvPr>
          <p:cNvSpPr txBox="1"/>
          <p:nvPr/>
        </p:nvSpPr>
        <p:spPr>
          <a:xfrm>
            <a:off x="8942688" y="173878"/>
            <a:ext cx="1280160" cy="233352"/>
          </a:xfrm>
          <a:prstGeom prst="roundRect">
            <a:avLst>
              <a:gd name="adj" fmla="val 16151"/>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5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defRPr lang="en-US"/>
            </a:defPPr>
            <a:lvl1pPr algn="ctr" defTabSz="932765" fontAlgn="base">
              <a:spcBef>
                <a:spcPct val="0"/>
              </a:spcBef>
              <a:spcAft>
                <a:spcPct val="0"/>
              </a:spcAft>
              <a:defRPr sz="1600">
                <a:solidFill>
                  <a:schemeClr val="accent1"/>
                </a:solidFill>
                <a:latin typeface="+mj-lt"/>
                <a:cs typeface="Segoe Sans Display Semibold" pitchFamily="2" charset="0"/>
              </a:defRPr>
            </a:lvl1pPr>
          </a:lstStyle>
          <a:p>
            <a:pPr marL="0" marR="0" lvl="0" indent="0" algn="l" defTabSz="932765" rtl="0" eaLnBrk="1" fontAlgn="base" latinLnBrk="0" hangingPunct="1">
              <a:lnSpc>
                <a:spcPct val="100000"/>
              </a:lnSpc>
              <a:spcBef>
                <a:spcPct val="0"/>
              </a:spcBef>
              <a:spcAft>
                <a:spcPct val="0"/>
              </a:spcAft>
              <a:buClrTx/>
              <a:buSzTx/>
              <a:buFontTx/>
              <a:buNone/>
              <a:tabLst/>
              <a:defRPr/>
            </a:pPr>
            <a:r>
              <a:rPr kumimoji="0" lang="en-IN" sz="1050" b="0" i="0" u="none" strike="noStrike" kern="0" cap="none" spc="0" normalizeH="0" baseline="0" noProof="0">
                <a:ln>
                  <a:noFill/>
                </a:ln>
                <a:solidFill>
                  <a:srgbClr val="323139"/>
                </a:solidFill>
                <a:effectLst/>
                <a:uLnTx/>
                <a:uFillTx/>
                <a:latin typeface="Segoe Sans Display"/>
                <a:ea typeface="+mn-ea"/>
                <a:cs typeface="Segoe Sans Display Semibold" pitchFamily="2" charset="0"/>
              </a:rPr>
              <a:t>Time</a:t>
            </a:r>
          </a:p>
        </p:txBody>
      </p:sp>
      <p:sp>
        <p:nvSpPr>
          <p:cNvPr id="50" name="TextBox 49">
            <a:extLst>
              <a:ext uri="{FF2B5EF4-FFF2-40B4-BE49-F238E27FC236}">
                <a16:creationId xmlns:a16="http://schemas.microsoft.com/office/drawing/2014/main" id="{0CE10D15-83B7-7915-49A3-0BD3A21E9731}"/>
              </a:ext>
            </a:extLst>
          </p:cNvPr>
          <p:cNvSpPr txBox="1"/>
          <p:nvPr/>
        </p:nvSpPr>
        <p:spPr>
          <a:xfrm>
            <a:off x="10298483" y="173490"/>
            <a:ext cx="1668779" cy="253916"/>
          </a:xfrm>
          <a:prstGeom prst="rect">
            <a:avLst/>
          </a:prstGeom>
          <a:noFill/>
        </p:spPr>
        <p:txBody>
          <a:bodyPr wrap="square">
            <a:spAutoFit/>
          </a:bodyPr>
          <a:lstStyle/>
          <a:p>
            <a:pPr marL="0" marR="0" lvl="0" indent="0" algn="l" defTabSz="914294"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323139"/>
                </a:solidFill>
                <a:effectLst/>
                <a:uLnTx/>
                <a:uFillTx/>
                <a:latin typeface="Segoe Sans Display"/>
                <a:ea typeface="+mn-ea"/>
                <a:cs typeface="Segoe Sans Display"/>
              </a:rPr>
              <a:t>15 min</a:t>
            </a:r>
          </a:p>
        </p:txBody>
      </p:sp>
      <p:sp>
        <p:nvSpPr>
          <p:cNvPr id="51" name="Rounded Rectangle 50">
            <a:extLst>
              <a:ext uri="{C183D7F6-B498-43B3-948B-1728B52AA6E4}">
                <ns1:decorative xmlns:ns1="http://schemas.microsoft.com/office/drawing/2017/decorative" val="1"/>
              </a:ext>
            </a:extLst>
          </p:cNvPr>
          <p:cNvSpPr/>
          <p:nvPr/>
        </p:nvSpPr>
        <p:spPr>
          <a:xfrm>
            <a:off x="420624" y="1188720"/>
            <a:ext cx="7168896" cy="3611880"/>
          </a:xfrm>
          <a:prstGeom prst="roundRect">
            <a:avLst>
              <a:gd name="adj" fmla="val 5000"/>
            </a:avLst>
          </a:prstGeom>
          <a:solidFill>
            <a:srgbClr val="FFF9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ounded Rectangle 51">
            <a:extLst>
              <a:ext uri="{C183D7F6-B498-43B3-948B-1728B52AA6E4}">
                <ns2:decorative xmlns:ns2="http://schemas.microsoft.com/office/drawing/2017/decorative" val="1"/>
              </a:ext>
            </a:extLst>
          </p:cNvPr>
          <p:cNvSpPr/>
          <p:nvPr/>
        </p:nvSpPr>
        <p:spPr>
          <a:xfrm>
            <a:off x="3236976" y="1051560"/>
            <a:ext cx="15361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3236976" y="1051560"/>
            <a:ext cx="1536192" cy="274320"/>
          </a:xfrm>
          <a:prstGeom prst="rect">
            <a:avLst/>
          </a:prstGeom>
          <a:noFill/>
        </p:spPr>
        <p:txBody>
          <a:bodyPr wrap="square" anchor="ctr" lIns="0" rIns="0" tIns="0" bIns="0">
            <a:spAutoFit/>
          </a:bodyPr>
          <a:lstStyle/>
          <a:p>
            <a:pPr algn="ctr">
              <a:spcAft>
                <a:spcPts val="400"/>
              </a:spcAft>
            </a:pPr>
            <a:r>
              <a:rPr sz="1200" b="0" i="0">
                <a:solidFill>
                  <a:srgbClr val="323139"/>
                </a:solidFill>
                <a:latin typeface="Segoe Sans Display Semibold"/>
              </a:rPr>
              <a:t>Steps</a:t>
            </a:r>
          </a:p>
        </p:txBody>
      </p:sp>
      <p:sp>
        <p:nvSpPr>
          <p:cNvPr id="54" name="TextBox 53"/>
          <p:cNvSpPr txBox="1"/>
          <p:nvPr/>
        </p:nvSpPr>
        <p:spPr>
          <a:xfrm>
            <a:off x="777240" y="1572768"/>
            <a:ext cx="6492240" cy="3154680"/>
          </a:xfrm>
          <a:prstGeom prst="rect">
            <a:avLst/>
          </a:prstGeom>
          <a:noFill/>
        </p:spPr>
        <p:txBody>
          <a:bodyPr wrap="square" anchor="t" lIns="0" rIns="0" tIns="0" bIns="0">
            <a:spAutoFit/>
          </a:bodyPr>
          <a:lstStyle/>
          <a:p>
            <a:pPr algn="l" marL="237744" indent="-237744">
              <a:lnSpc>
                <a:spcPct val="105000"/>
              </a:lnSpc>
              <a:spcAft>
                <a:spcPts val="900"/>
              </a:spcAft>
              <a:buFont typeface="+mj-lt"/>
              <a:buAutoNum type="arabicPeriod"/>
            </a:pPr>
            <a:r>
              <a:rPr sz="1500" b="1" i="0">
                <a:solidFill>
                  <a:srgbClr val="323139"/>
                </a:solidFill>
                <a:latin typeface="Segoe UI"/>
              </a:rPr>
              <a:t>Automations → Create:</a:t>
            </a:r>
            <a:r>
              <a:rPr sz="1500" b="0" i="0">
                <a:solidFill>
                  <a:srgbClr val="323139"/>
                </a:solidFill>
                <a:latin typeface="Segoe UI"/>
              </a:rPr>
              <a:t> paste the digest prompt — it names the exact file and folder.</a:t>
            </a:r>
          </a:p>
          <a:p>
            <a:pPr algn="l" marL="237744" indent="-237744">
              <a:lnSpc>
                <a:spcPct val="105000"/>
              </a:lnSpc>
              <a:spcAft>
                <a:spcPts val="900"/>
              </a:spcAft>
              <a:buFont typeface="+mj-lt"/>
              <a:buAutoNum type="arabicPeriod"/>
            </a:pPr>
            <a:r>
              <a:rPr sz="1500" b="0" i="0">
                <a:solidFill>
                  <a:srgbClr val="323139"/>
                </a:solidFill>
                <a:latin typeface="Segoe UI"/>
              </a:rPr>
              <a:t>Choose </a:t>
            </a:r>
            <a:r>
              <a:rPr sz="1500" b="1" i="0">
                <a:solidFill>
                  <a:srgbClr val="323139"/>
                </a:solidFill>
                <a:latin typeface="Segoe UI"/>
              </a:rPr>
              <a:t>Activate and run now</a:t>
            </a:r>
            <a:r>
              <a:rPr sz="1500" b="0" i="0">
                <a:solidFill>
                  <a:srgbClr val="323139"/>
                </a:solidFill>
                <a:latin typeface="Segoe UI"/>
              </a:rPr>
              <a:t>, then check the </a:t>
            </a:r>
            <a:r>
              <a:rPr sz="1500" b="1" i="0">
                <a:solidFill>
                  <a:srgbClr val="323139"/>
                </a:solidFill>
                <a:latin typeface="Segoe UI"/>
              </a:rPr>
              <a:t>Runs</a:t>
            </a:r>
            <a:r>
              <a:rPr sz="1500" b="0" i="0">
                <a:solidFill>
                  <a:srgbClr val="323139"/>
                </a:solidFill>
                <a:latin typeface="Segoe UI"/>
              </a:rPr>
              <a:t> tab for today’s run.</a:t>
            </a:r>
          </a:p>
          <a:p>
            <a:pPr algn="l" marL="237744" indent="-237744">
              <a:lnSpc>
                <a:spcPct val="105000"/>
              </a:lnSpc>
              <a:spcAft>
                <a:spcPts val="900"/>
              </a:spcAft>
              <a:buFont typeface="+mj-lt"/>
              <a:buAutoNum type="arabicPeriod"/>
            </a:pPr>
            <a:r>
              <a:rPr sz="1500" b="1" i="0">
                <a:solidFill>
                  <a:srgbClr val="323139"/>
                </a:solidFill>
                <a:latin typeface="Segoe UI"/>
              </a:rPr>
              <a:t>New task:</a:t>
            </a:r>
            <a:r>
              <a:rPr sz="1500" b="0" i="0">
                <a:solidFill>
                  <a:srgbClr val="323139"/>
                </a:solidFill>
                <a:latin typeface="Segoe UI"/>
              </a:rPr>
              <a:t> ask for a Daily Briefing on your HR tasks and meetings.</a:t>
            </a:r>
          </a:p>
          <a:p>
            <a:pPr algn="l" marL="237744" indent="-237744">
              <a:lnSpc>
                <a:spcPct val="105000"/>
              </a:lnSpc>
              <a:spcAft>
                <a:spcPts val="900"/>
              </a:spcAft>
              <a:buFont typeface="+mj-lt"/>
              <a:buAutoNum type="arabicPeriod"/>
            </a:pPr>
            <a:r>
              <a:rPr sz="1500" b="1" i="0">
                <a:solidFill>
                  <a:srgbClr val="323139"/>
                </a:solidFill>
                <a:latin typeface="Segoe UI"/>
              </a:rPr>
              <a:t>Customize → Skills → HR Policy Answer → Share;</a:t>
            </a:r>
            <a:r>
              <a:rPr sz="1500" b="0" i="0">
                <a:solidFill>
                  <a:srgbClr val="323139"/>
                </a:solidFill>
                <a:latin typeface="Segoe UI"/>
              </a:rPr>
              <a:t> make an edit, then Re-share.</a:t>
            </a:r>
          </a:p>
        </p:txBody>
      </p:sp>
      <p:sp>
        <p:nvSpPr>
          <p:cNvPr id="55" name="Rounded Rectangle 54">
            <a:extLst>
              <a:ext uri="{C183D7F6-B498-43B3-948B-1728B52AA6E4}">
                <ns3:decorative xmlns:ns3="http://schemas.microsoft.com/office/drawing/2017/decorative" val="1"/>
              </a:ext>
            </a:extLst>
          </p:cNvPr>
          <p:cNvSpPr/>
          <p:nvPr/>
        </p:nvSpPr>
        <p:spPr>
          <a:xfrm>
            <a:off x="420624" y="5074920"/>
            <a:ext cx="7168896" cy="1371600"/>
          </a:xfrm>
          <a:prstGeom prst="roundRect">
            <a:avLst>
              <a:gd name="adj" fmla="val 10000"/>
            </a:avLst>
          </a:prstGeom>
          <a:solidFill>
            <a:srgbClr val="FFF9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Rounded Rectangle 55">
            <a:extLst>
              <a:ext uri="{C183D7F6-B498-43B3-948B-1728B52AA6E4}">
                <ns4:decorative xmlns:ns4="http://schemas.microsoft.com/office/drawing/2017/decorative" val="1"/>
              </a:ext>
            </a:extLst>
          </p:cNvPr>
          <p:cNvSpPr/>
          <p:nvPr/>
        </p:nvSpPr>
        <p:spPr>
          <a:xfrm>
            <a:off x="3236976" y="4937760"/>
            <a:ext cx="15361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3236976" y="4937760"/>
            <a:ext cx="1536192" cy="274320"/>
          </a:xfrm>
          <a:prstGeom prst="rect">
            <a:avLst/>
          </a:prstGeom>
          <a:noFill/>
        </p:spPr>
        <p:txBody>
          <a:bodyPr wrap="square" anchor="ctr" lIns="0" rIns="0" tIns="0" bIns="0">
            <a:spAutoFit/>
          </a:bodyPr>
          <a:lstStyle/>
          <a:p>
            <a:pPr algn="ctr">
              <a:spcAft>
                <a:spcPts val="400"/>
              </a:spcAft>
            </a:pPr>
            <a:r>
              <a:rPr sz="1200" b="0" i="0">
                <a:solidFill>
                  <a:srgbClr val="323139"/>
                </a:solidFill>
                <a:latin typeface="Segoe Sans Display Semibold"/>
              </a:rPr>
              <a:t>Discuss</a:t>
            </a:r>
          </a:p>
        </p:txBody>
      </p:sp>
      <p:sp>
        <p:nvSpPr>
          <p:cNvPr id="58" name="TextBox 57"/>
          <p:cNvSpPr txBox="1"/>
          <p:nvPr/>
        </p:nvSpPr>
        <p:spPr>
          <a:xfrm>
            <a:off x="777240" y="5303520"/>
            <a:ext cx="6492240" cy="1005840"/>
          </a:xfrm>
          <a:prstGeom prst="rect">
            <a:avLst/>
          </a:prstGeom>
          <a:noFill/>
        </p:spPr>
        <p:txBody>
          <a:bodyPr wrap="square" anchor="ctr" lIns="0" rIns="0" tIns="0" bIns="0">
            <a:spAutoFit/>
          </a:bodyPr>
          <a:lstStyle/>
          <a:p>
            <a:pPr algn="l">
              <a:lnSpc>
                <a:spcPct val="105000"/>
              </a:lnSpc>
              <a:spcAft>
                <a:spcPts val="400"/>
              </a:spcAft>
            </a:pPr>
            <a:r>
              <a:rPr sz="1400" b="0" i="0">
                <a:solidFill>
                  <a:srgbClr val="323139"/>
                </a:solidFill>
                <a:latin typeface="Segoe Sans Display"/>
              </a:rPr>
              <a:t>Which report do you rebuild every week that should become an automation?</a:t>
            </a:r>
          </a:p>
        </p:txBody>
      </p:sp>
      <p:sp>
        <p:nvSpPr>
          <p:cNvPr id="59" name="Rounded Rectangle 58">
            <a:extLst>
              <a:ext uri="{C183D7F6-B498-43B3-948B-1728B52AA6E4}">
                <ns5:decorative xmlns:ns5="http://schemas.microsoft.com/office/drawing/2017/decorative" val="1"/>
              </a:ext>
            </a:extLst>
          </p:cNvPr>
          <p:cNvSpPr/>
          <p:nvPr/>
        </p:nvSpPr>
        <p:spPr>
          <a:xfrm>
            <a:off x="7763256" y="1188720"/>
            <a:ext cx="4224528" cy="2194560"/>
          </a:xfrm>
          <a:prstGeom prst="roundRect">
            <a:avLst>
              <a:gd name="adj" fmla="val 6000"/>
            </a:avLst>
          </a:prstGeom>
          <a:solidFill>
            <a:srgbClr val="FFF9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Rounded Rectangle 59">
            <a:extLst>
              <a:ext uri="{C183D7F6-B498-43B3-948B-1728B52AA6E4}">
                <ns6:decorative xmlns:ns6="http://schemas.microsoft.com/office/drawing/2017/decorative" val="1"/>
              </a:ext>
            </a:extLst>
          </p:cNvPr>
          <p:cNvSpPr/>
          <p:nvPr/>
        </p:nvSpPr>
        <p:spPr>
          <a:xfrm>
            <a:off x="9107424" y="1051560"/>
            <a:ext cx="15361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TextBox 60"/>
          <p:cNvSpPr txBox="1"/>
          <p:nvPr/>
        </p:nvSpPr>
        <p:spPr>
          <a:xfrm>
            <a:off x="9107424" y="1051560"/>
            <a:ext cx="1536192" cy="274320"/>
          </a:xfrm>
          <a:prstGeom prst="rect">
            <a:avLst/>
          </a:prstGeom>
          <a:noFill/>
        </p:spPr>
        <p:txBody>
          <a:bodyPr wrap="square" anchor="ctr" lIns="0" rIns="0" tIns="0" bIns="0">
            <a:spAutoFit/>
          </a:bodyPr>
          <a:lstStyle/>
          <a:p>
            <a:pPr algn="ctr">
              <a:spcAft>
                <a:spcPts val="400"/>
              </a:spcAft>
            </a:pPr>
            <a:r>
              <a:rPr sz="1200" b="0" i="0">
                <a:solidFill>
                  <a:srgbClr val="323139"/>
                </a:solidFill>
                <a:latin typeface="Segoe Sans Display Semibold"/>
              </a:rPr>
              <a:t>Watch for</a:t>
            </a:r>
          </a:p>
        </p:txBody>
      </p:sp>
      <p:sp>
        <p:nvSpPr>
          <p:cNvPr id="62" name="TextBox 61"/>
          <p:cNvSpPr txBox="1"/>
          <p:nvPr/>
        </p:nvSpPr>
        <p:spPr>
          <a:xfrm>
            <a:off x="8001000" y="1572768"/>
            <a:ext cx="3794760" cy="1737360"/>
          </a:xfrm>
          <a:prstGeom prst="rect">
            <a:avLst/>
          </a:prstGeom>
          <a:noFill/>
        </p:spPr>
        <p:txBody>
          <a:bodyPr wrap="square" anchor="t" lIns="0" rIns="0" tIns="0" bIns="0">
            <a:spAutoFit/>
          </a:bodyPr>
          <a:lstStyle/>
          <a:p>
            <a:pPr algn="l" marL="182880" indent="-182880">
              <a:spcAft>
                <a:spcPts val="400"/>
              </a:spcAft>
              <a:buFont typeface="Arial"/>
              <a:buChar char="•"/>
            </a:pPr>
            <a:r>
              <a:rPr sz="1150" b="0" i="0">
                <a:solidFill>
                  <a:srgbClr val="323139"/>
                </a:solidFill>
                <a:latin typeface="Segoe UI"/>
              </a:rPr>
              <a:t>Where to pause, edit, or delete a schedule</a:t>
            </a:r>
          </a:p>
          <a:p>
            <a:pPr algn="l" marL="182880" indent="-182880">
              <a:spcAft>
                <a:spcPts val="400"/>
              </a:spcAft>
              <a:buFont typeface="Arial"/>
              <a:buChar char="•"/>
            </a:pPr>
            <a:r>
              <a:rPr sz="1150" b="0" i="0">
                <a:solidFill>
                  <a:srgbClr val="323139"/>
                </a:solidFill>
                <a:latin typeface="Segoe UI"/>
              </a:rPr>
              <a:t>The </a:t>
            </a:r>
            <a:r>
              <a:rPr sz="1150" b="1" i="0">
                <a:solidFill>
                  <a:srgbClr val="323139"/>
                </a:solidFill>
                <a:latin typeface="Segoe UI"/>
              </a:rPr>
              <a:t>Daily Briefing</a:t>
            </a:r>
            <a:r>
              <a:rPr sz="1150" b="0" i="0">
                <a:solidFill>
                  <a:srgbClr val="323139"/>
                </a:solidFill>
                <a:latin typeface="Segoe UI"/>
              </a:rPr>
              <a:t> skill chip</a:t>
            </a:r>
          </a:p>
          <a:p>
            <a:pPr algn="l" marL="182880" indent="-182880">
              <a:spcAft>
                <a:spcPts val="400"/>
              </a:spcAft>
              <a:buFont typeface="Arial"/>
              <a:buChar char="•"/>
            </a:pPr>
            <a:r>
              <a:rPr sz="1150" b="0" i="0">
                <a:solidFill>
                  <a:srgbClr val="323139"/>
                </a:solidFill>
                <a:latin typeface="Segoe UI"/>
              </a:rPr>
              <a:t>Share etiquette: “Only you” or initialed names</a:t>
            </a:r>
          </a:p>
        </p:txBody>
      </p:sp>
      <p:sp>
        <p:nvSpPr>
          <p:cNvPr id="63" name="Rounded Rectangle 62">
            <a:extLst>
              <a:ext uri="{C183D7F6-B498-43B3-948B-1728B52AA6E4}">
                <ns7:decorative xmlns:ns7="http://schemas.microsoft.com/office/drawing/2017/decorative" val="1"/>
              </a:ext>
            </a:extLst>
          </p:cNvPr>
          <p:cNvSpPr/>
          <p:nvPr/>
        </p:nvSpPr>
        <p:spPr>
          <a:xfrm>
            <a:off x="7763256" y="3611880"/>
            <a:ext cx="4224528" cy="1691640"/>
          </a:xfrm>
          <a:prstGeom prst="roundRect">
            <a:avLst>
              <a:gd name="adj" fmla="val 8000"/>
            </a:avLst>
          </a:prstGeom>
          <a:solidFill>
            <a:srgbClr val="3414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Oval 63">
            <a:extLst>
              <a:ext uri="{C183D7F6-B498-43B3-948B-1728B52AA6E4}">
                <ns8:decorative xmlns:ns8="http://schemas.microsoft.com/office/drawing/2017/decorative" val="1"/>
              </a:ext>
            </a:extLst>
          </p:cNvPr>
          <p:cNvSpPr/>
          <p:nvPr/>
        </p:nvSpPr>
        <p:spPr>
          <a:xfrm>
            <a:off x="7543800" y="3401568"/>
            <a:ext cx="402336" cy="402336"/>
          </a:xfrm>
          <a:prstGeom prst="ellipse">
            <a:avLst/>
          </a:prstGeom>
          <a:solidFill>
            <a:srgbClr val="FFFFFF"/>
          </a:solidFill>
          <a:ln>
            <a:no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TextBox 64"/>
          <p:cNvSpPr txBox="1"/>
          <p:nvPr/>
        </p:nvSpPr>
        <p:spPr>
          <a:xfrm>
            <a:off x="7543800" y="3401568"/>
            <a:ext cx="402336" cy="402336"/>
          </a:xfrm>
          <a:prstGeom prst="rect">
            <a:avLst/>
          </a:prstGeom>
          <a:noFill/>
        </p:spPr>
        <p:txBody>
          <a:bodyPr wrap="square" anchor="ctr" lIns="0" rIns="0" tIns="0" bIns="0">
            <a:spAutoFit/>
          </a:bodyPr>
          <a:lstStyle/>
          <a:p>
            <a:pPr algn="ctr">
              <a:spcAft>
                <a:spcPts val="400"/>
              </a:spcAft>
            </a:pPr>
            <a:r>
              <a:rPr sz="1600" b="1" i="0">
                <a:solidFill>
                  <a:srgbClr val="3B1041"/>
                </a:solidFill>
                <a:latin typeface="Segoe UI"/>
              </a:rPr>
              <a:t>✓</a:t>
            </a:r>
          </a:p>
        </p:txBody>
      </p:sp>
      <p:sp>
        <p:nvSpPr>
          <p:cNvPr id="66" name="TextBox 65"/>
          <p:cNvSpPr txBox="1"/>
          <p:nvPr/>
        </p:nvSpPr>
        <p:spPr>
          <a:xfrm>
            <a:off x="8001000" y="3749039"/>
            <a:ext cx="3794760" cy="1463040"/>
          </a:xfrm>
          <a:prstGeom prst="rect">
            <a:avLst/>
          </a:prstGeom>
          <a:noFill/>
        </p:spPr>
        <p:txBody>
          <a:bodyPr wrap="square" anchor="ctr" lIns="0" rIns="0" tIns="0" bIns="0">
            <a:spAutoFit/>
          </a:bodyPr>
          <a:lstStyle/>
          <a:p>
            <a:pPr algn="l">
              <a:lnSpc>
                <a:spcPct val="105000"/>
              </a:lnSpc>
              <a:spcAft>
                <a:spcPts val="400"/>
              </a:spcAft>
            </a:pPr>
            <a:r>
              <a:rPr sz="1200" b="1" i="0">
                <a:solidFill>
                  <a:srgbClr val="FFFFFF"/>
                </a:solidFill>
                <a:latin typeface="Segoe Sans Display Semibold"/>
              </a:rPr>
              <a:t>Checkpoint: </a:t>
            </a:r>
            <a:r>
              <a:rPr sz="1200" b="0" i="0">
                <a:solidFill>
                  <a:srgbClr val="FFFFFF"/>
                </a:solidFill>
                <a:latin typeface="Segoe Sans Display"/>
              </a:rPr>
              <a:t>An active weekly schedule with a completed run naming T-2008, a Daily Briefing, and the share / re-share flow completed.</a:t>
            </a:r>
          </a:p>
        </p:txBody>
      </p:sp>
      <p:sp>
        <p:nvSpPr>
          <p:cNvPr id="67" name="Rounded Rectangle 66">
            <a:extLst>
              <a:ext uri="{C183D7F6-B498-43B3-948B-1728B52AA6E4}">
                <ns9:decorative xmlns:ns9="http://schemas.microsoft.com/office/drawing/2017/decorative" val="1"/>
              </a:ext>
            </a:extLst>
          </p:cNvPr>
          <p:cNvSpPr/>
          <p:nvPr/>
        </p:nvSpPr>
        <p:spPr>
          <a:xfrm>
            <a:off x="7763256" y="5486400"/>
            <a:ext cx="4224528" cy="960120"/>
          </a:xfrm>
          <a:prstGeom prst="roundRect">
            <a:avLst>
              <a:gd name="adj" fmla="val 10000"/>
            </a:avLst>
          </a:prstGeom>
          <a:solidFill>
            <a:srgbClr val="FFF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Box 67"/>
          <p:cNvSpPr txBox="1"/>
          <p:nvPr/>
        </p:nvSpPr>
        <p:spPr>
          <a:xfrm>
            <a:off x="8001000" y="5486400"/>
            <a:ext cx="3794760" cy="960120"/>
          </a:xfrm>
          <a:prstGeom prst="rect">
            <a:avLst/>
          </a:prstGeom>
          <a:noFill/>
        </p:spPr>
        <p:txBody>
          <a:bodyPr wrap="square" anchor="ctr" lIns="0" rIns="0" tIns="0" bIns="0">
            <a:spAutoFit/>
          </a:bodyPr>
          <a:lstStyle/>
          <a:p>
            <a:pPr algn="l">
              <a:lnSpc>
                <a:spcPct val="103000"/>
              </a:lnSpc>
              <a:spcAft>
                <a:spcPts val="400"/>
              </a:spcAft>
            </a:pPr>
            <a:r>
              <a:rPr sz="1100" b="1" i="0">
                <a:solidFill>
                  <a:srgbClr val="323139"/>
                </a:solidFill>
                <a:latin typeface="Segoe Sans Display Semibold"/>
              </a:rPr>
              <a:t>Stretch: </a:t>
            </a:r>
            <a:r>
              <a:rPr sz="1100" b="0" i="0">
                <a:solidFill>
                  <a:srgbClr val="323139"/>
                </a:solidFill>
                <a:latin typeface="Segoe Sans Display"/>
              </a:rPr>
              <a:t>Send the Monday digest as an email draft to your manager instead of a report.</a:t>
            </a:r>
          </a:p>
        </p:txBody>
      </p:sp>
    </p:spTree>
    <p:extLst>
      <p:ext uri="{BB962C8B-B14F-4D97-AF65-F5344CB8AC3E}">
        <p14:creationId xmlns:p14="http://schemas.microsoft.com/office/powerpoint/2010/main" val="1649947486"/>
      </p:ext>
    </p:extLst>
  </p:cSld>
  <p:clrMapOvr>
    <a:overrideClrMapping bg1="lt1" tx1="dk1" bg2="lt2" tx2="dk2" accent1="accent1" accent2="accent2" accent3="accent3" accent4="accent4" accent5="accent5" accent6="accent6" hlink="hlink" folHlink="folHlink"/>
  </p:clrMapOvr>
</p:sld>
</file>

<file path=ppt/slides/slide48.xml><?xml version="1.0" encoding="utf-8"?>
<p:sld xmlns:a="http://schemas.openxmlformats.org/drawingml/2006/main" xmlns:p="http://schemas.openxmlformats.org/presentationml/2006/main" xmlns:r="http://schemas.openxmlformats.org/officeDocument/2006/relationships">
  <p:cSld>
    <p:bg>
      <p:bgPr>
        <a:blipFill dpi="0" rotWithShape="1">
          <a:blip r:embed="rId5">
            <a:alphaModFix amt="70000"/>
            <a:lum/>
          </a:blip>
          <a:srcRect/>
          <a:stretch>
            <a:fillRect l="-2000" r="-2000"/>
          </a:stretch>
        </a:blipFill>
        <a:effectLst/>
      </p:bgPr>
    </p:bg>
    <p:spTree>
      <p:nvGrpSpPr>
        <p:cNvPr id="1" name="">
          <a:extLst>
            <a:ext uri="{FF2B5EF4-FFF2-40B4-BE49-F238E27FC236}">
              <a16:creationId xmlns:a16="http://schemas.microsoft.com/office/drawing/2014/main" id="{CC810B06-9C60-9BCB-DF49-73D043B037F2}"/>
            </a:ext>
          </a:extLst>
        </p:cNvPr>
        <p:cNvGrpSpPr/>
        <p:nvPr/>
      </p:nvGrpSpPr>
      <p:grpSpPr>
        <a:xfrm>
          <a:off x="0" y="0"/>
          <a:ext cx="0" cy="0"/>
          <a:chOff x="0" y="0"/>
          <a:chExt cx="0" cy="0"/>
        </a:xfrm>
      </p:grpSpPr>
      <p:sp>
        <p:nvSpPr>
          <p:cNvPr id="27" name="Title 3">
            <a:extLst>
              <a:ext uri="{FF2B5EF4-FFF2-40B4-BE49-F238E27FC236}">
                <a16:creationId xmlns:a16="http://schemas.microsoft.com/office/drawing/2014/main" id="{3EF2C483-DB46-D975-7E0E-09A75642D76B}"/>
              </a:ext>
            </a:extLst>
          </p:cNvPr>
          <p:cNvSpPr txBox="1">
            <a:spLocks/>
          </p:cNvSpPr>
          <p:nvPr/>
        </p:nvSpPr>
        <p:spPr>
          <a:xfrm>
            <a:off x="1925908" y="293473"/>
            <a:ext cx="7070725" cy="430887"/>
          </a:xfrm>
          <a:prstGeom prst="rect">
            <a:avLst/>
          </a:prstGeom>
        </p:spPr>
        <p:txBody>
          <a:bodyPr vert="horz" wrap="square" lIns="0" tIns="0" rIns="0" bIns="0" rtlCol="0" anchor="t">
            <a:spAutoFit/>
          </a:bodyPr>
          <a:lstStyle>
            <a:lvl1pPr algn="l" defTabSz="769520" rtl="0" eaLnBrk="1" latinLnBrk="0" hangingPunct="1">
              <a:lnSpc>
                <a:spcPct val="100000"/>
              </a:lnSpc>
              <a:spcBef>
                <a:spcPct val="0"/>
              </a:spcBef>
              <a:buNone/>
              <a:defRPr lang="en-US" sz="2000" b="0" kern="1200" cap="none" spc="0" baseline="0">
                <a:ln w="3175">
                  <a:noFill/>
                </a:ln>
                <a:solidFill>
                  <a:schemeClr val="tx1"/>
                </a:solidFill>
                <a:effectLst/>
                <a:latin typeface="+mj-lt"/>
                <a:ea typeface="+mn-ea"/>
                <a:cs typeface="Segoe Sans Display" pitchFamily="2" charset="0"/>
              </a:defRPr>
            </a:lvl1pPr>
          </a:lstStyle>
          <a:p>
            <a:pPr marL="0" marR="0" lvl="0" indent="0" algn="l" defTabSz="769520" rtl="0" eaLnBrk="1" fontAlgn="auto" latinLnBrk="0" hangingPunct="1">
              <a:lnSpc>
                <a:spcPct val="100000"/>
              </a:lnSpc>
              <a:spcBef>
                <a:spcPct val="0"/>
              </a:spcBef>
              <a:spcAft>
                <a:spcPts val="0"/>
              </a:spcAft>
              <a:buClrTx/>
              <a:buSzTx/>
              <a:buFontTx/>
              <a:buNone/>
              <a:tabLst/>
              <a:defRPr/>
            </a:pPr>
            <a:r>
              <a:rPr kumimoji="0" lang="en-US" sz="2800" b="0" i="0" u="none" strike="noStrike" kern="1200" cap="none" spc="0" normalizeH="0" baseline="0" noProof="0">
                <a:ln w="3175">
                  <a:noFill/>
                </a:ln>
                <a:solidFill>
                  <a:srgbClr val="323139"/>
                </a:solidFill>
                <a:effectLst/>
                <a:uLnTx/>
                <a:uFillTx/>
                <a:latin typeface="Segoe Sans Display" pitchFamily="2" charset="0"/>
                <a:ea typeface="+mn-ea"/>
                <a:cs typeface="Segoe Sans Display" pitchFamily="2" charset="0"/>
              </a:rPr>
              <a:t>Spotlight · Extend Cowork with HR plugins</a:t>
            </a:r>
          </a:p>
        </p:txBody>
      </p:sp>
      <p:sp>
        <p:nvSpPr>
          <p:cNvPr id="28" name="NavPill_SitesPages">
            <a:extLst>
              <a:ext uri="{FF2B5EF4-FFF2-40B4-BE49-F238E27FC236}">
                <a16:creationId xmlns:a16="http://schemas.microsoft.com/office/drawing/2014/main" id="{57BB7AF5-33B6-DA4A-ABA7-2573FB8050B2}"/>
              </a:ext>
            </a:extLst>
          </p:cNvPr>
          <p:cNvSpPr/>
          <p:nvPr/>
        </p:nvSpPr>
        <p:spPr>
          <a:xfrm>
            <a:off x="350837" y="342900"/>
            <a:ext cx="1419239" cy="337762"/>
          </a:xfrm>
          <a:prstGeom prst="roundRect">
            <a:avLst>
              <a:gd name="adj" fmla="val 50000"/>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207091" rtl="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Talk only</a:t>
            </a:r>
          </a:p>
        </p:txBody>
      </p:sp>
      <p:sp>
        <p:nvSpPr>
          <p:cNvPr id="30" name="TextBox 29">
            <a:extLst>
              <a:ext uri="{FF2B5EF4-FFF2-40B4-BE49-F238E27FC236}">
                <a16:creationId xmlns:a16="http://schemas.microsoft.com/office/drawing/2014/main" id="{4519738B-A618-91E3-CAC4-D99F7E54632B}"/>
              </a:ext>
              <a:ext uri="{C183D7F6-B498-43B3-948B-1728B52AA6E4}">
                <ns0:decorative xmlns:ns0="http://schemas.microsoft.com/office/drawing/2017/decorative" val="1"/>
              </a:ext>
            </a:extLst>
          </p:cNvPr>
          <p:cNvSpPr txBox="1"/>
          <p:nvPr/>
        </p:nvSpPr>
        <p:spPr>
          <a:xfrm>
            <a:off x="8867052" y="119383"/>
            <a:ext cx="3092209" cy="338554"/>
          </a:xfrm>
          <a:prstGeom prst="roundRect">
            <a:avLst>
              <a:gd name="adj" fmla="val 19537"/>
            </a:avLst>
          </a:prstGeom>
          <a:solidFill>
            <a:srgbClr val="CB85FF">
              <a:lumMod val="20000"/>
              <a:lumOff val="80000"/>
            </a:srgbClr>
          </a:solidFill>
        </p:spPr>
        <p:txBody>
          <a:bodyPr wrap="square" lIns="1188720" tIns="45720" rIns="0" bIns="45720" anchor="ctr">
            <a:noAutofit/>
          </a:bodyPr>
          <a:lstStyle>
            <a:defPPr>
              <a:defRPr lang="en-US"/>
            </a:defPPr>
            <a:lvl1pPr>
              <a:spcAft>
                <a:spcPts val="776"/>
              </a:spcAft>
              <a:defRPr sz="1200">
                <a:latin typeface="+mj-lt"/>
                <a:cs typeface="Segoe Sans Display Semibold" pitchFamily="2" charset="0"/>
              </a:defRPr>
            </a:lvl1pPr>
          </a:lstStyle>
          <a:p>
            <a:pPr marL="0" marR="0" lvl="0" indent="0" algn="l" defTabSz="914294" rtl="0" eaLnBrk="1" fontAlgn="auto" latinLnBrk="0" hangingPunct="1">
              <a:lnSpc>
                <a:spcPct val="100000"/>
              </a:lnSpc>
              <a:spcBef>
                <a:spcPts val="0"/>
              </a:spcBef>
              <a:spcAft>
                <a:spcPts val="776"/>
              </a:spcAft>
              <a:buClrTx/>
              <a:buSzTx/>
              <a:buFontTx/>
              <a:buNone/>
              <a:tabLst/>
              <a:defRPr/>
            </a:pPr>
            <a:endParaRPr kumimoji="0" lang="en-US" sz="1200" b="0" i="0" u="none" strike="noStrike" kern="0" cap="none" spc="0" normalizeH="0" baseline="0" noProof="0">
              <a:ln>
                <a:noFill/>
              </a:ln>
              <a:solidFill>
                <a:srgbClr val="323139"/>
              </a:solidFill>
              <a:effectLst/>
              <a:uLnTx/>
              <a:uFillTx/>
              <a:latin typeface="Segoe Sans Display"/>
              <a:ea typeface="+mn-ea"/>
              <a:cs typeface="Segoe Sans Display Semibold" pitchFamily="2" charset="0"/>
            </a:endParaRPr>
          </a:p>
        </p:txBody>
      </p:sp>
      <p:sp>
        <p:nvSpPr>
          <p:cNvPr id="31" name="TextBox 30">
            <a:extLst>
              <a:ext uri="{FF2B5EF4-FFF2-40B4-BE49-F238E27FC236}">
                <a16:creationId xmlns:a16="http://schemas.microsoft.com/office/drawing/2014/main" id="{4B310F6E-1BD3-CF01-32AD-647BCF12AC0F}"/>
              </a:ext>
            </a:extLst>
          </p:cNvPr>
          <p:cNvSpPr txBox="1"/>
          <p:nvPr/>
        </p:nvSpPr>
        <p:spPr>
          <a:xfrm>
            <a:off x="8942688" y="173878"/>
            <a:ext cx="1280160" cy="233352"/>
          </a:xfrm>
          <a:prstGeom prst="roundRect">
            <a:avLst>
              <a:gd name="adj" fmla="val 16151"/>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5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defRPr lang="en-US"/>
            </a:defPPr>
            <a:lvl1pPr algn="ctr" defTabSz="932765" fontAlgn="base">
              <a:spcBef>
                <a:spcPct val="0"/>
              </a:spcBef>
              <a:spcAft>
                <a:spcPct val="0"/>
              </a:spcAft>
              <a:defRPr sz="1600">
                <a:solidFill>
                  <a:schemeClr val="accent1"/>
                </a:solidFill>
                <a:latin typeface="+mj-lt"/>
                <a:cs typeface="Segoe Sans Display Semibold" pitchFamily="2" charset="0"/>
              </a:defRPr>
            </a:lvl1pPr>
          </a:lstStyle>
          <a:p>
            <a:pPr marL="0" marR="0" lvl="0" indent="0" algn="l" defTabSz="932765" rtl="0" eaLnBrk="1" fontAlgn="base" latinLnBrk="0" hangingPunct="1">
              <a:lnSpc>
                <a:spcPct val="100000"/>
              </a:lnSpc>
              <a:spcBef>
                <a:spcPct val="0"/>
              </a:spcBef>
              <a:spcAft>
                <a:spcPct val="0"/>
              </a:spcAft>
              <a:buClrTx/>
              <a:buSzTx/>
              <a:buFontTx/>
              <a:buNone/>
              <a:tabLst/>
              <a:defRPr/>
            </a:pPr>
            <a:r>
              <a:rPr kumimoji="0" lang="en-IN" sz="1050" b="0" i="0" u="none" strike="noStrike" kern="0" cap="none" spc="0" normalizeH="0" baseline="0" noProof="0">
                <a:ln>
                  <a:noFill/>
                </a:ln>
                <a:solidFill>
                  <a:srgbClr val="323139"/>
                </a:solidFill>
                <a:effectLst/>
                <a:uLnTx/>
                <a:uFillTx/>
                <a:latin typeface="Segoe Sans Display"/>
                <a:ea typeface="+mn-ea"/>
                <a:cs typeface="Segoe Sans Display Semibold" pitchFamily="2" charset="0"/>
              </a:rPr>
              <a:t>Time</a:t>
            </a:r>
          </a:p>
        </p:txBody>
      </p:sp>
      <p:sp>
        <p:nvSpPr>
          <p:cNvPr id="50" name="TextBox 49">
            <a:extLst>
              <a:ext uri="{FF2B5EF4-FFF2-40B4-BE49-F238E27FC236}">
                <a16:creationId xmlns:a16="http://schemas.microsoft.com/office/drawing/2014/main" id="{0CE10D15-83B7-7915-49A3-0BD3A21E9731}"/>
              </a:ext>
            </a:extLst>
          </p:cNvPr>
          <p:cNvSpPr txBox="1"/>
          <p:nvPr/>
        </p:nvSpPr>
        <p:spPr>
          <a:xfrm>
            <a:off x="10298483" y="173490"/>
            <a:ext cx="1668779" cy="253916"/>
          </a:xfrm>
          <a:prstGeom prst="rect">
            <a:avLst/>
          </a:prstGeom>
          <a:noFill/>
        </p:spPr>
        <p:txBody>
          <a:bodyPr wrap="square">
            <a:spAutoFit/>
          </a:bodyPr>
          <a:lstStyle/>
          <a:p>
            <a:pPr marL="0" marR="0" lvl="0" indent="0" algn="l" defTabSz="914294"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323139"/>
                </a:solidFill>
                <a:effectLst/>
                <a:uLnTx/>
                <a:uFillTx/>
                <a:latin typeface="Segoe Sans Display"/>
                <a:ea typeface="+mn-ea"/>
                <a:cs typeface="Segoe Sans Display"/>
              </a:rPr>
              <a:t>5 min</a:t>
            </a:r>
          </a:p>
        </p:txBody>
      </p:sp>
      <p:sp>
        <p:nvSpPr>
          <p:cNvPr id="51" name="Rounded Rectangle 50">
            <a:extLst>
              <a:ext uri="{C183D7F6-B498-43B3-948B-1728B52AA6E4}">
                <ns1:decorative xmlns:ns1="http://schemas.microsoft.com/office/drawing/2017/decorative" val="1"/>
              </a:ext>
            </a:extLst>
          </p:cNvPr>
          <p:cNvSpPr/>
          <p:nvPr/>
        </p:nvSpPr>
        <p:spPr>
          <a:xfrm>
            <a:off x="420624" y="1188720"/>
            <a:ext cx="6675120" cy="5257800"/>
          </a:xfrm>
          <a:prstGeom prst="roundRect">
            <a:avLst>
              <a:gd name="adj" fmla="val 4000"/>
            </a:avLst>
          </a:prstGeom>
          <a:solidFill>
            <a:srgbClr val="FFF9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ounded Rectangle 51">
            <a:extLst>
              <a:ext uri="{C183D7F6-B498-43B3-948B-1728B52AA6E4}">
                <ns2:decorative xmlns:ns2="http://schemas.microsoft.com/office/drawing/2017/decorative" val="1"/>
              </a:ext>
            </a:extLst>
          </p:cNvPr>
          <p:cNvSpPr/>
          <p:nvPr/>
        </p:nvSpPr>
        <p:spPr>
          <a:xfrm>
            <a:off x="2990088" y="1051560"/>
            <a:ext cx="15361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2990088" y="1051560"/>
            <a:ext cx="1536192" cy="274320"/>
          </a:xfrm>
          <a:prstGeom prst="rect">
            <a:avLst/>
          </a:prstGeom>
          <a:noFill/>
        </p:spPr>
        <p:txBody>
          <a:bodyPr wrap="square" anchor="ctr" lIns="0" rIns="0" tIns="0" bIns="0">
            <a:spAutoFit/>
          </a:bodyPr>
          <a:lstStyle/>
          <a:p>
            <a:pPr algn="ctr">
              <a:spcAft>
                <a:spcPts val="400"/>
              </a:spcAft>
            </a:pPr>
            <a:r>
              <a:rPr sz="1200" b="0" i="0">
                <a:solidFill>
                  <a:srgbClr val="323139"/>
                </a:solidFill>
                <a:latin typeface="Segoe Sans Display Semibold"/>
              </a:rPr>
              <a:t>Customize → Plugins</a:t>
            </a:r>
          </a:p>
        </p:txBody>
      </p:sp>
      <p:pic>
        <p:nvPicPr>
          <p:cNvPr id="54" name="Picture Plugins" descr="Screenshot from Microsoft Learn of Copilot Cowork Customize, Plugins tab, listing installed plugins with on/off toggles, plus Discover and Upload plugin options."/>
          <p:cNvPicPr>
            <a:picLocks noChangeAspect="1"/>
          </p:cNvPicPr>
          <p:nvPr/>
        </p:nvPicPr>
        <p:blipFill>
          <a:blip r:embed="rId6"/>
          <a:stretch>
            <a:fillRect/>
          </a:stretch>
        </p:blipFill>
        <p:spPr>
          <a:xfrm>
            <a:off x="640080" y="1463040"/>
            <a:ext cx="6236208" cy="3275523"/>
          </a:xfrm>
          <a:prstGeom prst="rect">
            <a:avLst/>
          </a:prstGeom>
        </p:spPr>
      </p:pic>
      <p:sp>
        <p:nvSpPr>
          <p:cNvPr id="55" name="TextBox 54"/>
          <p:cNvSpPr txBox="1"/>
          <p:nvPr/>
        </p:nvSpPr>
        <p:spPr>
          <a:xfrm>
            <a:off x="640080" y="4784282"/>
            <a:ext cx="6236208" cy="274320"/>
          </a:xfrm>
          <a:prstGeom prst="rect">
            <a:avLst/>
          </a:prstGeom>
          <a:noFill/>
        </p:spPr>
        <p:txBody>
          <a:bodyPr wrap="square" anchor="t" lIns="0" rIns="0" tIns="0" bIns="0">
            <a:spAutoFit/>
          </a:bodyPr>
          <a:lstStyle/>
          <a:p>
            <a:pPr algn="l">
              <a:spcAft>
                <a:spcPts val="400"/>
              </a:spcAft>
            </a:pPr>
            <a:r>
              <a:rPr sz="900" b="0" i="1">
                <a:solidFill>
                  <a:srgbClr val="616161"/>
                </a:solidFill>
                <a:latin typeface="Segoe UI"/>
              </a:rPr>
              <a:t>Microsoft Learn screenshot (Dynamics 365 plugins shown). HR plugins appear in the same list.</a:t>
            </a:r>
          </a:p>
        </p:txBody>
      </p:sp>
      <p:sp>
        <p:nvSpPr>
          <p:cNvPr id="56" name="Rounded Rectangle 55">
            <a:extLst>
              <a:ext uri="{C183D7F6-B498-43B3-948B-1728B52AA6E4}">
                <ns3:decorative xmlns:ns3="http://schemas.microsoft.com/office/drawing/2017/decorative" val="1"/>
              </a:ext>
            </a:extLst>
          </p:cNvPr>
          <p:cNvSpPr/>
          <p:nvPr/>
        </p:nvSpPr>
        <p:spPr>
          <a:xfrm>
            <a:off x="685800" y="5303520"/>
            <a:ext cx="6144768" cy="868680"/>
          </a:xfrm>
          <a:prstGeom prst="roundRect">
            <a:avLst>
              <a:gd name="adj" fmla="val 12000"/>
            </a:avLst>
          </a:prstGeom>
          <a:solidFill>
            <a:srgbClr val="3414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914400" y="5303520"/>
            <a:ext cx="5760720" cy="868680"/>
          </a:xfrm>
          <a:prstGeom prst="rect">
            <a:avLst/>
          </a:prstGeom>
          <a:noFill/>
        </p:spPr>
        <p:txBody>
          <a:bodyPr wrap="square" anchor="ctr" lIns="0" rIns="0" tIns="0" bIns="0">
            <a:spAutoFit/>
          </a:bodyPr>
          <a:lstStyle/>
          <a:p>
            <a:pPr algn="l">
              <a:lnSpc>
                <a:spcPct val="103000"/>
              </a:lnSpc>
              <a:spcAft>
                <a:spcPts val="400"/>
              </a:spcAft>
            </a:pPr>
            <a:r>
              <a:rPr sz="1250" b="1" i="0">
                <a:solidFill>
                  <a:srgbClr val="FFFFFF"/>
                </a:solidFill>
                <a:latin typeface="Segoe Sans Display Semibold"/>
              </a:rPr>
              <a:t>A plugin = skills + connectors. </a:t>
            </a:r>
            <a:r>
              <a:rPr sz="1250" b="0" i="0">
                <a:solidFill>
                  <a:srgbClr val="FFFFFF"/>
                </a:solidFill>
                <a:latin typeface="Segoe Sans Display"/>
              </a:rPr>
              <a:t>Connectors can be MCP servers, so Cowork can read and act in your HR systems — still with your approval.</a:t>
            </a:r>
          </a:p>
        </p:txBody>
      </p:sp>
      <p:sp>
        <p:nvSpPr>
          <p:cNvPr id="58" name="Rounded Rectangle 57">
            <a:extLst>
              <a:ext uri="{C183D7F6-B498-43B3-948B-1728B52AA6E4}">
                <ns4:decorative xmlns:ns4="http://schemas.microsoft.com/office/drawing/2017/decorative" val="1"/>
              </a:ext>
            </a:extLst>
          </p:cNvPr>
          <p:cNvSpPr/>
          <p:nvPr/>
        </p:nvSpPr>
        <p:spPr>
          <a:xfrm>
            <a:off x="7498079" y="1188720"/>
            <a:ext cx="4480560" cy="5257800"/>
          </a:xfrm>
          <a:prstGeom prst="roundRect">
            <a:avLst>
              <a:gd name="adj" fmla="val 3000"/>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7726679" y="1298448"/>
            <a:ext cx="4023360" cy="320040"/>
          </a:xfrm>
          <a:prstGeom prst="rect">
            <a:avLst/>
          </a:prstGeom>
          <a:noFill/>
        </p:spPr>
        <p:txBody>
          <a:bodyPr wrap="square" anchor="t" lIns="0" rIns="0" tIns="0" bIns="0">
            <a:spAutoFit/>
          </a:bodyPr>
          <a:lstStyle/>
          <a:p>
            <a:pPr algn="l">
              <a:spcAft>
                <a:spcPts val="400"/>
              </a:spcAft>
            </a:pPr>
            <a:r>
              <a:rPr sz="1200" b="1" i="0">
                <a:solidFill>
                  <a:srgbClr val="616161"/>
                </a:solidFill>
                <a:latin typeface="Segoe UI"/>
              </a:rPr>
              <a:t>HR plugin examples</a:t>
            </a:r>
          </a:p>
        </p:txBody>
      </p:sp>
      <p:sp>
        <p:nvSpPr>
          <p:cNvPr id="60" name="TextBox 59"/>
          <p:cNvSpPr txBox="1"/>
          <p:nvPr/>
        </p:nvSpPr>
        <p:spPr>
          <a:xfrm>
            <a:off x="7772400" y="1645920"/>
            <a:ext cx="3931920" cy="256032"/>
          </a:xfrm>
          <a:prstGeom prst="rect">
            <a:avLst/>
          </a:prstGeom>
          <a:noFill/>
        </p:spPr>
        <p:txBody>
          <a:bodyPr wrap="square" anchor="t" lIns="0" rIns="0" tIns="0" bIns="0">
            <a:spAutoFit/>
          </a:bodyPr>
          <a:lstStyle/>
          <a:p>
            <a:pPr algn="l">
              <a:spcAft>
                <a:spcPts val="400"/>
              </a:spcAft>
            </a:pPr>
            <a:r>
              <a:rPr sz="1150" b="1" i="0">
                <a:solidFill>
                  <a:srgbClr val="242424"/>
                </a:solidFill>
                <a:latin typeface="Segoe UI"/>
              </a:rPr>
              <a:t>Gusto</a:t>
            </a:r>
          </a:p>
        </p:txBody>
      </p:sp>
      <p:sp>
        <p:nvSpPr>
          <p:cNvPr id="61" name="TextBox 60"/>
          <p:cNvSpPr txBox="1"/>
          <p:nvPr/>
        </p:nvSpPr>
        <p:spPr>
          <a:xfrm>
            <a:off x="7772400" y="1892808"/>
            <a:ext cx="3931920" cy="237744"/>
          </a:xfrm>
          <a:prstGeom prst="rect">
            <a:avLst/>
          </a:prstGeom>
          <a:noFill/>
        </p:spPr>
        <p:txBody>
          <a:bodyPr wrap="square" anchor="t" lIns="0" rIns="0" tIns="0" bIns="0">
            <a:spAutoFit/>
          </a:bodyPr>
          <a:lstStyle/>
          <a:p>
            <a:pPr algn="l">
              <a:spcAft>
                <a:spcPts val="400"/>
              </a:spcAft>
            </a:pPr>
            <a:r>
              <a:rPr sz="950" b="0" i="0">
                <a:solidFill>
                  <a:srgbClr val="616161"/>
                </a:solidFill>
                <a:latin typeface="Segoe UI"/>
              </a:rPr>
              <a:t>Payroll, PTO and employee records</a:t>
            </a:r>
          </a:p>
        </p:txBody>
      </p:sp>
      <p:sp>
        <p:nvSpPr>
          <p:cNvPr id="62" name="TextBox 61"/>
          <p:cNvSpPr txBox="1"/>
          <p:nvPr/>
        </p:nvSpPr>
        <p:spPr>
          <a:xfrm>
            <a:off x="7772400" y="2267712"/>
            <a:ext cx="3931920" cy="256032"/>
          </a:xfrm>
          <a:prstGeom prst="rect">
            <a:avLst/>
          </a:prstGeom>
          <a:noFill/>
        </p:spPr>
        <p:txBody>
          <a:bodyPr wrap="square" anchor="t" lIns="0" rIns="0" tIns="0" bIns="0">
            <a:spAutoFit/>
          </a:bodyPr>
          <a:lstStyle/>
          <a:p>
            <a:pPr algn="l">
              <a:spcAft>
                <a:spcPts val="400"/>
              </a:spcAft>
            </a:pPr>
            <a:r>
              <a:rPr sz="1150" b="1" i="0">
                <a:solidFill>
                  <a:srgbClr val="242424"/>
                </a:solidFill>
                <a:latin typeface="Segoe UI"/>
              </a:rPr>
              <a:t>ZipRecruiter · Dice.com</a:t>
            </a:r>
          </a:p>
        </p:txBody>
      </p:sp>
      <p:sp>
        <p:nvSpPr>
          <p:cNvPr id="63" name="TextBox 62"/>
          <p:cNvSpPr txBox="1"/>
          <p:nvPr/>
        </p:nvSpPr>
        <p:spPr>
          <a:xfrm>
            <a:off x="7772400" y="2514600"/>
            <a:ext cx="3931920" cy="237744"/>
          </a:xfrm>
          <a:prstGeom prst="rect">
            <a:avLst/>
          </a:prstGeom>
          <a:noFill/>
        </p:spPr>
        <p:txBody>
          <a:bodyPr wrap="square" anchor="t" lIns="0" rIns="0" tIns="0" bIns="0">
            <a:spAutoFit/>
          </a:bodyPr>
          <a:lstStyle/>
          <a:p>
            <a:pPr algn="l">
              <a:spcAft>
                <a:spcPts val="400"/>
              </a:spcAft>
            </a:pPr>
            <a:r>
              <a:rPr sz="950" b="0" i="0">
                <a:solidFill>
                  <a:srgbClr val="616161"/>
                </a:solidFill>
                <a:latin typeface="Segoe UI"/>
              </a:rPr>
              <a:t>Job posts and candidate pipelines</a:t>
            </a:r>
          </a:p>
        </p:txBody>
      </p:sp>
      <p:sp>
        <p:nvSpPr>
          <p:cNvPr id="64" name="TextBox 63"/>
          <p:cNvSpPr txBox="1"/>
          <p:nvPr/>
        </p:nvSpPr>
        <p:spPr>
          <a:xfrm>
            <a:off x="7772400" y="2889504"/>
            <a:ext cx="3931920" cy="256032"/>
          </a:xfrm>
          <a:prstGeom prst="rect">
            <a:avLst/>
          </a:prstGeom>
          <a:noFill/>
        </p:spPr>
        <p:txBody>
          <a:bodyPr wrap="square" anchor="t" lIns="0" rIns="0" tIns="0" bIns="0">
            <a:spAutoFit/>
          </a:bodyPr>
          <a:lstStyle/>
          <a:p>
            <a:pPr algn="l">
              <a:spcAft>
                <a:spcPts val="400"/>
              </a:spcAft>
            </a:pPr>
            <a:r>
              <a:rPr sz="1150" b="1" i="0">
                <a:solidFill>
                  <a:srgbClr val="242424"/>
                </a:solidFill>
                <a:latin typeface="Segoe UI"/>
              </a:rPr>
              <a:t>Cronofy MCP</a:t>
            </a:r>
          </a:p>
        </p:txBody>
      </p:sp>
      <p:sp>
        <p:nvSpPr>
          <p:cNvPr id="65" name="TextBox 64"/>
          <p:cNvSpPr txBox="1"/>
          <p:nvPr/>
        </p:nvSpPr>
        <p:spPr>
          <a:xfrm>
            <a:off x="7772400" y="3136392"/>
            <a:ext cx="3931920" cy="237744"/>
          </a:xfrm>
          <a:prstGeom prst="rect">
            <a:avLst/>
          </a:prstGeom>
          <a:noFill/>
        </p:spPr>
        <p:txBody>
          <a:bodyPr wrap="square" anchor="t" lIns="0" rIns="0" tIns="0" bIns="0">
            <a:spAutoFit/>
          </a:bodyPr>
          <a:lstStyle/>
          <a:p>
            <a:pPr algn="l">
              <a:spcAft>
                <a:spcPts val="400"/>
              </a:spcAft>
            </a:pPr>
            <a:r>
              <a:rPr sz="950" b="0" i="0">
                <a:solidFill>
                  <a:srgbClr val="616161"/>
                </a:solidFill>
                <a:latin typeface="Segoe UI"/>
              </a:rPr>
              <a:t>Interview scheduling across calendars</a:t>
            </a:r>
          </a:p>
        </p:txBody>
      </p:sp>
      <p:sp>
        <p:nvSpPr>
          <p:cNvPr id="66" name="TextBox 65"/>
          <p:cNvSpPr txBox="1"/>
          <p:nvPr/>
        </p:nvSpPr>
        <p:spPr>
          <a:xfrm>
            <a:off x="7772400" y="3511296"/>
            <a:ext cx="3931920" cy="256032"/>
          </a:xfrm>
          <a:prstGeom prst="rect">
            <a:avLst/>
          </a:prstGeom>
          <a:noFill/>
        </p:spPr>
        <p:txBody>
          <a:bodyPr wrap="square" anchor="t" lIns="0" rIns="0" tIns="0" bIns="0">
            <a:spAutoFit/>
          </a:bodyPr>
          <a:lstStyle/>
          <a:p>
            <a:pPr algn="l">
              <a:spcAft>
                <a:spcPts val="400"/>
              </a:spcAft>
            </a:pPr>
            <a:r>
              <a:rPr sz="1150" b="1" i="0">
                <a:solidFill>
                  <a:srgbClr val="242424"/>
                </a:solidFill>
                <a:latin typeface="Segoe UI"/>
              </a:rPr>
              <a:t>Articulate</a:t>
            </a:r>
          </a:p>
        </p:txBody>
      </p:sp>
      <p:sp>
        <p:nvSpPr>
          <p:cNvPr id="67" name="TextBox 66"/>
          <p:cNvSpPr txBox="1"/>
          <p:nvPr/>
        </p:nvSpPr>
        <p:spPr>
          <a:xfrm>
            <a:off x="7772400" y="3758184"/>
            <a:ext cx="3931920" cy="237744"/>
          </a:xfrm>
          <a:prstGeom prst="rect">
            <a:avLst/>
          </a:prstGeom>
          <a:noFill/>
        </p:spPr>
        <p:txBody>
          <a:bodyPr wrap="square" anchor="t" lIns="0" rIns="0" tIns="0" bIns="0">
            <a:spAutoFit/>
          </a:bodyPr>
          <a:lstStyle/>
          <a:p>
            <a:pPr algn="l">
              <a:spcAft>
                <a:spcPts val="400"/>
              </a:spcAft>
            </a:pPr>
            <a:r>
              <a:rPr sz="950" b="0" i="0">
                <a:solidFill>
                  <a:srgbClr val="616161"/>
                </a:solidFill>
                <a:latin typeface="Segoe UI"/>
              </a:rPr>
              <a:t>Learning and training content</a:t>
            </a:r>
          </a:p>
        </p:txBody>
      </p:sp>
      <p:sp>
        <p:nvSpPr>
          <p:cNvPr id="68" name="TextBox 67"/>
          <p:cNvSpPr txBox="1"/>
          <p:nvPr/>
        </p:nvSpPr>
        <p:spPr>
          <a:xfrm>
            <a:off x="7772400" y="4133088"/>
            <a:ext cx="3931920" cy="256032"/>
          </a:xfrm>
          <a:prstGeom prst="rect">
            <a:avLst/>
          </a:prstGeom>
          <a:noFill/>
        </p:spPr>
        <p:txBody>
          <a:bodyPr wrap="square" anchor="t" lIns="0" rIns="0" tIns="0" bIns="0">
            <a:spAutoFit/>
          </a:bodyPr>
          <a:lstStyle/>
          <a:p>
            <a:pPr algn="l">
              <a:spcAft>
                <a:spcPts val="400"/>
              </a:spcAft>
            </a:pPr>
            <a:r>
              <a:rPr sz="1150" b="1" i="0">
                <a:solidFill>
                  <a:srgbClr val="242424"/>
                </a:solidFill>
                <a:latin typeface="Segoe UI"/>
              </a:rPr>
              <a:t>Your HRIS (custom MCP)</a:t>
            </a:r>
          </a:p>
        </p:txBody>
      </p:sp>
      <p:sp>
        <p:nvSpPr>
          <p:cNvPr id="69" name="TextBox 68"/>
          <p:cNvSpPr txBox="1"/>
          <p:nvPr/>
        </p:nvSpPr>
        <p:spPr>
          <a:xfrm>
            <a:off x="7772400" y="4379976"/>
            <a:ext cx="3931920" cy="237744"/>
          </a:xfrm>
          <a:prstGeom prst="rect">
            <a:avLst/>
          </a:prstGeom>
          <a:noFill/>
        </p:spPr>
        <p:txBody>
          <a:bodyPr wrap="square" anchor="t" lIns="0" rIns="0" tIns="0" bIns="0">
            <a:spAutoFit/>
          </a:bodyPr>
          <a:lstStyle/>
          <a:p>
            <a:pPr algn="l">
              <a:spcAft>
                <a:spcPts val="400"/>
              </a:spcAft>
            </a:pPr>
            <a:r>
              <a:rPr sz="950" b="0" i="0">
                <a:solidFill>
                  <a:srgbClr val="616161"/>
                </a:solidFill>
                <a:latin typeface="Segoe UI"/>
              </a:rPr>
              <a:t>IT packages it as a plugin for HR</a:t>
            </a:r>
          </a:p>
        </p:txBody>
      </p:sp>
      <p:sp>
        <p:nvSpPr>
          <p:cNvPr id="70" name="Rounded Rectangle 69">
            <a:extLst>
              <a:ext uri="{C183D7F6-B498-43B3-948B-1728B52AA6E4}">
                <ns5:decorative xmlns:ns5="http://schemas.microsoft.com/office/drawing/2017/decorative" val="1"/>
              </a:ext>
            </a:extLst>
          </p:cNvPr>
          <p:cNvSpPr/>
          <p:nvPr/>
        </p:nvSpPr>
        <p:spPr>
          <a:xfrm>
            <a:off x="7635240" y="4800600"/>
            <a:ext cx="4206240" cy="1508760"/>
          </a:xfrm>
          <a:prstGeom prst="roundRect">
            <a:avLst>
              <a:gd name="adj" fmla="val 6000"/>
            </a:avLst>
          </a:prstGeom>
          <a:solidFill>
            <a:srgbClr val="FBF6FD"/>
          </a:solidFill>
          <a:ln w="9525">
            <a:solidFill>
              <a:srgbClr val="8064A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TextBox 70"/>
          <p:cNvSpPr txBox="1"/>
          <p:nvPr/>
        </p:nvSpPr>
        <p:spPr>
          <a:xfrm>
            <a:off x="7772400" y="4873752"/>
            <a:ext cx="3931920" cy="274320"/>
          </a:xfrm>
          <a:prstGeom prst="rect">
            <a:avLst/>
          </a:prstGeom>
          <a:noFill/>
        </p:spPr>
        <p:txBody>
          <a:bodyPr wrap="square" anchor="t" lIns="0" rIns="0" tIns="0" bIns="0">
            <a:spAutoFit/>
          </a:bodyPr>
          <a:lstStyle/>
          <a:p>
            <a:pPr algn="l">
              <a:spcAft>
                <a:spcPts val="400"/>
              </a:spcAft>
            </a:pPr>
            <a:r>
              <a:rPr sz="1150" b="1" i="0">
                <a:solidFill>
                  <a:srgbClr val="8064A2"/>
                </a:solidFill>
                <a:latin typeface="Segoe UI"/>
              </a:rPr>
              <a:t>Why it matters</a:t>
            </a:r>
          </a:p>
        </p:txBody>
      </p:sp>
      <p:sp>
        <p:nvSpPr>
          <p:cNvPr id="72" name="TextBox 71"/>
          <p:cNvSpPr txBox="1"/>
          <p:nvPr/>
        </p:nvSpPr>
        <p:spPr>
          <a:xfrm>
            <a:off x="7772400" y="5166360"/>
            <a:ext cx="3977640" cy="1463040"/>
          </a:xfrm>
          <a:prstGeom prst="rect">
            <a:avLst/>
          </a:prstGeom>
          <a:noFill/>
        </p:spPr>
        <p:txBody>
          <a:bodyPr wrap="square" anchor="t" lIns="0" rIns="0" tIns="0" bIns="0">
            <a:spAutoFit/>
          </a:bodyPr>
          <a:lstStyle/>
          <a:p>
            <a:pPr algn="l" marL="182880" indent="-182880">
              <a:lnSpc>
                <a:spcPct val="100000"/>
              </a:lnSpc>
              <a:spcAft>
                <a:spcPts val="300"/>
              </a:spcAft>
              <a:buFont typeface="Arial"/>
              <a:buChar char="•"/>
            </a:pPr>
            <a:r>
              <a:rPr sz="1050" b="1" i="0">
                <a:solidFill>
                  <a:srgbClr val="323139"/>
                </a:solidFill>
                <a:latin typeface="Segoe UI"/>
              </a:rPr>
              <a:t>Fewer tabs</a:t>
            </a:r>
            <a:r>
              <a:rPr sz="1050" b="0" i="0">
                <a:solidFill>
                  <a:srgbClr val="323139"/>
                </a:solidFill>
                <a:latin typeface="Segoe UI"/>
              </a:rPr>
              <a:t> — HR data flows into the task</a:t>
            </a:r>
          </a:p>
          <a:p>
            <a:pPr algn="l" marL="182880" indent="-182880">
              <a:lnSpc>
                <a:spcPct val="100000"/>
              </a:lnSpc>
              <a:spcAft>
                <a:spcPts val="300"/>
              </a:spcAft>
              <a:buFont typeface="Arial"/>
              <a:buChar char="•"/>
            </a:pPr>
            <a:r>
              <a:rPr sz="1050" b="1" i="0">
                <a:solidFill>
                  <a:srgbClr val="323139"/>
                </a:solidFill>
                <a:latin typeface="Segoe UI"/>
              </a:rPr>
              <a:t>Governed</a:t>
            </a:r>
            <a:r>
              <a:rPr sz="1050" b="0" i="0">
                <a:solidFill>
                  <a:srgbClr val="323139"/>
                </a:solidFill>
                <a:latin typeface="Segoe UI"/>
              </a:rPr>
              <a:t> — admins deploy; activity in Purview audit</a:t>
            </a:r>
          </a:p>
          <a:p>
            <a:pPr algn="l" marL="182880" indent="-182880">
              <a:lnSpc>
                <a:spcPct val="100000"/>
              </a:lnSpc>
              <a:spcAft>
                <a:spcPts val="300"/>
              </a:spcAft>
              <a:buFont typeface="Arial"/>
              <a:buChar char="•"/>
            </a:pPr>
            <a:r>
              <a:rPr sz="1050" b="1" i="0">
                <a:solidFill>
                  <a:srgbClr val="323139"/>
                </a:solidFill>
                <a:latin typeface="Segoe UI"/>
              </a:rPr>
              <a:t>Your sign-in</a:t>
            </a:r>
            <a:r>
              <a:rPr sz="1050" b="0" i="0">
                <a:solidFill>
                  <a:srgbClr val="323139"/>
                </a:solidFill>
                <a:latin typeface="Segoe UI"/>
              </a:rPr>
              <a:t> — connectors use your own permissions</a:t>
            </a:r>
          </a:p>
          <a:p>
            <a:pPr algn="l" marL="182880" indent="-182880">
              <a:lnSpc>
                <a:spcPct val="100000"/>
              </a:lnSpc>
              <a:spcAft>
                <a:spcPts val="300"/>
              </a:spcAft>
              <a:buFont typeface="Arial"/>
              <a:buChar char="•"/>
            </a:pPr>
            <a:r>
              <a:rPr sz="1050" b="1" i="0">
                <a:solidFill>
                  <a:srgbClr val="323139"/>
                </a:solidFill>
                <a:latin typeface="Segoe UI"/>
              </a:rPr>
              <a:t>Per task</a:t>
            </a:r>
            <a:r>
              <a:rPr sz="1050" b="0" i="0">
                <a:solidFill>
                  <a:srgbClr val="323139"/>
                </a:solidFill>
                <a:latin typeface="Segoe UI"/>
              </a:rPr>
              <a:t> — toggle in Sources &amp; Skills</a:t>
            </a:r>
          </a:p>
        </p:txBody>
      </p:sp>
    </p:spTree>
    <p:extLst>
      <p:ext uri="{BB962C8B-B14F-4D97-AF65-F5344CB8AC3E}">
        <p14:creationId xmlns:p14="http://schemas.microsoft.com/office/powerpoint/2010/main" val="1649947486"/>
      </p:ext>
    </p:extLst>
  </p:cSld>
  <p:clrMapOvr>
    <a:overrideClrMapping bg1="lt1" tx1="dk1" bg2="lt2" tx2="dk2" accent1="accent1" accent2="accent2" accent3="accent3" accent4="accent4" accent5="accent5" accent6="accent6" hlink="hlink" folHlink="folHlink"/>
  </p:clrMapOvr>
</p:sld>
</file>

<file path=ppt/slides/slide49.xml><?xml version="1.0" encoding="utf-8"?>
<p:sld xmlns:a="http://schemas.openxmlformats.org/drawingml/2006/main" xmlns:p="http://schemas.openxmlformats.org/presentationml/2006/main" xmlns:r="http://schemas.openxmlformats.org/officeDocument/2006/relationships">
  <p:cSld>
    <p:bg>
      <p:bgPr>
        <a:blipFill dpi="0" rotWithShape="1">
          <a:blip r:embed="rId5">
            <a:alphaModFix amt="70000"/>
            <a:lum/>
          </a:blip>
          <a:srcRect/>
          <a:stretch>
            <a:fillRect l="-2000" r="-2000"/>
          </a:stretch>
        </a:blipFill>
        <a:effectLst/>
      </p:bgPr>
    </p:bg>
    <p:spTree>
      <p:nvGrpSpPr>
        <p:cNvPr id="1" name="">
          <a:extLst>
            <a:ext uri="{FF2B5EF4-FFF2-40B4-BE49-F238E27FC236}">
              <a16:creationId xmlns:a16="http://schemas.microsoft.com/office/drawing/2014/main" id="{CC810B06-9C60-9BCB-DF49-73D043B037F2}"/>
            </a:ext>
          </a:extLst>
        </p:cNvPr>
        <p:cNvGrpSpPr/>
        <p:nvPr/>
      </p:nvGrpSpPr>
      <p:grpSpPr>
        <a:xfrm>
          <a:off x="0" y="0"/>
          <a:ext cx="0" cy="0"/>
          <a:chOff x="0" y="0"/>
          <a:chExt cx="0" cy="0"/>
        </a:xfrm>
      </p:grpSpPr>
      <p:sp>
        <p:nvSpPr>
          <p:cNvPr id="27" name="Title 3">
            <a:extLst>
              <a:ext uri="{FF2B5EF4-FFF2-40B4-BE49-F238E27FC236}">
                <a16:creationId xmlns:a16="http://schemas.microsoft.com/office/drawing/2014/main" id="{3EF2C483-DB46-D975-7E0E-09A75642D76B}"/>
              </a:ext>
            </a:extLst>
          </p:cNvPr>
          <p:cNvSpPr txBox="1">
            <a:spLocks/>
          </p:cNvSpPr>
          <p:nvPr/>
        </p:nvSpPr>
        <p:spPr>
          <a:xfrm>
            <a:off x="1925908" y="293473"/>
            <a:ext cx="7070725" cy="430887"/>
          </a:xfrm>
          <a:prstGeom prst="rect">
            <a:avLst/>
          </a:prstGeom>
        </p:spPr>
        <p:txBody>
          <a:bodyPr vert="horz" wrap="square" lIns="0" tIns="0" rIns="0" bIns="0" rtlCol="0" anchor="t">
            <a:spAutoFit/>
          </a:bodyPr>
          <a:lstStyle>
            <a:lvl1pPr algn="l" defTabSz="769520" rtl="0" eaLnBrk="1" latinLnBrk="0" hangingPunct="1">
              <a:lnSpc>
                <a:spcPct val="100000"/>
              </a:lnSpc>
              <a:spcBef>
                <a:spcPct val="0"/>
              </a:spcBef>
              <a:buNone/>
              <a:defRPr lang="en-US" sz="2000" b="0" kern="1200" cap="none" spc="0" baseline="0">
                <a:ln w="3175">
                  <a:noFill/>
                </a:ln>
                <a:solidFill>
                  <a:schemeClr val="tx1"/>
                </a:solidFill>
                <a:effectLst/>
                <a:latin typeface="+mj-lt"/>
                <a:ea typeface="+mn-ea"/>
                <a:cs typeface="Segoe Sans Display" pitchFamily="2" charset="0"/>
              </a:defRPr>
            </a:lvl1pPr>
          </a:lstStyle>
          <a:p>
            <a:pPr marL="0" marR="0" lvl="0" indent="0" algn="l" defTabSz="769520" rtl="0" eaLnBrk="1" fontAlgn="auto" latinLnBrk="0" hangingPunct="1">
              <a:lnSpc>
                <a:spcPct val="100000"/>
              </a:lnSpc>
              <a:spcBef>
                <a:spcPct val="0"/>
              </a:spcBef>
              <a:spcAft>
                <a:spcPts val="0"/>
              </a:spcAft>
              <a:buClrTx/>
              <a:buSzTx/>
              <a:buFontTx/>
              <a:buNone/>
              <a:tabLst/>
              <a:defRPr/>
            </a:pPr>
            <a:r>
              <a:rPr kumimoji="0" lang="en-US" sz="2800" b="0" i="0" u="none" strike="noStrike" kern="1200" cap="none" spc="0" normalizeH="0" baseline="0" noProof="0">
                <a:ln w="3175">
                  <a:noFill/>
                </a:ln>
                <a:solidFill>
                  <a:srgbClr val="323139"/>
                </a:solidFill>
                <a:effectLst/>
                <a:uLnTx/>
                <a:uFillTx/>
                <a:latin typeface="Segoe Sans Display" pitchFamily="2" charset="0"/>
                <a:ea typeface="+mn-ea"/>
                <a:cs typeface="Segoe Sans Display" pitchFamily="2" charset="0"/>
              </a:rPr>
              <a:t>HR Policy Agent with Agent Builder</a:t>
            </a:r>
          </a:p>
        </p:txBody>
      </p:sp>
      <p:sp>
        <p:nvSpPr>
          <p:cNvPr id="28" name="NavPill_SitesPages">
            <a:extLst>
              <a:ext uri="{FF2B5EF4-FFF2-40B4-BE49-F238E27FC236}">
                <a16:creationId xmlns:a16="http://schemas.microsoft.com/office/drawing/2014/main" id="{57BB7AF5-33B6-DA4A-ABA7-2573FB8050B2}"/>
              </a:ext>
            </a:extLst>
          </p:cNvPr>
          <p:cNvSpPr/>
          <p:nvPr/>
        </p:nvSpPr>
        <p:spPr>
          <a:xfrm>
            <a:off x="350837" y="342900"/>
            <a:ext cx="1419239" cy="337762"/>
          </a:xfrm>
          <a:prstGeom prst="roundRect">
            <a:avLst>
              <a:gd name="adj" fmla="val 50000"/>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207091" rtl="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Ex 08</a:t>
            </a:r>
          </a:p>
        </p:txBody>
      </p:sp>
      <p:sp>
        <p:nvSpPr>
          <p:cNvPr id="33" name="Rectangle: Rounded Corners 32">
            <a:extLst>
              <a:ext uri="{FF2B5EF4-FFF2-40B4-BE49-F238E27FC236}">
                <a16:creationId xmlns:a16="http://schemas.microsoft.com/office/drawing/2014/main" id="{8D56FF72-D759-DB8C-C791-1089618B3EE4}"/>
              </a:ext>
            </a:extLst>
          </p:cNvPr>
          <p:cNvSpPr/>
          <p:nvPr/>
        </p:nvSpPr>
        <p:spPr bwMode="auto">
          <a:xfrm>
            <a:off x="424382" y="954763"/>
            <a:ext cx="3621360" cy="1127147"/>
          </a:xfrm>
          <a:prstGeom prst="roundRect">
            <a:avLst>
              <a:gd name="adj" fmla="val 9646"/>
            </a:avLst>
          </a:prstGeom>
          <a:solidFill>
            <a:srgbClr val="FFFC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Goal</a:t>
            </a:r>
            <a:r>
              <a:rPr kumimoji="0" lang="en-US" sz="1100" b="0" i="0" u="none" strike="noStrike" kern="0" cap="none" spc="0" normalizeH="0" baseline="0" noProof="0">
                <a:ln w="3175">
                  <a:noFill/>
                </a:ln>
                <a:solidFill>
                  <a:srgbClr val="323139"/>
                </a:solidFill>
                <a:effectLst/>
                <a:uLnTx/>
                <a:uFillTx/>
                <a:latin typeface="Segoe Sans Display Semibold" pitchFamily="2" charset="0"/>
                <a:ea typeface="+mn-ea"/>
                <a:cs typeface="Segoe Sans Display Semibold" pitchFamily="2" charset="0"/>
              </a:rPr>
              <a:t>: </a:t>
            </a:r>
            <a:r>
              <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rPr>
              <a:t>Stand up a reusable Q&amp;A agent employees can chat with to get sourced policy answers.</a:t>
            </a:r>
          </a:p>
        </p:txBody>
      </p:sp>
      <p:sp>
        <p:nvSpPr>
          <p:cNvPr id="34" name="Rectangle: Rounded Corners 33">
            <a:extLst>
              <a:ext uri="{FF2B5EF4-FFF2-40B4-BE49-F238E27FC236}">
                <a16:creationId xmlns:a16="http://schemas.microsoft.com/office/drawing/2014/main" id="{58B7C25E-B49B-24B7-8F32-A2823589DFF3}"/>
              </a:ext>
            </a:extLst>
          </p:cNvPr>
          <p:cNvSpPr/>
          <p:nvPr/>
        </p:nvSpPr>
        <p:spPr bwMode="auto">
          <a:xfrm>
            <a:off x="4372822" y="978410"/>
            <a:ext cx="3621360" cy="1107187"/>
          </a:xfrm>
          <a:prstGeom prst="roundRect">
            <a:avLst>
              <a:gd name="adj" fmla="val 10584"/>
            </a:avLst>
          </a:prstGeom>
          <a:solidFill>
            <a:srgbClr val="FFFC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noProof="0">
                <a:ln w="3175">
                  <a:noFill/>
                </a:ln>
                <a:blipFill>
                  <a:blip r:embed="rId4"/>
                  <a:stretch>
                    <a:fillRect t="-26822" b="-26822"/>
                  </a:stretch>
                </a:blipFill>
                <a:effectLst/>
                <a:uLnTx/>
                <a:uFillTx/>
                <a:latin typeface="Segoe Sans Display Semibold"/>
                <a:ea typeface="+mn-ea"/>
                <a:cs typeface="Segoe Sans Display Semibold" pitchFamily="2" charset="0"/>
              </a:rPr>
              <a:t>Output</a:t>
            </a:r>
            <a:r>
              <a:rPr kumimoji="0" lang="en-US" sz="1100" b="0" i="0" u="none" strike="noStrike" kern="0" cap="none" spc="0" normalizeH="0" baseline="0" noProof="0">
                <a:ln w="3175">
                  <a:noFill/>
                </a:ln>
                <a:solidFill>
                  <a:srgbClr val="323139"/>
                </a:solidFill>
                <a:effectLst/>
                <a:uLnTx/>
                <a:uFillTx/>
                <a:latin typeface="Segoe Sans Display Semibold"/>
                <a:ea typeface="+mn-ea"/>
                <a:cs typeface="Segoe Sans Display Semibold" pitchFamily="2" charset="0"/>
              </a:rPr>
              <a:t>: </a:t>
            </a:r>
            <a:r>
              <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rPr>
              <a:t>A working “HR Policy Agent” in Microsoft 365 Copilot, grounded in Zava’s HR documents, that cites sources and declines out-of-scope questions.</a:t>
            </a:r>
          </a:p>
        </p:txBody>
      </p:sp>
      <p:sp>
        <p:nvSpPr>
          <p:cNvPr id="30" name="TextBox 29">
            <a:extLst>
              <a:ext uri="{FF2B5EF4-FFF2-40B4-BE49-F238E27FC236}">
                <a16:creationId xmlns:a16="http://schemas.microsoft.com/office/drawing/2014/main" id="{4519738B-A618-91E3-CAC4-D99F7E54632B}"/>
              </a:ext>
              <a:ext uri="{C183D7F6-B498-43B3-948B-1728B52AA6E4}">
                <ns0:decorative xmlns:ns0="http://schemas.microsoft.com/office/drawing/2017/decorative" val="1"/>
              </a:ext>
            </a:extLst>
          </p:cNvPr>
          <p:cNvSpPr txBox="1"/>
          <p:nvPr/>
        </p:nvSpPr>
        <p:spPr>
          <a:xfrm>
            <a:off x="8867052" y="119383"/>
            <a:ext cx="3092209" cy="338554"/>
          </a:xfrm>
          <a:prstGeom prst="roundRect">
            <a:avLst>
              <a:gd name="adj" fmla="val 19537"/>
            </a:avLst>
          </a:prstGeom>
          <a:solidFill>
            <a:srgbClr val="CB85FF">
              <a:lumMod val="20000"/>
              <a:lumOff val="80000"/>
            </a:srgbClr>
          </a:solidFill>
        </p:spPr>
        <p:txBody>
          <a:bodyPr wrap="square" lIns="1188720" tIns="45720" rIns="0" bIns="45720" anchor="ctr">
            <a:noAutofit/>
          </a:bodyPr>
          <a:lstStyle>
            <a:defPPr>
              <a:defRPr lang="en-US"/>
            </a:defPPr>
            <a:lvl1pPr>
              <a:spcAft>
                <a:spcPts val="776"/>
              </a:spcAft>
              <a:defRPr sz="1200">
                <a:latin typeface="+mj-lt"/>
                <a:cs typeface="Segoe Sans Display Semibold" pitchFamily="2" charset="0"/>
              </a:defRPr>
            </a:lvl1pPr>
          </a:lstStyle>
          <a:p>
            <a:pPr marL="0" marR="0" lvl="0" indent="0" algn="l" defTabSz="914294" rtl="0" eaLnBrk="1" fontAlgn="auto" latinLnBrk="0" hangingPunct="1">
              <a:lnSpc>
                <a:spcPct val="100000"/>
              </a:lnSpc>
              <a:spcBef>
                <a:spcPts val="0"/>
              </a:spcBef>
              <a:spcAft>
                <a:spcPts val="776"/>
              </a:spcAft>
              <a:buClrTx/>
              <a:buSzTx/>
              <a:buFontTx/>
              <a:buNone/>
              <a:tabLst/>
              <a:defRPr/>
            </a:pPr>
            <a:endParaRPr kumimoji="0" lang="en-US" sz="1200" b="0" i="0" u="none" strike="noStrike" kern="0" cap="none" spc="0" normalizeH="0" baseline="0" noProof="0">
              <a:ln>
                <a:noFill/>
              </a:ln>
              <a:solidFill>
                <a:srgbClr val="323139"/>
              </a:solidFill>
              <a:effectLst/>
              <a:uLnTx/>
              <a:uFillTx/>
              <a:latin typeface="Segoe Sans Display"/>
              <a:ea typeface="+mn-ea"/>
              <a:cs typeface="Segoe Sans Display Semibold" pitchFamily="2" charset="0"/>
            </a:endParaRPr>
          </a:p>
        </p:txBody>
      </p:sp>
      <p:sp>
        <p:nvSpPr>
          <p:cNvPr id="31" name="TextBox 30">
            <a:extLst>
              <a:ext uri="{FF2B5EF4-FFF2-40B4-BE49-F238E27FC236}">
                <a16:creationId xmlns:a16="http://schemas.microsoft.com/office/drawing/2014/main" id="{4B310F6E-1BD3-CF01-32AD-647BCF12AC0F}"/>
              </a:ext>
            </a:extLst>
          </p:cNvPr>
          <p:cNvSpPr txBox="1"/>
          <p:nvPr/>
        </p:nvSpPr>
        <p:spPr>
          <a:xfrm>
            <a:off x="8942688" y="173878"/>
            <a:ext cx="1280160" cy="233352"/>
          </a:xfrm>
          <a:prstGeom prst="roundRect">
            <a:avLst>
              <a:gd name="adj" fmla="val 16151"/>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5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defRPr lang="en-US"/>
            </a:defPPr>
            <a:lvl1pPr algn="ctr" defTabSz="932765" fontAlgn="base">
              <a:spcBef>
                <a:spcPct val="0"/>
              </a:spcBef>
              <a:spcAft>
                <a:spcPct val="0"/>
              </a:spcAft>
              <a:defRPr sz="1600">
                <a:solidFill>
                  <a:schemeClr val="accent1"/>
                </a:solidFill>
                <a:latin typeface="+mj-lt"/>
                <a:cs typeface="Segoe Sans Display Semibold" pitchFamily="2" charset="0"/>
              </a:defRPr>
            </a:lvl1pPr>
          </a:lstStyle>
          <a:p>
            <a:pPr marL="0" marR="0" lvl="0" indent="0" algn="l" defTabSz="932765" rtl="0" eaLnBrk="1" fontAlgn="base" latinLnBrk="0" hangingPunct="1">
              <a:lnSpc>
                <a:spcPct val="100000"/>
              </a:lnSpc>
              <a:spcBef>
                <a:spcPct val="0"/>
              </a:spcBef>
              <a:spcAft>
                <a:spcPct val="0"/>
              </a:spcAft>
              <a:buClrTx/>
              <a:buSzTx/>
              <a:buFontTx/>
              <a:buNone/>
              <a:tabLst/>
              <a:defRPr/>
            </a:pPr>
            <a:r>
              <a:rPr kumimoji="0" lang="en-IN" sz="1050" b="0" i="0" u="none" strike="noStrike" kern="0" cap="none" spc="0" normalizeH="0" baseline="0" noProof="0">
                <a:ln>
                  <a:noFill/>
                </a:ln>
                <a:solidFill>
                  <a:srgbClr val="323139"/>
                </a:solidFill>
                <a:effectLst/>
                <a:uLnTx/>
                <a:uFillTx/>
                <a:latin typeface="Segoe Sans Display"/>
                <a:ea typeface="+mn-ea"/>
                <a:cs typeface="Segoe Sans Display Semibold" pitchFamily="2" charset="0"/>
              </a:rPr>
              <a:t>Function</a:t>
            </a:r>
          </a:p>
        </p:txBody>
      </p:sp>
      <p:sp>
        <p:nvSpPr>
          <p:cNvPr id="50" name="TextBox 49">
            <a:extLst>
              <a:ext uri="{FF2B5EF4-FFF2-40B4-BE49-F238E27FC236}">
                <a16:creationId xmlns:a16="http://schemas.microsoft.com/office/drawing/2014/main" id="{0CE10D15-83B7-7915-49A3-0BD3A21E9731}"/>
              </a:ext>
            </a:extLst>
          </p:cNvPr>
          <p:cNvSpPr txBox="1"/>
          <p:nvPr/>
        </p:nvSpPr>
        <p:spPr>
          <a:xfrm>
            <a:off x="10298483" y="173490"/>
            <a:ext cx="1668779" cy="253916"/>
          </a:xfrm>
          <a:prstGeom prst="rect">
            <a:avLst/>
          </a:prstGeom>
          <a:noFill/>
        </p:spPr>
        <p:txBody>
          <a:bodyPr wrap="square">
            <a:spAutoFit/>
          </a:bodyPr>
          <a:lstStyle/>
          <a:p>
            <a:pPr marL="0" marR="0" lvl="0" indent="0" algn="l" defTabSz="914294"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323139"/>
                </a:solidFill>
                <a:effectLst/>
                <a:uLnTx/>
                <a:uFillTx/>
                <a:latin typeface="Segoe Sans Display"/>
                <a:ea typeface="+mn-ea"/>
                <a:cs typeface="Segoe Sans Display"/>
              </a:rPr>
              <a:t>Agent Builder</a:t>
            </a:r>
          </a:p>
        </p:txBody>
      </p:sp>
      <p:sp>
        <p:nvSpPr>
          <p:cNvPr id="59" name="Rectangle: Rounded Corners 58">
            <a:extLst>
              <a:ext uri="{FF2B5EF4-FFF2-40B4-BE49-F238E27FC236}">
                <a16:creationId xmlns:a16="http://schemas.microsoft.com/office/drawing/2014/main" id="{4A73329A-1917-C156-E817-2B9E2D56CBE1}"/>
              </a:ext>
              <a:ext uri="{C183D7F6-B498-43B3-948B-1728B52AA6E4}">
                <ns1:decorative xmlns:ns1="http://schemas.microsoft.com/office/drawing/2017/decorative" val="1"/>
              </a:ext>
            </a:extLst>
          </p:cNvPr>
          <p:cNvSpPr/>
          <p:nvPr/>
        </p:nvSpPr>
        <p:spPr bwMode="auto">
          <a:xfrm>
            <a:off x="424381" y="2312313"/>
            <a:ext cx="7171849" cy="4327573"/>
          </a:xfrm>
          <a:prstGeom prst="roundRect">
            <a:avLst>
              <a:gd name="adj" fmla="val 1683"/>
            </a:avLst>
          </a:prstGeom>
          <a:solidFill>
            <a:srgbClr val="FFF9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B553FF"/>
              </a:solidFill>
              <a:effectLst/>
              <a:uLnTx/>
              <a:uFillTx/>
              <a:latin typeface="Segoe Sans Display Semibold" pitchFamily="2" charset="0"/>
              <a:ea typeface="+mn-ea"/>
              <a:cs typeface="Segoe Sans Display Semibold" pitchFamily="2" charset="0"/>
            </a:endParaRPr>
          </a:p>
        </p:txBody>
      </p:sp>
      <p:grpSp>
        <p:nvGrpSpPr>
          <p:cNvPr id="79" name="Group 78">
            <a:extLst>
              <a:ext uri="{FF2B5EF4-FFF2-40B4-BE49-F238E27FC236}">
                <a16:creationId xmlns:a16="http://schemas.microsoft.com/office/drawing/2014/main" id="{B857CF20-AAD8-92CD-98E7-73BD8662071B}"/>
              </a:ext>
            </a:extLst>
          </p:cNvPr>
          <p:cNvGrpSpPr/>
          <p:nvPr/>
        </p:nvGrpSpPr>
        <p:grpSpPr>
          <a:xfrm>
            <a:off x="199916" y="775485"/>
            <a:ext cx="398477" cy="398477"/>
            <a:chOff x="3403308" y="1083220"/>
            <a:chExt cx="398477" cy="398477"/>
          </a:xfrm>
        </p:grpSpPr>
        <p:sp>
          <p:nvSpPr>
            <p:cNvPr id="76" name="Oval 75">
              <a:extLst>
                <a:ext uri="{FF2B5EF4-FFF2-40B4-BE49-F238E27FC236}">
                  <a16:creationId xmlns:a16="http://schemas.microsoft.com/office/drawing/2014/main" id="{159C5AC1-FC57-57FC-51C9-4DC5847B88F1}"/>
                </a:ext>
                <a:ext uri="{C183D7F6-B498-43B3-948B-1728B52AA6E4}">
                  <ns2:decorative xmlns:ns2="http://schemas.microsoft.com/office/drawing/2017/decorative" val="1"/>
                </a:ext>
              </a:extLst>
            </p:cNvPr>
            <p:cNvSpPr/>
            <p:nvPr/>
          </p:nvSpPr>
          <p:spPr>
            <a:xfrm>
              <a:off x="3403308" y="1083220"/>
              <a:ext cx="398477" cy="398477"/>
            </a:xfrm>
            <a:prstGeom prst="ellipse">
              <a:avLst/>
            </a:prstGeom>
            <a:solidFill>
              <a:srgbClr val="FFF9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2" name="Graphic 5">
              <a:extLst>
                <a:ext uri="{FF2B5EF4-FFF2-40B4-BE49-F238E27FC236}">
                  <a16:creationId xmlns:a16="http://schemas.microsoft.com/office/drawing/2014/main" id="{9F306AE4-27E6-F02E-E553-1EF2C3FBAF65}"/>
                </a:ext>
                <a:ext uri="{C183D7F6-B498-43B3-948B-1728B52AA6E4}">
                  <adec:decorative xmlns:adec="http://schemas.microsoft.com/office/drawing/2017/decorative" val="1"/>
                </a:ext>
              </a:extLst>
            </p:cNvPr>
            <p:cNvSpPr>
              <a:spLocks/>
            </p:cNvSpPr>
            <p:nvPr/>
          </p:nvSpPr>
          <p:spPr>
            <a:xfrm>
              <a:off x="3474676" y="1157049"/>
              <a:ext cx="250822" cy="250818"/>
            </a:xfrm>
            <a:custGeom>
              <a:avLst/>
              <a:gdLst>
                <a:gd name="csX0" fmla="*/ 188408 w 190501"/>
                <a:gd name="csY0" fmla="*/ 45534 h 190500"/>
                <a:gd name="csX1" fmla="*/ 189957 w 190501"/>
                <a:gd name="csY1" fmla="*/ 37748 h 190500"/>
                <a:gd name="csX2" fmla="*/ 183357 w 190501"/>
                <a:gd name="csY2" fmla="*/ 33338 h 190500"/>
                <a:gd name="csX3" fmla="*/ 157162 w 190501"/>
                <a:gd name="csY3" fmla="*/ 33338 h 190500"/>
                <a:gd name="csX4" fmla="*/ 157162 w 190501"/>
                <a:gd name="csY4" fmla="*/ 7144 h 190500"/>
                <a:gd name="csX5" fmla="*/ 152751 w 190501"/>
                <a:gd name="csY5" fmla="*/ 544 h 190500"/>
                <a:gd name="csX6" fmla="*/ 144967 w 190501"/>
                <a:gd name="csY6" fmla="*/ 2093 h 190500"/>
                <a:gd name="csX7" fmla="*/ 121155 w 190501"/>
                <a:gd name="csY7" fmla="*/ 25906 h 190500"/>
                <a:gd name="csX8" fmla="*/ 119063 w 190501"/>
                <a:gd name="csY8" fmla="*/ 30957 h 190500"/>
                <a:gd name="csX9" fmla="*/ 119063 w 190501"/>
                <a:gd name="csY9" fmla="*/ 57967 h 190500"/>
                <a:gd name="csX10" fmla="*/ 100185 w 190501"/>
                <a:gd name="csY10" fmla="*/ 76846 h 190500"/>
                <a:gd name="csX11" fmla="*/ 95250 w 190501"/>
                <a:gd name="csY11" fmla="*/ 76201 h 190500"/>
                <a:gd name="csX12" fmla="*/ 76200 w 190501"/>
                <a:gd name="csY12" fmla="*/ 95251 h 190500"/>
                <a:gd name="csX13" fmla="*/ 95250 w 190501"/>
                <a:gd name="csY13" fmla="*/ 114301 h 190500"/>
                <a:gd name="csX14" fmla="*/ 114300 w 190501"/>
                <a:gd name="csY14" fmla="*/ 95251 h 190500"/>
                <a:gd name="csX15" fmla="*/ 113655 w 190501"/>
                <a:gd name="csY15" fmla="*/ 90316 h 190500"/>
                <a:gd name="csX16" fmla="*/ 132533 w 190501"/>
                <a:gd name="csY16" fmla="*/ 71438 h 190500"/>
                <a:gd name="csX17" fmla="*/ 159545 w 190501"/>
                <a:gd name="csY17" fmla="*/ 71438 h 190500"/>
                <a:gd name="csX18" fmla="*/ 164596 w 190501"/>
                <a:gd name="csY18" fmla="*/ 69346 h 190500"/>
                <a:gd name="csX19" fmla="*/ 188408 w 190501"/>
                <a:gd name="csY19" fmla="*/ 45534 h 190500"/>
                <a:gd name="csX20" fmla="*/ 95250 w 190501"/>
                <a:gd name="csY20" fmla="*/ 1 h 190500"/>
                <a:gd name="csX21" fmla="*/ 127860 w 190501"/>
                <a:gd name="csY21" fmla="*/ 5729 h 190500"/>
                <a:gd name="csX22" fmla="*/ 114419 w 190501"/>
                <a:gd name="csY22" fmla="*/ 19170 h 190500"/>
                <a:gd name="csX23" fmla="*/ 112781 w 190501"/>
                <a:gd name="csY23" fmla="*/ 21077 h 190500"/>
                <a:gd name="csX24" fmla="*/ 95250 w 190501"/>
                <a:gd name="csY24" fmla="*/ 19051 h 190500"/>
                <a:gd name="csX25" fmla="*/ 19050 w 190501"/>
                <a:gd name="csY25" fmla="*/ 95251 h 190500"/>
                <a:gd name="csX26" fmla="*/ 95250 w 190501"/>
                <a:gd name="csY26" fmla="*/ 171451 h 190500"/>
                <a:gd name="csX27" fmla="*/ 171450 w 190501"/>
                <a:gd name="csY27" fmla="*/ 95251 h 190500"/>
                <a:gd name="csX28" fmla="*/ 169424 w 190501"/>
                <a:gd name="csY28" fmla="*/ 77720 h 190500"/>
                <a:gd name="csX29" fmla="*/ 171331 w 190501"/>
                <a:gd name="csY29" fmla="*/ 76081 h 190500"/>
                <a:gd name="csX30" fmla="*/ 184772 w 190501"/>
                <a:gd name="csY30" fmla="*/ 62641 h 190500"/>
                <a:gd name="csX31" fmla="*/ 190500 w 190501"/>
                <a:gd name="csY31" fmla="*/ 95251 h 190500"/>
                <a:gd name="csX32" fmla="*/ 95250 w 190501"/>
                <a:gd name="csY32" fmla="*/ 190501 h 190500"/>
                <a:gd name="csX33" fmla="*/ 0 w 190501"/>
                <a:gd name="csY33" fmla="*/ 95251 h 190500"/>
                <a:gd name="csX34" fmla="*/ 95250 w 190501"/>
                <a:gd name="csY34" fmla="*/ 1 h 190500"/>
                <a:gd name="csX35" fmla="*/ 95250 w 190501"/>
                <a:gd name="csY35" fmla="*/ 38101 h 190500"/>
                <a:gd name="csX36" fmla="*/ 109538 w 190501"/>
                <a:gd name="csY36" fmla="*/ 39901 h 190500"/>
                <a:gd name="csX37" fmla="*/ 109538 w 190501"/>
                <a:gd name="csY37" fmla="*/ 54021 h 190500"/>
                <a:gd name="csX38" fmla="*/ 105592 w 190501"/>
                <a:gd name="csY38" fmla="*/ 57968 h 190500"/>
                <a:gd name="csX39" fmla="*/ 105131 w 190501"/>
                <a:gd name="csY39" fmla="*/ 58444 h 190500"/>
                <a:gd name="csX40" fmla="*/ 95250 w 190501"/>
                <a:gd name="csY40" fmla="*/ 57151 h 190500"/>
                <a:gd name="csX41" fmla="*/ 57150 w 190501"/>
                <a:gd name="csY41" fmla="*/ 95251 h 190500"/>
                <a:gd name="csX42" fmla="*/ 95250 w 190501"/>
                <a:gd name="csY42" fmla="*/ 133351 h 190500"/>
                <a:gd name="csX43" fmla="*/ 133350 w 190501"/>
                <a:gd name="csY43" fmla="*/ 95251 h 190500"/>
                <a:gd name="csX44" fmla="*/ 132057 w 190501"/>
                <a:gd name="csY44" fmla="*/ 85369 h 190500"/>
                <a:gd name="csX45" fmla="*/ 132533 w 190501"/>
                <a:gd name="csY45" fmla="*/ 84909 h 190500"/>
                <a:gd name="csX46" fmla="*/ 136478 w 190501"/>
                <a:gd name="csY46" fmla="*/ 80963 h 190500"/>
                <a:gd name="csX47" fmla="*/ 150600 w 190501"/>
                <a:gd name="csY47" fmla="*/ 80963 h 190500"/>
                <a:gd name="csX48" fmla="*/ 152400 w 190501"/>
                <a:gd name="csY48" fmla="*/ 95251 h 190500"/>
                <a:gd name="csX49" fmla="*/ 95250 w 190501"/>
                <a:gd name="csY49" fmla="*/ 152401 h 190500"/>
                <a:gd name="csX50" fmla="*/ 38100 w 190501"/>
                <a:gd name="csY50" fmla="*/ 95251 h 190500"/>
                <a:gd name="csX51" fmla="*/ 95250 w 190501"/>
                <a:gd name="csY51" fmla="*/ 38101 h 190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Lst>
              <a:rect l="l" t="t" r="r" b="b"/>
              <a:pathLst>
                <a:path w="190501" h="190500">
                  <a:moveTo>
                    <a:pt x="188408" y="45534"/>
                  </a:moveTo>
                  <a:cubicBezTo>
                    <a:pt x="190452" y="43491"/>
                    <a:pt x="191063" y="40418"/>
                    <a:pt x="189957" y="37748"/>
                  </a:cubicBezTo>
                  <a:cubicBezTo>
                    <a:pt x="188852" y="35079"/>
                    <a:pt x="186247" y="33338"/>
                    <a:pt x="183357" y="33338"/>
                  </a:cubicBezTo>
                  <a:lnTo>
                    <a:pt x="157162" y="33338"/>
                  </a:lnTo>
                  <a:lnTo>
                    <a:pt x="157162" y="7144"/>
                  </a:lnTo>
                  <a:cubicBezTo>
                    <a:pt x="157162" y="4255"/>
                    <a:pt x="155421" y="1650"/>
                    <a:pt x="152751" y="544"/>
                  </a:cubicBezTo>
                  <a:cubicBezTo>
                    <a:pt x="150083" y="-562"/>
                    <a:pt x="147010" y="50"/>
                    <a:pt x="144967" y="2093"/>
                  </a:cubicBezTo>
                  <a:lnTo>
                    <a:pt x="121155" y="25906"/>
                  </a:lnTo>
                  <a:cubicBezTo>
                    <a:pt x="119815" y="27246"/>
                    <a:pt x="119063" y="29063"/>
                    <a:pt x="119063" y="30957"/>
                  </a:cubicBezTo>
                  <a:lnTo>
                    <a:pt x="119063" y="57967"/>
                  </a:lnTo>
                  <a:lnTo>
                    <a:pt x="100185" y="76846"/>
                  </a:lnTo>
                  <a:cubicBezTo>
                    <a:pt x="98610" y="76425"/>
                    <a:pt x="96957" y="76201"/>
                    <a:pt x="95250" y="76201"/>
                  </a:cubicBezTo>
                  <a:cubicBezTo>
                    <a:pt x="84729" y="76201"/>
                    <a:pt x="76200" y="84730"/>
                    <a:pt x="76200" y="95251"/>
                  </a:cubicBezTo>
                  <a:cubicBezTo>
                    <a:pt x="76200" y="105771"/>
                    <a:pt x="84729" y="114301"/>
                    <a:pt x="95250" y="114301"/>
                  </a:cubicBezTo>
                  <a:cubicBezTo>
                    <a:pt x="105771" y="114301"/>
                    <a:pt x="114300" y="105771"/>
                    <a:pt x="114300" y="95251"/>
                  </a:cubicBezTo>
                  <a:cubicBezTo>
                    <a:pt x="114300" y="93544"/>
                    <a:pt x="114075" y="91891"/>
                    <a:pt x="113655" y="90316"/>
                  </a:cubicBezTo>
                  <a:lnTo>
                    <a:pt x="132533" y="71438"/>
                  </a:lnTo>
                  <a:lnTo>
                    <a:pt x="159545" y="71438"/>
                  </a:lnTo>
                  <a:cubicBezTo>
                    <a:pt x="161439" y="71438"/>
                    <a:pt x="163256" y="70686"/>
                    <a:pt x="164596" y="69346"/>
                  </a:cubicBezTo>
                  <a:lnTo>
                    <a:pt x="188408" y="45534"/>
                  </a:lnTo>
                  <a:close/>
                  <a:moveTo>
                    <a:pt x="95250" y="1"/>
                  </a:moveTo>
                  <a:cubicBezTo>
                    <a:pt x="106705" y="1"/>
                    <a:pt x="117687" y="2023"/>
                    <a:pt x="127860" y="5729"/>
                  </a:cubicBezTo>
                  <a:lnTo>
                    <a:pt x="114419" y="19170"/>
                  </a:lnTo>
                  <a:cubicBezTo>
                    <a:pt x="113823" y="19767"/>
                    <a:pt x="113275" y="20405"/>
                    <a:pt x="112781" y="21077"/>
                  </a:cubicBezTo>
                  <a:cubicBezTo>
                    <a:pt x="107152" y="19752"/>
                    <a:pt x="101283" y="19051"/>
                    <a:pt x="95250" y="19051"/>
                  </a:cubicBezTo>
                  <a:cubicBezTo>
                    <a:pt x="53166" y="19051"/>
                    <a:pt x="19050" y="53166"/>
                    <a:pt x="19050" y="95251"/>
                  </a:cubicBezTo>
                  <a:cubicBezTo>
                    <a:pt x="19050" y="137334"/>
                    <a:pt x="53166" y="171451"/>
                    <a:pt x="95250" y="171451"/>
                  </a:cubicBezTo>
                  <a:cubicBezTo>
                    <a:pt x="137334" y="171451"/>
                    <a:pt x="171450" y="137334"/>
                    <a:pt x="171450" y="95251"/>
                  </a:cubicBezTo>
                  <a:cubicBezTo>
                    <a:pt x="171450" y="89218"/>
                    <a:pt x="170749" y="83348"/>
                    <a:pt x="169424" y="77720"/>
                  </a:cubicBezTo>
                  <a:cubicBezTo>
                    <a:pt x="170096" y="77226"/>
                    <a:pt x="170734" y="76678"/>
                    <a:pt x="171331" y="76081"/>
                  </a:cubicBezTo>
                  <a:lnTo>
                    <a:pt x="184772" y="62641"/>
                  </a:lnTo>
                  <a:cubicBezTo>
                    <a:pt x="188478" y="72813"/>
                    <a:pt x="190500" y="83796"/>
                    <a:pt x="190500" y="95251"/>
                  </a:cubicBezTo>
                  <a:cubicBezTo>
                    <a:pt x="190500" y="147856"/>
                    <a:pt x="147855" y="190501"/>
                    <a:pt x="95250" y="190501"/>
                  </a:cubicBezTo>
                  <a:cubicBezTo>
                    <a:pt x="42645" y="190501"/>
                    <a:pt x="0" y="147856"/>
                    <a:pt x="0" y="95251"/>
                  </a:cubicBezTo>
                  <a:cubicBezTo>
                    <a:pt x="0" y="42645"/>
                    <a:pt x="42645" y="1"/>
                    <a:pt x="95250" y="1"/>
                  </a:cubicBezTo>
                  <a:close/>
                  <a:moveTo>
                    <a:pt x="95250" y="38101"/>
                  </a:moveTo>
                  <a:cubicBezTo>
                    <a:pt x="100184" y="38101"/>
                    <a:pt x="104971" y="38726"/>
                    <a:pt x="109538" y="39901"/>
                  </a:cubicBezTo>
                  <a:lnTo>
                    <a:pt x="109538" y="54021"/>
                  </a:lnTo>
                  <a:lnTo>
                    <a:pt x="105592" y="57968"/>
                  </a:lnTo>
                  <a:cubicBezTo>
                    <a:pt x="105435" y="58125"/>
                    <a:pt x="105282" y="58284"/>
                    <a:pt x="105131" y="58444"/>
                  </a:cubicBezTo>
                  <a:cubicBezTo>
                    <a:pt x="101980" y="57601"/>
                    <a:pt x="98668" y="57151"/>
                    <a:pt x="95250" y="57151"/>
                  </a:cubicBezTo>
                  <a:cubicBezTo>
                    <a:pt x="74208" y="57151"/>
                    <a:pt x="57150" y="74208"/>
                    <a:pt x="57150" y="95251"/>
                  </a:cubicBezTo>
                  <a:cubicBezTo>
                    <a:pt x="57150" y="116293"/>
                    <a:pt x="74208" y="133351"/>
                    <a:pt x="95250" y="133351"/>
                  </a:cubicBezTo>
                  <a:cubicBezTo>
                    <a:pt x="116292" y="133351"/>
                    <a:pt x="133350" y="116293"/>
                    <a:pt x="133350" y="95251"/>
                  </a:cubicBezTo>
                  <a:cubicBezTo>
                    <a:pt x="133350" y="91833"/>
                    <a:pt x="132900" y="88521"/>
                    <a:pt x="132057" y="85369"/>
                  </a:cubicBezTo>
                  <a:cubicBezTo>
                    <a:pt x="132217" y="85219"/>
                    <a:pt x="132376" y="85065"/>
                    <a:pt x="132533" y="84909"/>
                  </a:cubicBezTo>
                  <a:lnTo>
                    <a:pt x="136478" y="80963"/>
                  </a:lnTo>
                  <a:lnTo>
                    <a:pt x="150600" y="80963"/>
                  </a:lnTo>
                  <a:cubicBezTo>
                    <a:pt x="151775" y="85530"/>
                    <a:pt x="152400" y="90317"/>
                    <a:pt x="152400" y="95251"/>
                  </a:cubicBezTo>
                  <a:cubicBezTo>
                    <a:pt x="152400" y="126814"/>
                    <a:pt x="126813" y="152401"/>
                    <a:pt x="95250" y="152401"/>
                  </a:cubicBezTo>
                  <a:cubicBezTo>
                    <a:pt x="63687" y="152401"/>
                    <a:pt x="38100" y="126814"/>
                    <a:pt x="38100" y="95251"/>
                  </a:cubicBezTo>
                  <a:cubicBezTo>
                    <a:pt x="38100" y="63687"/>
                    <a:pt x="63687" y="38101"/>
                    <a:pt x="95250" y="38101"/>
                  </a:cubicBezTo>
                  <a:close/>
                </a:path>
              </a:pathLst>
            </a:custGeom>
            <a:solidFill>
              <a:srgbClr val="323139"/>
            </a:solidFill>
            <a:ln w="10477" cap="flat" cmpd="sng" algn="ctr">
              <a:noFill/>
              <a:prstDash val="solid"/>
              <a:miter/>
            </a:ln>
            <a:effectLst/>
          </p:spPr>
          <p:txBody>
            <a:bodyPr rot="0" spcFirstLastPara="0" vertOverflow="overflow" horzOverflow="overflow" vert="horz" wrap="square" lIns="338011" tIns="270406" rIns="338011" bIns="270406" numCol="1" spcCol="0" rtlCol="0" fromWordArt="0" anchor="t" anchorCtr="0" forceAA="0" compatLnSpc="1">
              <a:prstTxWarp prst="textNoShape">
                <a:avLst/>
              </a:prstTxWarp>
              <a:noAutofit/>
            </a:bodyPr>
            <a:lstStyle/>
            <a:p>
              <a:pPr marL="0" marR="0" lvl="0" indent="0" algn="l" defTabSz="1722411" rtl="0" eaLnBrk="1" fontAlgn="base" latinLnBrk="0" hangingPunct="1">
                <a:lnSpc>
                  <a:spcPct val="100000"/>
                </a:lnSpc>
                <a:spcBef>
                  <a:spcPct val="0"/>
                </a:spcBef>
                <a:spcAft>
                  <a:spcPct val="0"/>
                </a:spcAft>
                <a:buClrTx/>
                <a:buSzTx/>
                <a:buFontTx/>
                <a:buNone/>
                <a:tabLst/>
                <a:defRPr/>
              </a:pPr>
              <a:endParaRPr kumimoji="0" lang="en-US" sz="3622" b="1" i="0" u="none" strike="noStrike" kern="0" cap="none" spc="0" normalizeH="0" baseline="0" noProof="0">
                <a:ln>
                  <a:noFill/>
                </a:ln>
                <a:noFill/>
                <a:effectLst/>
                <a:uLnTx/>
                <a:uFillTx/>
                <a:latin typeface="Segoe UI Variable Display Semibold" pitchFamily="2" charset="0"/>
                <a:ea typeface="+mn-ea"/>
                <a:cs typeface="Segoe UI" pitchFamily="34" charset="0"/>
              </a:endParaRPr>
            </a:p>
          </p:txBody>
        </p:sp>
      </p:grpSp>
      <p:sp>
        <p:nvSpPr>
          <p:cNvPr id="78" name="Oval 77">
            <a:extLst>
              <a:ext uri="{FF2B5EF4-FFF2-40B4-BE49-F238E27FC236}">
                <a16:creationId xmlns:a16="http://schemas.microsoft.com/office/drawing/2014/main" id="{7ABF2AEF-7824-DEF7-C92E-0915DEF41F17}"/>
              </a:ext>
              <a:ext uri="{C183D7F6-B498-43B3-948B-1728B52AA6E4}">
                <ns3:decorative xmlns:ns3="http://schemas.microsoft.com/office/drawing/2017/decorative" val="1"/>
              </a:ext>
            </a:extLst>
          </p:cNvPr>
          <p:cNvSpPr/>
          <p:nvPr/>
        </p:nvSpPr>
        <p:spPr>
          <a:xfrm>
            <a:off x="4122028" y="779171"/>
            <a:ext cx="398477" cy="398477"/>
          </a:xfrm>
          <a:prstGeom prst="ellipse">
            <a:avLst/>
          </a:prstGeom>
          <a:solidFill>
            <a:srgbClr val="FFF9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6" name="Graphic 15">
            <a:extLst>
              <a:ext uri="{FF2B5EF4-FFF2-40B4-BE49-F238E27FC236}">
                <a16:creationId xmlns:a16="http://schemas.microsoft.com/office/drawing/2014/main" id="{09721564-91C5-D7C7-A65B-CFCBCAAA8285}"/>
              </a:ext>
              <a:ext uri="{C183D7F6-B498-43B3-948B-1728B52AA6E4}">
                <adec:decorative xmlns:adec="http://schemas.microsoft.com/office/drawing/2017/decorative" val="1"/>
              </a:ext>
            </a:extLst>
          </p:cNvPr>
          <p:cNvSpPr>
            <a:spLocks/>
          </p:cNvSpPr>
          <p:nvPr/>
        </p:nvSpPr>
        <p:spPr>
          <a:xfrm>
            <a:off x="4172482" y="836452"/>
            <a:ext cx="297568" cy="252931"/>
          </a:xfrm>
          <a:custGeom>
            <a:avLst/>
            <a:gdLst>
              <a:gd name="csX0" fmla="*/ 147926 w 190499"/>
              <a:gd name="csY0" fmla="*/ 2092 h 161924"/>
              <a:gd name="csX1" fmla="*/ 137824 w 190499"/>
              <a:gd name="csY1" fmla="*/ 2092 h 161924"/>
              <a:gd name="csX2" fmla="*/ 137824 w 190499"/>
              <a:gd name="csY2" fmla="*/ 12195 h 161924"/>
              <a:gd name="csX3" fmla="*/ 166109 w 190499"/>
              <a:gd name="csY3" fmla="*/ 40481 h 161924"/>
              <a:gd name="csX4" fmla="*/ 119063 w 190499"/>
              <a:gd name="csY4" fmla="*/ 40481 h 161924"/>
              <a:gd name="csX5" fmla="*/ 88106 w 190499"/>
              <a:gd name="csY5" fmla="*/ 71437 h 161924"/>
              <a:gd name="csX6" fmla="*/ 88106 w 190499"/>
              <a:gd name="csY6" fmla="*/ 100012 h 161924"/>
              <a:gd name="csX7" fmla="*/ 75437 w 190499"/>
              <a:gd name="csY7" fmla="*/ 116198 h 161924"/>
              <a:gd name="csX8" fmla="*/ 38100 w 190499"/>
              <a:gd name="csY8" fmla="*/ 85725 h 161924"/>
              <a:gd name="csX9" fmla="*/ 0 w 190499"/>
              <a:gd name="csY9" fmla="*/ 123825 h 161924"/>
              <a:gd name="csX10" fmla="*/ 38100 w 190499"/>
              <a:gd name="csY10" fmla="*/ 161925 h 161924"/>
              <a:gd name="csX11" fmla="*/ 75582 w 190499"/>
              <a:gd name="csY11" fmla="*/ 130693 h 161924"/>
              <a:gd name="csX12" fmla="*/ 102394 w 190499"/>
              <a:gd name="csY12" fmla="*/ 100012 h 161924"/>
              <a:gd name="csX13" fmla="*/ 102394 w 190499"/>
              <a:gd name="csY13" fmla="*/ 71437 h 161924"/>
              <a:gd name="csX14" fmla="*/ 119063 w 190499"/>
              <a:gd name="csY14" fmla="*/ 54769 h 161924"/>
              <a:gd name="csX15" fmla="*/ 166109 w 190499"/>
              <a:gd name="csY15" fmla="*/ 54769 h 161924"/>
              <a:gd name="csX16" fmla="*/ 137824 w 190499"/>
              <a:gd name="csY16" fmla="*/ 83055 h 161924"/>
              <a:gd name="csX17" fmla="*/ 137824 w 190499"/>
              <a:gd name="csY17" fmla="*/ 93157 h 161924"/>
              <a:gd name="csX18" fmla="*/ 147926 w 190499"/>
              <a:gd name="csY18" fmla="*/ 93157 h 161924"/>
              <a:gd name="csX19" fmla="*/ 188407 w 190499"/>
              <a:gd name="csY19" fmla="*/ 52676 h 161924"/>
              <a:gd name="csX20" fmla="*/ 188407 w 190499"/>
              <a:gd name="csY20" fmla="*/ 42574 h 161924"/>
              <a:gd name="csX21" fmla="*/ 147926 w 190499"/>
              <a:gd name="csY21" fmla="*/ 2092 h 1619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190499" h="161924">
                <a:moveTo>
                  <a:pt x="147926" y="2092"/>
                </a:moveTo>
                <a:cubicBezTo>
                  <a:pt x="145136" y="-697"/>
                  <a:pt x="140614" y="-697"/>
                  <a:pt x="137824" y="2092"/>
                </a:cubicBezTo>
                <a:cubicBezTo>
                  <a:pt x="135034" y="4882"/>
                  <a:pt x="135034" y="9405"/>
                  <a:pt x="137824" y="12195"/>
                </a:cubicBezTo>
                <a:lnTo>
                  <a:pt x="166109" y="40481"/>
                </a:lnTo>
                <a:lnTo>
                  <a:pt x="119063" y="40481"/>
                </a:lnTo>
                <a:cubicBezTo>
                  <a:pt x="101966" y="40481"/>
                  <a:pt x="88106" y="54341"/>
                  <a:pt x="88106" y="71437"/>
                </a:cubicBezTo>
                <a:lnTo>
                  <a:pt x="88106" y="100012"/>
                </a:lnTo>
                <a:cubicBezTo>
                  <a:pt x="88106" y="107840"/>
                  <a:pt x="82711" y="114408"/>
                  <a:pt x="75437" y="116198"/>
                </a:cubicBezTo>
                <a:cubicBezTo>
                  <a:pt x="71904" y="98811"/>
                  <a:pt x="56530" y="85725"/>
                  <a:pt x="38100" y="85725"/>
                </a:cubicBezTo>
                <a:cubicBezTo>
                  <a:pt x="17058" y="85725"/>
                  <a:pt x="0" y="102783"/>
                  <a:pt x="0" y="123825"/>
                </a:cubicBezTo>
                <a:cubicBezTo>
                  <a:pt x="0" y="144867"/>
                  <a:pt x="17058" y="161925"/>
                  <a:pt x="38100" y="161925"/>
                </a:cubicBezTo>
                <a:cubicBezTo>
                  <a:pt x="56797" y="161925"/>
                  <a:pt x="72348" y="148458"/>
                  <a:pt x="75582" y="130693"/>
                </a:cubicBezTo>
                <a:cubicBezTo>
                  <a:pt x="90719" y="128668"/>
                  <a:pt x="102394" y="115704"/>
                  <a:pt x="102394" y="100012"/>
                </a:cubicBezTo>
                <a:lnTo>
                  <a:pt x="102394" y="71437"/>
                </a:lnTo>
                <a:cubicBezTo>
                  <a:pt x="102394" y="62232"/>
                  <a:pt x="109857" y="54769"/>
                  <a:pt x="119063" y="54769"/>
                </a:cubicBezTo>
                <a:lnTo>
                  <a:pt x="166109" y="54769"/>
                </a:lnTo>
                <a:lnTo>
                  <a:pt x="137824" y="83055"/>
                </a:lnTo>
                <a:cubicBezTo>
                  <a:pt x="135034" y="85845"/>
                  <a:pt x="135034" y="90367"/>
                  <a:pt x="137824" y="93157"/>
                </a:cubicBezTo>
                <a:cubicBezTo>
                  <a:pt x="140614" y="95947"/>
                  <a:pt x="145136" y="95947"/>
                  <a:pt x="147926" y="93157"/>
                </a:cubicBezTo>
                <a:lnTo>
                  <a:pt x="188407" y="52676"/>
                </a:lnTo>
                <a:cubicBezTo>
                  <a:pt x="191197" y="49887"/>
                  <a:pt x="191197" y="45363"/>
                  <a:pt x="188407" y="42574"/>
                </a:cubicBezTo>
                <a:lnTo>
                  <a:pt x="147926" y="2092"/>
                </a:lnTo>
                <a:close/>
              </a:path>
            </a:pathLst>
          </a:custGeom>
          <a:solidFill>
            <a:srgbClr val="323139"/>
          </a:solidFill>
          <a:ln w="10477" cap="flat" cmpd="sng" algn="ctr">
            <a:noFill/>
            <a:prstDash val="solid"/>
            <a:miter/>
          </a:ln>
          <a:effectLst/>
        </p:spPr>
        <p:txBody>
          <a:bodyPr rot="0" spcFirstLastPara="0" vertOverflow="overflow" horzOverflow="overflow" vert="horz" wrap="square" lIns="338011" tIns="270406" rIns="338011" bIns="270406" numCol="1" spcCol="0" rtlCol="0" fromWordArt="0" anchor="t" anchorCtr="0" forceAA="0" compatLnSpc="1">
            <a:prstTxWarp prst="textNoShape">
              <a:avLst/>
            </a:prstTxWarp>
            <a:noAutofit/>
          </a:bodyPr>
          <a:lstStyle/>
          <a:p>
            <a:pPr marL="0" marR="0" lvl="0" indent="0" algn="l" defTabSz="1722411" rtl="0" eaLnBrk="1" fontAlgn="base" latinLnBrk="0" hangingPunct="1">
              <a:lnSpc>
                <a:spcPct val="100000"/>
              </a:lnSpc>
              <a:spcBef>
                <a:spcPct val="0"/>
              </a:spcBef>
              <a:spcAft>
                <a:spcPct val="0"/>
              </a:spcAft>
              <a:buClrTx/>
              <a:buSzTx/>
              <a:buFontTx/>
              <a:buNone/>
              <a:tabLst/>
              <a:defRPr/>
            </a:pPr>
            <a:endParaRPr kumimoji="0" lang="en-US" sz="3622" b="1" i="0" u="none" strike="noStrike" kern="0" cap="none" spc="0" normalizeH="0" baseline="0" noProof="0">
              <a:ln>
                <a:noFill/>
              </a:ln>
              <a:noFill/>
              <a:effectLst/>
              <a:uLnTx/>
              <a:uFillTx/>
              <a:latin typeface="Segoe UI Variable Display Semibold" pitchFamily="2" charset="0"/>
              <a:ea typeface="+mn-ea"/>
              <a:cs typeface="Segoe UI" pitchFamily="34" charset="0"/>
            </a:endParaRPr>
          </a:p>
        </p:txBody>
      </p:sp>
      <p:grpSp>
        <p:nvGrpSpPr>
          <p:cNvPr id="83" name="Group 82">
            <a:extLst>
              <a:ext uri="{FF2B5EF4-FFF2-40B4-BE49-F238E27FC236}">
                <a16:creationId xmlns:a16="http://schemas.microsoft.com/office/drawing/2014/main" id="{5A0CBAFC-5DED-D3E2-18ED-E34B74CAE926}"/>
              </a:ext>
            </a:extLst>
          </p:cNvPr>
          <p:cNvGrpSpPr/>
          <p:nvPr/>
        </p:nvGrpSpPr>
        <p:grpSpPr>
          <a:xfrm>
            <a:off x="3261739" y="2189487"/>
            <a:ext cx="1534355" cy="276999"/>
            <a:chOff x="3261739" y="2189487"/>
            <a:chExt cx="1534355" cy="276999"/>
          </a:xfrm>
        </p:grpSpPr>
        <p:sp>
          <p:nvSpPr>
            <p:cNvPr id="82" name="Rectangle: Rounded Corners 81">
              <a:extLst>
                <a:ext uri="{FF2B5EF4-FFF2-40B4-BE49-F238E27FC236}">
                  <a16:creationId xmlns:a16="http://schemas.microsoft.com/office/drawing/2014/main" id="{A21A551A-DE36-A716-13EE-21F822622FD5}"/>
                </a:ext>
                <a:ext uri="{C183D7F6-B498-43B3-948B-1728B52AA6E4}">
                  <ns4:decorative xmlns:ns4="http://schemas.microsoft.com/office/drawing/2017/decorative" val="1"/>
                </a:ext>
              </a:extLst>
            </p:cNvPr>
            <p:cNvSpPr/>
            <p:nvPr/>
          </p:nvSpPr>
          <p:spPr bwMode="auto">
            <a:xfrm>
              <a:off x="3261739" y="2213019"/>
              <a:ext cx="1534355" cy="244283"/>
            </a:xfrm>
            <a:prstGeom prst="roundRect">
              <a:avLst>
                <a:gd name="adj" fmla="val 50000"/>
              </a:avLst>
            </a:prstGeom>
            <a:solidFill>
              <a:srgbClr val="F3E5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endParaRPr>
            </a:p>
          </p:txBody>
        </p:sp>
        <p:sp>
          <p:nvSpPr>
            <p:cNvPr id="63" name="TextBox 62">
              <a:extLst>
                <a:ext uri="{FF2B5EF4-FFF2-40B4-BE49-F238E27FC236}">
                  <a16:creationId xmlns:a16="http://schemas.microsoft.com/office/drawing/2014/main" id="{197D0AEB-8A07-B4D6-7F33-85429D49214C}"/>
                </a:ext>
              </a:extLst>
            </p:cNvPr>
            <p:cNvSpPr txBox="1"/>
            <p:nvPr/>
          </p:nvSpPr>
          <p:spPr>
            <a:xfrm>
              <a:off x="3655077" y="2189487"/>
              <a:ext cx="710452"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Prompt</a:t>
              </a:r>
              <a:endParaRPr kumimoji="0" lang="en-IN" sz="12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endParaRPr>
            </a:p>
          </p:txBody>
        </p:sp>
      </p:grpSp>
      <p:sp>
        <p:nvSpPr>
          <p:cNvPr id="98" name="Rectangle: Rounded Corners 97">
            <a:extLst>
              <a:ext uri="{FF2B5EF4-FFF2-40B4-BE49-F238E27FC236}">
                <a16:creationId xmlns:a16="http://schemas.microsoft.com/office/drawing/2014/main" id="{AEBB3E1D-C5FB-7FC9-829F-F4815362ABD2}"/>
              </a:ext>
            </a:extLst>
          </p:cNvPr>
          <p:cNvSpPr/>
          <p:nvPr/>
        </p:nvSpPr>
        <p:spPr bwMode="auto">
          <a:xfrm>
            <a:off x="8334509" y="968486"/>
            <a:ext cx="3621360" cy="1107187"/>
          </a:xfrm>
          <a:prstGeom prst="roundRect">
            <a:avLst>
              <a:gd name="adj" fmla="val 10584"/>
            </a:avLst>
          </a:prstGeom>
          <a:solidFill>
            <a:srgbClr val="341434"/>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r>
              <a:rPr kumimoji="0" lang="en-US" sz="1100" b="1" i="0" u="none" strike="noStrike" kern="0" cap="none" spc="0" normalizeH="0" baseline="0" noProof="0">
                <a:ln>
                  <a:noFill/>
                </a:ln>
                <a:solidFill>
                  <a:prstClr val="white"/>
                </a:solidFill>
                <a:effectLst/>
                <a:uLnTx/>
                <a:uFillTx/>
                <a:latin typeface="Segoe Sans Display Semilight" pitchFamily="2" charset="0"/>
                <a:ea typeface="+mn-ea"/>
                <a:cs typeface="Segoe Sans Display Semilight" pitchFamily="2" charset="0"/>
              </a:rPr>
              <a:t>Why Agent Builder?: </a:t>
            </a:r>
            <a:r>
              <a:rPr kumimoji="0" lang="en-US" sz="1100" b="0" i="0" u="none" strike="noStrike" kern="0" cap="none" spc="0" normalizeH="0" baseline="0" noProof="0">
                <a:ln>
                  <a:noFill/>
                </a:ln>
                <a:solidFill>
                  <a:prstClr val="white"/>
                </a:solidFill>
                <a:effectLst/>
                <a:uLnTx/>
                <a:uFillTx/>
                <a:latin typeface="Segoe Sans Display Semilight" pitchFamily="2" charset="0"/>
                <a:ea typeface="+mn-ea"/>
                <a:cs typeface="Segoe Sans Display Semilight" pitchFamily="2" charset="0"/>
              </a:rPr>
              <a:t>A Cowork skill helps you in your own tasks. An agent is a standalone helper other people use directly in Copilot — built with no code via Describe → Configure → Try it, then shared or published.</a:t>
            </a:r>
            <a:endParaRPr kumimoji="0" lang="en-US" sz="1100" i="0" u="none" strike="noStrike" kern="0" cap="none" spc="0" normalizeH="0" baseline="0" noProof="0">
              <a:ln w="3175">
                <a:noFill/>
              </a:ln>
              <a:solidFill>
                <a:prstClr val="white"/>
              </a:solidFill>
              <a:effectLst/>
              <a:uLnTx/>
              <a:uFillTx/>
              <a:latin typeface="Segoe Sans Display Semilight" pitchFamily="2" charset="0"/>
              <a:cs typeface="Segoe Sans Display Semilight" pitchFamily="2" charset="0"/>
            </a:endParaRPr>
          </a:p>
        </p:txBody>
      </p:sp>
      <p:sp>
        <p:nvSpPr>
          <p:cNvPr id="100" name="Oval 99">
            <a:extLst>
              <a:ext uri="{FF2B5EF4-FFF2-40B4-BE49-F238E27FC236}">
                <a16:creationId xmlns:a16="http://schemas.microsoft.com/office/drawing/2014/main" id="{82CA9355-2BD9-0408-CC03-CCAC40D6F6BE}"/>
              </a:ext>
              <a:ext uri="{C183D7F6-B498-43B3-948B-1728B52AA6E4}">
                <ns5:decorative xmlns:ns5="http://schemas.microsoft.com/office/drawing/2017/decorative" val="1"/>
              </a:ext>
            </a:extLst>
          </p:cNvPr>
          <p:cNvSpPr/>
          <p:nvPr/>
        </p:nvSpPr>
        <p:spPr>
          <a:xfrm>
            <a:off x="8054943" y="775485"/>
            <a:ext cx="398477" cy="398477"/>
          </a:xfrm>
          <a:prstGeom prst="ellipse">
            <a:avLst/>
          </a:prstGeom>
          <a:solidFill>
            <a:srgbClr val="FFF9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11" name="Icon Question Mark"/>
          <p:cNvSpPr txBox="1"/>
          <p:nvPr/>
        </p:nvSpPr>
        <p:spPr>
          <a:xfrm>
            <a:off x="8054943" y="775485"/>
            <a:ext cx="252134" cy="398477"/>
          </a:xfrm>
          <a:prstGeom prst="rect">
            <a:avLst/>
          </a:prstGeom>
          <a:noFill/>
        </p:spPr>
        <p:txBody>
          <a:bodyPr wrap="none" lIns="0" tIns="0" rIns="0" bIns="0" anchor="ctr" anchorCtr="1">
            <a:normAutofit/>
          </a:bodyPr>
          <a:lstStyle/>
          <a:p>
            <a:pPr algn="ctr"/>
            <a:r>
              <a:rPr lang="en-US" sz="1800" b="1">
                <a:solidFill>
                  <a:srgbClr val="3B1041"/>
                </a:solidFill>
                <a:latin typeface="Segoe UI" pitchFamily="34" charset="0"/>
                <a:cs typeface="Segoe UI" pitchFamily="34" charset="0"/>
              </a:rPr>
              <a:t>?</a:t>
            </a:r>
            <a:endParaRPr lang="en-US" sz="1800" b="1"/>
          </a:p>
        </p:txBody>
      </p:sp>
      <p:grpSp>
        <p:nvGrpSpPr>
          <p:cNvPr id="8" name="Group 7">
            <a:extLst>
              <a:ext uri="{FF2B5EF4-FFF2-40B4-BE49-F238E27FC236}">
                <a16:creationId xmlns:a16="http://schemas.microsoft.com/office/drawing/2014/main" id="{1722D180-2D5E-7D8C-B4A2-59B15C0453BA}"/>
              </a:ext>
            </a:extLst>
          </p:cNvPr>
          <p:cNvGrpSpPr/>
          <p:nvPr/>
        </p:nvGrpSpPr>
        <p:grpSpPr>
          <a:xfrm>
            <a:off x="7762717" y="2189487"/>
            <a:ext cx="4227030" cy="2010821"/>
            <a:chOff x="7762717" y="4071694"/>
            <a:chExt cx="4227030" cy="2010821"/>
          </a:xfrm>
        </p:grpSpPr>
        <p:sp>
          <p:nvSpPr>
            <p:cNvPr id="12" name="Rectangle: Rounded Corners 11">
              <a:extLst>
                <a:ext uri="{FF2B5EF4-FFF2-40B4-BE49-F238E27FC236}">
                  <a16:creationId xmlns:a16="http://schemas.microsoft.com/office/drawing/2014/main" id="{D0A30958-8A91-8F1F-EAED-DFB3605D650E}"/>
                </a:ext>
                <a:ext uri="{C183D7F6-B498-43B3-948B-1728B52AA6E4}">
                  <ns6:decorative xmlns:ns6="http://schemas.microsoft.com/office/drawing/2017/decorative" val="1"/>
                </a:ext>
              </a:extLst>
            </p:cNvPr>
            <p:cNvSpPr/>
            <p:nvPr/>
          </p:nvSpPr>
          <p:spPr bwMode="auto">
            <a:xfrm>
              <a:off x="7762717" y="4194834"/>
              <a:ext cx="4227030" cy="1887681"/>
            </a:xfrm>
            <a:prstGeom prst="roundRect">
              <a:avLst>
                <a:gd name="adj" fmla="val 1683"/>
              </a:avLst>
            </a:prstGeom>
            <a:solidFill>
              <a:srgbClr val="FFF9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B553FF"/>
                </a:solidFill>
                <a:effectLst/>
                <a:uLnTx/>
                <a:uFillTx/>
                <a:latin typeface="Segoe Sans Display Semibold" pitchFamily="2" charset="0"/>
                <a:ea typeface="+mn-ea"/>
                <a:cs typeface="Segoe Sans Display Semibold" pitchFamily="2" charset="0"/>
              </a:endParaRPr>
            </a:p>
          </p:txBody>
        </p:sp>
        <p:grpSp>
          <p:nvGrpSpPr>
            <p:cNvPr id="14" name="Group 13">
              <a:extLst>
                <a:ext uri="{FF2B5EF4-FFF2-40B4-BE49-F238E27FC236}">
                  <a16:creationId xmlns:a16="http://schemas.microsoft.com/office/drawing/2014/main" id="{FF30221B-5C85-22FC-F18F-7F0E26EEB0E2}"/>
                </a:ext>
              </a:extLst>
            </p:cNvPr>
            <p:cNvGrpSpPr/>
            <p:nvPr/>
          </p:nvGrpSpPr>
          <p:grpSpPr>
            <a:xfrm>
              <a:off x="9064660" y="4071694"/>
              <a:ext cx="1534355" cy="339147"/>
              <a:chOff x="3261739" y="2198151"/>
              <a:chExt cx="1534355" cy="276999"/>
            </a:xfrm>
          </p:grpSpPr>
          <p:sp>
            <p:nvSpPr>
              <p:cNvPr id="15" name="Rectangle: Rounded Corners 14">
                <a:extLst>
                  <a:ext uri="{FF2B5EF4-FFF2-40B4-BE49-F238E27FC236}">
                    <a16:creationId xmlns:a16="http://schemas.microsoft.com/office/drawing/2014/main" id="{0B857C90-B398-E232-66D0-F3E7E6CB19FB}"/>
                  </a:ext>
                  <a:ext uri="{C183D7F6-B498-43B3-948B-1728B52AA6E4}">
                    <ns7:decorative xmlns:ns7="http://schemas.microsoft.com/office/drawing/2017/decorative" val="1"/>
                  </a:ext>
                </a:extLst>
              </p:cNvPr>
              <p:cNvSpPr/>
              <p:nvPr/>
            </p:nvSpPr>
            <p:spPr bwMode="auto">
              <a:xfrm>
                <a:off x="3261739" y="2213019"/>
                <a:ext cx="1534355" cy="244283"/>
              </a:xfrm>
              <a:prstGeom prst="roundRect">
                <a:avLst>
                  <a:gd name="adj" fmla="val 50000"/>
                </a:avLst>
              </a:prstGeom>
              <a:solidFill>
                <a:srgbClr val="F3E5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endParaRPr>
              </a:p>
            </p:txBody>
          </p:sp>
          <p:sp>
            <p:nvSpPr>
              <p:cNvPr id="16" name="TextBox 15">
                <a:extLst>
                  <a:ext uri="{FF2B5EF4-FFF2-40B4-BE49-F238E27FC236}">
                    <a16:creationId xmlns:a16="http://schemas.microsoft.com/office/drawing/2014/main" id="{7130A025-6B78-DCFA-A21F-4C83E42E79DB}"/>
                  </a:ext>
                </a:extLst>
              </p:cNvPr>
              <p:cNvSpPr txBox="1"/>
              <p:nvPr/>
            </p:nvSpPr>
            <p:spPr>
              <a:xfrm>
                <a:off x="3594912" y="2198151"/>
                <a:ext cx="864339"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Workflow</a:t>
                </a:r>
              </a:p>
            </p:txBody>
          </p:sp>
        </p:grpSp>
        <p:sp>
          <p:nvSpPr>
            <p:cNvPr id="57" name="TextBox 56">
              <a:extLst>
                <a:ext uri="{FF2B5EF4-FFF2-40B4-BE49-F238E27FC236}">
                  <a16:creationId xmlns:a16="http://schemas.microsoft.com/office/drawing/2014/main" id="{D4B4634D-9BFA-FCEC-CFE2-4FD4315DDD1A}"/>
                </a:ext>
              </a:extLst>
            </p:cNvPr>
            <p:cNvSpPr txBox="1"/>
            <p:nvPr/>
          </p:nvSpPr>
          <p:spPr>
            <a:xfrm>
              <a:off x="8001952" y="4410841"/>
              <a:ext cx="3756431" cy="1074461"/>
            </a:xfrm>
            <a:prstGeom prst="rect">
              <a:avLst/>
            </a:prstGeom>
            <a:noFill/>
          </p:spPr>
          <p:txBody>
            <a:bodyPr wrap="square" rtlCol="0">
              <a:spAutoFit/>
            </a:bodyPr>
            <a:lstStyle/>
            <a:p>
              <a:pPr marL="228600" indent="-228600">
                <a:lnSpc>
                  <a:spcPct val="150000"/>
                </a:lnSpc>
                <a:buFont typeface="+mj-lt"/>
                <a:buAutoNum type="arabicPeriod"/>
                <a:defRPr/>
              </a:pPr>
              <a:r>
                <a:rPr lang="en-US" sz="1100" b="1">
                  <a:solidFill>
                    <a:prstClr val="black"/>
                  </a:solidFill>
                  <a:latin typeface="Segoe Sans Display" pitchFamily="2" charset="0"/>
                  <a:cs typeface="Segoe Sans Display" pitchFamily="2" charset="0"/>
                </a:rPr>
                <a:t>Describe</a:t>
              </a:r>
              <a:r>
                <a:rPr lang="en-US" sz="1100">
                  <a:solidFill>
                    <a:prstClr val="black"/>
                  </a:solidFill>
                  <a:latin typeface="Segoe Sans Display" pitchFamily="2" charset="0"/>
                  <a:cs typeface="Segoe Sans Display" pitchFamily="2" charset="0"/>
                </a:rPr>
                <a:t> → Define the agent in plain language</a:t>
              </a:r>
              <a:endParaRPr kumimoji="0" lang="en-US" sz="1100" b="1"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a:p>
              <a:pPr marL="228600" indent="-228600">
                <a:lnSpc>
                  <a:spcPct val="150000"/>
                </a:lnSpc>
                <a:buFont typeface="+mj-lt"/>
                <a:buAutoNum type="arabicPeriod"/>
                <a:defRPr/>
              </a:pPr>
              <a:r>
                <a:rPr lang="en-US" sz="1100" b="1">
                  <a:solidFill>
                    <a:prstClr val="black"/>
                  </a:solidFill>
                  <a:latin typeface="Segoe Sans Display" pitchFamily="2" charset="0"/>
                  <a:cs typeface="Segoe Sans Display" pitchFamily="2" charset="0"/>
                </a:rPr>
                <a:t>Configure</a:t>
              </a:r>
              <a:r>
                <a:rPr lang="en-US" sz="1100">
                  <a:solidFill>
                    <a:prstClr val="black"/>
                  </a:solidFill>
                  <a:latin typeface="Segoe Sans Display" pitchFamily="2" charset="0"/>
                  <a:cs typeface="Segoe Sans Display" pitchFamily="2" charset="0"/>
                </a:rPr>
                <a:t> → Name, instructions, knowledge, prompts</a:t>
              </a:r>
              <a:endParaRPr kumimoji="0" lang="en-US" sz="1100" b="1"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a:p>
              <a:pPr marL="228600" indent="-228600">
                <a:lnSpc>
                  <a:spcPct val="150000"/>
                </a:lnSpc>
                <a:buFont typeface="+mj-lt"/>
                <a:buAutoNum type="arabicPeriod"/>
                <a:defRPr/>
              </a:pPr>
              <a:r>
                <a:rPr lang="en-US" sz="1100" b="1">
                  <a:solidFill>
                    <a:prstClr val="black"/>
                  </a:solidFill>
                  <a:latin typeface="Segoe Sans Display" pitchFamily="2" charset="0"/>
                  <a:cs typeface="Segoe Sans Display" pitchFamily="2" charset="0"/>
                </a:rPr>
                <a:t>Try it</a:t>
              </a:r>
              <a:r>
                <a:rPr lang="en-US" sz="1100">
                  <a:solidFill>
                    <a:prstClr val="black"/>
                  </a:solidFill>
                  <a:latin typeface="Segoe Sans Display" pitchFamily="2" charset="0"/>
                  <a:cs typeface="Segoe Sans Display" pitchFamily="2" charset="0"/>
                </a:rPr>
                <a:t> → Test in-scope and out-of-scope</a:t>
              </a:r>
              <a:endParaRPr kumimoji="0" lang="en-US" sz="1100" b="1"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a:p>
              <a:pPr marL="228600" indent="-228600">
                <a:lnSpc>
                  <a:spcPct val="150000"/>
                </a:lnSpc>
                <a:buFont typeface="+mj-lt"/>
                <a:buAutoNum type="arabicPeriod"/>
                <a:defRPr/>
              </a:pPr>
              <a:r>
                <a:rPr lang="en-US" sz="1100" b="1">
                  <a:solidFill>
                    <a:prstClr val="black"/>
                  </a:solidFill>
                  <a:latin typeface="Segoe Sans Display" pitchFamily="2" charset="0"/>
                  <a:cs typeface="Segoe Sans Display" pitchFamily="2" charset="0"/>
                </a:rPr>
                <a:t>Share</a:t>
              </a:r>
              <a:r>
                <a:rPr lang="en-US" sz="1100">
                  <a:solidFill>
                    <a:prstClr val="black"/>
                  </a:solidFill>
                  <a:latin typeface="Segoe Sans Display" pitchFamily="2" charset="0"/>
                  <a:cs typeface="Segoe Sans Display" pitchFamily="2" charset="0"/>
                </a:rPr>
                <a:t> → Share or publish (optional)</a:t>
              </a:r>
              <a:endParaRPr kumimoji="0" lang="en-US" sz="1100" b="1"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p:txBody>
        </p:sp>
      </p:grpSp>
      <p:sp>
        <p:nvSpPr>
          <p:cNvPr id="3" name="Text 25">
            <a:extLst>
              <a:ext uri="{FF2B5EF4-FFF2-40B4-BE49-F238E27FC236}">
                <a16:creationId xmlns:a16="http://schemas.microsoft.com/office/drawing/2014/main" id="{41B60886-5E17-E589-2FF8-1DDB98962F30}"/>
              </a:ext>
            </a:extLst>
          </p:cNvPr>
          <p:cNvSpPr/>
          <p:nvPr/>
        </p:nvSpPr>
        <p:spPr>
          <a:xfrm>
            <a:off x="632004" y="2684018"/>
            <a:ext cx="6734710" cy="3632476"/>
          </a:xfrm>
          <a:prstGeom prst="rect">
            <a:avLst/>
          </a:prstGeom>
          <a:noFill/>
          <a:ln/>
        </p:spPr>
        <p:txBody>
          <a:bodyPr wrap="square" lIns="0" tIns="0" rIns="0" bIns="0"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Describe tab</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Create an HR Policy Agent that answers employee questions about company policies and benefits — PTO, remote/hybrid work, benefits enrollment, overtime, and the code of conduct — in a warm, professional tone. Always cite the source document and remind the reader that HR should confirm. Politely decline questions about individual pay, performance, legal, or medical matters and redirect them to HR.</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Configure tab</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Name: HR Policy Agent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Knowledge: employee-handbook-excerpt.docx and benefits-summary.docx (upload, or pick from OneDrive)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Suggested prompts: “How much PTO do I get?” · “When is open enrollment?” · “What are the anchor office days?”</a:t>
            </a:r>
          </a:p>
        </p:txBody>
      </p:sp>
      <p:grpSp>
        <p:nvGrpSpPr>
          <p:cNvPr id="17" name="Group 16">
            <a:extLst>
              <a:ext uri="{FF2B5EF4-FFF2-40B4-BE49-F238E27FC236}">
                <a16:creationId xmlns:a16="http://schemas.microsoft.com/office/drawing/2014/main" id="{317BDD88-DD13-C157-9D0C-376C7050CA18}"/>
              </a:ext>
            </a:extLst>
          </p:cNvPr>
          <p:cNvGrpSpPr/>
          <p:nvPr/>
        </p:nvGrpSpPr>
        <p:grpSpPr>
          <a:xfrm>
            <a:off x="7756139" y="4421568"/>
            <a:ext cx="1534355" cy="276999"/>
            <a:chOff x="3261739" y="2198151"/>
            <a:chExt cx="1534355" cy="276999"/>
          </a:xfrm>
        </p:grpSpPr>
        <p:sp>
          <p:nvSpPr>
            <p:cNvPr id="18" name="Rectangle: Rounded Corners 17">
              <a:extLst>
                <a:ext uri="{FF2B5EF4-FFF2-40B4-BE49-F238E27FC236}">
                  <a16:creationId xmlns:a16="http://schemas.microsoft.com/office/drawing/2014/main" id="{3E986E19-9FEA-1F60-BCDA-008D13564D09}"/>
                </a:ext>
                <a:ext uri="{C183D7F6-B498-43B3-948B-1728B52AA6E4}">
                  <ns8:decorative xmlns:ns8="http://schemas.microsoft.com/office/drawing/2017/decorative" val="1"/>
                </a:ext>
              </a:extLst>
            </p:cNvPr>
            <p:cNvSpPr/>
            <p:nvPr/>
          </p:nvSpPr>
          <p:spPr bwMode="auto">
            <a:xfrm>
              <a:off x="3261739" y="2213019"/>
              <a:ext cx="1534355" cy="244283"/>
            </a:xfrm>
            <a:prstGeom prst="roundRect">
              <a:avLst>
                <a:gd name="adj" fmla="val 50000"/>
              </a:avLst>
            </a:prstGeom>
            <a:solidFill>
              <a:srgbClr val="F3E5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endParaRPr>
            </a:p>
          </p:txBody>
        </p:sp>
        <p:sp>
          <p:nvSpPr>
            <p:cNvPr id="19" name="TextBox 18">
              <a:extLst>
                <a:ext uri="{FF2B5EF4-FFF2-40B4-BE49-F238E27FC236}">
                  <a16:creationId xmlns:a16="http://schemas.microsoft.com/office/drawing/2014/main" id="{66387F56-2C11-A4AD-4E15-4442F2454D48}"/>
                </a:ext>
              </a:extLst>
            </p:cNvPr>
            <p:cNvSpPr txBox="1"/>
            <p:nvPr/>
          </p:nvSpPr>
          <p:spPr>
            <a:xfrm>
              <a:off x="3472286" y="2198151"/>
              <a:ext cx="1109599"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Data Sources</a:t>
              </a:r>
            </a:p>
          </p:txBody>
        </p:sp>
      </p:grpSp>
      <p:grpSp>
        <p:nvGrpSpPr>
          <p:cNvPr id="13" name="Group 12">
            <a:extLst>
              <a:ext uri="{FF2B5EF4-FFF2-40B4-BE49-F238E27FC236}">
                <a16:creationId xmlns:a16="http://schemas.microsoft.com/office/drawing/2014/main" id="{6DC82203-C40E-B229-3216-8513934D28BD}"/>
              </a:ext>
            </a:extLst>
          </p:cNvPr>
          <p:cNvGrpSpPr/>
          <p:nvPr/>
        </p:nvGrpSpPr>
        <p:grpSpPr>
          <a:xfrm>
            <a:off x="9121309" y="4421568"/>
            <a:ext cx="1200156" cy="488252"/>
            <a:chOff x="10558227" y="4421568"/>
            <a:chExt cx="1200156" cy="488252"/>
          </a:xfrm>
        </p:grpSpPr>
        <p:pic>
          <p:nvPicPr>
            <p:cNvPr id="7" name="Picture 6" descr="SharePoint icon">
              <a:extLst>
                <a:ext uri="{FF2B5EF4-FFF2-40B4-BE49-F238E27FC236}">
                  <a16:creationId xmlns:a16="http://schemas.microsoft.com/office/drawing/2014/main" id="{8B0F26AD-79AC-E75B-C2DA-E6BBA636792A}"/>
                </a:ext>
              </a:extLst>
            </p:cNvPr>
            <p:cNvPicPr>
              <a:picLocks noChangeAspect="1"/>
            </p:cNvPicPr>
            <p:nvPr/>
          </p:nvPicPr>
          <p:blipFill>
            <a:blip r:embed="rId6"/>
            <a:stretch>
              <a:fillRect/>
            </a:stretch>
          </p:blipFill>
          <p:spPr>
            <a:xfrm>
              <a:off x="11014657" y="4421568"/>
              <a:ext cx="287296" cy="287296"/>
            </a:xfrm>
            <a:prstGeom prst="rect">
              <a:avLst/>
            </a:prstGeom>
          </p:spPr>
        </p:pic>
        <p:sp>
          <p:nvSpPr>
            <p:cNvPr id="9" name="TextBox 8">
              <a:extLst>
                <a:ext uri="{FF2B5EF4-FFF2-40B4-BE49-F238E27FC236}">
                  <a16:creationId xmlns:a16="http://schemas.microsoft.com/office/drawing/2014/main" id="{FE07ADF1-F66F-E626-BAE0-23ADC3E6D92F}"/>
                </a:ext>
              </a:extLst>
            </p:cNvPr>
            <p:cNvSpPr txBox="1"/>
            <p:nvPr/>
          </p:nvSpPr>
          <p:spPr>
            <a:xfrm>
              <a:off x="10558227" y="4678988"/>
              <a:ext cx="1200156"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rPr>
                <a:t>SharePoint</a:t>
              </a:r>
              <a:endParaRPr kumimoji="0" lang="en-IN" sz="900" b="0"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p:txBody>
        </p:sp>
      </p:grpSp>
    </p:spTree>
    <p:extLst>
      <p:ext uri="{BB962C8B-B14F-4D97-AF65-F5344CB8AC3E}">
        <p14:creationId xmlns:p14="http://schemas.microsoft.com/office/powerpoint/2010/main" val="1649947486"/>
      </p:ext>
    </p:extLst>
  </p:cSld>
  <p:clrMapOvr>
    <a:overrideClrMapping bg1="lt1" tx1="dk1" bg2="lt2" tx2="dk2" accent1="accent1" accent2="accent2" accent3="accent3" accent4="accent4" accent5="accent5" accent6="accent6" hlink="hlink" folHlink="folHlink"/>
  </p:clrMapOvr>
</p:sld>
</file>

<file path=ppt/slides/slide50.xml><?xml version="1.0" encoding="utf-8"?>
<p:sld xmlns:a="http://schemas.openxmlformats.org/drawingml/2006/main" xmlns:p="http://schemas.openxmlformats.org/presentationml/2006/main" xmlns:r="http://schemas.openxmlformats.org/officeDocument/2006/relationships">
  <p:cSld>
    <p:bg>
      <p:bgPr>
        <a:blipFill dpi="0" rotWithShape="1">
          <a:blip r:embed="rId5">
            <a:alphaModFix amt="70000"/>
            <a:lum/>
          </a:blip>
          <a:srcRect/>
          <a:stretch>
            <a:fillRect l="-2000" r="-2000"/>
          </a:stretch>
        </a:blipFill>
        <a:effectLst/>
      </p:bgPr>
    </p:bg>
    <p:spTree>
      <p:nvGrpSpPr>
        <p:cNvPr id="1" name="">
          <a:extLst>
            <a:ext uri="{FF2B5EF4-FFF2-40B4-BE49-F238E27FC236}">
              <a16:creationId xmlns:a16="http://schemas.microsoft.com/office/drawing/2014/main" id="{CC810B06-9C60-9BCB-DF49-73D043B037F2}"/>
            </a:ext>
          </a:extLst>
        </p:cNvPr>
        <p:cNvGrpSpPr/>
        <p:nvPr/>
      </p:nvGrpSpPr>
      <p:grpSpPr>
        <a:xfrm>
          <a:off x="0" y="0"/>
          <a:ext cx="0" cy="0"/>
          <a:chOff x="0" y="0"/>
          <a:chExt cx="0" cy="0"/>
        </a:xfrm>
      </p:grpSpPr>
      <p:sp>
        <p:nvSpPr>
          <p:cNvPr id="27" name="Title 3">
            <a:extLst>
              <a:ext uri="{FF2B5EF4-FFF2-40B4-BE49-F238E27FC236}">
                <a16:creationId xmlns:a16="http://schemas.microsoft.com/office/drawing/2014/main" id="{3EF2C483-DB46-D975-7E0E-09A75642D76B}"/>
              </a:ext>
            </a:extLst>
          </p:cNvPr>
          <p:cNvSpPr txBox="1">
            <a:spLocks/>
          </p:cNvSpPr>
          <p:nvPr/>
        </p:nvSpPr>
        <p:spPr>
          <a:xfrm>
            <a:off x="1925908" y="293473"/>
            <a:ext cx="7070725" cy="430887"/>
          </a:xfrm>
          <a:prstGeom prst="rect">
            <a:avLst/>
          </a:prstGeom>
        </p:spPr>
        <p:txBody>
          <a:bodyPr vert="horz" wrap="square" lIns="0" tIns="0" rIns="0" bIns="0" rtlCol="0" anchor="t">
            <a:spAutoFit/>
          </a:bodyPr>
          <a:lstStyle>
            <a:lvl1pPr algn="l" defTabSz="769520" rtl="0" eaLnBrk="1" latinLnBrk="0" hangingPunct="1">
              <a:lnSpc>
                <a:spcPct val="100000"/>
              </a:lnSpc>
              <a:spcBef>
                <a:spcPct val="0"/>
              </a:spcBef>
              <a:buNone/>
              <a:defRPr lang="en-US" sz="2000" b="0" kern="1200" cap="none" spc="0" baseline="0">
                <a:ln w="3175">
                  <a:noFill/>
                </a:ln>
                <a:solidFill>
                  <a:schemeClr val="tx1"/>
                </a:solidFill>
                <a:effectLst/>
                <a:latin typeface="+mj-lt"/>
                <a:ea typeface="+mn-ea"/>
                <a:cs typeface="Segoe Sans Display" pitchFamily="2" charset="0"/>
              </a:defRPr>
            </a:lvl1pPr>
          </a:lstStyle>
          <a:p>
            <a:pPr marL="0" marR="0" lvl="0" indent="0" algn="l" defTabSz="769520" rtl="0" eaLnBrk="1" fontAlgn="auto" latinLnBrk="0" hangingPunct="1">
              <a:lnSpc>
                <a:spcPct val="100000"/>
              </a:lnSpc>
              <a:spcBef>
                <a:spcPct val="0"/>
              </a:spcBef>
              <a:spcAft>
                <a:spcPts val="0"/>
              </a:spcAft>
              <a:buClrTx/>
              <a:buSzTx/>
              <a:buFontTx/>
              <a:buNone/>
              <a:tabLst/>
              <a:defRPr/>
            </a:pPr>
            <a:r>
              <a:rPr kumimoji="0" lang="en-US" sz="2800" b="0" i="0" u="none" strike="noStrike" kern="1200" cap="none" spc="0" normalizeH="0" baseline="0" noProof="0">
                <a:ln w="3175">
                  <a:noFill/>
                </a:ln>
                <a:solidFill>
                  <a:srgbClr val="323139"/>
                </a:solidFill>
                <a:effectLst/>
                <a:uLnTx/>
                <a:uFillTx/>
                <a:latin typeface="Segoe Sans Display" pitchFamily="2" charset="0"/>
                <a:ea typeface="+mn-ea"/>
                <a:cs typeface="Segoe Sans Display" pitchFamily="2" charset="0"/>
              </a:rPr>
              <a:t>Hands-on · HR Policy Agent</a:t>
            </a:r>
          </a:p>
        </p:txBody>
      </p:sp>
      <p:sp>
        <p:nvSpPr>
          <p:cNvPr id="28" name="NavPill_SitesPages">
            <a:extLst>
              <a:ext uri="{FF2B5EF4-FFF2-40B4-BE49-F238E27FC236}">
                <a16:creationId xmlns:a16="http://schemas.microsoft.com/office/drawing/2014/main" id="{57BB7AF5-33B6-DA4A-ABA7-2573FB8050B2}"/>
              </a:ext>
            </a:extLst>
          </p:cNvPr>
          <p:cNvSpPr/>
          <p:nvPr/>
        </p:nvSpPr>
        <p:spPr>
          <a:xfrm>
            <a:off x="350837" y="342900"/>
            <a:ext cx="1419239" cy="337762"/>
          </a:xfrm>
          <a:prstGeom prst="roundRect">
            <a:avLst>
              <a:gd name="adj" fmla="val 50000"/>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207091" rtl="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Ex 08</a:t>
            </a:r>
          </a:p>
        </p:txBody>
      </p:sp>
      <p:sp>
        <p:nvSpPr>
          <p:cNvPr id="30" name="TextBox 29">
            <a:extLst>
              <a:ext uri="{FF2B5EF4-FFF2-40B4-BE49-F238E27FC236}">
                <a16:creationId xmlns:a16="http://schemas.microsoft.com/office/drawing/2014/main" id="{4519738B-A618-91E3-CAC4-D99F7E54632B}"/>
              </a:ext>
              <a:ext uri="{C183D7F6-B498-43B3-948B-1728B52AA6E4}">
                <ns0:decorative xmlns:ns0="http://schemas.microsoft.com/office/drawing/2017/decorative" val="1"/>
              </a:ext>
            </a:extLst>
          </p:cNvPr>
          <p:cNvSpPr txBox="1"/>
          <p:nvPr/>
        </p:nvSpPr>
        <p:spPr>
          <a:xfrm>
            <a:off x="8867052" y="119383"/>
            <a:ext cx="3092209" cy="338554"/>
          </a:xfrm>
          <a:prstGeom prst="roundRect">
            <a:avLst>
              <a:gd name="adj" fmla="val 19537"/>
            </a:avLst>
          </a:prstGeom>
          <a:solidFill>
            <a:srgbClr val="CB85FF">
              <a:lumMod val="20000"/>
              <a:lumOff val="80000"/>
            </a:srgbClr>
          </a:solidFill>
        </p:spPr>
        <p:txBody>
          <a:bodyPr wrap="square" lIns="1188720" tIns="45720" rIns="0" bIns="45720" anchor="ctr">
            <a:noAutofit/>
          </a:bodyPr>
          <a:lstStyle>
            <a:defPPr>
              <a:defRPr lang="en-US"/>
            </a:defPPr>
            <a:lvl1pPr>
              <a:spcAft>
                <a:spcPts val="776"/>
              </a:spcAft>
              <a:defRPr sz="1200">
                <a:latin typeface="+mj-lt"/>
                <a:cs typeface="Segoe Sans Display Semibold" pitchFamily="2" charset="0"/>
              </a:defRPr>
            </a:lvl1pPr>
          </a:lstStyle>
          <a:p>
            <a:pPr marL="0" marR="0" lvl="0" indent="0" algn="l" defTabSz="914294" rtl="0" eaLnBrk="1" fontAlgn="auto" latinLnBrk="0" hangingPunct="1">
              <a:lnSpc>
                <a:spcPct val="100000"/>
              </a:lnSpc>
              <a:spcBef>
                <a:spcPts val="0"/>
              </a:spcBef>
              <a:spcAft>
                <a:spcPts val="776"/>
              </a:spcAft>
              <a:buClrTx/>
              <a:buSzTx/>
              <a:buFontTx/>
              <a:buNone/>
              <a:tabLst/>
              <a:defRPr/>
            </a:pPr>
            <a:endParaRPr kumimoji="0" lang="en-US" sz="1200" b="0" i="0" u="none" strike="noStrike" kern="0" cap="none" spc="0" normalizeH="0" baseline="0" noProof="0">
              <a:ln>
                <a:noFill/>
              </a:ln>
              <a:solidFill>
                <a:srgbClr val="323139"/>
              </a:solidFill>
              <a:effectLst/>
              <a:uLnTx/>
              <a:uFillTx/>
              <a:latin typeface="Segoe Sans Display"/>
              <a:ea typeface="+mn-ea"/>
              <a:cs typeface="Segoe Sans Display Semibold" pitchFamily="2" charset="0"/>
            </a:endParaRPr>
          </a:p>
        </p:txBody>
      </p:sp>
      <p:sp>
        <p:nvSpPr>
          <p:cNvPr id="31" name="TextBox 30">
            <a:extLst>
              <a:ext uri="{FF2B5EF4-FFF2-40B4-BE49-F238E27FC236}">
                <a16:creationId xmlns:a16="http://schemas.microsoft.com/office/drawing/2014/main" id="{4B310F6E-1BD3-CF01-32AD-647BCF12AC0F}"/>
              </a:ext>
            </a:extLst>
          </p:cNvPr>
          <p:cNvSpPr txBox="1"/>
          <p:nvPr/>
        </p:nvSpPr>
        <p:spPr>
          <a:xfrm>
            <a:off x="8942688" y="173878"/>
            <a:ext cx="1280160" cy="233352"/>
          </a:xfrm>
          <a:prstGeom prst="roundRect">
            <a:avLst>
              <a:gd name="adj" fmla="val 16151"/>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5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defRPr lang="en-US"/>
            </a:defPPr>
            <a:lvl1pPr algn="ctr" defTabSz="932765" fontAlgn="base">
              <a:spcBef>
                <a:spcPct val="0"/>
              </a:spcBef>
              <a:spcAft>
                <a:spcPct val="0"/>
              </a:spcAft>
              <a:defRPr sz="1600">
                <a:solidFill>
                  <a:schemeClr val="accent1"/>
                </a:solidFill>
                <a:latin typeface="+mj-lt"/>
                <a:cs typeface="Segoe Sans Display Semibold" pitchFamily="2" charset="0"/>
              </a:defRPr>
            </a:lvl1pPr>
          </a:lstStyle>
          <a:p>
            <a:pPr marL="0" marR="0" lvl="0" indent="0" algn="l" defTabSz="932765" rtl="0" eaLnBrk="1" fontAlgn="base" latinLnBrk="0" hangingPunct="1">
              <a:lnSpc>
                <a:spcPct val="100000"/>
              </a:lnSpc>
              <a:spcBef>
                <a:spcPct val="0"/>
              </a:spcBef>
              <a:spcAft>
                <a:spcPct val="0"/>
              </a:spcAft>
              <a:buClrTx/>
              <a:buSzTx/>
              <a:buFontTx/>
              <a:buNone/>
              <a:tabLst/>
              <a:defRPr/>
            </a:pPr>
            <a:r>
              <a:rPr kumimoji="0" lang="en-IN" sz="1050" b="0" i="0" u="none" strike="noStrike" kern="0" cap="none" spc="0" normalizeH="0" baseline="0" noProof="0">
                <a:ln>
                  <a:noFill/>
                </a:ln>
                <a:solidFill>
                  <a:srgbClr val="323139"/>
                </a:solidFill>
                <a:effectLst/>
                <a:uLnTx/>
                <a:uFillTx/>
                <a:latin typeface="Segoe Sans Display"/>
                <a:ea typeface="+mn-ea"/>
                <a:cs typeface="Segoe Sans Display Semibold" pitchFamily="2" charset="0"/>
              </a:rPr>
              <a:t>Time</a:t>
            </a:r>
          </a:p>
        </p:txBody>
      </p:sp>
      <p:sp>
        <p:nvSpPr>
          <p:cNvPr id="50" name="TextBox 49">
            <a:extLst>
              <a:ext uri="{FF2B5EF4-FFF2-40B4-BE49-F238E27FC236}">
                <a16:creationId xmlns:a16="http://schemas.microsoft.com/office/drawing/2014/main" id="{0CE10D15-83B7-7915-49A3-0BD3A21E9731}"/>
              </a:ext>
            </a:extLst>
          </p:cNvPr>
          <p:cNvSpPr txBox="1"/>
          <p:nvPr/>
        </p:nvSpPr>
        <p:spPr>
          <a:xfrm>
            <a:off x="10298483" y="173490"/>
            <a:ext cx="1668779" cy="253916"/>
          </a:xfrm>
          <a:prstGeom prst="rect">
            <a:avLst/>
          </a:prstGeom>
          <a:noFill/>
        </p:spPr>
        <p:txBody>
          <a:bodyPr wrap="square">
            <a:spAutoFit/>
          </a:bodyPr>
          <a:lstStyle/>
          <a:p>
            <a:pPr marL="0" marR="0" lvl="0" indent="0" algn="l" defTabSz="914294"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323139"/>
                </a:solidFill>
                <a:effectLst/>
                <a:uLnTx/>
                <a:uFillTx/>
                <a:latin typeface="Segoe Sans Display"/>
                <a:ea typeface="+mn-ea"/>
                <a:cs typeface="Segoe Sans Display"/>
              </a:rPr>
              <a:t>20 min</a:t>
            </a:r>
          </a:p>
        </p:txBody>
      </p:sp>
      <p:sp>
        <p:nvSpPr>
          <p:cNvPr id="51" name="Rounded Rectangle 50">
            <a:extLst>
              <a:ext uri="{C183D7F6-B498-43B3-948B-1728B52AA6E4}">
                <ns1:decorative xmlns:ns1="http://schemas.microsoft.com/office/drawing/2017/decorative" val="1"/>
              </a:ext>
            </a:extLst>
          </p:cNvPr>
          <p:cNvSpPr/>
          <p:nvPr/>
        </p:nvSpPr>
        <p:spPr>
          <a:xfrm>
            <a:off x="420624" y="1188720"/>
            <a:ext cx="7168896" cy="3611880"/>
          </a:xfrm>
          <a:prstGeom prst="roundRect">
            <a:avLst>
              <a:gd name="adj" fmla="val 5000"/>
            </a:avLst>
          </a:prstGeom>
          <a:solidFill>
            <a:srgbClr val="FFF9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ounded Rectangle 51">
            <a:extLst>
              <a:ext uri="{C183D7F6-B498-43B3-948B-1728B52AA6E4}">
                <ns2:decorative xmlns:ns2="http://schemas.microsoft.com/office/drawing/2017/decorative" val="1"/>
              </a:ext>
            </a:extLst>
          </p:cNvPr>
          <p:cNvSpPr/>
          <p:nvPr/>
        </p:nvSpPr>
        <p:spPr>
          <a:xfrm>
            <a:off x="3236976" y="1051560"/>
            <a:ext cx="15361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3236976" y="1051560"/>
            <a:ext cx="1536192" cy="274320"/>
          </a:xfrm>
          <a:prstGeom prst="rect">
            <a:avLst/>
          </a:prstGeom>
          <a:noFill/>
        </p:spPr>
        <p:txBody>
          <a:bodyPr wrap="square" anchor="ctr" lIns="0" rIns="0" tIns="0" bIns="0">
            <a:spAutoFit/>
          </a:bodyPr>
          <a:lstStyle/>
          <a:p>
            <a:pPr algn="ctr">
              <a:spcAft>
                <a:spcPts val="400"/>
              </a:spcAft>
            </a:pPr>
            <a:r>
              <a:rPr sz="1200" b="0" i="0">
                <a:solidFill>
                  <a:srgbClr val="323139"/>
                </a:solidFill>
                <a:latin typeface="Segoe Sans Display Semibold"/>
              </a:rPr>
              <a:t>Steps</a:t>
            </a:r>
          </a:p>
        </p:txBody>
      </p:sp>
      <p:sp>
        <p:nvSpPr>
          <p:cNvPr id="54" name="TextBox 53"/>
          <p:cNvSpPr txBox="1"/>
          <p:nvPr/>
        </p:nvSpPr>
        <p:spPr>
          <a:xfrm>
            <a:off x="777240" y="1572768"/>
            <a:ext cx="6492240" cy="3154680"/>
          </a:xfrm>
          <a:prstGeom prst="rect">
            <a:avLst/>
          </a:prstGeom>
          <a:noFill/>
        </p:spPr>
        <p:txBody>
          <a:bodyPr wrap="square" anchor="t" lIns="0" rIns="0" tIns="0" bIns="0">
            <a:spAutoFit/>
          </a:bodyPr>
          <a:lstStyle/>
          <a:p>
            <a:pPr algn="l" marL="237744" indent="-237744">
              <a:lnSpc>
                <a:spcPct val="105000"/>
              </a:lnSpc>
              <a:spcAft>
                <a:spcPts val="900"/>
              </a:spcAft>
              <a:buFont typeface="+mj-lt"/>
              <a:buAutoNum type="arabicPeriod"/>
            </a:pPr>
            <a:r>
              <a:rPr sz="1500" b="1" i="0">
                <a:solidFill>
                  <a:srgbClr val="323139"/>
                </a:solidFill>
                <a:latin typeface="Segoe UI"/>
              </a:rPr>
              <a:t>Microsoft 365 Copilot → Create agent</a:t>
            </a:r>
            <a:r>
              <a:rPr sz="1500" b="0" i="0">
                <a:solidFill>
                  <a:srgbClr val="323139"/>
                </a:solidFill>
                <a:latin typeface="Segoe UI"/>
              </a:rPr>
              <a:t> (desktop or web).</a:t>
            </a:r>
          </a:p>
          <a:p>
            <a:pPr algn="l" marL="237744" indent="-237744">
              <a:lnSpc>
                <a:spcPct val="105000"/>
              </a:lnSpc>
              <a:spcAft>
                <a:spcPts val="900"/>
              </a:spcAft>
              <a:buFont typeface="+mj-lt"/>
              <a:buAutoNum type="arabicPeriod"/>
            </a:pPr>
            <a:r>
              <a:rPr sz="1500" b="1" i="0">
                <a:solidFill>
                  <a:srgbClr val="323139"/>
                </a:solidFill>
                <a:latin typeface="Segoe UI"/>
              </a:rPr>
              <a:t>Describe</a:t>
            </a:r>
            <a:r>
              <a:rPr sz="1500" b="0" i="0">
                <a:solidFill>
                  <a:srgbClr val="323139"/>
                </a:solidFill>
                <a:latin typeface="Segoe UI"/>
              </a:rPr>
              <a:t> the HR Policy Agent in plain language.</a:t>
            </a:r>
          </a:p>
          <a:p>
            <a:pPr algn="l" marL="237744" indent="-237744">
              <a:lnSpc>
                <a:spcPct val="105000"/>
              </a:lnSpc>
              <a:spcAft>
                <a:spcPts val="900"/>
              </a:spcAft>
              <a:buFont typeface="+mj-lt"/>
              <a:buAutoNum type="arabicPeriod"/>
            </a:pPr>
            <a:r>
              <a:rPr sz="1500" b="1" i="0">
                <a:solidFill>
                  <a:srgbClr val="323139"/>
                </a:solidFill>
                <a:latin typeface="Segoe UI"/>
              </a:rPr>
              <a:t>Configure:</a:t>
            </a:r>
            <a:r>
              <a:rPr sz="1500" b="0" i="0">
                <a:solidFill>
                  <a:srgbClr val="323139"/>
                </a:solidFill>
                <a:latin typeface="Segoe UI"/>
              </a:rPr>
              <a:t> name, instructions, knowledge (the Zava Word files), suggested prompts.</a:t>
            </a:r>
          </a:p>
          <a:p>
            <a:pPr algn="l" marL="237744" indent="-237744">
              <a:lnSpc>
                <a:spcPct val="105000"/>
              </a:lnSpc>
              <a:spcAft>
                <a:spcPts val="900"/>
              </a:spcAft>
              <a:buFont typeface="+mj-lt"/>
              <a:buAutoNum type="arabicPeriod"/>
            </a:pPr>
            <a:r>
              <a:rPr sz="1500" b="1" i="0">
                <a:solidFill>
                  <a:srgbClr val="323139"/>
                </a:solidFill>
                <a:latin typeface="Segoe UI"/>
              </a:rPr>
              <a:t>Try it:</a:t>
            </a:r>
            <a:r>
              <a:rPr sz="1500" b="0" i="0">
                <a:solidFill>
                  <a:srgbClr val="323139"/>
                </a:solidFill>
                <a:latin typeface="Segoe UI"/>
              </a:rPr>
              <a:t> a policy question gets a sourced answer; a salary question is declined.</a:t>
            </a:r>
          </a:p>
          <a:p>
            <a:pPr algn="l" marL="237744" indent="-237744">
              <a:lnSpc>
                <a:spcPct val="105000"/>
              </a:lnSpc>
              <a:spcAft>
                <a:spcPts val="900"/>
              </a:spcAft>
              <a:buFont typeface="+mj-lt"/>
              <a:buAutoNum type="arabicPeriod"/>
            </a:pPr>
            <a:r>
              <a:rPr sz="1500" b="1" i="0">
                <a:solidFill>
                  <a:srgbClr val="323139"/>
                </a:solidFill>
                <a:latin typeface="Segoe UI"/>
              </a:rPr>
              <a:t>Share or publish</a:t>
            </a:r>
            <a:r>
              <a:rPr sz="1500" b="0" i="0">
                <a:solidFill>
                  <a:srgbClr val="323139"/>
                </a:solidFill>
                <a:latin typeface="Segoe UI"/>
              </a:rPr>
              <a:t> (optional).</a:t>
            </a:r>
          </a:p>
        </p:txBody>
      </p:sp>
      <p:sp>
        <p:nvSpPr>
          <p:cNvPr id="55" name="Rounded Rectangle 54">
            <a:extLst>
              <a:ext uri="{C183D7F6-B498-43B3-948B-1728B52AA6E4}">
                <ns3:decorative xmlns:ns3="http://schemas.microsoft.com/office/drawing/2017/decorative" val="1"/>
              </a:ext>
            </a:extLst>
          </p:cNvPr>
          <p:cNvSpPr/>
          <p:nvPr/>
        </p:nvSpPr>
        <p:spPr>
          <a:xfrm>
            <a:off x="420624" y="5074920"/>
            <a:ext cx="7168896" cy="1371600"/>
          </a:xfrm>
          <a:prstGeom prst="roundRect">
            <a:avLst>
              <a:gd name="adj" fmla="val 10000"/>
            </a:avLst>
          </a:prstGeom>
          <a:solidFill>
            <a:srgbClr val="FFF9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Rounded Rectangle 55">
            <a:extLst>
              <a:ext uri="{C183D7F6-B498-43B3-948B-1728B52AA6E4}">
                <ns4:decorative xmlns:ns4="http://schemas.microsoft.com/office/drawing/2017/decorative" val="1"/>
              </a:ext>
            </a:extLst>
          </p:cNvPr>
          <p:cNvSpPr/>
          <p:nvPr/>
        </p:nvSpPr>
        <p:spPr>
          <a:xfrm>
            <a:off x="3236976" y="4937760"/>
            <a:ext cx="15361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3236976" y="4937760"/>
            <a:ext cx="1536192" cy="274320"/>
          </a:xfrm>
          <a:prstGeom prst="rect">
            <a:avLst/>
          </a:prstGeom>
          <a:noFill/>
        </p:spPr>
        <p:txBody>
          <a:bodyPr wrap="square" anchor="ctr" lIns="0" rIns="0" tIns="0" bIns="0">
            <a:spAutoFit/>
          </a:bodyPr>
          <a:lstStyle/>
          <a:p>
            <a:pPr algn="ctr">
              <a:spcAft>
                <a:spcPts val="400"/>
              </a:spcAft>
            </a:pPr>
            <a:r>
              <a:rPr sz="1200" b="0" i="0">
                <a:solidFill>
                  <a:srgbClr val="323139"/>
                </a:solidFill>
                <a:latin typeface="Segoe Sans Display Semibold"/>
              </a:rPr>
              <a:t>Discuss</a:t>
            </a:r>
          </a:p>
        </p:txBody>
      </p:sp>
      <p:sp>
        <p:nvSpPr>
          <p:cNvPr id="58" name="TextBox 57"/>
          <p:cNvSpPr txBox="1"/>
          <p:nvPr/>
        </p:nvSpPr>
        <p:spPr>
          <a:xfrm>
            <a:off x="777240" y="5303520"/>
            <a:ext cx="6492240" cy="1005840"/>
          </a:xfrm>
          <a:prstGeom prst="rect">
            <a:avLst/>
          </a:prstGeom>
          <a:noFill/>
        </p:spPr>
        <p:txBody>
          <a:bodyPr wrap="square" anchor="ctr" lIns="0" rIns="0" tIns="0" bIns="0">
            <a:spAutoFit/>
          </a:bodyPr>
          <a:lstStyle/>
          <a:p>
            <a:pPr algn="l">
              <a:lnSpc>
                <a:spcPct val="105000"/>
              </a:lnSpc>
              <a:spcAft>
                <a:spcPts val="400"/>
              </a:spcAft>
            </a:pPr>
            <a:r>
              <a:rPr sz="1400" b="0" i="0">
                <a:solidFill>
                  <a:srgbClr val="323139"/>
                </a:solidFill>
                <a:latin typeface="Segoe Sans Display"/>
              </a:rPr>
              <a:t>Who would use a policy agent in your org, and which questions should it always hand to a human?</a:t>
            </a:r>
          </a:p>
        </p:txBody>
      </p:sp>
      <p:sp>
        <p:nvSpPr>
          <p:cNvPr id="59" name="Rounded Rectangle 58">
            <a:extLst>
              <a:ext uri="{C183D7F6-B498-43B3-948B-1728B52AA6E4}">
                <ns5:decorative xmlns:ns5="http://schemas.microsoft.com/office/drawing/2017/decorative" val="1"/>
              </a:ext>
            </a:extLst>
          </p:cNvPr>
          <p:cNvSpPr/>
          <p:nvPr/>
        </p:nvSpPr>
        <p:spPr>
          <a:xfrm>
            <a:off x="7763256" y="1188720"/>
            <a:ext cx="4224528" cy="2194560"/>
          </a:xfrm>
          <a:prstGeom prst="roundRect">
            <a:avLst>
              <a:gd name="adj" fmla="val 6000"/>
            </a:avLst>
          </a:prstGeom>
          <a:solidFill>
            <a:srgbClr val="FFF9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Rounded Rectangle 59">
            <a:extLst>
              <a:ext uri="{C183D7F6-B498-43B3-948B-1728B52AA6E4}">
                <ns6:decorative xmlns:ns6="http://schemas.microsoft.com/office/drawing/2017/decorative" val="1"/>
              </a:ext>
            </a:extLst>
          </p:cNvPr>
          <p:cNvSpPr/>
          <p:nvPr/>
        </p:nvSpPr>
        <p:spPr>
          <a:xfrm>
            <a:off x="9107424" y="1051560"/>
            <a:ext cx="15361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TextBox 60"/>
          <p:cNvSpPr txBox="1"/>
          <p:nvPr/>
        </p:nvSpPr>
        <p:spPr>
          <a:xfrm>
            <a:off x="9107424" y="1051560"/>
            <a:ext cx="1536192" cy="274320"/>
          </a:xfrm>
          <a:prstGeom prst="rect">
            <a:avLst/>
          </a:prstGeom>
          <a:noFill/>
        </p:spPr>
        <p:txBody>
          <a:bodyPr wrap="square" anchor="ctr" lIns="0" rIns="0" tIns="0" bIns="0">
            <a:spAutoFit/>
          </a:bodyPr>
          <a:lstStyle/>
          <a:p>
            <a:pPr algn="ctr">
              <a:spcAft>
                <a:spcPts val="400"/>
              </a:spcAft>
            </a:pPr>
            <a:r>
              <a:rPr sz="1200" b="0" i="0">
                <a:solidFill>
                  <a:srgbClr val="323139"/>
                </a:solidFill>
                <a:latin typeface="Segoe Sans Display Semibold"/>
              </a:rPr>
              <a:t>Watch for</a:t>
            </a:r>
          </a:p>
        </p:txBody>
      </p:sp>
      <p:sp>
        <p:nvSpPr>
          <p:cNvPr id="62" name="TextBox 61"/>
          <p:cNvSpPr txBox="1"/>
          <p:nvPr/>
        </p:nvSpPr>
        <p:spPr>
          <a:xfrm>
            <a:off x="8001000" y="1572768"/>
            <a:ext cx="3794760" cy="1737360"/>
          </a:xfrm>
          <a:prstGeom prst="rect">
            <a:avLst/>
          </a:prstGeom>
          <a:noFill/>
        </p:spPr>
        <p:txBody>
          <a:bodyPr wrap="square" anchor="t" lIns="0" rIns="0" tIns="0" bIns="0">
            <a:spAutoFit/>
          </a:bodyPr>
          <a:lstStyle/>
          <a:p>
            <a:pPr algn="l" marL="182880" indent="-182880">
              <a:spcAft>
                <a:spcPts val="400"/>
              </a:spcAft>
              <a:buFont typeface="Arial"/>
              <a:buChar char="•"/>
            </a:pPr>
            <a:r>
              <a:rPr sz="1150" b="0" i="0">
                <a:solidFill>
                  <a:srgbClr val="323139"/>
                </a:solidFill>
                <a:latin typeface="Segoe UI"/>
              </a:rPr>
              <a:t>This is </a:t>
            </a:r>
            <a:r>
              <a:rPr sz="1150" b="1" i="0">
                <a:solidFill>
                  <a:srgbClr val="323139"/>
                </a:solidFill>
                <a:latin typeface="Segoe UI"/>
              </a:rPr>
              <a:t>Agent Builder</a:t>
            </a:r>
            <a:r>
              <a:rPr sz="1150" b="0" i="0">
                <a:solidFill>
                  <a:srgbClr val="323139"/>
                </a:solidFill>
                <a:latin typeface="Segoe UI"/>
              </a:rPr>
              <a:t> — not Cowork</a:t>
            </a:r>
          </a:p>
          <a:p>
            <a:pPr algn="l" marL="182880" indent="-182880">
              <a:spcAft>
                <a:spcPts val="400"/>
              </a:spcAft>
              <a:buFont typeface="Arial"/>
              <a:buChar char="•"/>
            </a:pPr>
            <a:r>
              <a:rPr sz="1150" b="0" i="0">
                <a:solidFill>
                  <a:srgbClr val="323139"/>
                </a:solidFill>
                <a:latin typeface="Segoe UI"/>
              </a:rPr>
              <a:t>Knowledge must be </a:t>
            </a:r>
            <a:r>
              <a:rPr sz="1150" b="1" i="0">
                <a:solidFill>
                  <a:srgbClr val="323139"/>
                </a:solidFill>
                <a:latin typeface="Segoe UI"/>
              </a:rPr>
              <a:t>.docx/.pdf/.xlsx</a:t>
            </a:r>
            <a:r>
              <a:rPr sz="1150" b="0" i="0">
                <a:solidFill>
                  <a:srgbClr val="323139"/>
                </a:solidFill>
                <a:latin typeface="Segoe UI"/>
              </a:rPr>
              <a:t> — not .md or .csv</a:t>
            </a:r>
          </a:p>
          <a:p>
            <a:pPr algn="l" marL="182880" indent="-182880">
              <a:spcAft>
                <a:spcPts val="400"/>
              </a:spcAft>
              <a:buFont typeface="Arial"/>
              <a:buChar char="•"/>
            </a:pPr>
            <a:r>
              <a:rPr sz="1150" b="0" i="0">
                <a:solidFill>
                  <a:srgbClr val="323139"/>
                </a:solidFill>
                <a:latin typeface="Segoe UI"/>
              </a:rPr>
              <a:t>Skill (Ex 4) helps you; this agent helps others</a:t>
            </a:r>
          </a:p>
          <a:p>
            <a:pPr algn="l" marL="182880" indent="-182880">
              <a:spcAft>
                <a:spcPts val="400"/>
              </a:spcAft>
              <a:buFont typeface="Arial"/>
              <a:buChar char="•"/>
            </a:pPr>
            <a:r>
              <a:rPr sz="1150" b="0" i="0">
                <a:solidFill>
                  <a:srgbClr val="323139"/>
                </a:solidFill>
                <a:latin typeface="Segoe UI"/>
              </a:rPr>
              <a:t>New files show “Preparing” for a few minutes</a:t>
            </a:r>
          </a:p>
        </p:txBody>
      </p:sp>
      <p:sp>
        <p:nvSpPr>
          <p:cNvPr id="63" name="Rounded Rectangle 62">
            <a:extLst>
              <a:ext uri="{C183D7F6-B498-43B3-948B-1728B52AA6E4}">
                <ns7:decorative xmlns:ns7="http://schemas.microsoft.com/office/drawing/2017/decorative" val="1"/>
              </a:ext>
            </a:extLst>
          </p:cNvPr>
          <p:cNvSpPr/>
          <p:nvPr/>
        </p:nvSpPr>
        <p:spPr>
          <a:xfrm>
            <a:off x="7763256" y="3611880"/>
            <a:ext cx="4224528" cy="1691640"/>
          </a:xfrm>
          <a:prstGeom prst="roundRect">
            <a:avLst>
              <a:gd name="adj" fmla="val 8000"/>
            </a:avLst>
          </a:prstGeom>
          <a:solidFill>
            <a:srgbClr val="3414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Oval 63">
            <a:extLst>
              <a:ext uri="{C183D7F6-B498-43B3-948B-1728B52AA6E4}">
                <ns8:decorative xmlns:ns8="http://schemas.microsoft.com/office/drawing/2017/decorative" val="1"/>
              </a:ext>
            </a:extLst>
          </p:cNvPr>
          <p:cNvSpPr/>
          <p:nvPr/>
        </p:nvSpPr>
        <p:spPr>
          <a:xfrm>
            <a:off x="7543800" y="3401568"/>
            <a:ext cx="402336" cy="402336"/>
          </a:xfrm>
          <a:prstGeom prst="ellipse">
            <a:avLst/>
          </a:prstGeom>
          <a:solidFill>
            <a:srgbClr val="FFFFFF"/>
          </a:solidFill>
          <a:ln>
            <a:no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TextBox 64"/>
          <p:cNvSpPr txBox="1"/>
          <p:nvPr/>
        </p:nvSpPr>
        <p:spPr>
          <a:xfrm>
            <a:off x="7543800" y="3401568"/>
            <a:ext cx="402336" cy="402336"/>
          </a:xfrm>
          <a:prstGeom prst="rect">
            <a:avLst/>
          </a:prstGeom>
          <a:noFill/>
        </p:spPr>
        <p:txBody>
          <a:bodyPr wrap="square" anchor="ctr" lIns="0" rIns="0" tIns="0" bIns="0">
            <a:spAutoFit/>
          </a:bodyPr>
          <a:lstStyle/>
          <a:p>
            <a:pPr algn="ctr">
              <a:spcAft>
                <a:spcPts val="400"/>
              </a:spcAft>
            </a:pPr>
            <a:r>
              <a:rPr sz="1600" b="1" i="0">
                <a:solidFill>
                  <a:srgbClr val="3B1041"/>
                </a:solidFill>
                <a:latin typeface="Segoe UI"/>
              </a:rPr>
              <a:t>✓</a:t>
            </a:r>
          </a:p>
        </p:txBody>
      </p:sp>
      <p:sp>
        <p:nvSpPr>
          <p:cNvPr id="66" name="TextBox 65"/>
          <p:cNvSpPr txBox="1"/>
          <p:nvPr/>
        </p:nvSpPr>
        <p:spPr>
          <a:xfrm>
            <a:off x="8001000" y="3749039"/>
            <a:ext cx="3794760" cy="1463040"/>
          </a:xfrm>
          <a:prstGeom prst="rect">
            <a:avLst/>
          </a:prstGeom>
          <a:noFill/>
        </p:spPr>
        <p:txBody>
          <a:bodyPr wrap="square" anchor="ctr" lIns="0" rIns="0" tIns="0" bIns="0">
            <a:spAutoFit/>
          </a:bodyPr>
          <a:lstStyle/>
          <a:p>
            <a:pPr algn="l">
              <a:lnSpc>
                <a:spcPct val="105000"/>
              </a:lnSpc>
              <a:spcAft>
                <a:spcPts val="400"/>
              </a:spcAft>
            </a:pPr>
            <a:r>
              <a:rPr sz="1200" b="1" i="0">
                <a:solidFill>
                  <a:srgbClr val="FFFFFF"/>
                </a:solidFill>
                <a:latin typeface="Segoe Sans Display Semibold"/>
              </a:rPr>
              <a:t>Checkpoint: </a:t>
            </a:r>
            <a:r>
              <a:rPr sz="1200" b="0" i="0">
                <a:solidFill>
                  <a:srgbClr val="FFFFFF"/>
                </a:solidFill>
                <a:latin typeface="Segoe Sans Display"/>
              </a:rPr>
              <a:t>A working HR Policy Agent that gives grounded, sourced answers and declines out-of-scope questions.</a:t>
            </a:r>
          </a:p>
        </p:txBody>
      </p:sp>
      <p:sp>
        <p:nvSpPr>
          <p:cNvPr id="67" name="Rounded Rectangle 66">
            <a:extLst>
              <a:ext uri="{C183D7F6-B498-43B3-948B-1728B52AA6E4}">
                <ns9:decorative xmlns:ns9="http://schemas.microsoft.com/office/drawing/2017/decorative" val="1"/>
              </a:ext>
            </a:extLst>
          </p:cNvPr>
          <p:cNvSpPr/>
          <p:nvPr/>
        </p:nvSpPr>
        <p:spPr>
          <a:xfrm>
            <a:off x="7763256" y="5486400"/>
            <a:ext cx="4224528" cy="960120"/>
          </a:xfrm>
          <a:prstGeom prst="roundRect">
            <a:avLst>
              <a:gd name="adj" fmla="val 10000"/>
            </a:avLst>
          </a:prstGeom>
          <a:solidFill>
            <a:srgbClr val="FFF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Box 67"/>
          <p:cNvSpPr txBox="1"/>
          <p:nvPr/>
        </p:nvSpPr>
        <p:spPr>
          <a:xfrm>
            <a:off x="8001000" y="5486400"/>
            <a:ext cx="3794760" cy="960120"/>
          </a:xfrm>
          <a:prstGeom prst="rect">
            <a:avLst/>
          </a:prstGeom>
          <a:noFill/>
        </p:spPr>
        <p:txBody>
          <a:bodyPr wrap="square" anchor="ctr" lIns="0" rIns="0" tIns="0" bIns="0">
            <a:spAutoFit/>
          </a:bodyPr>
          <a:lstStyle/>
          <a:p>
            <a:pPr algn="l">
              <a:lnSpc>
                <a:spcPct val="103000"/>
              </a:lnSpc>
              <a:spcAft>
                <a:spcPts val="400"/>
              </a:spcAft>
            </a:pPr>
            <a:r>
              <a:rPr sz="1100" b="1" i="0">
                <a:solidFill>
                  <a:srgbClr val="323139"/>
                </a:solidFill>
                <a:latin typeface="Segoe Sans Display Semibold"/>
              </a:rPr>
              <a:t>Stretch: </a:t>
            </a:r>
            <a:r>
              <a:rPr sz="1100" b="0" i="0">
                <a:solidFill>
                  <a:srgbClr val="323139"/>
                </a:solidFill>
                <a:latin typeface="Segoe Sans Display"/>
              </a:rPr>
              <a:t>Add the onboarding checklist as a third knowledge source and a new-hire suggested prompt.</a:t>
            </a:r>
          </a:p>
        </p:txBody>
      </p:sp>
    </p:spTree>
    <p:extLst>
      <p:ext uri="{BB962C8B-B14F-4D97-AF65-F5344CB8AC3E}">
        <p14:creationId xmlns:p14="http://schemas.microsoft.com/office/powerpoint/2010/main" val="1649947486"/>
      </p:ext>
    </p:extLst>
  </p:cSld>
  <p:clrMapOvr>
    <a:overrideClrMapping bg1="lt1" tx1="dk1" bg2="lt2" tx2="dk2" accent1="accent1" accent2="accent2" accent3="accent3" accent4="accent4" accent5="accent5" accent6="accent6" hlink="hlink" folHlink="folHlink"/>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1690EC29-5E32-79B5-E29E-1E389EB1B83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1224B80-F0A8-232A-607E-25709F49219E}"/>
              </a:ext>
            </a:extLst>
          </p:cNvPr>
          <p:cNvSpPr txBox="1"/>
          <p:nvPr/>
        </p:nvSpPr>
        <p:spPr>
          <a:xfrm>
            <a:off x="502920" y="347472"/>
            <a:ext cx="11155680" cy="415498"/>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a:ln>
                  <a:noFill/>
                </a:ln>
                <a:solidFill>
                  <a:srgbClr val="242424"/>
                </a:solidFill>
                <a:effectLst/>
                <a:uLnTx/>
                <a:uFillTx/>
                <a:latin typeface="Segoe UI"/>
                <a:ea typeface="+mn-ea"/>
                <a:cs typeface="+mn-cs"/>
              </a:rPr>
              <a:t>Facilitation &amp; troubleshooting</a:t>
            </a:r>
          </a:p>
        </p:txBody>
      </p:sp>
      <p:sp>
        <p:nvSpPr>
          <p:cNvPr id="3" name="TextBox 2">
            <a:extLst>
              <a:ext uri="{FF2B5EF4-FFF2-40B4-BE49-F238E27FC236}">
                <a16:creationId xmlns:a16="http://schemas.microsoft.com/office/drawing/2014/main" id="{C42FDF1E-C1D0-BD11-A7D1-CD7E8CECE583}"/>
              </a:ext>
            </a:extLst>
          </p:cNvPr>
          <p:cNvSpPr txBox="1"/>
          <p:nvPr/>
        </p:nvSpPr>
        <p:spPr>
          <a:xfrm>
            <a:off x="502920" y="932688"/>
            <a:ext cx="11064240" cy="215444"/>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616161"/>
                </a:solidFill>
                <a:effectLst/>
                <a:uLnTx/>
                <a:uFillTx/>
                <a:latin typeface="Segoe UI"/>
                <a:ea typeface="+mn-ea"/>
                <a:cs typeface="+mn-cs"/>
              </a:rPr>
              <a:t>For instructors — skip live or use during a break.</a:t>
            </a:r>
          </a:p>
        </p:txBody>
      </p:sp>
      <p:sp>
        <p:nvSpPr>
          <p:cNvPr id="4" name="Rectangle 3">
            <a:extLst>
              <a:ext uri="{C183D7F6-B498-43B3-948B-1728B52AA6E4}">
                <ns0:decorative xmlns:ns0="http://schemas.microsoft.com/office/drawing/2017/decorative" val="1"/>
              </a:ext>
            </a:extLst>
          </p:cNvPr>
          <p:cNvSpPr/>
          <p:nvPr/>
        </p:nvSpPr>
        <p:spPr>
          <a:xfrm>
            <a:off x="502920" y="1463040"/>
            <a:ext cx="5468112" cy="306324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a:extLst>
              <a:ext uri="{C183D7F6-B498-43B3-948B-1728B52AA6E4}">
                <ns1:decorative xmlns:ns1="http://schemas.microsoft.com/office/drawing/2017/decorative" val="1"/>
              </a:ext>
            </a:extLst>
          </p:cNvPr>
          <p:cNvSpPr/>
          <p:nvPr/>
        </p:nvSpPr>
        <p:spPr>
          <a:xfrm>
            <a:off x="502920" y="1463040"/>
            <a:ext cx="5468112" cy="41148"/>
          </a:xfrm>
          <a:prstGeom prst="rect">
            <a:avLst/>
          </a:prstGeom>
          <a:solidFill>
            <a:srgbClr val="0F6C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49224" y="1645920"/>
            <a:ext cx="5175504" cy="365760"/>
          </a:xfrm>
          <a:prstGeom prst="rect">
            <a:avLst/>
          </a:prstGeom>
          <a:noFill/>
        </p:spPr>
        <p:txBody>
          <a:bodyPr wrap="square" anchor="t" lIns="0" rIns="0" tIns="0" bIns="0">
            <a:spAutoFit/>
          </a:bodyPr>
          <a:lstStyle/>
          <a:p>
            <a:pPr algn="l">
              <a:spcAft>
                <a:spcPts val="400"/>
              </a:spcAft>
            </a:pPr>
            <a:r>
              <a:rPr sz="1400" b="1" i="0">
                <a:solidFill>
                  <a:srgbClr val="0F6CBD"/>
                </a:solidFill>
                <a:latin typeface="Segoe UI"/>
              </a:rPr>
              <a:t>KEEP 25 PEOPLE TOGETHER</a:t>
            </a:r>
          </a:p>
        </p:txBody>
      </p:sp>
      <p:sp>
        <p:nvSpPr>
          <p:cNvPr id="7" name="TextBox 6"/>
          <p:cNvSpPr txBox="1"/>
          <p:nvPr/>
        </p:nvSpPr>
        <p:spPr>
          <a:xfrm>
            <a:off x="649224" y="2084832"/>
            <a:ext cx="5175504" cy="2331720"/>
          </a:xfrm>
          <a:prstGeom prst="rect">
            <a:avLst/>
          </a:prstGeom>
          <a:noFill/>
        </p:spPr>
        <p:txBody>
          <a:bodyPr wrap="square" anchor="t" lIns="0" rIns="0" tIns="0" bIns="0">
            <a:spAutoFit/>
          </a:bodyPr>
          <a:lstStyle/>
          <a:p>
            <a:pPr algn="l" marL="182880" indent="-182880">
              <a:spcAft>
                <a:spcPts val="500"/>
              </a:spcAft>
              <a:buFont typeface="Arial"/>
              <a:buChar char="•"/>
            </a:pPr>
            <a:r>
              <a:rPr sz="1400" b="0" i="0">
                <a:solidFill>
                  <a:srgbClr val="242424"/>
                </a:solidFill>
                <a:latin typeface="Segoe UI"/>
              </a:rPr>
              <a:t>1 facilitator + 1–2 floaters</a:t>
            </a:r>
          </a:p>
          <a:p>
            <a:pPr algn="l" marL="182880" indent="-182880">
              <a:spcAft>
                <a:spcPts val="500"/>
              </a:spcAft>
              <a:buFont typeface="Arial"/>
              <a:buChar char="•"/>
            </a:pPr>
            <a:r>
              <a:rPr sz="1400" b="0" i="0">
                <a:solidFill>
                  <a:srgbClr val="242424"/>
                </a:solidFill>
                <a:latin typeface="Segoe UI"/>
              </a:rPr>
              <a:t>Use each hands-on slide’s </a:t>
            </a:r>
            <a:r>
              <a:rPr sz="1400" b="1" i="0">
                <a:solidFill>
                  <a:srgbClr val="242424"/>
                </a:solidFill>
                <a:latin typeface="Segoe UI"/>
              </a:rPr>
              <a:t>checkpoint</a:t>
            </a:r>
            <a:r>
              <a:rPr sz="1400" b="0" i="0">
                <a:solidFill>
                  <a:srgbClr val="242424"/>
                </a:solidFill>
                <a:latin typeface="Segoe UI"/>
              </a:rPr>
              <a:t> to sync</a:t>
            </a:r>
          </a:p>
          <a:p>
            <a:pPr algn="l" marL="182880" indent="-182880">
              <a:spcAft>
                <a:spcPts val="500"/>
              </a:spcAft>
              <a:buFont typeface="Arial"/>
              <a:buChar char="•"/>
            </a:pPr>
            <a:r>
              <a:rPr sz="1400" b="0" i="0">
                <a:solidFill>
                  <a:srgbClr val="242424"/>
                </a:solidFill>
                <a:latin typeface="Segoe UI"/>
              </a:rPr>
              <a:t>Load </a:t>
            </a:r>
            <a:r>
              <a:rPr sz="1400" b="1" i="0">
                <a:solidFill>
                  <a:srgbClr val="242424"/>
                </a:solidFill>
                <a:latin typeface="Segoe UI"/>
              </a:rPr>
              <a:t>seed-content.md</a:t>
            </a:r>
            <a:r>
              <a:rPr sz="1400" b="0" i="0">
                <a:solidFill>
                  <a:srgbClr val="242424"/>
                </a:solidFill>
                <a:latin typeface="Segoe UI"/>
              </a:rPr>
              <a:t> within 24 h of the session</a:t>
            </a:r>
          </a:p>
          <a:p>
            <a:pPr algn="l" marL="182880" indent="-182880">
              <a:spcAft>
                <a:spcPts val="500"/>
              </a:spcAft>
              <a:buFont typeface="Arial"/>
              <a:buChar char="•"/>
            </a:pPr>
            <a:r>
              <a:rPr sz="1400" b="0" i="0">
                <a:solidFill>
                  <a:srgbClr val="242424"/>
                </a:solidFill>
                <a:latin typeface="Segoe UI"/>
              </a:rPr>
              <a:t>Check results with the </a:t>
            </a:r>
            <a:r>
              <a:rPr sz="1400" b="1" i="0">
                <a:solidFill>
                  <a:srgbClr val="242424"/>
                </a:solidFill>
                <a:latin typeface="Segoe UI"/>
              </a:rPr>
              <a:t>answer key</a:t>
            </a:r>
          </a:p>
          <a:p>
            <a:pPr algn="l" marL="182880" indent="-182880">
              <a:spcAft>
                <a:spcPts val="500"/>
              </a:spcAft>
              <a:buFont typeface="Arial"/>
              <a:buChar char="•"/>
            </a:pPr>
            <a:r>
              <a:rPr sz="1400" b="0" i="0">
                <a:solidFill>
                  <a:srgbClr val="242424"/>
                </a:solidFill>
                <a:latin typeface="Segoe UI"/>
              </a:rPr>
              <a:t>Watch the clock: </a:t>
            </a:r>
            <a:r>
              <a:rPr sz="1400" b="1" i="0">
                <a:solidFill>
                  <a:srgbClr val="242424"/>
                </a:solidFill>
                <a:latin typeface="Segoe UI"/>
              </a:rPr>
              <a:t>time checks</a:t>
            </a:r>
            <a:r>
              <a:rPr sz="1400" b="0" i="0">
                <a:solidFill>
                  <a:srgbClr val="242424"/>
                </a:solidFill>
                <a:latin typeface="Segoe UI"/>
              </a:rPr>
              <a:t> at each break</a:t>
            </a:r>
          </a:p>
        </p:txBody>
      </p:sp>
      <p:sp>
        <p:nvSpPr>
          <p:cNvPr id="8" name="Rectangle 7">
            <a:extLst>
              <a:ext uri="{C183D7F6-B498-43B3-948B-1728B52AA6E4}">
                <ns2:decorative xmlns:ns2="http://schemas.microsoft.com/office/drawing/2017/decorative" val="1"/>
              </a:ext>
            </a:extLst>
          </p:cNvPr>
          <p:cNvSpPr/>
          <p:nvPr/>
        </p:nvSpPr>
        <p:spPr>
          <a:xfrm>
            <a:off x="6217920" y="1463040"/>
            <a:ext cx="5468112" cy="306324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a:extLst>
              <a:ext uri="{C183D7F6-B498-43B3-948B-1728B52AA6E4}">
                <ns3:decorative xmlns:ns3="http://schemas.microsoft.com/office/drawing/2017/decorative" val="1"/>
              </a:ext>
            </a:extLst>
          </p:cNvPr>
          <p:cNvSpPr/>
          <p:nvPr/>
        </p:nvSpPr>
        <p:spPr>
          <a:xfrm>
            <a:off x="6217920" y="1463040"/>
            <a:ext cx="5468112" cy="41148"/>
          </a:xfrm>
          <a:prstGeom prst="rect">
            <a:avLst/>
          </a:prstGeom>
          <a:solidFill>
            <a:srgbClr val="8064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364224" y="1645920"/>
            <a:ext cx="5175504" cy="365760"/>
          </a:xfrm>
          <a:prstGeom prst="rect">
            <a:avLst/>
          </a:prstGeom>
          <a:noFill/>
        </p:spPr>
        <p:txBody>
          <a:bodyPr wrap="square" anchor="t" lIns="0" rIns="0" tIns="0" bIns="0">
            <a:spAutoFit/>
          </a:bodyPr>
          <a:lstStyle/>
          <a:p>
            <a:pPr algn="l">
              <a:spcAft>
                <a:spcPts val="400"/>
              </a:spcAft>
            </a:pPr>
            <a:r>
              <a:rPr sz="1400" b="1" i="0">
                <a:solidFill>
                  <a:srgbClr val="8064A2"/>
                </a:solidFill>
                <a:latin typeface="Segoe UI"/>
              </a:rPr>
              <a:t>COMMON BLOCKERS</a:t>
            </a:r>
          </a:p>
        </p:txBody>
      </p:sp>
      <p:sp>
        <p:nvSpPr>
          <p:cNvPr id="11" name="TextBox 10"/>
          <p:cNvSpPr txBox="1"/>
          <p:nvPr/>
        </p:nvSpPr>
        <p:spPr>
          <a:xfrm>
            <a:off x="6364224" y="2084832"/>
            <a:ext cx="5175504" cy="2331720"/>
          </a:xfrm>
          <a:prstGeom prst="rect">
            <a:avLst/>
          </a:prstGeom>
          <a:noFill/>
        </p:spPr>
        <p:txBody>
          <a:bodyPr wrap="square" anchor="t" lIns="0" rIns="0" tIns="0" bIns="0">
            <a:spAutoFit/>
          </a:bodyPr>
          <a:lstStyle/>
          <a:p>
            <a:pPr algn="l" marL="182880" indent="-182880">
              <a:spcAft>
                <a:spcPts val="500"/>
              </a:spcAft>
              <a:buFont typeface="Arial"/>
              <a:buChar char="•"/>
            </a:pPr>
            <a:r>
              <a:rPr sz="1400" b="0" i="0">
                <a:solidFill>
                  <a:srgbClr val="242424"/>
                </a:solidFill>
                <a:latin typeface="Segoe UI"/>
              </a:rPr>
              <a:t>No Cowork toggle → spare licensed account</a:t>
            </a:r>
          </a:p>
          <a:p>
            <a:pPr algn="l" marL="182880" indent="-182880">
              <a:spcAft>
                <a:spcPts val="500"/>
              </a:spcAft>
              <a:buFont typeface="Arial"/>
              <a:buChar char="•"/>
            </a:pPr>
            <a:r>
              <a:rPr sz="1400" b="0" i="0">
                <a:solidFill>
                  <a:srgbClr val="242424"/>
                </a:solidFill>
                <a:latin typeface="Segoe UI"/>
              </a:rPr>
              <a:t>Acted without asking → revoke in side panel </a:t>
            </a:r>
            <a:r>
              <a:rPr sz="1400" b="1" i="0">
                <a:solidFill>
                  <a:srgbClr val="242424"/>
                </a:solidFill>
                <a:latin typeface="Segoe UI"/>
              </a:rPr>
              <a:t>Permissions</a:t>
            </a:r>
          </a:p>
          <a:p>
            <a:pPr algn="l" marL="182880" indent="-182880">
              <a:spcAft>
                <a:spcPts val="500"/>
              </a:spcAft>
              <a:buFont typeface="Arial"/>
              <a:buChar char="•"/>
            </a:pPr>
            <a:r>
              <a:rPr sz="1400" b="0" i="0">
                <a:solidFill>
                  <a:srgbClr val="242424"/>
                </a:solidFill>
                <a:latin typeface="Segoe UI"/>
              </a:rPr>
              <a:t>Empty dashboard → expected; show your demo</a:t>
            </a:r>
          </a:p>
          <a:p>
            <a:pPr algn="l" marL="182880" indent="-182880">
              <a:spcAft>
                <a:spcPts val="500"/>
              </a:spcAft>
              <a:buFont typeface="Arial"/>
              <a:buChar char="•"/>
            </a:pPr>
            <a:r>
              <a:rPr sz="1400" b="0" i="0">
                <a:solidFill>
                  <a:srgbClr val="242424"/>
                </a:solidFill>
                <a:latin typeface="Segoe UI"/>
              </a:rPr>
              <a:t>No browser task → Edge, signed in as the workshop account</a:t>
            </a:r>
          </a:p>
          <a:p>
            <a:pPr algn="l" marL="182880" indent="-182880">
              <a:spcAft>
                <a:spcPts val="500"/>
              </a:spcAft>
              <a:buFont typeface="Arial"/>
              <a:buChar char="•"/>
            </a:pPr>
            <a:r>
              <a:rPr sz="1400" b="0" i="0">
                <a:solidFill>
                  <a:srgbClr val="242424"/>
                </a:solidFill>
                <a:latin typeface="Segoe UI"/>
              </a:rPr>
              <a:t>Agent ignores files → wait for “Preparing”, then refresh</a:t>
            </a:r>
          </a:p>
        </p:txBody>
      </p:sp>
      <p:sp>
        <p:nvSpPr>
          <p:cNvPr id="12" name="Rounded Rectangle 11">
            <a:extLst>
              <a:ext uri="{C183D7F6-B498-43B3-948B-1728B52AA6E4}">
                <ns4:decorative xmlns:ns4="http://schemas.microsoft.com/office/drawing/2017/decorative" val="1"/>
              </a:ext>
            </a:extLst>
          </p:cNvPr>
          <p:cNvSpPr/>
          <p:nvPr/>
        </p:nvSpPr>
        <p:spPr>
          <a:xfrm>
            <a:off x="502920" y="4800600"/>
            <a:ext cx="11183112" cy="1371600"/>
          </a:xfrm>
          <a:prstGeom prst="roundRect">
            <a:avLst>
              <a:gd name="adj" fmla="val 12000"/>
            </a:avLst>
          </a:prstGeom>
          <a:solidFill>
            <a:srgbClr val="3414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77240" y="4800600"/>
            <a:ext cx="10634472" cy="1371600"/>
          </a:xfrm>
          <a:prstGeom prst="rect">
            <a:avLst/>
          </a:prstGeom>
          <a:noFill/>
        </p:spPr>
        <p:txBody>
          <a:bodyPr wrap="square" anchor="ctr" lIns="0" rIns="0" tIns="0" bIns="0">
            <a:spAutoFit/>
          </a:bodyPr>
          <a:lstStyle/>
          <a:p>
            <a:pPr algn="l">
              <a:lnSpc>
                <a:spcPct val="105000"/>
              </a:lnSpc>
              <a:spcAft>
                <a:spcPts val="400"/>
              </a:spcAft>
            </a:pPr>
            <a:r>
              <a:rPr sz="1400" b="1" i="0">
                <a:solidFill>
                  <a:srgbClr val="FFFFFF"/>
                </a:solidFill>
                <a:latin typeface="Segoe UI"/>
              </a:rPr>
              <a:t>Fallback:</a:t>
            </a:r>
            <a:r>
              <a:rPr sz="1400" b="0" i="0">
                <a:solidFill>
                  <a:srgbClr val="FFFFFF"/>
                </a:solidFill>
                <a:latin typeface="Segoe UI"/>
              </a:rPr>
              <a:t> anyone blocked follows your demo, using </a:t>
            </a:r>
            <a:r>
              <a:rPr sz="1400" b="1" i="0">
                <a:solidFill>
                  <a:srgbClr val="FFFFFF"/>
                </a:solidFill>
                <a:latin typeface="Segoe UI"/>
              </a:rPr>
              <a:t>facilitator-answer-key.md</a:t>
            </a:r>
            <a:r>
              <a:rPr sz="1400" b="0" i="0">
                <a:solidFill>
                  <a:srgbClr val="FFFFFF"/>
                </a:solidFill>
                <a:latin typeface="Segoe UI"/>
              </a:rPr>
              <a:t>. Whole room down? Stop after 10 minutes and switch to </a:t>
            </a:r>
            <a:r>
              <a:rPr sz="1400" b="1" i="0">
                <a:solidFill>
                  <a:srgbClr val="FFFFFF"/>
                </a:solidFill>
                <a:latin typeface="Segoe UI"/>
              </a:rPr>
              <a:t>Plan B</a:t>
            </a:r>
            <a:r>
              <a:rPr sz="1400" b="0" i="0">
                <a:solidFill>
                  <a:srgbClr val="FFFFFF"/>
                </a:solidFill>
                <a:latin typeface="Segoe UI"/>
              </a:rPr>
              <a:t> (readiness-checklist.md). Running long? Use the time checks in the facilitator guide.</a:t>
            </a:r>
          </a:p>
        </p:txBody>
      </p:sp>
    </p:spTree>
    <p:extLst>
      <p:ext uri="{BB962C8B-B14F-4D97-AF65-F5344CB8AC3E}">
        <p14:creationId xmlns:p14="http://schemas.microsoft.com/office/powerpoint/2010/main" val="418314712"/>
      </p:ext>
    </p:extLst>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1690EC29-5E32-79B5-E29E-1E389EB1B83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1224B80-F0A8-232A-607E-25709F49219E}"/>
              </a:ext>
            </a:extLst>
          </p:cNvPr>
          <p:cNvSpPr txBox="1"/>
          <p:nvPr/>
        </p:nvSpPr>
        <p:spPr>
          <a:xfrm>
            <a:off x="502920" y="347472"/>
            <a:ext cx="11155680" cy="415498"/>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a:ln>
                  <a:noFill/>
                </a:ln>
                <a:solidFill>
                  <a:srgbClr val="242424"/>
                </a:solidFill>
                <a:effectLst/>
                <a:uLnTx/>
                <a:uFillTx/>
                <a:latin typeface="Segoe UI"/>
                <a:ea typeface="+mn-ea"/>
                <a:cs typeface="+mn-cs"/>
              </a:rPr>
              <a:t>Quick knowledge check</a:t>
            </a:r>
          </a:p>
        </p:txBody>
      </p:sp>
      <p:sp>
        <p:nvSpPr>
          <p:cNvPr id="3" name="TextBox 2">
            <a:extLst>
              <a:ext uri="{FF2B5EF4-FFF2-40B4-BE49-F238E27FC236}">
                <a16:creationId xmlns:a16="http://schemas.microsoft.com/office/drawing/2014/main" id="{C42FDF1E-C1D0-BD11-A7D1-CD7E8CECE583}"/>
              </a:ext>
            </a:extLst>
          </p:cNvPr>
          <p:cNvSpPr txBox="1"/>
          <p:nvPr/>
        </p:nvSpPr>
        <p:spPr>
          <a:xfrm>
            <a:off x="502920" y="932688"/>
            <a:ext cx="11064240" cy="215444"/>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616161"/>
                </a:solidFill>
                <a:effectLst/>
                <a:uLnTx/>
                <a:uFillTx/>
                <a:latin typeface="Segoe UI"/>
                <a:ea typeface="+mn-ea"/>
                <a:cs typeface="+mn-cs"/>
              </a:rPr>
              <a:t>Show of hands — answers in after-the-workshop.md.</a:t>
            </a:r>
          </a:p>
        </p:txBody>
      </p:sp>
      <p:sp>
        <p:nvSpPr>
          <p:cNvPr id="4" name="Rectangle 3">
            <a:extLst>
              <a:ext uri="{C183D7F6-B498-43B3-948B-1728B52AA6E4}">
                <ns0:decorative xmlns:ns0="http://schemas.microsoft.com/office/drawing/2017/decorative" val="1"/>
              </a:ext>
            </a:extLst>
          </p:cNvPr>
          <p:cNvSpPr/>
          <p:nvPr/>
        </p:nvSpPr>
        <p:spPr>
          <a:xfrm>
            <a:off x="502920" y="1463040"/>
            <a:ext cx="11183112" cy="841248"/>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a:extLst>
              <a:ext uri="{C183D7F6-B498-43B3-948B-1728B52AA6E4}">
                <ns1:decorative xmlns:ns1="http://schemas.microsoft.com/office/drawing/2017/decorative" val="1"/>
              </a:ext>
            </a:extLst>
          </p:cNvPr>
          <p:cNvSpPr/>
          <p:nvPr/>
        </p:nvSpPr>
        <p:spPr>
          <a:xfrm>
            <a:off x="502920" y="1463040"/>
            <a:ext cx="54864" cy="841248"/>
          </a:xfrm>
          <a:prstGeom prst="rect">
            <a:avLst/>
          </a:prstGeom>
          <a:solidFill>
            <a:srgbClr val="0F6C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31520" y="1463040"/>
            <a:ext cx="457200" cy="841248"/>
          </a:xfrm>
          <a:prstGeom prst="rect">
            <a:avLst/>
          </a:prstGeom>
          <a:noFill/>
        </p:spPr>
        <p:txBody>
          <a:bodyPr wrap="square" anchor="ctr" lIns="0" rIns="0" tIns="0" bIns="0">
            <a:spAutoFit/>
          </a:bodyPr>
          <a:lstStyle/>
          <a:p>
            <a:pPr algn="l">
              <a:spcAft>
                <a:spcPts val="400"/>
              </a:spcAft>
            </a:pPr>
            <a:r>
              <a:rPr sz="2400" b="1" i="0">
                <a:solidFill>
                  <a:srgbClr val="0F6CBD"/>
                </a:solidFill>
                <a:latin typeface="Segoe UI"/>
              </a:rPr>
              <a:t>1</a:t>
            </a:r>
          </a:p>
        </p:txBody>
      </p:sp>
      <p:sp>
        <p:nvSpPr>
          <p:cNvPr id="7" name="TextBox 6"/>
          <p:cNvSpPr txBox="1"/>
          <p:nvPr/>
        </p:nvSpPr>
        <p:spPr>
          <a:xfrm>
            <a:off x="1280160" y="1463040"/>
            <a:ext cx="6309360" cy="841248"/>
          </a:xfrm>
          <a:prstGeom prst="rect">
            <a:avLst/>
          </a:prstGeom>
          <a:noFill/>
        </p:spPr>
        <p:txBody>
          <a:bodyPr wrap="square" anchor="ctr" lIns="0" rIns="0" tIns="0" bIns="0">
            <a:spAutoFit/>
          </a:bodyPr>
          <a:lstStyle/>
          <a:p>
            <a:pPr algn="l">
              <a:spcAft>
                <a:spcPts val="400"/>
              </a:spcAft>
            </a:pPr>
            <a:r>
              <a:rPr sz="1500" b="0" i="0">
                <a:solidFill>
                  <a:srgbClr val="242424"/>
                </a:solidFill>
                <a:latin typeface="Segoe UI"/>
              </a:rPr>
              <a:t>You need a 3-bullet summary of one policy. Which tool?</a:t>
            </a:r>
          </a:p>
        </p:txBody>
      </p:sp>
      <p:sp>
        <p:nvSpPr>
          <p:cNvPr id="8" name="TextBox 7"/>
          <p:cNvSpPr txBox="1"/>
          <p:nvPr/>
        </p:nvSpPr>
        <p:spPr>
          <a:xfrm>
            <a:off x="7772400" y="1463040"/>
            <a:ext cx="3749039" cy="841248"/>
          </a:xfrm>
          <a:prstGeom prst="rect">
            <a:avLst/>
          </a:prstGeom>
          <a:noFill/>
        </p:spPr>
        <p:txBody>
          <a:bodyPr wrap="square" anchor="ctr" lIns="0" rIns="0" tIns="0" bIns="0">
            <a:spAutoFit/>
          </a:bodyPr>
          <a:lstStyle/>
          <a:p>
            <a:pPr algn="l">
              <a:spcAft>
                <a:spcPts val="400"/>
              </a:spcAft>
            </a:pPr>
            <a:r>
              <a:rPr sz="1300" b="0" i="0">
                <a:solidFill>
                  <a:srgbClr val="616161"/>
                </a:solidFill>
                <a:latin typeface="Segoe UI"/>
              </a:rPr>
              <a:t>Copilot Chat</a:t>
            </a:r>
          </a:p>
        </p:txBody>
      </p:sp>
      <p:sp>
        <p:nvSpPr>
          <p:cNvPr id="9" name="Rectangle 8">
            <a:extLst>
              <a:ext uri="{C183D7F6-B498-43B3-948B-1728B52AA6E4}">
                <ns2:decorative xmlns:ns2="http://schemas.microsoft.com/office/drawing/2017/decorative" val="1"/>
              </a:ext>
            </a:extLst>
          </p:cNvPr>
          <p:cNvSpPr/>
          <p:nvPr/>
        </p:nvSpPr>
        <p:spPr>
          <a:xfrm>
            <a:off x="502920" y="2423160"/>
            <a:ext cx="11183112" cy="841248"/>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a:extLst>
              <a:ext uri="{C183D7F6-B498-43B3-948B-1728B52AA6E4}">
                <ns3:decorative xmlns:ns3="http://schemas.microsoft.com/office/drawing/2017/decorative" val="1"/>
              </a:ext>
            </a:extLst>
          </p:cNvPr>
          <p:cNvSpPr/>
          <p:nvPr/>
        </p:nvSpPr>
        <p:spPr>
          <a:xfrm>
            <a:off x="502920" y="2423160"/>
            <a:ext cx="54864" cy="841248"/>
          </a:xfrm>
          <a:prstGeom prst="rect">
            <a:avLst/>
          </a:prstGeom>
          <a:solidFill>
            <a:srgbClr val="8064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31520" y="2423160"/>
            <a:ext cx="457200" cy="841248"/>
          </a:xfrm>
          <a:prstGeom prst="rect">
            <a:avLst/>
          </a:prstGeom>
          <a:noFill/>
        </p:spPr>
        <p:txBody>
          <a:bodyPr wrap="square" anchor="ctr" lIns="0" rIns="0" tIns="0" bIns="0">
            <a:spAutoFit/>
          </a:bodyPr>
          <a:lstStyle/>
          <a:p>
            <a:pPr algn="l">
              <a:spcAft>
                <a:spcPts val="400"/>
              </a:spcAft>
            </a:pPr>
            <a:r>
              <a:rPr sz="2400" b="1" i="0">
                <a:solidFill>
                  <a:srgbClr val="8064A2"/>
                </a:solidFill>
                <a:latin typeface="Segoe UI"/>
              </a:rPr>
              <a:t>2</a:t>
            </a:r>
          </a:p>
        </p:txBody>
      </p:sp>
      <p:sp>
        <p:nvSpPr>
          <p:cNvPr id="12" name="TextBox 11"/>
          <p:cNvSpPr txBox="1"/>
          <p:nvPr/>
        </p:nvSpPr>
        <p:spPr>
          <a:xfrm>
            <a:off x="1280160" y="2423160"/>
            <a:ext cx="6309360" cy="841248"/>
          </a:xfrm>
          <a:prstGeom prst="rect">
            <a:avLst/>
          </a:prstGeom>
          <a:noFill/>
        </p:spPr>
        <p:txBody>
          <a:bodyPr wrap="square" anchor="ctr" lIns="0" rIns="0" tIns="0" bIns="0">
            <a:spAutoFit/>
          </a:bodyPr>
          <a:lstStyle/>
          <a:p>
            <a:pPr algn="l">
              <a:spcAft>
                <a:spcPts val="400"/>
              </a:spcAft>
            </a:pPr>
            <a:r>
              <a:rPr sz="1500" b="0" i="0">
                <a:solidFill>
                  <a:srgbClr val="242424"/>
                </a:solidFill>
                <a:latin typeface="Segoe UI"/>
              </a:rPr>
              <a:t>Cowork shows </a:t>
            </a:r>
            <a:r>
              <a:rPr sz="1500" b="1" i="0">
                <a:solidFill>
                  <a:srgbClr val="242424"/>
                </a:solidFill>
                <a:latin typeface="Segoe UI"/>
              </a:rPr>
              <a:t>Approve All (5)</a:t>
            </a:r>
            <a:r>
              <a:rPr sz="1500" b="0" i="0">
                <a:solidFill>
                  <a:srgbClr val="242424"/>
                </a:solidFill>
                <a:latin typeface="Segoe UI"/>
              </a:rPr>
              <a:t>. What happens if you click it?</a:t>
            </a:r>
          </a:p>
        </p:txBody>
      </p:sp>
      <p:sp>
        <p:nvSpPr>
          <p:cNvPr id="13" name="TextBox 12"/>
          <p:cNvSpPr txBox="1"/>
          <p:nvPr/>
        </p:nvSpPr>
        <p:spPr>
          <a:xfrm>
            <a:off x="7772400" y="2423160"/>
            <a:ext cx="3749039" cy="841248"/>
          </a:xfrm>
          <a:prstGeom prst="rect">
            <a:avLst/>
          </a:prstGeom>
          <a:noFill/>
        </p:spPr>
        <p:txBody>
          <a:bodyPr wrap="square" anchor="ctr" lIns="0" rIns="0" tIns="0" bIns="0">
            <a:spAutoFit/>
          </a:bodyPr>
          <a:lstStyle/>
          <a:p>
            <a:pPr algn="l">
              <a:spcAft>
                <a:spcPts val="400"/>
              </a:spcAft>
            </a:pPr>
            <a:r>
              <a:rPr sz="1300" b="0" i="0">
                <a:solidFill>
                  <a:srgbClr val="616161"/>
                </a:solidFill>
                <a:latin typeface="Segoe UI"/>
              </a:rPr>
              <a:t>All five run, with no individual review</a:t>
            </a:r>
          </a:p>
        </p:txBody>
      </p:sp>
      <p:sp>
        <p:nvSpPr>
          <p:cNvPr id="14" name="Rectangle 13">
            <a:extLst>
              <a:ext uri="{C183D7F6-B498-43B3-948B-1728B52AA6E4}">
                <ns4:decorative xmlns:ns4="http://schemas.microsoft.com/office/drawing/2017/decorative" val="1"/>
              </a:ext>
            </a:extLst>
          </p:cNvPr>
          <p:cNvSpPr/>
          <p:nvPr/>
        </p:nvSpPr>
        <p:spPr>
          <a:xfrm>
            <a:off x="502920" y="3383280"/>
            <a:ext cx="11183112" cy="841248"/>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a:extLst>
              <a:ext uri="{C183D7F6-B498-43B3-948B-1728B52AA6E4}">
                <ns5:decorative xmlns:ns5="http://schemas.microsoft.com/office/drawing/2017/decorative" val="1"/>
              </a:ext>
            </a:extLst>
          </p:cNvPr>
          <p:cNvSpPr/>
          <p:nvPr/>
        </p:nvSpPr>
        <p:spPr>
          <a:xfrm>
            <a:off x="502920" y="3383280"/>
            <a:ext cx="54864" cy="841248"/>
          </a:xfrm>
          <a:prstGeom prst="rect">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31520" y="3383280"/>
            <a:ext cx="457200" cy="841248"/>
          </a:xfrm>
          <a:prstGeom prst="rect">
            <a:avLst/>
          </a:prstGeom>
          <a:noFill/>
        </p:spPr>
        <p:txBody>
          <a:bodyPr wrap="square" anchor="ctr" lIns="0" rIns="0" tIns="0" bIns="0">
            <a:spAutoFit/>
          </a:bodyPr>
          <a:lstStyle/>
          <a:p>
            <a:pPr algn="l">
              <a:spcAft>
                <a:spcPts val="400"/>
              </a:spcAft>
            </a:pPr>
            <a:r>
              <a:rPr sz="2400" b="1" i="0">
                <a:solidFill>
                  <a:srgbClr val="107C10"/>
                </a:solidFill>
                <a:latin typeface="Segoe UI"/>
              </a:rPr>
              <a:t>3</a:t>
            </a:r>
          </a:p>
        </p:txBody>
      </p:sp>
      <p:sp>
        <p:nvSpPr>
          <p:cNvPr id="17" name="TextBox 16"/>
          <p:cNvSpPr txBox="1"/>
          <p:nvPr/>
        </p:nvSpPr>
        <p:spPr>
          <a:xfrm>
            <a:off x="1280160" y="3383280"/>
            <a:ext cx="6309360" cy="841248"/>
          </a:xfrm>
          <a:prstGeom prst="rect">
            <a:avLst/>
          </a:prstGeom>
          <a:noFill/>
        </p:spPr>
        <p:txBody>
          <a:bodyPr wrap="square" anchor="ctr" lIns="0" rIns="0" tIns="0" bIns="0">
            <a:spAutoFit/>
          </a:bodyPr>
          <a:lstStyle/>
          <a:p>
            <a:pPr algn="l">
              <a:spcAft>
                <a:spcPts val="400"/>
              </a:spcAft>
            </a:pPr>
            <a:r>
              <a:rPr sz="1500" b="0" i="0">
                <a:solidFill>
                  <a:srgbClr val="242424"/>
                </a:solidFill>
                <a:latin typeface="Segoe UI"/>
              </a:rPr>
              <a:t>Why can’t you add </a:t>
            </a:r>
            <a:r>
              <a:rPr sz="1500" b="1" i="0">
                <a:solidFill>
                  <a:srgbClr val="242424"/>
                </a:solidFill>
                <a:latin typeface="Segoe UI"/>
              </a:rPr>
              <a:t>.md</a:t>
            </a:r>
            <a:r>
              <a:rPr sz="1500" b="0" i="0">
                <a:solidFill>
                  <a:srgbClr val="242424"/>
                </a:solidFill>
                <a:latin typeface="Segoe UI"/>
              </a:rPr>
              <a:t> files as Agent Builder knowledge?</a:t>
            </a:r>
          </a:p>
        </p:txBody>
      </p:sp>
      <p:sp>
        <p:nvSpPr>
          <p:cNvPr id="18" name="TextBox 17"/>
          <p:cNvSpPr txBox="1"/>
          <p:nvPr/>
        </p:nvSpPr>
        <p:spPr>
          <a:xfrm>
            <a:off x="7772400" y="3383280"/>
            <a:ext cx="3749039" cy="841248"/>
          </a:xfrm>
          <a:prstGeom prst="rect">
            <a:avLst/>
          </a:prstGeom>
          <a:noFill/>
        </p:spPr>
        <p:txBody>
          <a:bodyPr wrap="square" anchor="ctr" lIns="0" rIns="0" tIns="0" bIns="0">
            <a:spAutoFit/>
          </a:bodyPr>
          <a:lstStyle/>
          <a:p>
            <a:pPr algn="l">
              <a:spcAft>
                <a:spcPts val="400"/>
              </a:spcAft>
            </a:pPr>
            <a:r>
              <a:rPr sz="1300" b="0" i="0">
                <a:solidFill>
                  <a:srgbClr val="616161"/>
                </a:solidFill>
                <a:latin typeface="Segoe UI"/>
              </a:rPr>
              <a:t>Unsupported — use .docx, .pdf, or .xlsx</a:t>
            </a:r>
          </a:p>
        </p:txBody>
      </p:sp>
      <p:sp>
        <p:nvSpPr>
          <p:cNvPr id="19" name="Rectangle 18">
            <a:extLst>
              <a:ext uri="{C183D7F6-B498-43B3-948B-1728B52AA6E4}">
                <ns6:decorative xmlns:ns6="http://schemas.microsoft.com/office/drawing/2017/decorative" val="1"/>
              </a:ext>
            </a:extLst>
          </p:cNvPr>
          <p:cNvSpPr/>
          <p:nvPr/>
        </p:nvSpPr>
        <p:spPr>
          <a:xfrm>
            <a:off x="502920" y="4343400"/>
            <a:ext cx="11183112" cy="841248"/>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a:extLst>
              <a:ext uri="{C183D7F6-B498-43B3-948B-1728B52AA6E4}">
                <ns7:decorative xmlns:ns7="http://schemas.microsoft.com/office/drawing/2017/decorative" val="1"/>
              </a:ext>
            </a:extLst>
          </p:cNvPr>
          <p:cNvSpPr/>
          <p:nvPr/>
        </p:nvSpPr>
        <p:spPr>
          <a:xfrm>
            <a:off x="502920" y="4343400"/>
            <a:ext cx="54864" cy="841248"/>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31520" y="4343400"/>
            <a:ext cx="457200" cy="841248"/>
          </a:xfrm>
          <a:prstGeom prst="rect">
            <a:avLst/>
          </a:prstGeom>
          <a:noFill/>
        </p:spPr>
        <p:txBody>
          <a:bodyPr wrap="square" anchor="ctr" lIns="0" rIns="0" tIns="0" bIns="0">
            <a:spAutoFit/>
          </a:bodyPr>
          <a:lstStyle/>
          <a:p>
            <a:pPr algn="l">
              <a:spcAft>
                <a:spcPts val="400"/>
              </a:spcAft>
            </a:pPr>
            <a:r>
              <a:rPr sz="2400" b="1" i="0">
                <a:solidFill>
                  <a:srgbClr val="C0504D"/>
                </a:solidFill>
                <a:latin typeface="Segoe UI"/>
              </a:rPr>
              <a:t>4</a:t>
            </a:r>
          </a:p>
        </p:txBody>
      </p:sp>
      <p:sp>
        <p:nvSpPr>
          <p:cNvPr id="22" name="TextBox 21"/>
          <p:cNvSpPr txBox="1"/>
          <p:nvPr/>
        </p:nvSpPr>
        <p:spPr>
          <a:xfrm>
            <a:off x="1280160" y="4343400"/>
            <a:ext cx="6309360" cy="841248"/>
          </a:xfrm>
          <a:prstGeom prst="rect">
            <a:avLst/>
          </a:prstGeom>
          <a:noFill/>
        </p:spPr>
        <p:txBody>
          <a:bodyPr wrap="square" anchor="ctr" lIns="0" rIns="0" tIns="0" bIns="0">
            <a:spAutoFit/>
          </a:bodyPr>
          <a:lstStyle/>
          <a:p>
            <a:pPr algn="l">
              <a:spcAft>
                <a:spcPts val="400"/>
              </a:spcAft>
            </a:pPr>
            <a:r>
              <a:rPr sz="1500" b="0" i="0">
                <a:solidFill>
                  <a:srgbClr val="242424"/>
                </a:solidFill>
                <a:latin typeface="Segoe UI"/>
              </a:rPr>
              <a:t>Skill vs. agent — who benefits?</a:t>
            </a:r>
          </a:p>
        </p:txBody>
      </p:sp>
      <p:sp>
        <p:nvSpPr>
          <p:cNvPr id="23" name="TextBox 22"/>
          <p:cNvSpPr txBox="1"/>
          <p:nvPr/>
        </p:nvSpPr>
        <p:spPr>
          <a:xfrm>
            <a:off x="7772400" y="4343400"/>
            <a:ext cx="3749039" cy="841248"/>
          </a:xfrm>
          <a:prstGeom prst="rect">
            <a:avLst/>
          </a:prstGeom>
          <a:noFill/>
        </p:spPr>
        <p:txBody>
          <a:bodyPr wrap="square" anchor="ctr" lIns="0" rIns="0" tIns="0" bIns="0">
            <a:spAutoFit/>
          </a:bodyPr>
          <a:lstStyle/>
          <a:p>
            <a:pPr algn="l">
              <a:spcAft>
                <a:spcPts val="400"/>
              </a:spcAft>
            </a:pPr>
            <a:r>
              <a:rPr sz="1300" b="0" i="0">
                <a:solidFill>
                  <a:srgbClr val="616161"/>
                </a:solidFill>
                <a:latin typeface="Segoe UI"/>
              </a:rPr>
              <a:t>A skill helps </a:t>
            </a:r>
            <a:r>
              <a:rPr sz="1300" b="1" i="0">
                <a:solidFill>
                  <a:srgbClr val="616161"/>
                </a:solidFill>
                <a:latin typeface="Segoe UI"/>
              </a:rPr>
              <a:t>you</a:t>
            </a:r>
            <a:r>
              <a:rPr sz="1300" b="0" i="0">
                <a:solidFill>
                  <a:srgbClr val="616161"/>
                </a:solidFill>
                <a:latin typeface="Segoe UI"/>
              </a:rPr>
              <a:t>; an agent helps </a:t>
            </a:r>
            <a:r>
              <a:rPr sz="1300" b="1" i="0">
                <a:solidFill>
                  <a:srgbClr val="616161"/>
                </a:solidFill>
                <a:latin typeface="Segoe UI"/>
              </a:rPr>
              <a:t>others</a:t>
            </a:r>
          </a:p>
        </p:txBody>
      </p:sp>
      <p:sp>
        <p:nvSpPr>
          <p:cNvPr id="24" name="Rounded Rectangle 23">
            <a:extLst>
              <a:ext uri="{C183D7F6-B498-43B3-948B-1728B52AA6E4}">
                <ns8:decorative xmlns:ns8="http://schemas.microsoft.com/office/drawing/2017/decorative" val="1"/>
              </a:ext>
            </a:extLst>
          </p:cNvPr>
          <p:cNvSpPr/>
          <p:nvPr/>
        </p:nvSpPr>
        <p:spPr>
          <a:xfrm>
            <a:off x="502920" y="5394960"/>
            <a:ext cx="11183112" cy="777240"/>
          </a:xfrm>
          <a:prstGeom prst="roundRect">
            <a:avLst>
              <a:gd name="adj" fmla="val 12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77240" y="5394960"/>
            <a:ext cx="10634472" cy="777240"/>
          </a:xfrm>
          <a:prstGeom prst="rect">
            <a:avLst/>
          </a:prstGeom>
          <a:noFill/>
        </p:spPr>
        <p:txBody>
          <a:bodyPr wrap="square" anchor="ctr" lIns="0" rIns="0" tIns="0" bIns="0">
            <a:spAutoFit/>
          </a:bodyPr>
          <a:lstStyle/>
          <a:p>
            <a:pPr algn="l">
              <a:lnSpc>
                <a:spcPct val="105000"/>
              </a:lnSpc>
              <a:spcAft>
                <a:spcPts val="400"/>
              </a:spcAft>
            </a:pPr>
            <a:r>
              <a:rPr sz="1300" b="1" i="0">
                <a:solidFill>
                  <a:srgbClr val="323139"/>
                </a:solidFill>
                <a:latin typeface="Segoe UI"/>
              </a:rPr>
              <a:t>Reveal answers one at a time</a:t>
            </a:r>
            <a:r>
              <a:rPr sz="1300" b="0" i="0">
                <a:solidFill>
                  <a:srgbClr val="323139"/>
                </a:solidFill>
                <a:latin typeface="Segoe UI"/>
              </a:rPr>
              <a:t> — the right column is for you. Tomorrow: the full 8-question check, survey, and 30-day plan.</a:t>
            </a:r>
          </a:p>
        </p:txBody>
      </p:sp>
    </p:spTree>
    <p:extLst>
      <p:ext uri="{BB962C8B-B14F-4D97-AF65-F5344CB8AC3E}">
        <p14:creationId xmlns:p14="http://schemas.microsoft.com/office/powerpoint/2010/main" val="418314712"/>
      </p:ext>
    </p:extLst>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1690EC29-5E32-79B5-E29E-1E389EB1B83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1224B80-F0A8-232A-607E-25709F49219E}"/>
              </a:ext>
            </a:extLst>
          </p:cNvPr>
          <p:cNvSpPr txBox="1"/>
          <p:nvPr/>
        </p:nvSpPr>
        <p:spPr>
          <a:xfrm>
            <a:off x="502920" y="347472"/>
            <a:ext cx="11155680" cy="415498"/>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a:ln>
                  <a:noFill/>
                </a:ln>
                <a:solidFill>
                  <a:srgbClr val="242424"/>
                </a:solidFill>
                <a:effectLst/>
                <a:uLnTx/>
                <a:uFillTx/>
                <a:latin typeface="Segoe UI"/>
                <a:ea typeface="+mn-ea"/>
                <a:cs typeface="+mn-cs"/>
              </a:rPr>
              <a:t>Wrap-up &amp; next steps</a:t>
            </a:r>
          </a:p>
        </p:txBody>
      </p:sp>
      <p:sp>
        <p:nvSpPr>
          <p:cNvPr id="3" name="TextBox 2">
            <a:extLst>
              <a:ext uri="{FF2B5EF4-FFF2-40B4-BE49-F238E27FC236}">
                <a16:creationId xmlns:a16="http://schemas.microsoft.com/office/drawing/2014/main" id="{C42FDF1E-C1D0-BD11-A7D1-CD7E8CECE583}"/>
              </a:ext>
            </a:extLst>
          </p:cNvPr>
          <p:cNvSpPr txBox="1"/>
          <p:nvPr/>
        </p:nvSpPr>
        <p:spPr>
          <a:xfrm>
            <a:off x="502920" y="932688"/>
            <a:ext cx="11064240" cy="215444"/>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616161"/>
                </a:solidFill>
                <a:effectLst/>
                <a:uLnTx/>
                <a:uFillTx/>
                <a:latin typeface="Segoe UI"/>
                <a:ea typeface="+mn-ea"/>
                <a:cs typeface="+mn-cs"/>
              </a:rPr>
              <a:t>Three tools, eight exercises, one habit: draft → review → approve.</a:t>
            </a:r>
          </a:p>
        </p:txBody>
      </p:sp>
      <p:sp>
        <p:nvSpPr>
          <p:cNvPr id="4" name="Rectangle 3">
            <a:extLst>
              <a:ext uri="{C183D7F6-B498-43B3-948B-1728B52AA6E4}">
                <ns0:decorative xmlns:ns0="http://schemas.microsoft.com/office/drawing/2017/decorative" val="1"/>
              </a:ext>
            </a:extLst>
          </p:cNvPr>
          <p:cNvSpPr/>
          <p:nvPr/>
        </p:nvSpPr>
        <p:spPr>
          <a:xfrm>
            <a:off x="502920" y="1463040"/>
            <a:ext cx="11183112" cy="804672"/>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a:extLst>
              <a:ext uri="{C183D7F6-B498-43B3-948B-1728B52AA6E4}">
                <ns1:decorative xmlns:ns1="http://schemas.microsoft.com/office/drawing/2017/decorative" val="1"/>
              </a:ext>
            </a:extLst>
          </p:cNvPr>
          <p:cNvSpPr/>
          <p:nvPr/>
        </p:nvSpPr>
        <p:spPr>
          <a:xfrm>
            <a:off x="502920" y="1463040"/>
            <a:ext cx="54864" cy="804672"/>
          </a:xfrm>
          <a:prstGeom prst="rect">
            <a:avLst/>
          </a:prstGeom>
          <a:solidFill>
            <a:srgbClr val="0F6C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31520" y="1463040"/>
            <a:ext cx="2377440" cy="804672"/>
          </a:xfrm>
          <a:prstGeom prst="rect">
            <a:avLst/>
          </a:prstGeom>
          <a:noFill/>
        </p:spPr>
        <p:txBody>
          <a:bodyPr wrap="square" anchor="ctr" lIns="0" rIns="0" tIns="0" bIns="0">
            <a:spAutoFit/>
          </a:bodyPr>
          <a:lstStyle/>
          <a:p>
            <a:pPr algn="l">
              <a:spcAft>
                <a:spcPts val="400"/>
              </a:spcAft>
            </a:pPr>
            <a:r>
              <a:rPr sz="1500" b="1" i="0">
                <a:solidFill>
                  <a:srgbClr val="0F6CBD"/>
                </a:solidFill>
                <a:latin typeface="Segoe UI"/>
              </a:rPr>
              <a:t>Three tools</a:t>
            </a:r>
          </a:p>
        </p:txBody>
      </p:sp>
      <p:sp>
        <p:nvSpPr>
          <p:cNvPr id="7" name="TextBox 6"/>
          <p:cNvSpPr txBox="1"/>
          <p:nvPr/>
        </p:nvSpPr>
        <p:spPr>
          <a:xfrm>
            <a:off x="3154680" y="1463040"/>
            <a:ext cx="8412480" cy="804672"/>
          </a:xfrm>
          <a:prstGeom prst="rect">
            <a:avLst/>
          </a:prstGeom>
          <a:noFill/>
        </p:spPr>
        <p:txBody>
          <a:bodyPr wrap="square" anchor="ctr" lIns="0" rIns="0" tIns="0" bIns="0">
            <a:spAutoFit/>
          </a:bodyPr>
          <a:lstStyle/>
          <a:p>
            <a:pPr algn="l">
              <a:spcAft>
                <a:spcPts val="400"/>
              </a:spcAft>
            </a:pPr>
            <a:r>
              <a:rPr sz="1400" b="0" i="0">
                <a:solidFill>
                  <a:srgbClr val="242424"/>
                </a:solidFill>
                <a:latin typeface="Segoe UI"/>
              </a:rPr>
              <a:t>Copilot Chat for quick answers, </a:t>
            </a:r>
            <a:r>
              <a:rPr sz="1400" b="1" i="0">
                <a:solidFill>
                  <a:srgbClr val="242424"/>
                </a:solidFill>
                <a:latin typeface="Segoe UI"/>
              </a:rPr>
              <a:t>Cowork</a:t>
            </a:r>
            <a:r>
              <a:rPr sz="1400" b="0" i="0">
                <a:solidFill>
                  <a:srgbClr val="242424"/>
                </a:solidFill>
                <a:latin typeface="Segoe UI"/>
              </a:rPr>
              <a:t> to get multi-step work done, </a:t>
            </a:r>
            <a:r>
              <a:rPr sz="1400" b="1" i="0">
                <a:solidFill>
                  <a:srgbClr val="242424"/>
                </a:solidFill>
                <a:latin typeface="Segoe UI"/>
              </a:rPr>
              <a:t>Agent Builder</a:t>
            </a:r>
            <a:r>
              <a:rPr sz="1400" b="0" i="0">
                <a:solidFill>
                  <a:srgbClr val="242424"/>
                </a:solidFill>
                <a:latin typeface="Segoe UI"/>
              </a:rPr>
              <a:t> for a reusable helper.</a:t>
            </a:r>
          </a:p>
        </p:txBody>
      </p:sp>
      <p:sp>
        <p:nvSpPr>
          <p:cNvPr id="8" name="Rectangle 7">
            <a:extLst>
              <a:ext uri="{C183D7F6-B498-43B3-948B-1728B52AA6E4}">
                <ns2:decorative xmlns:ns2="http://schemas.microsoft.com/office/drawing/2017/decorative" val="1"/>
              </a:ext>
            </a:extLst>
          </p:cNvPr>
          <p:cNvSpPr/>
          <p:nvPr/>
        </p:nvSpPr>
        <p:spPr>
          <a:xfrm>
            <a:off x="502920" y="2377440"/>
            <a:ext cx="11183112" cy="804672"/>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a:extLst>
              <a:ext uri="{C183D7F6-B498-43B3-948B-1728B52AA6E4}">
                <ns3:decorative xmlns:ns3="http://schemas.microsoft.com/office/drawing/2017/decorative" val="1"/>
              </a:ext>
            </a:extLst>
          </p:cNvPr>
          <p:cNvSpPr/>
          <p:nvPr/>
        </p:nvSpPr>
        <p:spPr>
          <a:xfrm>
            <a:off x="502920" y="2377440"/>
            <a:ext cx="54864" cy="804672"/>
          </a:xfrm>
          <a:prstGeom prst="rect">
            <a:avLst/>
          </a:prstGeom>
          <a:solidFill>
            <a:srgbClr val="8064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31520" y="2377440"/>
            <a:ext cx="2377440" cy="804672"/>
          </a:xfrm>
          <a:prstGeom prst="rect">
            <a:avLst/>
          </a:prstGeom>
          <a:noFill/>
        </p:spPr>
        <p:txBody>
          <a:bodyPr wrap="square" anchor="ctr" lIns="0" rIns="0" tIns="0" bIns="0">
            <a:spAutoFit/>
          </a:bodyPr>
          <a:lstStyle/>
          <a:p>
            <a:pPr algn="l">
              <a:spcAft>
                <a:spcPts val="400"/>
              </a:spcAft>
            </a:pPr>
            <a:r>
              <a:rPr sz="1500" b="1" i="0">
                <a:solidFill>
                  <a:srgbClr val="8064A2"/>
                </a:solidFill>
                <a:latin typeface="Segoe UI"/>
              </a:rPr>
              <a:t>What you built</a:t>
            </a:r>
          </a:p>
        </p:txBody>
      </p:sp>
      <p:sp>
        <p:nvSpPr>
          <p:cNvPr id="11" name="TextBox 10"/>
          <p:cNvSpPr txBox="1"/>
          <p:nvPr/>
        </p:nvSpPr>
        <p:spPr>
          <a:xfrm>
            <a:off x="3154680" y="2377440"/>
            <a:ext cx="8412480" cy="804672"/>
          </a:xfrm>
          <a:prstGeom prst="rect">
            <a:avLst/>
          </a:prstGeom>
          <a:noFill/>
        </p:spPr>
        <p:txBody>
          <a:bodyPr wrap="square" anchor="ctr" lIns="0" rIns="0" tIns="0" bIns="0">
            <a:spAutoFit/>
          </a:bodyPr>
          <a:lstStyle/>
          <a:p>
            <a:pPr algn="l">
              <a:spcAft>
                <a:spcPts val="400"/>
              </a:spcAft>
            </a:pPr>
            <a:r>
              <a:rPr sz="1400" b="0" i="0">
                <a:solidFill>
                  <a:srgbClr val="242424"/>
                </a:solidFill>
                <a:latin typeface="Segoe UI"/>
              </a:rPr>
              <a:t>A command center, a cited briefing, a browser task across two sites, a custom skill, an onboarding pack, an automation, and an agent.</a:t>
            </a:r>
          </a:p>
        </p:txBody>
      </p:sp>
      <p:sp>
        <p:nvSpPr>
          <p:cNvPr id="12" name="Rectangle 11">
            <a:extLst>
              <a:ext uri="{C183D7F6-B498-43B3-948B-1728B52AA6E4}">
                <ns4:decorative xmlns:ns4="http://schemas.microsoft.com/office/drawing/2017/decorative" val="1"/>
              </a:ext>
            </a:extLst>
          </p:cNvPr>
          <p:cNvSpPr/>
          <p:nvPr/>
        </p:nvSpPr>
        <p:spPr>
          <a:xfrm>
            <a:off x="502920" y="3291840"/>
            <a:ext cx="11183112" cy="804672"/>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a:extLst>
              <a:ext uri="{C183D7F6-B498-43B3-948B-1728B52AA6E4}">
                <ns5:decorative xmlns:ns5="http://schemas.microsoft.com/office/drawing/2017/decorative" val="1"/>
              </a:ext>
            </a:extLst>
          </p:cNvPr>
          <p:cNvSpPr/>
          <p:nvPr/>
        </p:nvSpPr>
        <p:spPr>
          <a:xfrm>
            <a:off x="502920" y="3291840"/>
            <a:ext cx="54864" cy="804672"/>
          </a:xfrm>
          <a:prstGeom prst="rect">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31520" y="3291840"/>
            <a:ext cx="2377440" cy="804672"/>
          </a:xfrm>
          <a:prstGeom prst="rect">
            <a:avLst/>
          </a:prstGeom>
          <a:noFill/>
        </p:spPr>
        <p:txBody>
          <a:bodyPr wrap="square" anchor="ctr" lIns="0" rIns="0" tIns="0" bIns="0">
            <a:spAutoFit/>
          </a:bodyPr>
          <a:lstStyle/>
          <a:p>
            <a:pPr algn="l">
              <a:spcAft>
                <a:spcPts val="400"/>
              </a:spcAft>
            </a:pPr>
            <a:r>
              <a:rPr sz="1500" b="1" i="0">
                <a:solidFill>
                  <a:srgbClr val="107C10"/>
                </a:solidFill>
                <a:latin typeface="Segoe UI"/>
              </a:rPr>
              <a:t>Take it with you</a:t>
            </a:r>
          </a:p>
        </p:txBody>
      </p:sp>
      <p:sp>
        <p:nvSpPr>
          <p:cNvPr id="15" name="TextBox 14"/>
          <p:cNvSpPr txBox="1"/>
          <p:nvPr/>
        </p:nvSpPr>
        <p:spPr>
          <a:xfrm>
            <a:off x="3154680" y="3291840"/>
            <a:ext cx="8412480" cy="804672"/>
          </a:xfrm>
          <a:prstGeom prst="rect">
            <a:avLst/>
          </a:prstGeom>
          <a:noFill/>
        </p:spPr>
        <p:txBody>
          <a:bodyPr wrap="square" anchor="ctr" lIns="0" rIns="0" tIns="0" bIns="0">
            <a:spAutoFit/>
          </a:bodyPr>
          <a:lstStyle/>
          <a:p>
            <a:pPr algn="l">
              <a:spcAft>
                <a:spcPts val="400"/>
              </a:spcAft>
            </a:pPr>
            <a:r>
              <a:rPr sz="1400" b="0" i="0">
                <a:solidFill>
                  <a:srgbClr val="242424"/>
                </a:solidFill>
                <a:latin typeface="Segoe UI"/>
              </a:rPr>
              <a:t>The </a:t>
            </a:r>
            <a:r>
              <a:rPr sz="1400" b="1" i="0">
                <a:solidFill>
                  <a:srgbClr val="242424"/>
                </a:solidFill>
                <a:latin typeface="Segoe UI"/>
              </a:rPr>
              <a:t>quick-reference card</a:t>
            </a:r>
            <a:r>
              <a:rPr sz="1400" b="0" i="0">
                <a:solidFill>
                  <a:srgbClr val="242424"/>
                </a:solidFill>
                <a:latin typeface="Segoe UI"/>
              </a:rPr>
              <a:t>, the prompt library, and the scenario cards in your workbook.</a:t>
            </a:r>
          </a:p>
        </p:txBody>
      </p:sp>
      <p:sp>
        <p:nvSpPr>
          <p:cNvPr id="16" name="Rectangle 15">
            <a:extLst>
              <a:ext uri="{C183D7F6-B498-43B3-948B-1728B52AA6E4}">
                <ns6:decorative xmlns:ns6="http://schemas.microsoft.com/office/drawing/2017/decorative" val="1"/>
              </a:ext>
            </a:extLst>
          </p:cNvPr>
          <p:cNvSpPr/>
          <p:nvPr/>
        </p:nvSpPr>
        <p:spPr>
          <a:xfrm>
            <a:off x="502920" y="4206240"/>
            <a:ext cx="11183112" cy="804672"/>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a:extLst>
              <a:ext uri="{C183D7F6-B498-43B3-948B-1728B52AA6E4}">
                <ns7:decorative xmlns:ns7="http://schemas.microsoft.com/office/drawing/2017/decorative" val="1"/>
              </a:ext>
            </a:extLst>
          </p:cNvPr>
          <p:cNvSpPr/>
          <p:nvPr/>
        </p:nvSpPr>
        <p:spPr>
          <a:xfrm>
            <a:off x="502920" y="4206240"/>
            <a:ext cx="54864" cy="804672"/>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31520" y="4206240"/>
            <a:ext cx="2377440" cy="804672"/>
          </a:xfrm>
          <a:prstGeom prst="rect">
            <a:avLst/>
          </a:prstGeom>
          <a:noFill/>
        </p:spPr>
        <p:txBody>
          <a:bodyPr wrap="square" anchor="ctr" lIns="0" rIns="0" tIns="0" bIns="0">
            <a:spAutoFit/>
          </a:bodyPr>
          <a:lstStyle/>
          <a:p>
            <a:pPr algn="l">
              <a:spcAft>
                <a:spcPts val="400"/>
              </a:spcAft>
            </a:pPr>
            <a:r>
              <a:rPr sz="1500" b="1" i="0">
                <a:solidFill>
                  <a:srgbClr val="C0504D"/>
                </a:solidFill>
                <a:latin typeface="Segoe UI"/>
              </a:rPr>
              <a:t>Next week</a:t>
            </a:r>
          </a:p>
        </p:txBody>
      </p:sp>
      <p:sp>
        <p:nvSpPr>
          <p:cNvPr id="19" name="TextBox 18"/>
          <p:cNvSpPr txBox="1"/>
          <p:nvPr/>
        </p:nvSpPr>
        <p:spPr>
          <a:xfrm>
            <a:off x="3154680" y="4206240"/>
            <a:ext cx="8412480" cy="804672"/>
          </a:xfrm>
          <a:prstGeom prst="rect">
            <a:avLst/>
          </a:prstGeom>
          <a:noFill/>
        </p:spPr>
        <p:txBody>
          <a:bodyPr wrap="square" anchor="ctr" lIns="0" rIns="0" tIns="0" bIns="0">
            <a:spAutoFit/>
          </a:bodyPr>
          <a:lstStyle/>
          <a:p>
            <a:pPr algn="l">
              <a:spcAft>
                <a:spcPts val="400"/>
              </a:spcAft>
            </a:pPr>
            <a:r>
              <a:rPr sz="1400" b="0" i="0">
                <a:solidFill>
                  <a:srgbClr val="242424"/>
                </a:solidFill>
                <a:latin typeface="Segoe UI"/>
              </a:rPr>
              <a:t>Pick </a:t>
            </a:r>
            <a:r>
              <a:rPr sz="1400" b="1" i="0">
                <a:solidFill>
                  <a:srgbClr val="242424"/>
                </a:solidFill>
                <a:latin typeface="Segoe UI"/>
              </a:rPr>
              <a:t>one</a:t>
            </a:r>
            <a:r>
              <a:rPr sz="1400" b="0" i="0">
                <a:solidFill>
                  <a:srgbClr val="242424"/>
                </a:solidFill>
                <a:latin typeface="Segoe UI"/>
              </a:rPr>
              <a:t> task to hand to Cowork. Tomorrow you’ll get a 30-day adoption plan.</a:t>
            </a:r>
          </a:p>
        </p:txBody>
      </p:sp>
      <p:sp>
        <p:nvSpPr>
          <p:cNvPr id="20" name="Rounded Rectangle 19">
            <a:extLst>
              <a:ext uri="{C183D7F6-B498-43B3-948B-1728B52AA6E4}">
                <ns8:decorative xmlns:ns8="http://schemas.microsoft.com/office/drawing/2017/decorative" val="1"/>
              </a:ext>
            </a:extLst>
          </p:cNvPr>
          <p:cNvSpPr/>
          <p:nvPr/>
        </p:nvSpPr>
        <p:spPr>
          <a:xfrm>
            <a:off x="502920" y="5257800"/>
            <a:ext cx="11183112" cy="914400"/>
          </a:xfrm>
          <a:prstGeom prst="roundRect">
            <a:avLst>
              <a:gd name="adj" fmla="val 12000"/>
            </a:avLst>
          </a:prstGeom>
          <a:solidFill>
            <a:srgbClr val="3414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77240" y="5257800"/>
            <a:ext cx="10634472" cy="914400"/>
          </a:xfrm>
          <a:prstGeom prst="rect">
            <a:avLst/>
          </a:prstGeom>
          <a:noFill/>
        </p:spPr>
        <p:txBody>
          <a:bodyPr wrap="square" anchor="ctr" lIns="0" rIns="0" tIns="0" bIns="0">
            <a:spAutoFit/>
          </a:bodyPr>
          <a:lstStyle/>
          <a:p>
            <a:pPr algn="l">
              <a:lnSpc>
                <a:spcPct val="105000"/>
              </a:lnSpc>
              <a:spcAft>
                <a:spcPts val="400"/>
              </a:spcAft>
            </a:pPr>
            <a:r>
              <a:rPr sz="1400" b="1" i="0">
                <a:solidFill>
                  <a:srgbClr val="FFFFFF"/>
                </a:solidFill>
                <a:latin typeface="Segoe UI"/>
              </a:rPr>
              <a:t>Clean up:</a:t>
            </a:r>
            <a:r>
              <a:rPr sz="1400" b="0" i="0">
                <a:solidFill>
                  <a:srgbClr val="FFFFFF"/>
                </a:solidFill>
                <a:latin typeface="Segoe UI"/>
              </a:rPr>
              <a:t> pause or delete the schedules you created in Exercises 1 and 7 (Automations → Manage schedules).</a:t>
            </a:r>
          </a:p>
        </p:txBody>
      </p:sp>
    </p:spTree>
    <p:extLst>
      <p:ext uri="{BB962C8B-B14F-4D97-AF65-F5344CB8AC3E}">
        <p14:creationId xmlns:p14="http://schemas.microsoft.com/office/powerpoint/2010/main" val="418314712"/>
      </p:ext>
    </p:extLst>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6CA73066-62EB-02EC-D037-EC294C24A95A}"/>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5A38DABC-8A4C-0F68-E7D3-3975110991B6}"/>
              </a:ext>
            </a:extLst>
          </p:cNvPr>
          <p:cNvSpPr txBox="1">
            <a:spLocks noGrp="1"/>
          </p:cNvSpPr>
          <p:nvPr>
            <p:ph type="title"/>
          </p:nvPr>
        </p:nvSpPr>
        <p:spPr>
          <a:xfrm>
            <a:off x="584200" y="2918224"/>
            <a:ext cx="9144000" cy="615553"/>
          </a:xfrm>
          <a:noFill/>
          <a:ln>
            <a:noFill/>
            <a:prstDash/>
          </a:ln>
          <a:effectLst/>
        </p:spPr>
        <p:txBody>
          <a:bodyPr rot="0" spcFirstLastPara="0" vertOverflow="overflow" horzOverflow="overflow" vert="horz" wrap="square" lIns="0" tIns="0" rIns="0" bIns="0" numCol="1" spcCol="0" rtlCol="0" fromWordArt="0" anchor="b" anchorCtr="0" forceAA="0" compatLnSpc="1">
            <a:prstTxWarp prst="textNoShape">
              <a:avLst/>
            </a:prstTxWarp>
            <a:spAutoFit/>
          </a:bodyPr>
          <a:lstStyle>
            <a:lvl1pPr algn="l" defTabSz="932742" rtl="0" eaLnBrk="1" latinLnBrk="0" hangingPunct="1">
              <a:lnSpc>
                <a:spcPct val="100000"/>
              </a:lnSpc>
              <a:spcBef>
                <a:spcPct val="0"/>
              </a:spcBef>
              <a:buNone/>
              <a:defRPr lang="en-US" sz="4000" b="0" kern="1200" cap="none" spc="-50" baseline="0">
                <a:ln w="3175">
                  <a:noFill/>
                </a:ln>
                <a:solidFill>
                  <a:schemeClr val="tx1"/>
                </a:solidFill>
                <a:effectLst/>
                <a:latin typeface="+mj-lt"/>
                <a:ea typeface="+mn-ea"/>
                <a:cs typeface="Segoe Sans Display" pitchFamily="2" charset="0"/>
              </a:defRPr>
            </a:lvl1pPr>
          </a:lstStyle>
          <a:p>
            <a:pPr lvl="0"/>
            <a:r>
              <a:rPr lang="en-US" noProof="0"/>
              <a:t>Thank you</a:t>
            </a:r>
            <a:endParaRPr lang="en-US" noProof="0"/>
          </a:p>
        </p:txBody>
      </p:sp>
      <p:sp>
        <p:nvSpPr>
          <p:cNvPr id="5" name="Text Placeholder 4">
            <a:extLst>
              <a:ext uri="{FF2B5EF4-FFF2-40B4-BE49-F238E27FC236}">
                <a16:creationId xmlns:a16="http://schemas.microsoft.com/office/drawing/2014/main" id="{66591BFA-242A-4A0F-746F-DC462B53012B}"/>
              </a:ext>
            </a:extLst>
          </p:cNvPr>
          <p:cNvSpPr>
            <a:spLocks noGrp="1"/>
          </p:cNvSpPr>
          <p:nvPr>
            <p:ph type="body" sz="quarter" idx="12"/>
          </p:nvPr>
        </p:nvSpPr>
        <p:spPr/>
        <p:txBody>
          <a:bodyPr/>
          <a:lstStyle/>
          <a:p>
            <a:r>
              <a:rPr lang="en-IN"/>
              <a:t>Questions? Try the stretch prompts, then explore the kit’s README.</a:t>
            </a:r>
          </a:p>
        </p:txBody>
      </p:sp>
      <p:sp>
        <p:nvSpPr>
          <p:cNvPr id="7" name="TextBox 6">
            <a:extLst>
              <a:ext uri="{FF2B5EF4-FFF2-40B4-BE49-F238E27FC236}">
                <a16:creationId xmlns:a16="http://schemas.microsoft.com/office/drawing/2014/main" id="{9E45F3F4-9BE0-AC31-C0BF-36DF98724E37}"/>
              </a:ext>
            </a:extLst>
          </p:cNvPr>
          <p:cNvSpPr txBox="1"/>
          <p:nvPr/>
        </p:nvSpPr>
        <p:spPr>
          <a:xfrm>
            <a:off x="584200" y="6293077"/>
            <a:ext cx="6811924"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323139"/>
                </a:solidFill>
                <a:effectLst/>
                <a:uLnTx/>
                <a:uFillTx/>
                <a:latin typeface="Segoe Sans Display Semilight"/>
                <a:ea typeface="+mn-ea"/>
                <a:cs typeface="+mn-cs"/>
              </a:rPr>
              <a:t>©2026</a:t>
            </a:r>
            <a:r>
              <a:rPr kumimoji="0" lang="en-US" sz="800" b="0" i="0" u="none" strike="noStrike" kern="1200" cap="none" spc="40" normalizeH="0" baseline="0" noProof="0">
                <a:ln>
                  <a:noFill/>
                </a:ln>
                <a:solidFill>
                  <a:srgbClr val="323139"/>
                </a:solidFill>
                <a:effectLst/>
                <a:uLnTx/>
                <a:uFillTx/>
                <a:latin typeface="Segoe Sans Display Semilight"/>
                <a:ea typeface="+mn-ea"/>
                <a:cs typeface="+mn-cs"/>
              </a:rPr>
              <a:t> </a:t>
            </a:r>
            <a:r>
              <a:rPr kumimoji="0" lang="en-US" sz="800" b="0" i="0" u="none" strike="noStrike" kern="1200" cap="none" spc="0" normalizeH="0" baseline="0" noProof="0">
                <a:ln>
                  <a:noFill/>
                </a:ln>
                <a:solidFill>
                  <a:srgbClr val="323139"/>
                </a:solidFill>
                <a:effectLst/>
                <a:uLnTx/>
                <a:uFillTx/>
                <a:latin typeface="Segoe Sans Display Semilight"/>
                <a:ea typeface="+mn-ea"/>
                <a:cs typeface="+mn-cs"/>
              </a:rPr>
              <a:t>Microsoft</a:t>
            </a:r>
            <a:r>
              <a:rPr kumimoji="0" lang="en-US" sz="800" b="0" i="0" u="none" strike="noStrike" kern="1200" cap="none" spc="40" normalizeH="0" baseline="0" noProof="0">
                <a:ln>
                  <a:noFill/>
                </a:ln>
                <a:solidFill>
                  <a:srgbClr val="323139"/>
                </a:solidFill>
                <a:effectLst/>
                <a:uLnTx/>
                <a:uFillTx/>
                <a:latin typeface="Segoe Sans Display Semilight"/>
                <a:ea typeface="+mn-ea"/>
                <a:cs typeface="+mn-cs"/>
              </a:rPr>
              <a:t> </a:t>
            </a:r>
            <a:r>
              <a:rPr kumimoji="0" lang="en-US" sz="800" b="0" i="0" u="none" strike="noStrike" kern="1200" cap="none" spc="0" normalizeH="0" baseline="0" noProof="0">
                <a:ln>
                  <a:noFill/>
                </a:ln>
                <a:solidFill>
                  <a:srgbClr val="323139"/>
                </a:solidFill>
                <a:effectLst/>
                <a:uLnTx/>
                <a:uFillTx/>
                <a:latin typeface="Segoe Sans Display Semilight"/>
                <a:ea typeface="+mn-ea"/>
                <a:cs typeface="+mn-cs"/>
              </a:rPr>
              <a:t>Corporation.</a:t>
            </a:r>
            <a:r>
              <a:rPr kumimoji="0" lang="en-US" sz="800" b="0" i="0" u="none" strike="noStrike" kern="1200" cap="none" spc="40" normalizeH="0" baseline="0" noProof="0">
                <a:ln>
                  <a:noFill/>
                </a:ln>
                <a:solidFill>
                  <a:srgbClr val="323139"/>
                </a:solidFill>
                <a:effectLst/>
                <a:uLnTx/>
                <a:uFillTx/>
                <a:latin typeface="Segoe Sans Display Semilight"/>
                <a:ea typeface="+mn-ea"/>
                <a:cs typeface="+mn-cs"/>
              </a:rPr>
              <a:t> </a:t>
            </a:r>
            <a:r>
              <a:rPr kumimoji="0" lang="en-US" sz="800" b="0" i="0" u="none" strike="noStrike" kern="1200" cap="none" spc="0" normalizeH="0" baseline="0" noProof="0">
                <a:ln>
                  <a:noFill/>
                </a:ln>
                <a:solidFill>
                  <a:srgbClr val="323139"/>
                </a:solidFill>
                <a:effectLst/>
                <a:uLnTx/>
                <a:uFillTx/>
                <a:latin typeface="Segoe Sans Display Semilight"/>
                <a:ea typeface="+mn-ea"/>
                <a:cs typeface="+mn-cs"/>
              </a:rPr>
              <a:t>All</a:t>
            </a:r>
            <a:r>
              <a:rPr kumimoji="0" lang="en-US" sz="800" b="0" i="0" u="none" strike="noStrike" kern="1200" cap="none" spc="35" normalizeH="0" baseline="0" noProof="0">
                <a:ln>
                  <a:noFill/>
                </a:ln>
                <a:solidFill>
                  <a:srgbClr val="323139"/>
                </a:solidFill>
                <a:effectLst/>
                <a:uLnTx/>
                <a:uFillTx/>
                <a:latin typeface="Segoe Sans Display Semilight"/>
                <a:ea typeface="+mn-ea"/>
                <a:cs typeface="+mn-cs"/>
              </a:rPr>
              <a:t> </a:t>
            </a:r>
            <a:r>
              <a:rPr kumimoji="0" lang="en-US" sz="800" b="0" i="0" u="none" strike="noStrike" kern="1200" cap="none" spc="0" normalizeH="0" baseline="0" noProof="0">
                <a:ln>
                  <a:noFill/>
                </a:ln>
                <a:solidFill>
                  <a:srgbClr val="323139"/>
                </a:solidFill>
                <a:effectLst/>
                <a:uLnTx/>
                <a:uFillTx/>
                <a:latin typeface="Segoe Sans Display Semilight"/>
                <a:ea typeface="+mn-ea"/>
                <a:cs typeface="+mn-cs"/>
              </a:rPr>
              <a:t>rights</a:t>
            </a:r>
            <a:r>
              <a:rPr kumimoji="0" lang="en-US" sz="800" b="0" i="0" u="none" strike="noStrike" kern="1200" cap="none" spc="40" normalizeH="0" baseline="0" noProof="0">
                <a:ln>
                  <a:noFill/>
                </a:ln>
                <a:solidFill>
                  <a:srgbClr val="323139"/>
                </a:solidFill>
                <a:effectLst/>
                <a:uLnTx/>
                <a:uFillTx/>
                <a:latin typeface="Segoe Sans Display Semilight"/>
                <a:ea typeface="+mn-ea"/>
                <a:cs typeface="+mn-cs"/>
              </a:rPr>
              <a:t> </a:t>
            </a:r>
            <a:r>
              <a:rPr kumimoji="0" lang="en-US" sz="800" b="0" i="0" u="none" strike="noStrike" kern="1200" cap="none" spc="0" normalizeH="0" baseline="0" noProof="0">
                <a:ln>
                  <a:noFill/>
                </a:ln>
                <a:solidFill>
                  <a:srgbClr val="323139"/>
                </a:solidFill>
                <a:effectLst/>
                <a:uLnTx/>
                <a:uFillTx/>
                <a:latin typeface="Segoe Sans Display Semilight"/>
                <a:ea typeface="+mn-ea"/>
                <a:cs typeface="+mn-cs"/>
              </a:rPr>
              <a:t>reserved</a:t>
            </a:r>
            <a:r>
              <a:rPr kumimoji="0" lang="en-US" sz="800" b="0" i="0" u="none" strike="noStrike" kern="1200" cap="none" spc="0" normalizeH="0" baseline="0" noProof="0">
                <a:ln>
                  <a:noFill/>
                </a:ln>
                <a:solidFill>
                  <a:srgbClr val="FFFFFF"/>
                </a:solidFill>
                <a:effectLst/>
                <a:uLnTx/>
                <a:uFillTx/>
                <a:latin typeface="Segoe Sans Display Semilight"/>
                <a:ea typeface="+mn-ea"/>
                <a:cs typeface="+mn-cs"/>
              </a:rPr>
              <a:t>.</a:t>
            </a:r>
            <a:r>
              <a:rPr kumimoji="0" lang="en-US" sz="800" b="0" i="0" u="none" strike="noStrike" kern="1200" cap="none" spc="40" normalizeH="0" baseline="0" noProof="0">
                <a:ln>
                  <a:noFill/>
                </a:ln>
                <a:solidFill>
                  <a:srgbClr val="FFFFFF"/>
                </a:solidFill>
                <a:effectLst/>
                <a:uLnTx/>
                <a:uFillTx/>
                <a:latin typeface="Segoe Sans Display Semilight"/>
                <a:ea typeface="+mn-ea"/>
                <a:cs typeface="+mn-cs"/>
              </a:rPr>
              <a:t> </a:t>
            </a:r>
            <a:endParaRPr kumimoji="0" lang="en-US" sz="1800" b="0" i="0" u="none" strike="noStrike" kern="1200" cap="none" spc="0" normalizeH="0" baseline="0" noProof="0">
              <a:ln>
                <a:noFill/>
              </a:ln>
              <a:solidFill>
                <a:srgbClr val="323139"/>
              </a:solidFill>
              <a:effectLst/>
              <a:uLnTx/>
              <a:uFillTx/>
              <a:latin typeface="Segoe Sans Display Semilight"/>
              <a:ea typeface="+mn-ea"/>
              <a:cs typeface="+mn-cs"/>
            </a:endParaRPr>
          </a:p>
        </p:txBody>
      </p:sp>
    </p:spTree>
    <p:extLst>
      <p:ext uri="{BB962C8B-B14F-4D97-AF65-F5344CB8AC3E}">
        <p14:creationId xmlns:p14="http://schemas.microsoft.com/office/powerpoint/2010/main" val="3541237129"/>
      </p:ext>
    </p:extLst>
  </p:cSld>
  <p:clrMapOvr>
    <a:masterClrMapping/>
  </p:clrMapOvr>
</p:sld>
</file>

<file path=ppt/theme/theme1.xml><?xml version="1.0" encoding="utf-8"?>
<a:theme xmlns:a="http://schemas.openxmlformats.org/drawingml/2006/main" name="1_Microsoft 365 Copilot Template">
  <a:themeElements>
    <a:clrScheme name="MSFT Copilot 2026">
      <a:dk1>
        <a:srgbClr val="323139"/>
      </a:dk1>
      <a:lt1>
        <a:srgbClr val="FFFFFF"/>
      </a:lt1>
      <a:dk2>
        <a:srgbClr val="000000"/>
      </a:dk2>
      <a:lt2>
        <a:srgbClr val="EEF1F4"/>
      </a:lt2>
      <a:accent1>
        <a:srgbClr val="0097F4"/>
      </a:accent1>
      <a:accent2>
        <a:srgbClr val="CB85FF"/>
      </a:accent2>
      <a:accent3>
        <a:srgbClr val="FFA200"/>
      </a:accent3>
      <a:accent4>
        <a:srgbClr val="9BC72A"/>
      </a:accent4>
      <a:accent5>
        <a:srgbClr val="FF32A3"/>
      </a:accent5>
      <a:accent6>
        <a:srgbClr val="FFCE20"/>
      </a:accent6>
      <a:hlink>
        <a:srgbClr val="0097F4"/>
      </a:hlink>
      <a:folHlink>
        <a:srgbClr val="CB85FF"/>
      </a:folHlink>
    </a:clrScheme>
    <a:fontScheme name="Custom 5">
      <a:majorFont>
        <a:latin typeface="Segoe Sans Display"/>
        <a:ea typeface=""/>
        <a:cs typeface=""/>
      </a:majorFont>
      <a:minorFont>
        <a:latin typeface="Segoe Sans Display Semiligh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a:solidFill>
              <a:schemeClr val="bg1"/>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Microsoft365-Copilot-PowerPoint-template-2605" id="{E02A0F4E-1562-C14F-AE4C-1C40487469A5}" vid="{E5BCED4C-CF40-0F44-997B-4F080B9A7D8E}"/>
    </a:ext>
  </a:extLst>
</a:theme>
</file>

<file path=ppt/theme/theme2.xml><?xml version="1.0" encoding="utf-8"?>
<a:theme xmlns:a="http://schemas.openxmlformats.org/drawingml/2006/main" name="Microsoft 365 PPT Template - 2018">
  <a:themeElements>
    <a:clrScheme name="Teams">
      <a:dk1>
        <a:srgbClr val="252423"/>
      </a:dk1>
      <a:lt1>
        <a:sysClr val="window" lastClr="FFFFFF"/>
      </a:lt1>
      <a:dk2>
        <a:srgbClr val="6264A7"/>
      </a:dk2>
      <a:lt2>
        <a:srgbClr val="F3F2F1"/>
      </a:lt2>
      <a:accent1>
        <a:srgbClr val="C50E2E"/>
      </a:accent1>
      <a:accent2>
        <a:srgbClr val="9FA4FE"/>
      </a:accent2>
      <a:accent3>
        <a:srgbClr val="ED1B3E"/>
      </a:accent3>
      <a:accent4>
        <a:srgbClr val="605E5C"/>
      </a:accent4>
      <a:accent5>
        <a:srgbClr val="BEBBB8"/>
      </a:accent5>
      <a:accent6>
        <a:srgbClr val="E1DFDD"/>
      </a:accent6>
      <a:hlink>
        <a:srgbClr val="6264A7"/>
      </a:hlink>
      <a:folHlink>
        <a:srgbClr val="C8C6C4"/>
      </a:folHlink>
    </a:clrScheme>
    <a:fontScheme name="Custom 2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Microsoft 365 PPT Template 2018_2" id="{01A7FB2A-7862-441E-89D5-C3EE05893CAC}" vid="{DEC62A46-47F5-4825-899D-4E8B117FF749}"/>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2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0.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1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12.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13.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14.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15.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16.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17.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18.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19.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20.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2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22.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23.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24.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25.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26.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27.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28.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29.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30.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98E4635F6FDE443B4932A463991D546" ma:contentTypeVersion="17" ma:contentTypeDescription="Create a new document." ma:contentTypeScope="" ma:versionID="ef844624fa06aabf90fef7c3ded28024">
  <xsd:schema xmlns:xsd="http://www.w3.org/2001/XMLSchema" xmlns:xs="http://www.w3.org/2001/XMLSchema" xmlns:p="http://schemas.microsoft.com/office/2006/metadata/properties" xmlns:ns1="http://schemas.microsoft.com/sharepoint/v3" xmlns:ns2="9f999e54-2bb7-4d3e-98ea-4d068e0776c8" xmlns:ns3="81b978aa-f708-4b9a-bb08-4a0c5682ef61" targetNamespace="http://schemas.microsoft.com/office/2006/metadata/properties" ma:root="true" ma:fieldsID="9cd3b0adde458e7029fd082f3b426eb3" ns1:_="" ns2:_="" ns3:_="">
    <xsd:import namespace="http://schemas.microsoft.com/sharepoint/v3"/>
    <xsd:import namespace="9f999e54-2bb7-4d3e-98ea-4d068e0776c8"/>
    <xsd:import namespace="81b978aa-f708-4b9a-bb08-4a0c5682ef6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1:_ip_UnifiedCompliancePolicyProperties" minOccurs="0"/>
                <xsd:element ref="ns1:_ip_UnifiedCompliancePolicyUIAction"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element ref="ns2:MediaServiceBillingMetadata" minOccurs="0"/>
                <xsd:element ref="ns2:HasDigitalSignature" minOccurs="0"/>
                <xsd:element ref="ns2:DigitalSignatureProvide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2" nillable="true" ma:displayName="Unified Compliance Policy Properties" ma:hidden="true" ma:internalName="_ip_UnifiedCompliancePolicyProperties">
      <xsd:simpleType>
        <xsd:restriction base="dms:Note"/>
      </xsd:simpleType>
    </xsd:element>
    <xsd:element name="_ip_UnifiedCompliancePolicyUIAction" ma:index="1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f999e54-2bb7-4d3e-98ea-4d068e0776c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MediaServiceBillingMetadata" ma:index="22" nillable="true" ma:displayName="MediaServiceBillingMetadata" ma:hidden="true" ma:internalName="MediaServiceBillingMetadata" ma:readOnly="true">
      <xsd:simpleType>
        <xsd:restriction base="dms:Text"/>
      </xsd:simpleType>
    </xsd:element>
    <xsd:element name="HasDigitalSignature" ma:index="23" nillable="true" ma:displayName="Signed electronically" ma:internalName="HasDigitalSignature" ma:readOnly="true">
      <xsd:simpleType>
        <xsd:restriction base="dms:Boolean"/>
      </xsd:simpleType>
    </xsd:element>
    <xsd:element name="DigitalSignatureProvider" ma:index="24" nillable="true" ma:displayName="Signature provider" ma:internalName="DigitalSignatureProvider"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1b978aa-f708-4b9a-bb08-4a0c5682ef61"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c3d9b0ef-f47e-49c2-ab2e-e36ac6c1e459}" ma:internalName="TaxCatchAll" ma:showField="CatchAllData" ma:web="81b978aa-f708-4b9a-bb08-4a0c5682ef6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lcf76f155ced4ddcb4097134ff3c332f xmlns="9f999e54-2bb7-4d3e-98ea-4d068e0776c8">
      <Terms xmlns="http://schemas.microsoft.com/office/infopath/2007/PartnerControls"/>
    </lcf76f155ced4ddcb4097134ff3c332f>
    <TaxCatchAll xmlns="81b978aa-f708-4b9a-bb08-4a0c5682ef61" xsi:nil="true"/>
  </documentManagement>
</p:properties>
</file>

<file path=customXml/itemProps1.xml><?xml version="1.0" encoding="utf-8"?>
<ds:datastoreItem xmlns:ds="http://schemas.openxmlformats.org/officeDocument/2006/customXml" ds:itemID="{BF73BFBE-D3CC-4153-B031-607EFF219B7F}">
  <ds:schemaRefs>
    <ds:schemaRef ds:uri="http://schemas.microsoft.com/sharepoint/v3/contenttype/forms"/>
  </ds:schemaRefs>
</ds:datastoreItem>
</file>

<file path=customXml/itemProps2.xml><?xml version="1.0" encoding="utf-8"?>
<ds:datastoreItem xmlns:ds="http://schemas.openxmlformats.org/officeDocument/2006/customXml" ds:itemID="{EC79634C-EAD0-4B2D-9B13-32801D372DC0}">
  <ds:schemaRefs>
    <ds:schemaRef ds:uri="81b978aa-f708-4b9a-bb08-4a0c5682ef61"/>
    <ds:schemaRef ds:uri="9f999e54-2bb7-4d3e-98ea-4d068e0776c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FA6CF0E2-4DDE-4117-9500-63CF709C4B98}">
  <ds:schemaRefs>
    <ds:schemaRef ds:uri="81b978aa-f708-4b9a-bb08-4a0c5682ef61"/>
    <ds:schemaRef ds:uri="9f999e54-2bb7-4d3e-98ea-4d068e0776c8"/>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2</TotalTime>
  <Words>6369</Words>
  <Application>Microsoft Office PowerPoint</Application>
  <PresentationFormat>Widescreen</PresentationFormat>
  <Paragraphs>641</Paragraphs>
  <Slides>17</Slides>
  <Notes>17</Notes>
  <HiddenSlides>0</HiddenSlides>
  <MMClips>0</MMClips>
  <ScaleCrop>false</ScaleCrop>
  <HeadingPairs>
    <vt:vector size="4" baseType="variant">
      <vt:variant>
        <vt:lpstr>Theme</vt:lpstr>
      </vt:variant>
      <vt:variant>
        <vt:i4>4</vt:i4>
      </vt:variant>
      <vt:variant>
        <vt:lpstr>Slide Titles</vt:lpstr>
      </vt:variant>
      <vt:variant>
        <vt:i4>17</vt:i4>
      </vt:variant>
    </vt:vector>
  </HeadingPairs>
  <TitlesOfParts>
    <vt:vector size="21" baseType="lpstr">
      <vt:lpstr>1_Microsoft 365 Copilot Template</vt:lpstr>
      <vt:lpstr>Microsoft 365 PPT Template - 2018</vt:lpstr>
      <vt:lpstr>Office Theme</vt:lpstr>
      <vt:lpstr>2_Office Theme</vt:lpstr>
      <vt:lpstr>Copilot Cowork “Nifty Fifty” Scenarios</vt:lpstr>
      <vt:lpstr>Use the “Nifty Fifty V1” Scenarios to land Cowork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Getting Things Done with Copilot Cowork for HR Tasks</dc:title>
  <dc:creator>Andrea Lum</dc:creator>
  <cp:lastModifiedBy>Saulo Machado</cp:lastModifiedBy>
  <cp:revision>6</cp:revision>
  <dcterms:created xsi:type="dcterms:W3CDTF">2026-08-25T23:39:53Z</dcterms:created>
  <dcterms:modified xsi:type="dcterms:W3CDTF">2026-08-31T17:34:55Z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0x010100198E4635F6FDE443B4932A463991D546</vt:lpwstr>
  </property>
  <property fmtid="{D5CDD505-2E9C-101B-9397-08002B2CF9AE}" pid="3" name="MediaServiceImageTags">
    <vt:lpwstr/>
  </property>
</Properties>
</file>