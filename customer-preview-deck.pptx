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SAY: 'Thanks for your time. Today we'll walk you through the workshop we're proposing for your HR team and, more importantly, hear what you'd change. Nothing here is final.' Before the meeting, set the customer name and date on this slide (or rebuild with PREVIEW_CUSTOMER and PREVIEW_DATE).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WE'RE MEETING. Set expectations: about 45 minutes, half walkthrough, half your feedback. The last slides are questions and a capture table; we'll fill it in together.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 GLANCE. Ask: is ~25 the right group size? Do attendees have laptops with Edge? Mention we can run two smaller groups if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Ask: which of these matters most for your team? Is anything missing, e.g., a specific HR process or a manager-facing outcome?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TOOLS. Cowork is the focus (7 of 8 exercises). The finale is deliberately NOT Cowork: Agent Builder, so attendees leave knowing the difference between a skill that helps them and an agent that helps others.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Ask: does one 4-hour block work, or would two 2-hour sessions fit your calendar better? Any hard stop times?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For each card, give one sentence on the HR value. ASK: which of these would your team use next week? Which would you drop or swap for one of your own HR scenarios?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For each card, give one sentence on the HR value. ASK: which of these would your team use next week? Which would you drop or swap for one of your own HR scenarios? Exercise 8 is deliberately NOT Cowork: it's Copilot Agent Builder.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 RHYTHM. Highlight the recorded demos: Cowork tasks can take several minutes, so the room watches a recording and then does it live. Ask: do you want attendees to receive the demo recordings afterward?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Ask: any policies we must reflect, such as works council agreements, regional data rules, or restrictions on which HR topics can be used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TAKEAWAYS. Ask: would you like any of these branded or translated? Should managers get a short version?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NEED. Ask: who is the tenant admin contact? Are Copilot licenses already assigned? Is usage-based billing set up? These drive the date we can commit 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Don't quote a number live unless you've run the estimator for their size. Ask: who approves the budget, and what per-user limit feels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FEEDBACK QUESTIONS. Spend most of the meeting here. Capture answers on the next slide, live, so the customer sees what we heard.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TAILORING. Note any choices on the capture slide. Swapping exercises keeps the 4-hour length; adding content means dropping something else.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FEEDBACK CAPTURE. Type into the table live (Priority: High / Medium / Low). Afterward, save this deck and send it back to the customer as the meeting summary.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Agree on the owner and date for each step before you leave. Fill in your contact details on this slide before the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aka.ms/CustomerCoworkEstimator" TargetMode="External"/><Relationship Id="rId4" Type="http://schemas.openxmlformats.org/officeDocument/2006/relationships/hyperlink" Target="https://learn.microsoft.com/microsoft-365/copilot/usage-based-billing-copilot-credits-cost" TargetMode="Externa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731520" y="1737360"/>
            <a:ext cx="7498079" cy="1828800"/>
          </a:xfrm>
        </p:spPr>
        <p:txBody>
          <a:bodyPr wrap="square" anchor="t" lIns="0" rIns="0" tIns="0" bIns="0"/>
          <a:lstStyle/>
          <a:p>
            <a:pPr algn="l"/>
            <a:r>
              <a:rPr sz="4000">
                <a:solidFill>
                  <a:srgbClr val="242424"/>
                </a:solidFill>
                <a:latin typeface="Segoe Sans Display"/>
              </a:rPr>
              <a:t>Getting Things Done with Copilot Cowork for HR Tasks</a:t>
            </a:r>
          </a:p>
        </p:txBody>
      </p:sp>
      <p:sp>
        <p:nvSpPr>
          <p:cNvPr id="4" name="Rounded Rectangle 3">
            <a:extLst>
              <a:ext uri="{C183D7F6-B498-43B3-948B-1728B52AA6E4}">
                <ns1:decorative xmlns:ns1="http://schemas.microsoft.com/office/drawing/2017/decorative" val="1"/>
              </a:ext>
            </a:extLst>
          </p:cNvPr>
          <p:cNvSpPr/>
          <p:nvPr/>
        </p:nvSpPr>
        <p:spPr>
          <a:xfrm>
            <a:off x="731520" y="1234440"/>
            <a:ext cx="2967643" cy="329184"/>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2967643" cy="329184"/>
          </a:xfrm>
          <a:prstGeom prst="rect">
            <a:avLst/>
          </a:prstGeom>
          <a:noFill/>
        </p:spPr>
        <p:txBody>
          <a:bodyPr wrap="square" anchor="ctr" lIns="0" rIns="0" tIns="0" bIns="0">
            <a:spAutoFit/>
          </a:bodyPr>
          <a:lstStyle/>
          <a:p>
            <a:pPr algn="ctr">
              <a:spcAft>
                <a:spcPts val="400"/>
              </a:spcAft>
            </a:pPr>
            <a:r>
              <a:rPr sz="1200" b="0" i="0">
                <a:solidFill>
                  <a:srgbClr val="242424"/>
                </a:solidFill>
                <a:latin typeface="Segoe Sans Display Semibold"/>
              </a:rPr>
              <a:t>Training preview · for your feedback</a:t>
            </a:r>
          </a:p>
        </p:txBody>
      </p:sp>
      <p:sp>
        <p:nvSpPr>
          <p:cNvPr id="6" name="TextBox 5"/>
          <p:cNvSpPr txBox="1"/>
          <p:nvPr/>
        </p:nvSpPr>
        <p:spPr>
          <a:xfrm>
            <a:off x="731520" y="3703320"/>
            <a:ext cx="7315200" cy="731520"/>
          </a:xfrm>
          <a:prstGeom prst="rect">
            <a:avLst/>
          </a:prstGeom>
          <a:noFill/>
        </p:spPr>
        <p:txBody>
          <a:bodyPr wrap="square" anchor="t" lIns="0" rIns="0" tIns="0" bIns="0">
            <a:spAutoFit/>
          </a:bodyPr>
          <a:lstStyle/>
          <a:p>
            <a:pPr algn="l">
              <a:lnSpc>
                <a:spcPct val="105000"/>
              </a:lnSpc>
              <a:spcAft>
                <a:spcPts val="400"/>
              </a:spcAft>
            </a:pPr>
            <a:r>
              <a:rPr sz="1700" b="0" i="0">
                <a:solidFill>
                  <a:srgbClr val="616161"/>
                </a:solidFill>
                <a:latin typeface="Segoe Sans Display"/>
              </a:rPr>
              <a:t>A 4-hour, hands-on, no-code workshop that helps HR teams hand everyday work to Microsoft Copilot Cowork</a:t>
            </a:r>
          </a:p>
        </p:txBody>
      </p:sp>
      <p:sp>
        <p:nvSpPr>
          <p:cNvPr id="7" name="Rectangle 6">
            <a:extLst>
              <a:ext uri="{C183D7F6-B498-43B3-948B-1728B52AA6E4}">
                <ns2:decorative xmlns:ns2="http://schemas.microsoft.com/office/drawing/2017/decorative" val="1"/>
              </a:ext>
            </a:extLst>
          </p:cNvPr>
          <p:cNvSpPr/>
          <p:nvPr/>
        </p:nvSpPr>
        <p:spPr>
          <a:xfrm>
            <a:off x="731520" y="4709160"/>
            <a:ext cx="54864" cy="68580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681728"/>
            <a:ext cx="6858000" cy="777240"/>
          </a:xfrm>
          <a:prstGeom prst="rect">
            <a:avLst/>
          </a:prstGeom>
          <a:noFill/>
        </p:spPr>
        <p:txBody>
          <a:bodyPr wrap="square" anchor="t" lIns="0" rIns="0" tIns="0" bIns="0">
            <a:spAutoFit/>
          </a:bodyPr>
          <a:lstStyle/>
          <a:p>
            <a:pPr algn="l">
              <a:spcAft>
                <a:spcPts val="400"/>
              </a:spcAft>
            </a:pPr>
            <a:r>
              <a:rPr sz="1400" b="0" i="0">
                <a:solidFill>
                  <a:srgbClr val="616161"/>
                </a:solidFill>
                <a:latin typeface="Segoe UI"/>
              </a:rPr>
              <a:t>Prepared for </a:t>
            </a:r>
            <a:r>
              <a:rPr sz="1400" b="1" i="0">
                <a:solidFill>
                  <a:srgbClr val="242424"/>
                </a:solidFill>
                <a:latin typeface="Segoe UI"/>
              </a:rPr>
              <a:t>[Customer name]</a:t>
            </a:r>
          </a:p>
          <a:p>
            <a:pPr algn="l">
              <a:spcAft>
                <a:spcPts val="400"/>
              </a:spcAft>
            </a:pPr>
            <a:r>
              <a:rPr sz="1400" b="0" i="0">
                <a:solidFill>
                  <a:srgbClr val="616161"/>
                </a:solidFill>
                <a:latin typeface="Segoe UI"/>
              </a:rPr>
              <a:t>[Date]</a:t>
            </a:r>
          </a:p>
        </p:txBody>
      </p:sp>
      <p:sp>
        <p:nvSpPr>
          <p:cNvPr id="9" name="Oval 8">
            <a:extLst>
              <a:ext uri="{C183D7F6-B498-43B3-948B-1728B52AA6E4}">
                <ns3:decorative xmlns:ns3="http://schemas.microsoft.com/office/drawing/2017/decorative" val="1"/>
              </a:ext>
            </a:extLst>
          </p:cNvPr>
          <p:cNvSpPr/>
          <p:nvPr/>
        </p:nvSpPr>
        <p:spPr>
          <a:xfrm>
            <a:off x="9646920" y="1417320"/>
            <a:ext cx="1737360" cy="1737360"/>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
            <a:extLst>
              <a:ext uri="{C183D7F6-B498-43B3-948B-1728B52AA6E4}">
                <ns4:decorative xmlns:ns4="http://schemas.microsoft.com/office/drawing/2017/decorative" val="1"/>
              </a:ext>
            </a:extLst>
          </p:cNvPr>
          <p:cNvPicPr>
            <a:picLocks noChangeAspect="1"/>
          </p:cNvPicPr>
          <p:nvPr/>
        </p:nvPicPr>
        <p:blipFill>
          <a:blip r:embed="rId3"/>
          <a:stretch>
            <a:fillRect/>
          </a:stretch>
        </p:blipFill>
        <p:spPr>
          <a:xfrm>
            <a:off x="9959644" y="1730044"/>
            <a:ext cx="1111910" cy="1111910"/>
          </a:xfrm>
          <a:prstGeom prst="rect">
            <a:avLst/>
          </a:prstGeom>
        </p:spPr>
      </p:pic>
      <p:sp>
        <p:nvSpPr>
          <p:cNvPr id="11" name="Oval 10">
            <a:extLst>
              <a:ext uri="{C183D7F6-B498-43B3-948B-1728B52AA6E4}">
                <ns5:decorative xmlns:ns5="http://schemas.microsoft.com/office/drawing/2017/decorative" val="1"/>
              </a:ext>
            </a:extLst>
          </p:cNvPr>
          <p:cNvSpPr/>
          <p:nvPr/>
        </p:nvSpPr>
        <p:spPr>
          <a:xfrm>
            <a:off x="8549640" y="3246120"/>
            <a:ext cx="1417320" cy="1417320"/>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
            <a:extLst>
              <a:ext uri="{C183D7F6-B498-43B3-948B-1728B52AA6E4}">
                <ns6:decorative xmlns:ns6="http://schemas.microsoft.com/office/drawing/2017/decorative" val="1"/>
              </a:ext>
            </a:extLst>
          </p:cNvPr>
          <p:cNvPicPr>
            <a:picLocks noChangeAspect="1"/>
          </p:cNvPicPr>
          <p:nvPr/>
        </p:nvPicPr>
        <p:blipFill>
          <a:blip r:embed="rId4"/>
          <a:stretch>
            <a:fillRect/>
          </a:stretch>
        </p:blipFill>
        <p:spPr>
          <a:xfrm>
            <a:off x="8804757" y="3501237"/>
            <a:ext cx="907084" cy="907084"/>
          </a:xfrm>
          <a:prstGeom prst="rect">
            <a:avLst/>
          </a:prstGeom>
        </p:spPr>
      </p:pic>
      <p:sp>
        <p:nvSpPr>
          <p:cNvPr id="13" name="Oval 12">
            <a:extLst>
              <a:ext uri="{C183D7F6-B498-43B3-948B-1728B52AA6E4}">
                <ns7:decorative xmlns:ns7="http://schemas.microsoft.com/office/drawing/2017/decorative" val="1"/>
              </a:ext>
            </a:extLst>
          </p:cNvPr>
          <p:cNvSpPr/>
          <p:nvPr/>
        </p:nvSpPr>
        <p:spPr>
          <a:xfrm>
            <a:off x="10287000" y="3794760"/>
            <a:ext cx="1463040" cy="1463040"/>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a:extLst>
              <a:ext uri="{C183D7F6-B498-43B3-948B-1728B52AA6E4}">
                <ns8:decorative xmlns:ns8="http://schemas.microsoft.com/office/drawing/2017/decorative" val="1"/>
              </a:ext>
            </a:extLst>
          </p:cNvPr>
          <p:cNvPicPr>
            <a:picLocks noChangeAspect="1"/>
          </p:cNvPicPr>
          <p:nvPr/>
        </p:nvPicPr>
        <p:blipFill>
          <a:blip r:embed="rId5"/>
          <a:stretch>
            <a:fillRect/>
          </a:stretch>
        </p:blipFill>
        <p:spPr>
          <a:xfrm>
            <a:off x="10550347" y="4058107"/>
            <a:ext cx="936345" cy="93634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Why we’re meeting today</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Preview the training, hear what fits your HR team, and shape it together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2</a:t>
            </a:r>
          </a:p>
        </p:txBody>
      </p:sp>
      <p:sp>
        <p:nvSpPr>
          <p:cNvPr id="9" name="Rounded Rectangle 8">
            <a:extLst>
              <a:ext uri="{C183D7F6-B498-43B3-948B-1728B52AA6E4}">
                <ns2:decorative xmlns:ns2="http://schemas.microsoft.com/office/drawing/2017/decorative" val="1"/>
              </a:ext>
            </a:extLst>
          </p:cNvPr>
          <p:cNvSpPr/>
          <p:nvPr/>
        </p:nvSpPr>
        <p:spPr>
          <a:xfrm>
            <a:off x="548640" y="1920240"/>
            <a:ext cx="3538728" cy="219456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12140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84832"/>
            <a:ext cx="3035808"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Sans Display Semibold"/>
              </a:rPr>
              <a:t>1 · Preview</a:t>
            </a:r>
          </a:p>
        </p:txBody>
      </p:sp>
      <p:sp>
        <p:nvSpPr>
          <p:cNvPr id="12" name="TextBox 11"/>
          <p:cNvSpPr txBox="1"/>
          <p:nvPr/>
        </p:nvSpPr>
        <p:spPr>
          <a:xfrm>
            <a:off x="777240" y="2487168"/>
            <a:ext cx="3127248" cy="1490472"/>
          </a:xfrm>
          <a:prstGeom prst="rect">
            <a:avLst/>
          </a:prstGeom>
          <a:noFill/>
        </p:spPr>
        <p:txBody>
          <a:bodyPr wrap="square" anchor="t" lIns="0" rIns="0" tIns="0" bIns="0">
            <a:spAutoFit/>
          </a:bodyPr>
          <a:lstStyle/>
          <a:p>
            <a:pPr algn="l">
              <a:lnSpc>
                <a:spcPct val="105000"/>
              </a:lnSpc>
              <a:spcAft>
                <a:spcPts val="500"/>
              </a:spcAft>
            </a:pPr>
            <a:r>
              <a:rPr sz="1600" b="0" i="0">
                <a:solidFill>
                  <a:srgbClr val="242424"/>
                </a:solidFill>
                <a:latin typeface="Segoe UI"/>
              </a:rPr>
              <a:t>Walk through the goals, agenda, and the eight hands-on exercises your team would do.</a:t>
            </a:r>
          </a:p>
        </p:txBody>
      </p:sp>
      <p:sp>
        <p:nvSpPr>
          <p:cNvPr id="13" name="Rounded Rectangle 12">
            <a:extLst>
              <a:ext uri="{C183D7F6-B498-43B3-948B-1728B52AA6E4}">
                <ns4:decorative xmlns:ns4="http://schemas.microsoft.com/office/drawing/2017/decorative" val="1"/>
              </a:ext>
            </a:extLst>
          </p:cNvPr>
          <p:cNvSpPr/>
          <p:nvPr/>
        </p:nvSpPr>
        <p:spPr>
          <a:xfrm>
            <a:off x="4325112" y="1920240"/>
            <a:ext cx="3538728" cy="219456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4507992" y="212140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2084832"/>
            <a:ext cx="3035808"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Sans Display Semibold"/>
              </a:rPr>
              <a:t>2 · Feedback</a:t>
            </a:r>
          </a:p>
        </p:txBody>
      </p:sp>
      <p:sp>
        <p:nvSpPr>
          <p:cNvPr id="16" name="TextBox 15"/>
          <p:cNvSpPr txBox="1"/>
          <p:nvPr/>
        </p:nvSpPr>
        <p:spPr>
          <a:xfrm>
            <a:off x="4553712" y="2487168"/>
            <a:ext cx="3127248" cy="1490472"/>
          </a:xfrm>
          <a:prstGeom prst="rect">
            <a:avLst/>
          </a:prstGeom>
          <a:noFill/>
        </p:spPr>
        <p:txBody>
          <a:bodyPr wrap="square" anchor="t" lIns="0" rIns="0" tIns="0" bIns="0">
            <a:spAutoFit/>
          </a:bodyPr>
          <a:lstStyle/>
          <a:p>
            <a:pPr algn="l">
              <a:lnSpc>
                <a:spcPct val="105000"/>
              </a:lnSpc>
              <a:spcAft>
                <a:spcPts val="500"/>
              </a:spcAft>
            </a:pPr>
            <a:r>
              <a:rPr sz="1600" b="0" i="0">
                <a:solidFill>
                  <a:srgbClr val="242424"/>
                </a:solidFill>
                <a:latin typeface="Segoe UI"/>
              </a:rPr>
              <a:t>Tell us which scenarios matter most, what to drop or deepen, and any data or compliance constraints.</a:t>
            </a:r>
          </a:p>
        </p:txBody>
      </p:sp>
      <p:sp>
        <p:nvSpPr>
          <p:cNvPr id="17" name="Rounded Rectangle 16">
            <a:extLst>
              <a:ext uri="{C183D7F6-B498-43B3-948B-1728B52AA6E4}">
                <ns6:decorative xmlns:ns6="http://schemas.microsoft.com/office/drawing/2017/decorative" val="1"/>
              </a:ext>
            </a:extLst>
          </p:cNvPr>
          <p:cNvSpPr/>
          <p:nvPr/>
        </p:nvSpPr>
        <p:spPr>
          <a:xfrm>
            <a:off x="8101583" y="1920240"/>
            <a:ext cx="3538728" cy="219456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8284463" y="212140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2084832"/>
            <a:ext cx="3035808" cy="365760"/>
          </a:xfrm>
          <a:prstGeom prst="rect">
            <a:avLst/>
          </a:prstGeom>
          <a:noFill/>
        </p:spPr>
        <p:txBody>
          <a:bodyPr wrap="square" anchor="t" lIns="0" rIns="0" tIns="0" bIns="0">
            <a:spAutoFit/>
          </a:bodyPr>
          <a:lstStyle/>
          <a:p>
            <a:pPr algn="l">
              <a:spcAft>
                <a:spcPts val="400"/>
              </a:spcAft>
            </a:pPr>
            <a:r>
              <a:rPr sz="1500" b="1" i="0">
                <a:solidFill>
                  <a:srgbClr val="107C10"/>
                </a:solidFill>
                <a:latin typeface="Segoe Sans Display Semibold"/>
              </a:rPr>
              <a:t>3 · Tailor</a:t>
            </a:r>
          </a:p>
        </p:txBody>
      </p:sp>
      <p:sp>
        <p:nvSpPr>
          <p:cNvPr id="20" name="TextBox 19"/>
          <p:cNvSpPr txBox="1"/>
          <p:nvPr/>
        </p:nvSpPr>
        <p:spPr>
          <a:xfrm>
            <a:off x="8330183" y="2487168"/>
            <a:ext cx="3127248" cy="1490472"/>
          </a:xfrm>
          <a:prstGeom prst="rect">
            <a:avLst/>
          </a:prstGeom>
          <a:noFill/>
        </p:spPr>
        <p:txBody>
          <a:bodyPr wrap="square" anchor="t" lIns="0" rIns="0" tIns="0" bIns="0">
            <a:spAutoFit/>
          </a:bodyPr>
          <a:lstStyle/>
          <a:p>
            <a:pPr algn="l">
              <a:lnSpc>
                <a:spcPct val="105000"/>
              </a:lnSpc>
              <a:spcAft>
                <a:spcPts val="500"/>
              </a:spcAft>
            </a:pPr>
            <a:r>
              <a:rPr sz="1600" b="0" i="0">
                <a:solidFill>
                  <a:srgbClr val="242424"/>
                </a:solidFill>
                <a:latin typeface="Segoe UI"/>
              </a:rPr>
              <a:t>We adjust scenarios, sample content, timing, and format, then confirm a final plan with you.</a:t>
            </a:r>
          </a:p>
        </p:txBody>
      </p:sp>
      <p:sp>
        <p:nvSpPr>
          <p:cNvPr id="21" name="Rounded Rectangle 20">
            <a:extLst>
              <a:ext uri="{C183D7F6-B498-43B3-948B-1728B52AA6E4}">
                <ns8:decorative xmlns:ns8="http://schemas.microsoft.com/office/drawing/2017/decorative" val="1"/>
              </a:ext>
            </a:extLst>
          </p:cNvPr>
          <p:cNvSpPr/>
          <p:nvPr/>
        </p:nvSpPr>
        <p:spPr>
          <a:xfrm>
            <a:off x="548640" y="4526280"/>
            <a:ext cx="11091672" cy="822960"/>
          </a:xfrm>
          <a:prstGeom prst="roundRect">
            <a:avLst>
              <a:gd name="adj" fmla="val 1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26280"/>
            <a:ext cx="10543032" cy="822960"/>
          </a:xfrm>
          <a:prstGeom prst="rect">
            <a:avLst/>
          </a:prstGeom>
          <a:noFill/>
        </p:spPr>
        <p:txBody>
          <a:bodyPr wrap="square" anchor="ctr" lIns="0" rIns="0" tIns="0" bIns="0">
            <a:spAutoFit/>
          </a:bodyPr>
          <a:lstStyle/>
          <a:p>
            <a:pPr algn="l">
              <a:spcAft>
                <a:spcPts val="400"/>
              </a:spcAft>
            </a:pPr>
            <a:r>
              <a:rPr sz="1600" b="1" i="0">
                <a:solidFill>
                  <a:srgbClr val="FFFFFF"/>
                </a:solidFill>
                <a:latin typeface="Segoe Sans Display Semibold"/>
              </a:rPr>
              <a:t>Nothing is final yet.</a:t>
            </a:r>
            <a:r>
              <a:rPr sz="1600" b="0" i="0">
                <a:solidFill>
                  <a:srgbClr val="FFFFFF"/>
                </a:solidFill>
                <a:latin typeface="Segoe Sans Display"/>
              </a:rPr>
              <a:t> Every exercise, timing, and example in this deck can change based on your input.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The workshop at a glance</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Instructor-led, hands-on, and built for HR practitioners</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3</a:t>
            </a:r>
          </a:p>
        </p:txBody>
      </p:sp>
      <p:sp>
        <p:nvSpPr>
          <p:cNvPr id="9" name="Rounded Rectangle 8">
            <a:extLst>
              <a:ext uri="{C183D7F6-B498-43B3-948B-1728B52AA6E4}">
                <ns2:decorative xmlns:ns2="http://schemas.microsoft.com/office/drawing/2017/decorative" val="1"/>
              </a:ext>
            </a:extLst>
          </p:cNvPr>
          <p:cNvSpPr/>
          <p:nvPr/>
        </p:nvSpPr>
        <p:spPr>
          <a:xfrm>
            <a:off x="548640" y="1828800"/>
            <a:ext cx="2606040" cy="141732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938528"/>
            <a:ext cx="2606040" cy="777240"/>
          </a:xfrm>
          <a:prstGeom prst="rect">
            <a:avLst/>
          </a:prstGeom>
          <a:noFill/>
        </p:spPr>
        <p:txBody>
          <a:bodyPr wrap="square" anchor="ctr" lIns="0" rIns="0" tIns="0" bIns="0">
            <a:spAutoFit/>
          </a:bodyPr>
          <a:lstStyle/>
          <a:p>
            <a:pPr algn="ctr">
              <a:spcAft>
                <a:spcPts val="400"/>
              </a:spcAft>
            </a:pPr>
            <a:r>
              <a:rPr sz="4000" b="0" i="0">
                <a:solidFill>
                  <a:srgbClr val="0F6CBD"/>
                </a:solidFill>
                <a:latin typeface="Segoe Sans Display"/>
              </a:rPr>
              <a:t>4 hours</a:t>
            </a:r>
          </a:p>
        </p:txBody>
      </p:sp>
      <p:sp>
        <p:nvSpPr>
          <p:cNvPr id="11" name="TextBox 10"/>
          <p:cNvSpPr txBox="1"/>
          <p:nvPr/>
        </p:nvSpPr>
        <p:spPr>
          <a:xfrm>
            <a:off x="548640" y="2724912"/>
            <a:ext cx="2606040" cy="365760"/>
          </a:xfrm>
          <a:prstGeom prst="rect">
            <a:avLst/>
          </a:prstGeom>
          <a:noFill/>
        </p:spPr>
        <p:txBody>
          <a:bodyPr wrap="square" anchor="t" lIns="0" rIns="0" tIns="0" bIns="0">
            <a:spAutoFit/>
          </a:bodyPr>
          <a:lstStyle/>
          <a:p>
            <a:pPr algn="ctr">
              <a:spcAft>
                <a:spcPts val="400"/>
              </a:spcAft>
            </a:pPr>
            <a:r>
              <a:rPr sz="1300" b="0" i="0">
                <a:solidFill>
                  <a:srgbClr val="616161"/>
                </a:solidFill>
                <a:latin typeface="Segoe UI"/>
              </a:rPr>
              <a:t>one session, two breaks</a:t>
            </a:r>
          </a:p>
        </p:txBody>
      </p:sp>
      <p:sp>
        <p:nvSpPr>
          <p:cNvPr id="12" name="Rounded Rectangle 11">
            <a:extLst>
              <a:ext uri="{C183D7F6-B498-43B3-948B-1728B52AA6E4}">
                <ns3:decorative xmlns:ns3="http://schemas.microsoft.com/office/drawing/2017/decorative" val="1"/>
              </a:ext>
            </a:extLst>
          </p:cNvPr>
          <p:cNvSpPr/>
          <p:nvPr/>
        </p:nvSpPr>
        <p:spPr>
          <a:xfrm>
            <a:off x="3364992" y="1828800"/>
            <a:ext cx="2606040" cy="141732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2" y="1938528"/>
            <a:ext cx="2606040" cy="777240"/>
          </a:xfrm>
          <a:prstGeom prst="rect">
            <a:avLst/>
          </a:prstGeom>
          <a:noFill/>
        </p:spPr>
        <p:txBody>
          <a:bodyPr wrap="square" anchor="ctr" lIns="0" rIns="0" tIns="0" bIns="0">
            <a:spAutoFit/>
          </a:bodyPr>
          <a:lstStyle/>
          <a:p>
            <a:pPr algn="ctr">
              <a:spcAft>
                <a:spcPts val="400"/>
              </a:spcAft>
            </a:pPr>
            <a:r>
              <a:rPr sz="4000" b="0" i="0">
                <a:solidFill>
                  <a:srgbClr val="8064A2"/>
                </a:solidFill>
                <a:latin typeface="Segoe Sans Display"/>
              </a:rPr>
              <a:t>~25</a:t>
            </a:r>
          </a:p>
        </p:txBody>
      </p:sp>
      <p:sp>
        <p:nvSpPr>
          <p:cNvPr id="14" name="TextBox 13"/>
          <p:cNvSpPr txBox="1"/>
          <p:nvPr/>
        </p:nvSpPr>
        <p:spPr>
          <a:xfrm>
            <a:off x="3364992" y="2724912"/>
            <a:ext cx="2606040" cy="365760"/>
          </a:xfrm>
          <a:prstGeom prst="rect">
            <a:avLst/>
          </a:prstGeom>
          <a:noFill/>
        </p:spPr>
        <p:txBody>
          <a:bodyPr wrap="square" anchor="t" lIns="0" rIns="0" tIns="0" bIns="0">
            <a:spAutoFit/>
          </a:bodyPr>
          <a:lstStyle/>
          <a:p>
            <a:pPr algn="ctr">
              <a:spcAft>
                <a:spcPts val="400"/>
              </a:spcAft>
            </a:pPr>
            <a:r>
              <a:rPr sz="1300" b="0" i="0">
                <a:solidFill>
                  <a:srgbClr val="616161"/>
                </a:solidFill>
                <a:latin typeface="Segoe UI"/>
              </a:rPr>
              <a:t>attendees per session</a:t>
            </a:r>
          </a:p>
        </p:txBody>
      </p:sp>
      <p:sp>
        <p:nvSpPr>
          <p:cNvPr id="15" name="Rounded Rectangle 14">
            <a:extLst>
              <a:ext uri="{C183D7F6-B498-43B3-948B-1728B52AA6E4}">
                <ns4:decorative xmlns:ns4="http://schemas.microsoft.com/office/drawing/2017/decorative" val="1"/>
              </a:ext>
            </a:extLst>
          </p:cNvPr>
          <p:cNvSpPr/>
          <p:nvPr/>
        </p:nvSpPr>
        <p:spPr>
          <a:xfrm>
            <a:off x="6181344" y="1828800"/>
            <a:ext cx="2606040" cy="141732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1938528"/>
            <a:ext cx="2606040" cy="777240"/>
          </a:xfrm>
          <a:prstGeom prst="rect">
            <a:avLst/>
          </a:prstGeom>
          <a:noFill/>
        </p:spPr>
        <p:txBody>
          <a:bodyPr wrap="square" anchor="ctr" lIns="0" rIns="0" tIns="0" bIns="0">
            <a:spAutoFit/>
          </a:bodyPr>
          <a:lstStyle/>
          <a:p>
            <a:pPr algn="ctr">
              <a:spcAft>
                <a:spcPts val="400"/>
              </a:spcAft>
            </a:pPr>
            <a:r>
              <a:rPr sz="4000" b="0" i="0">
                <a:solidFill>
                  <a:srgbClr val="107C10"/>
                </a:solidFill>
                <a:latin typeface="Segoe Sans Display"/>
              </a:rPr>
              <a:t>8</a:t>
            </a:r>
          </a:p>
        </p:txBody>
      </p:sp>
      <p:sp>
        <p:nvSpPr>
          <p:cNvPr id="17" name="TextBox 16"/>
          <p:cNvSpPr txBox="1"/>
          <p:nvPr/>
        </p:nvSpPr>
        <p:spPr>
          <a:xfrm>
            <a:off x="6181344" y="2724912"/>
            <a:ext cx="2606040" cy="365760"/>
          </a:xfrm>
          <a:prstGeom prst="rect">
            <a:avLst/>
          </a:prstGeom>
          <a:noFill/>
        </p:spPr>
        <p:txBody>
          <a:bodyPr wrap="square" anchor="t" lIns="0" rIns="0" tIns="0" bIns="0">
            <a:spAutoFit/>
          </a:bodyPr>
          <a:lstStyle/>
          <a:p>
            <a:pPr algn="ctr">
              <a:spcAft>
                <a:spcPts val="400"/>
              </a:spcAft>
            </a:pPr>
            <a:r>
              <a:rPr sz="1300" b="0" i="0">
                <a:solidFill>
                  <a:srgbClr val="616161"/>
                </a:solidFill>
                <a:latin typeface="Segoe UI"/>
              </a:rPr>
              <a:t>hands-on exercises</a:t>
            </a:r>
          </a:p>
        </p:txBody>
      </p:sp>
      <p:sp>
        <p:nvSpPr>
          <p:cNvPr id="18" name="Rounded Rectangle 17">
            <a:extLst>
              <a:ext uri="{C183D7F6-B498-43B3-948B-1728B52AA6E4}">
                <ns5:decorative xmlns:ns5="http://schemas.microsoft.com/office/drawing/2017/decorative" val="1"/>
              </a:ext>
            </a:extLst>
          </p:cNvPr>
          <p:cNvSpPr/>
          <p:nvPr/>
        </p:nvSpPr>
        <p:spPr>
          <a:xfrm>
            <a:off x="8997696" y="1828800"/>
            <a:ext cx="2606040" cy="141732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97696" y="1938528"/>
            <a:ext cx="2606040" cy="777240"/>
          </a:xfrm>
          <a:prstGeom prst="rect">
            <a:avLst/>
          </a:prstGeom>
          <a:noFill/>
        </p:spPr>
        <p:txBody>
          <a:bodyPr wrap="square" anchor="ctr" lIns="0" rIns="0" tIns="0" bIns="0">
            <a:spAutoFit/>
          </a:bodyPr>
          <a:lstStyle/>
          <a:p>
            <a:pPr algn="ctr">
              <a:spcAft>
                <a:spcPts val="400"/>
              </a:spcAft>
            </a:pPr>
            <a:r>
              <a:rPr sz="4000" b="0" i="0">
                <a:solidFill>
                  <a:srgbClr val="C55A11"/>
                </a:solidFill>
                <a:latin typeface="Segoe Sans Display"/>
              </a:rPr>
              <a:t>0</a:t>
            </a:r>
          </a:p>
        </p:txBody>
      </p:sp>
      <p:sp>
        <p:nvSpPr>
          <p:cNvPr id="20" name="TextBox 19"/>
          <p:cNvSpPr txBox="1"/>
          <p:nvPr/>
        </p:nvSpPr>
        <p:spPr>
          <a:xfrm>
            <a:off x="8997696" y="2724912"/>
            <a:ext cx="2606040" cy="365760"/>
          </a:xfrm>
          <a:prstGeom prst="rect">
            <a:avLst/>
          </a:prstGeom>
          <a:noFill/>
        </p:spPr>
        <p:txBody>
          <a:bodyPr wrap="square" anchor="t" lIns="0" rIns="0" tIns="0" bIns="0">
            <a:spAutoFit/>
          </a:bodyPr>
          <a:lstStyle/>
          <a:p>
            <a:pPr algn="ctr">
              <a:spcAft>
                <a:spcPts val="400"/>
              </a:spcAft>
            </a:pPr>
            <a:r>
              <a:rPr sz="1300" b="0" i="0">
                <a:solidFill>
                  <a:srgbClr val="616161"/>
                </a:solidFill>
                <a:latin typeface="Segoe UI"/>
              </a:rPr>
              <a:t>lines of code</a:t>
            </a:r>
          </a:p>
        </p:txBody>
      </p:sp>
      <p:sp>
        <p:nvSpPr>
          <p:cNvPr id="21" name="Rounded Rectangle 20">
            <a:extLst>
              <a:ext uri="{C183D7F6-B498-43B3-948B-1728B52AA6E4}">
                <ns6:decorative xmlns:ns6="http://schemas.microsoft.com/office/drawing/2017/decorative" val="1"/>
              </a:ext>
            </a:extLst>
          </p:cNvPr>
          <p:cNvSpPr/>
          <p:nvPr/>
        </p:nvSpPr>
        <p:spPr>
          <a:xfrm>
            <a:off x="548640" y="3520440"/>
            <a:ext cx="5486400" cy="26974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7:decorative xmlns:ns7="http://schemas.microsoft.com/office/drawing/2017/decorative" val="1"/>
              </a:ext>
            </a:extLst>
          </p:cNvPr>
          <p:cNvSpPr/>
          <p:nvPr/>
        </p:nvSpPr>
        <p:spPr>
          <a:xfrm>
            <a:off x="731520" y="372160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3685032"/>
            <a:ext cx="4983480"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Sans Display Semibold"/>
              </a:rPr>
              <a:t>Who it’s for</a:t>
            </a:r>
          </a:p>
        </p:txBody>
      </p:sp>
      <p:sp>
        <p:nvSpPr>
          <p:cNvPr id="24" name="TextBox 23"/>
          <p:cNvSpPr txBox="1"/>
          <p:nvPr/>
        </p:nvSpPr>
        <p:spPr>
          <a:xfrm>
            <a:off x="777240" y="4087368"/>
            <a:ext cx="5074920" cy="199339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1" i="0">
                <a:solidFill>
                  <a:srgbClr val="242424"/>
                </a:solidFill>
                <a:latin typeface="Segoe UI"/>
              </a:rPr>
              <a:t>HR practitioners</a:t>
            </a:r>
            <a:r>
              <a:rPr sz="1300" b="0" i="0">
                <a:solidFill>
                  <a:srgbClr val="242424"/>
                </a:solidFill>
                <a:latin typeface="Segoe UI"/>
              </a:rPr>
              <a:t> doing day-to-day operations</a:t>
            </a:r>
          </a:p>
          <a:p>
            <a:pPr algn="l" marL="182880" indent="-182880">
              <a:lnSpc>
                <a:spcPct val="105000"/>
              </a:lnSpc>
              <a:spcAft>
                <a:spcPts val="500"/>
              </a:spcAft>
              <a:buFont typeface="Arial"/>
              <a:buChar char="•"/>
            </a:pPr>
            <a:r>
              <a:rPr sz="1300" b="1" i="0">
                <a:solidFill>
                  <a:srgbClr val="242424"/>
                </a:solidFill>
                <a:latin typeface="Segoe UI"/>
              </a:rPr>
              <a:t>Beginner-friendly:</a:t>
            </a:r>
            <a:r>
              <a:rPr sz="1300" b="0" i="0">
                <a:solidFill>
                  <a:srgbClr val="242424"/>
                </a:solidFill>
                <a:latin typeface="Segoe UI"/>
              </a:rPr>
              <a:t> no prior Cowork experience needed</a:t>
            </a:r>
          </a:p>
          <a:p>
            <a:pPr algn="l" marL="182880" indent="-182880">
              <a:lnSpc>
                <a:spcPct val="105000"/>
              </a:lnSpc>
              <a:spcAft>
                <a:spcPts val="500"/>
              </a:spcAft>
              <a:buFont typeface="Arial"/>
              <a:buChar char="•"/>
            </a:pPr>
            <a:r>
              <a:rPr sz="1300" b="0" i="0">
                <a:solidFill>
                  <a:srgbClr val="242424"/>
                </a:solidFill>
                <a:latin typeface="Segoe UI"/>
              </a:rPr>
              <a:t>Each person works in </a:t>
            </a:r>
            <a:r>
              <a:rPr sz="1300" b="1" i="0">
                <a:solidFill>
                  <a:srgbClr val="242424"/>
                </a:solidFill>
                <a:latin typeface="Segoe UI"/>
              </a:rPr>
              <a:t>their own account</a:t>
            </a:r>
            <a:r>
              <a:rPr sz="1300" b="0" i="0">
                <a:solidFill>
                  <a:srgbClr val="242424"/>
                </a:solidFill>
                <a:latin typeface="Segoe UI"/>
              </a:rPr>
              <a:t> on a laptop with Microsoft Edge</a:t>
            </a:r>
          </a:p>
          <a:p>
            <a:pPr algn="l" marL="182880" indent="-182880">
              <a:lnSpc>
                <a:spcPct val="105000"/>
              </a:lnSpc>
              <a:spcAft>
                <a:spcPts val="500"/>
              </a:spcAft>
              <a:buFont typeface="Arial"/>
              <a:buChar char="•"/>
            </a:pPr>
            <a:r>
              <a:rPr sz="1300" b="0" i="0">
                <a:solidFill>
                  <a:srgbClr val="242424"/>
                </a:solidFill>
                <a:latin typeface="Segoe UI"/>
              </a:rPr>
              <a:t>One facilitator plus </a:t>
            </a:r>
            <a:r>
              <a:rPr sz="1300" b="1" i="0">
                <a:solidFill>
                  <a:srgbClr val="242424"/>
                </a:solidFill>
                <a:latin typeface="Segoe UI"/>
              </a:rPr>
              <a:t>1–2 proctors</a:t>
            </a:r>
            <a:r>
              <a:rPr sz="1300" b="0" i="0">
                <a:solidFill>
                  <a:srgbClr val="242424"/>
                </a:solidFill>
                <a:latin typeface="Segoe UI"/>
              </a:rPr>
              <a:t> for a group of ~25</a:t>
            </a:r>
          </a:p>
        </p:txBody>
      </p:sp>
      <p:sp>
        <p:nvSpPr>
          <p:cNvPr id="25" name="Rounded Rectangle 24">
            <a:extLst>
              <a:ext uri="{C183D7F6-B498-43B3-948B-1728B52AA6E4}">
                <ns8:decorative xmlns:ns8="http://schemas.microsoft.com/office/drawing/2017/decorative" val="1"/>
              </a:ext>
            </a:extLst>
          </p:cNvPr>
          <p:cNvSpPr/>
          <p:nvPr/>
        </p:nvSpPr>
        <p:spPr>
          <a:xfrm>
            <a:off x="6153912" y="3520440"/>
            <a:ext cx="5486400" cy="26974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extLst>
              <a:ext uri="{C183D7F6-B498-43B3-948B-1728B52AA6E4}">
                <ns9:decorative xmlns:ns9="http://schemas.microsoft.com/office/drawing/2017/decorative" val="1"/>
              </a:ext>
            </a:extLst>
          </p:cNvPr>
          <p:cNvSpPr/>
          <p:nvPr/>
        </p:nvSpPr>
        <p:spPr>
          <a:xfrm>
            <a:off x="6336792" y="372160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1384" y="3685032"/>
            <a:ext cx="4983480"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Sans Display Semibold"/>
              </a:rPr>
              <a:t>How it works</a:t>
            </a:r>
          </a:p>
        </p:txBody>
      </p:sp>
      <p:sp>
        <p:nvSpPr>
          <p:cNvPr id="28" name="TextBox 27"/>
          <p:cNvSpPr txBox="1"/>
          <p:nvPr/>
        </p:nvSpPr>
        <p:spPr>
          <a:xfrm>
            <a:off x="6382512" y="4087368"/>
            <a:ext cx="5074920" cy="199339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Every exercise: </a:t>
            </a:r>
            <a:r>
              <a:rPr sz="1300" b="1" i="0">
                <a:solidFill>
                  <a:srgbClr val="242424"/>
                </a:solidFill>
                <a:latin typeface="Segoe UI"/>
              </a:rPr>
              <a:t>scenario card → recorded demo → hands-on</a:t>
            </a:r>
          </a:p>
          <a:p>
            <a:pPr algn="l" marL="182880" indent="-182880">
              <a:lnSpc>
                <a:spcPct val="105000"/>
              </a:lnSpc>
              <a:spcAft>
                <a:spcPts val="500"/>
              </a:spcAft>
              <a:buFont typeface="Arial"/>
              <a:buChar char="•"/>
            </a:pPr>
            <a:r>
              <a:rPr sz="1300" b="0" i="0">
                <a:solidFill>
                  <a:srgbClr val="242424"/>
                </a:solidFill>
                <a:latin typeface="Segoe UI"/>
              </a:rPr>
              <a:t>Uses </a:t>
            </a:r>
            <a:r>
              <a:rPr sz="1300" b="1" i="0">
                <a:solidFill>
                  <a:srgbClr val="242424"/>
                </a:solidFill>
                <a:latin typeface="Segoe UI"/>
              </a:rPr>
              <a:t>fictional sample data</a:t>
            </a:r>
            <a:r>
              <a:rPr sz="1300" b="0" i="0">
                <a:solidFill>
                  <a:srgbClr val="242424"/>
                </a:solidFill>
                <a:latin typeface="Segoe UI"/>
              </a:rPr>
              <a:t> (the company “Zava”), never real employee data</a:t>
            </a:r>
          </a:p>
          <a:p>
            <a:pPr algn="l" marL="182880" indent="-182880">
              <a:lnSpc>
                <a:spcPct val="105000"/>
              </a:lnSpc>
              <a:spcAft>
                <a:spcPts val="500"/>
              </a:spcAft>
              <a:buFont typeface="Arial"/>
              <a:buChar char="•"/>
            </a:pPr>
            <a:r>
              <a:rPr sz="1300" b="0" i="0">
                <a:solidFill>
                  <a:srgbClr val="242424"/>
                </a:solidFill>
                <a:latin typeface="Segoe UI"/>
              </a:rPr>
              <a:t>Attendees keep a </a:t>
            </a:r>
            <a:r>
              <a:rPr sz="1300" b="1" i="0">
                <a:solidFill>
                  <a:srgbClr val="242424"/>
                </a:solidFill>
                <a:latin typeface="Segoe UI"/>
              </a:rPr>
              <a:t>workbook</a:t>
            </a:r>
            <a:r>
              <a:rPr sz="1300" b="0" i="0">
                <a:solidFill>
                  <a:srgbClr val="242424"/>
                </a:solidFill>
                <a:latin typeface="Segoe UI"/>
              </a:rPr>
              <a:t>, a </a:t>
            </a:r>
            <a:r>
              <a:rPr sz="1300" b="1" i="0">
                <a:solidFill>
                  <a:srgbClr val="242424"/>
                </a:solidFill>
                <a:latin typeface="Segoe UI"/>
              </a:rPr>
              <a:t>quick-reference card</a:t>
            </a:r>
            <a:r>
              <a:rPr sz="1300" b="0" i="0">
                <a:solidFill>
                  <a:srgbClr val="242424"/>
                </a:solidFill>
                <a:latin typeface="Segoe UI"/>
              </a:rPr>
              <a:t>, and a </a:t>
            </a:r>
            <a:r>
              <a:rPr sz="1300" b="1" i="0">
                <a:solidFill>
                  <a:srgbClr val="242424"/>
                </a:solidFill>
                <a:latin typeface="Segoe UI"/>
              </a:rPr>
              <a:t>prompt library</a:t>
            </a:r>
          </a:p>
          <a:p>
            <a:pPr algn="l" marL="182880" indent="-182880">
              <a:lnSpc>
                <a:spcPct val="105000"/>
              </a:lnSpc>
              <a:spcAft>
                <a:spcPts val="500"/>
              </a:spcAft>
              <a:buFont typeface="Arial"/>
              <a:buChar char="•"/>
            </a:pPr>
            <a:r>
              <a:rPr sz="1300" b="0" i="0">
                <a:solidFill>
                  <a:srgbClr val="242424"/>
                </a:solidFill>
                <a:latin typeface="Segoe UI"/>
              </a:rPr>
              <a:t>Ends with a </a:t>
            </a:r>
            <a:r>
              <a:rPr sz="1300" b="1" i="0">
                <a:solidFill>
                  <a:srgbClr val="242424"/>
                </a:solidFill>
                <a:latin typeface="Segoe UI"/>
              </a:rPr>
              <a:t>30-day adoption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What attendees will be able to do</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Six outcomes, all practiced hands-on</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4</a:t>
            </a:r>
          </a:p>
        </p:txBody>
      </p:sp>
      <p:sp>
        <p:nvSpPr>
          <p:cNvPr id="9" name="Rounded Rectangle 8">
            <a:extLst>
              <a:ext uri="{C183D7F6-B498-43B3-948B-1728B52AA6E4}">
                <ns2:decorative xmlns:ns2="http://schemas.microsoft.com/office/drawing/2017/decorative" val="1"/>
              </a:ext>
            </a:extLst>
          </p:cNvPr>
          <p:cNvSpPr/>
          <p:nvPr/>
        </p:nvSpPr>
        <p:spPr>
          <a:xfrm>
            <a:off x="548640" y="1874519"/>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7568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39112"/>
            <a:ext cx="3035808"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Sans Display Semibold"/>
              </a:rPr>
              <a:t>1 · Choose the right tool</a:t>
            </a:r>
          </a:p>
        </p:txBody>
      </p:sp>
      <p:sp>
        <p:nvSpPr>
          <p:cNvPr id="12" name="TextBox 11"/>
          <p:cNvSpPr txBox="1"/>
          <p:nvPr/>
        </p:nvSpPr>
        <p:spPr>
          <a:xfrm>
            <a:off x="777240" y="244144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Copilot Chat for quick answers, Cowork for multi-step work, Agent Builder for a helper others use.</a:t>
            </a:r>
          </a:p>
        </p:txBody>
      </p:sp>
      <p:sp>
        <p:nvSpPr>
          <p:cNvPr id="13" name="Rounded Rectangle 12">
            <a:extLst>
              <a:ext uri="{C183D7F6-B498-43B3-948B-1728B52AA6E4}">
                <ns4:decorative xmlns:ns4="http://schemas.microsoft.com/office/drawing/2017/decorative" val="1"/>
              </a:ext>
            </a:extLst>
          </p:cNvPr>
          <p:cNvSpPr/>
          <p:nvPr/>
        </p:nvSpPr>
        <p:spPr>
          <a:xfrm>
            <a:off x="4325112" y="1874519"/>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4507992" y="207568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2039112"/>
            <a:ext cx="3035808"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Sans Display Semibold"/>
              </a:rPr>
              <a:t>2 · Delegate safely</a:t>
            </a:r>
          </a:p>
        </p:txBody>
      </p:sp>
      <p:sp>
        <p:nvSpPr>
          <p:cNvPr id="16" name="TextBox 15"/>
          <p:cNvSpPr txBox="1"/>
          <p:nvPr/>
        </p:nvSpPr>
        <p:spPr>
          <a:xfrm>
            <a:off x="4553712" y="244144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Describe an outcome, follow Cowork’s plan, and approve actions one at a time.</a:t>
            </a:r>
          </a:p>
        </p:txBody>
      </p:sp>
      <p:sp>
        <p:nvSpPr>
          <p:cNvPr id="17" name="Rounded Rectangle 16">
            <a:extLst>
              <a:ext uri="{C183D7F6-B498-43B3-948B-1728B52AA6E4}">
                <ns6:decorative xmlns:ns6="http://schemas.microsoft.com/office/drawing/2017/decorative" val="1"/>
              </a:ext>
            </a:extLst>
          </p:cNvPr>
          <p:cNvSpPr/>
          <p:nvPr/>
        </p:nvSpPr>
        <p:spPr>
          <a:xfrm>
            <a:off x="8101583" y="1874519"/>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8284463" y="207568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2039112"/>
            <a:ext cx="3035808"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Sans Display Semibold"/>
              </a:rPr>
              <a:t>3 · Ground work in content</a:t>
            </a:r>
          </a:p>
        </p:txBody>
      </p:sp>
      <p:sp>
        <p:nvSpPr>
          <p:cNvPr id="20" name="TextBox 19"/>
          <p:cNvSpPr txBox="1"/>
          <p:nvPr/>
        </p:nvSpPr>
        <p:spPr>
          <a:xfrm>
            <a:off x="8330183" y="244144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Use files, cited web research, and browsing, and check outputs against sources.</a:t>
            </a:r>
          </a:p>
        </p:txBody>
      </p:sp>
      <p:sp>
        <p:nvSpPr>
          <p:cNvPr id="21" name="Rounded Rectangle 20">
            <a:extLst>
              <a:ext uri="{C183D7F6-B498-43B3-948B-1728B52AA6E4}">
                <ns8:decorative xmlns:ns8="http://schemas.microsoft.com/office/drawing/2017/decorative" val="1"/>
              </a:ext>
            </a:extLst>
          </p:cNvPr>
          <p:cNvSpPr/>
          <p:nvPr/>
        </p:nvSpPr>
        <p:spPr>
          <a:xfrm>
            <a:off x="548640" y="4114800"/>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731520" y="4315968"/>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279392"/>
            <a:ext cx="3035808" cy="365760"/>
          </a:xfrm>
          <a:prstGeom prst="rect">
            <a:avLst/>
          </a:prstGeom>
          <a:noFill/>
        </p:spPr>
        <p:txBody>
          <a:bodyPr wrap="square" anchor="t" lIns="0" rIns="0" tIns="0" bIns="0">
            <a:spAutoFit/>
          </a:bodyPr>
          <a:lstStyle/>
          <a:p>
            <a:pPr algn="l">
              <a:spcAft>
                <a:spcPts val="400"/>
              </a:spcAft>
            </a:pPr>
            <a:r>
              <a:rPr sz="1400" b="1" i="0">
                <a:solidFill>
                  <a:srgbClr val="C55A11"/>
                </a:solidFill>
                <a:latin typeface="Segoe Sans Display Semibold"/>
              </a:rPr>
              <a:t>4 · Package repeatable work</a:t>
            </a:r>
          </a:p>
        </p:txBody>
      </p:sp>
      <p:sp>
        <p:nvSpPr>
          <p:cNvPr id="24" name="TextBox 23"/>
          <p:cNvSpPr txBox="1"/>
          <p:nvPr/>
        </p:nvSpPr>
        <p:spPr>
          <a:xfrm>
            <a:off x="777240" y="468172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Build and evaluate a custom skill, then schedule recurring work.</a:t>
            </a:r>
          </a:p>
        </p:txBody>
      </p:sp>
      <p:sp>
        <p:nvSpPr>
          <p:cNvPr id="25" name="Rounded Rectangle 24">
            <a:extLst>
              <a:ext uri="{C183D7F6-B498-43B3-948B-1728B52AA6E4}">
                <ns10:decorative xmlns:ns10="http://schemas.microsoft.com/office/drawing/2017/decorative" val="1"/>
              </a:ext>
            </a:extLst>
          </p:cNvPr>
          <p:cNvSpPr/>
          <p:nvPr/>
        </p:nvSpPr>
        <p:spPr>
          <a:xfrm>
            <a:off x="4325112" y="4114800"/>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extLst>
              <a:ext uri="{C183D7F6-B498-43B3-948B-1728B52AA6E4}">
                <ns11:decorative xmlns:ns11="http://schemas.microsoft.com/office/drawing/2017/decorative" val="1"/>
              </a:ext>
            </a:extLst>
          </p:cNvPr>
          <p:cNvSpPr/>
          <p:nvPr/>
        </p:nvSpPr>
        <p:spPr>
          <a:xfrm>
            <a:off x="4507992" y="4315968"/>
            <a:ext cx="54864" cy="3474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2583" y="4279392"/>
            <a:ext cx="3035808" cy="365760"/>
          </a:xfrm>
          <a:prstGeom prst="rect">
            <a:avLst/>
          </a:prstGeom>
          <a:noFill/>
        </p:spPr>
        <p:txBody>
          <a:bodyPr wrap="square" anchor="t" lIns="0" rIns="0" tIns="0" bIns="0">
            <a:spAutoFit/>
          </a:bodyPr>
          <a:lstStyle/>
          <a:p>
            <a:pPr algn="l">
              <a:spcAft>
                <a:spcPts val="400"/>
              </a:spcAft>
            </a:pPr>
            <a:r>
              <a:rPr sz="1400" b="1" i="0">
                <a:solidFill>
                  <a:srgbClr val="0E7C86"/>
                </a:solidFill>
                <a:latin typeface="Segoe Sans Display Semibold"/>
              </a:rPr>
              <a:t>5 · Build a no-code agent</a:t>
            </a:r>
          </a:p>
        </p:txBody>
      </p:sp>
      <p:sp>
        <p:nvSpPr>
          <p:cNvPr id="28" name="TextBox 27"/>
          <p:cNvSpPr txBox="1"/>
          <p:nvPr/>
        </p:nvSpPr>
        <p:spPr>
          <a:xfrm>
            <a:off x="4553712" y="468172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An HR policy agent grounded in documents that declines out-of-scope questions.</a:t>
            </a:r>
          </a:p>
        </p:txBody>
      </p:sp>
      <p:sp>
        <p:nvSpPr>
          <p:cNvPr id="29" name="Rounded Rectangle 28">
            <a:extLst>
              <a:ext uri="{C183D7F6-B498-43B3-948B-1728B52AA6E4}">
                <ns12:decorative xmlns:ns12="http://schemas.microsoft.com/office/drawing/2017/decorative" val="1"/>
              </a:ext>
            </a:extLst>
          </p:cNvPr>
          <p:cNvSpPr/>
          <p:nvPr/>
        </p:nvSpPr>
        <p:spPr>
          <a:xfrm>
            <a:off x="8101583" y="4114800"/>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extLst>
              <a:ext uri="{C183D7F6-B498-43B3-948B-1728B52AA6E4}">
                <ns13:decorative xmlns:ns13="http://schemas.microsoft.com/office/drawing/2017/decorative" val="1"/>
              </a:ext>
            </a:extLst>
          </p:cNvPr>
          <p:cNvSpPr/>
          <p:nvPr/>
        </p:nvSpPr>
        <p:spPr>
          <a:xfrm>
            <a:off x="8284463" y="4315968"/>
            <a:ext cx="54864" cy="3474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49056" y="4279392"/>
            <a:ext cx="3035808" cy="365760"/>
          </a:xfrm>
          <a:prstGeom prst="rect">
            <a:avLst/>
          </a:prstGeom>
          <a:noFill/>
        </p:spPr>
        <p:txBody>
          <a:bodyPr wrap="square" anchor="t" lIns="0" rIns="0" tIns="0" bIns="0">
            <a:spAutoFit/>
          </a:bodyPr>
          <a:lstStyle/>
          <a:p>
            <a:pPr algn="l">
              <a:spcAft>
                <a:spcPts val="400"/>
              </a:spcAft>
            </a:pPr>
            <a:r>
              <a:rPr sz="1400" b="1" i="0">
                <a:solidFill>
                  <a:srgbClr val="C0504D"/>
                </a:solidFill>
                <a:latin typeface="Segoe Sans Display Semibold"/>
              </a:rPr>
              <a:t>6 · Apply HR guardrails</a:t>
            </a:r>
          </a:p>
        </p:txBody>
      </p:sp>
      <p:sp>
        <p:nvSpPr>
          <p:cNvPr id="32" name="TextBox 31"/>
          <p:cNvSpPr txBox="1"/>
          <p:nvPr/>
        </p:nvSpPr>
        <p:spPr>
          <a:xfrm>
            <a:off x="8330183" y="468172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Permitted data only, cite and confirm policy, keep people decisions with people.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Three Copilot tools, one workshop</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Attendees learn when to use which</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5</a:t>
            </a:r>
          </a:p>
        </p:txBody>
      </p:sp>
      <p:sp>
        <p:nvSpPr>
          <p:cNvPr id="9" name="Rounded Rectangle 8">
            <a:extLst>
              <a:ext uri="{C183D7F6-B498-43B3-948B-1728B52AA6E4}">
                <ns2:decorative xmlns:ns2="http://schemas.microsoft.com/office/drawing/2017/decorative" val="1"/>
              </a:ext>
            </a:extLst>
          </p:cNvPr>
          <p:cNvSpPr/>
          <p:nvPr/>
        </p:nvSpPr>
        <p:spPr>
          <a:xfrm>
            <a:off x="548640" y="1874519"/>
            <a:ext cx="3538728" cy="301752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7568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39112"/>
            <a:ext cx="3035808" cy="365760"/>
          </a:xfrm>
          <a:prstGeom prst="rect">
            <a:avLst/>
          </a:prstGeom>
          <a:noFill/>
        </p:spPr>
        <p:txBody>
          <a:bodyPr wrap="square" anchor="t" lIns="0" rIns="0" tIns="0" bIns="0">
            <a:spAutoFit/>
          </a:bodyPr>
          <a:lstStyle/>
          <a:p>
            <a:pPr algn="l">
              <a:spcAft>
                <a:spcPts val="400"/>
              </a:spcAft>
            </a:pPr>
            <a:r>
              <a:rPr sz="1700" b="1" i="0">
                <a:solidFill>
                  <a:srgbClr val="0F6CBD"/>
                </a:solidFill>
                <a:latin typeface="Segoe Sans Display Semibold"/>
              </a:rPr>
              <a:t>Copilot Chat</a:t>
            </a:r>
          </a:p>
        </p:txBody>
      </p:sp>
      <p:sp>
        <p:nvSpPr>
          <p:cNvPr id="12" name="TextBox 11"/>
          <p:cNvSpPr txBox="1"/>
          <p:nvPr/>
        </p:nvSpPr>
        <p:spPr>
          <a:xfrm>
            <a:off x="777240" y="2441448"/>
            <a:ext cx="3127248" cy="2313432"/>
          </a:xfrm>
          <a:prstGeom prst="rect">
            <a:avLst/>
          </a:prstGeom>
          <a:noFill/>
        </p:spPr>
        <p:txBody>
          <a:bodyPr wrap="square" anchor="t" lIns="0" rIns="0" tIns="0" bIns="0">
            <a:spAutoFit/>
          </a:bodyPr>
          <a:lstStyle/>
          <a:p>
            <a:pPr algn="l">
              <a:lnSpc>
                <a:spcPct val="105000"/>
              </a:lnSpc>
              <a:spcAft>
                <a:spcPts val="500"/>
              </a:spcAft>
            </a:pPr>
            <a:r>
              <a:rPr sz="1500" b="1" i="0">
                <a:solidFill>
                  <a:srgbClr val="242424"/>
                </a:solidFill>
                <a:latin typeface="Segoe UI"/>
              </a:rPr>
              <a:t>Use it when:</a:t>
            </a:r>
            <a:r>
              <a:rPr sz="1500" b="0" i="0">
                <a:solidFill>
                  <a:srgbClr val="242424"/>
                </a:solidFill>
                <a:latin typeface="Segoe UI"/>
              </a:rPr>
              <a:t> Quick answers and rewrites</a:t>
            </a:r>
          </a:p>
          <a:p>
            <a:pPr algn="l">
              <a:lnSpc>
                <a:spcPct val="105000"/>
              </a:lnSpc>
              <a:spcAft>
                <a:spcPts val="1000"/>
              </a:spcAft>
            </a:pPr>
            <a:r>
              <a:rPr sz="1500" b="1" i="0">
                <a:solidFill>
                  <a:srgbClr val="242424"/>
                </a:solidFill>
                <a:latin typeface="Segoe UI"/>
              </a:rPr>
              <a:t>HR example:</a:t>
            </a:r>
            <a:r>
              <a:rPr sz="1500" b="0" i="0">
                <a:solidFill>
                  <a:srgbClr val="242424"/>
                </a:solidFill>
                <a:latin typeface="Segoe UI"/>
              </a:rPr>
              <a:t> “Summarize this policy in 3 bullets.”</a:t>
            </a:r>
          </a:p>
        </p:txBody>
      </p:sp>
      <p:sp>
        <p:nvSpPr>
          <p:cNvPr id="13" name="Rounded Rectangle 12">
            <a:extLst>
              <a:ext uri="{C183D7F6-B498-43B3-948B-1728B52AA6E4}">
                <ns4:decorative xmlns:ns4="http://schemas.microsoft.com/office/drawing/2017/decorative" val="1"/>
              </a:ext>
            </a:extLst>
          </p:cNvPr>
          <p:cNvSpPr/>
          <p:nvPr/>
        </p:nvSpPr>
        <p:spPr>
          <a:xfrm>
            <a:off x="777240" y="4389120"/>
            <a:ext cx="1349779" cy="292608"/>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389120"/>
            <a:ext cx="1349779" cy="292608"/>
          </a:xfrm>
          <a:prstGeom prst="rect">
            <a:avLst/>
          </a:prstGeom>
          <a:noFill/>
        </p:spPr>
        <p:txBody>
          <a:bodyPr wrap="square" anchor="ctr" lIns="0" rIns="0" tIns="0" bIns="0">
            <a:spAutoFit/>
          </a:bodyPr>
          <a:lstStyle/>
          <a:p>
            <a:pPr algn="ctr">
              <a:spcAft>
                <a:spcPts val="400"/>
              </a:spcAft>
            </a:pPr>
            <a:r>
              <a:rPr sz="1150" b="0" i="0">
                <a:solidFill>
                  <a:srgbClr val="242424"/>
                </a:solidFill>
                <a:latin typeface="Segoe Sans Display Semibold"/>
              </a:rPr>
              <a:t>Opening segment</a:t>
            </a:r>
          </a:p>
        </p:txBody>
      </p:sp>
      <p:sp>
        <p:nvSpPr>
          <p:cNvPr id="15" name="Rounded Rectangle 14">
            <a:extLst>
              <a:ext uri="{C183D7F6-B498-43B3-948B-1728B52AA6E4}">
                <ns5:decorative xmlns:ns5="http://schemas.microsoft.com/office/drawing/2017/decorative" val="1"/>
              </a:ext>
            </a:extLst>
          </p:cNvPr>
          <p:cNvSpPr/>
          <p:nvPr/>
        </p:nvSpPr>
        <p:spPr>
          <a:xfrm>
            <a:off x="4325112" y="1874519"/>
            <a:ext cx="3538728" cy="301752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extLst>
              <a:ext uri="{C183D7F6-B498-43B3-948B-1728B52AA6E4}">
                <ns6:decorative xmlns:ns6="http://schemas.microsoft.com/office/drawing/2017/decorative" val="1"/>
              </a:ext>
            </a:extLst>
          </p:cNvPr>
          <p:cNvSpPr/>
          <p:nvPr/>
        </p:nvSpPr>
        <p:spPr>
          <a:xfrm>
            <a:off x="4507992" y="207568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72583" y="2039112"/>
            <a:ext cx="3035808" cy="365760"/>
          </a:xfrm>
          <a:prstGeom prst="rect">
            <a:avLst/>
          </a:prstGeom>
          <a:noFill/>
        </p:spPr>
        <p:txBody>
          <a:bodyPr wrap="square" anchor="t" lIns="0" rIns="0" tIns="0" bIns="0">
            <a:spAutoFit/>
          </a:bodyPr>
          <a:lstStyle/>
          <a:p>
            <a:pPr algn="l">
              <a:spcAft>
                <a:spcPts val="400"/>
              </a:spcAft>
            </a:pPr>
            <a:r>
              <a:rPr sz="1700" b="1" i="0">
                <a:solidFill>
                  <a:srgbClr val="8064A2"/>
                </a:solidFill>
                <a:latin typeface="Segoe Sans Display Semibold"/>
              </a:rPr>
              <a:t>Copilot Cowork</a:t>
            </a:r>
          </a:p>
        </p:txBody>
      </p:sp>
      <p:sp>
        <p:nvSpPr>
          <p:cNvPr id="18" name="TextBox 17"/>
          <p:cNvSpPr txBox="1"/>
          <p:nvPr/>
        </p:nvSpPr>
        <p:spPr>
          <a:xfrm>
            <a:off x="4553712" y="2441448"/>
            <a:ext cx="3127248" cy="2313432"/>
          </a:xfrm>
          <a:prstGeom prst="rect">
            <a:avLst/>
          </a:prstGeom>
          <a:noFill/>
        </p:spPr>
        <p:txBody>
          <a:bodyPr wrap="square" anchor="t" lIns="0" rIns="0" tIns="0" bIns="0">
            <a:spAutoFit/>
          </a:bodyPr>
          <a:lstStyle/>
          <a:p>
            <a:pPr algn="l">
              <a:lnSpc>
                <a:spcPct val="105000"/>
              </a:lnSpc>
              <a:spcAft>
                <a:spcPts val="500"/>
              </a:spcAft>
            </a:pPr>
            <a:r>
              <a:rPr sz="1500" b="1" i="0">
                <a:solidFill>
                  <a:srgbClr val="242424"/>
                </a:solidFill>
                <a:latin typeface="Segoe UI"/>
              </a:rPr>
              <a:t>Use it when:</a:t>
            </a:r>
            <a:r>
              <a:rPr sz="1500" b="0" i="0">
                <a:solidFill>
                  <a:srgbClr val="242424"/>
                </a:solidFill>
                <a:latin typeface="Segoe UI"/>
              </a:rPr>
              <a:t> Multi-step work that ends in a document, email, deck, report, or schedule</a:t>
            </a:r>
          </a:p>
          <a:p>
            <a:pPr algn="l">
              <a:lnSpc>
                <a:spcPct val="105000"/>
              </a:lnSpc>
              <a:spcAft>
                <a:spcPts val="1000"/>
              </a:spcAft>
            </a:pPr>
            <a:r>
              <a:rPr sz="1500" b="1" i="0">
                <a:solidFill>
                  <a:srgbClr val="242424"/>
                </a:solidFill>
                <a:latin typeface="Segoe UI"/>
              </a:rPr>
              <a:t>HR example:</a:t>
            </a:r>
            <a:r>
              <a:rPr sz="1500" b="0" i="0">
                <a:solidFill>
                  <a:srgbClr val="242424"/>
                </a:solidFill>
                <a:latin typeface="Segoe UI"/>
              </a:rPr>
              <a:t> “Build a new-hire orientation deck and schedule the welcome meeting.”</a:t>
            </a:r>
          </a:p>
        </p:txBody>
      </p:sp>
      <p:sp>
        <p:nvSpPr>
          <p:cNvPr id="19" name="Rounded Rectangle 18">
            <a:extLst>
              <a:ext uri="{C183D7F6-B498-43B3-948B-1728B52AA6E4}">
                <ns7:decorative xmlns:ns7="http://schemas.microsoft.com/office/drawing/2017/decorative" val="1"/>
              </a:ext>
            </a:extLst>
          </p:cNvPr>
          <p:cNvSpPr/>
          <p:nvPr/>
        </p:nvSpPr>
        <p:spPr>
          <a:xfrm>
            <a:off x="4553712" y="4389120"/>
            <a:ext cx="1206384" cy="292608"/>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4389120"/>
            <a:ext cx="1206384" cy="292608"/>
          </a:xfrm>
          <a:prstGeom prst="rect">
            <a:avLst/>
          </a:prstGeom>
          <a:noFill/>
        </p:spPr>
        <p:txBody>
          <a:bodyPr wrap="square" anchor="ctr" lIns="0" rIns="0" tIns="0" bIns="0">
            <a:spAutoFit/>
          </a:bodyPr>
          <a:lstStyle/>
          <a:p>
            <a:pPr algn="ctr">
              <a:spcAft>
                <a:spcPts val="400"/>
              </a:spcAft>
            </a:pPr>
            <a:r>
              <a:rPr sz="1150" b="0" i="0">
                <a:solidFill>
                  <a:srgbClr val="242424"/>
                </a:solidFill>
                <a:latin typeface="Segoe Sans Display Semibold"/>
              </a:rPr>
              <a:t>Exercises 1–7</a:t>
            </a:r>
          </a:p>
        </p:txBody>
      </p:sp>
      <p:sp>
        <p:nvSpPr>
          <p:cNvPr id="21" name="Rounded Rectangle 20">
            <a:extLst>
              <a:ext uri="{C183D7F6-B498-43B3-948B-1728B52AA6E4}">
                <ns8:decorative xmlns:ns8="http://schemas.microsoft.com/office/drawing/2017/decorative" val="1"/>
              </a:ext>
            </a:extLst>
          </p:cNvPr>
          <p:cNvSpPr/>
          <p:nvPr/>
        </p:nvSpPr>
        <p:spPr>
          <a:xfrm>
            <a:off x="8101583" y="1874519"/>
            <a:ext cx="3538728" cy="301752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8284463" y="207568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49056" y="2039112"/>
            <a:ext cx="3035808" cy="365760"/>
          </a:xfrm>
          <a:prstGeom prst="rect">
            <a:avLst/>
          </a:prstGeom>
          <a:noFill/>
        </p:spPr>
        <p:txBody>
          <a:bodyPr wrap="square" anchor="t" lIns="0" rIns="0" tIns="0" bIns="0">
            <a:spAutoFit/>
          </a:bodyPr>
          <a:lstStyle/>
          <a:p>
            <a:pPr algn="l">
              <a:spcAft>
                <a:spcPts val="400"/>
              </a:spcAft>
            </a:pPr>
            <a:r>
              <a:rPr sz="1700" b="1" i="0">
                <a:solidFill>
                  <a:srgbClr val="107C10"/>
                </a:solidFill>
                <a:latin typeface="Segoe Sans Display Semibold"/>
              </a:rPr>
              <a:t>Copilot Agent Builder</a:t>
            </a:r>
          </a:p>
        </p:txBody>
      </p:sp>
      <p:sp>
        <p:nvSpPr>
          <p:cNvPr id="24" name="TextBox 23"/>
          <p:cNvSpPr txBox="1"/>
          <p:nvPr/>
        </p:nvSpPr>
        <p:spPr>
          <a:xfrm>
            <a:off x="8330183" y="2441448"/>
            <a:ext cx="3127248" cy="2313432"/>
          </a:xfrm>
          <a:prstGeom prst="rect">
            <a:avLst/>
          </a:prstGeom>
          <a:noFill/>
        </p:spPr>
        <p:txBody>
          <a:bodyPr wrap="square" anchor="t" lIns="0" rIns="0" tIns="0" bIns="0">
            <a:spAutoFit/>
          </a:bodyPr>
          <a:lstStyle/>
          <a:p>
            <a:pPr algn="l">
              <a:lnSpc>
                <a:spcPct val="105000"/>
              </a:lnSpc>
              <a:spcAft>
                <a:spcPts val="500"/>
              </a:spcAft>
            </a:pPr>
            <a:r>
              <a:rPr sz="1500" b="1" i="0">
                <a:solidFill>
                  <a:srgbClr val="242424"/>
                </a:solidFill>
                <a:latin typeface="Segoe UI"/>
              </a:rPr>
              <a:t>Use it when:</a:t>
            </a:r>
            <a:r>
              <a:rPr sz="1500" b="0" i="0">
                <a:solidFill>
                  <a:srgbClr val="242424"/>
                </a:solidFill>
                <a:latin typeface="Segoe UI"/>
              </a:rPr>
              <a:t> A reusable helper other people can chat with</a:t>
            </a:r>
          </a:p>
          <a:p>
            <a:pPr algn="l">
              <a:lnSpc>
                <a:spcPct val="105000"/>
              </a:lnSpc>
              <a:spcAft>
                <a:spcPts val="1000"/>
              </a:spcAft>
            </a:pPr>
            <a:r>
              <a:rPr sz="1500" b="1" i="0">
                <a:solidFill>
                  <a:srgbClr val="242424"/>
                </a:solidFill>
                <a:latin typeface="Segoe UI"/>
              </a:rPr>
              <a:t>HR example:</a:t>
            </a:r>
            <a:r>
              <a:rPr sz="1500" b="0" i="0">
                <a:solidFill>
                  <a:srgbClr val="242424"/>
                </a:solidFill>
                <a:latin typeface="Segoe UI"/>
              </a:rPr>
              <a:t> An HR Policy Agent that answers benefits and PTO questions with sources</a:t>
            </a:r>
          </a:p>
        </p:txBody>
      </p:sp>
      <p:sp>
        <p:nvSpPr>
          <p:cNvPr id="25" name="Rounded Rectangle 24">
            <a:extLst>
              <a:ext uri="{C183D7F6-B498-43B3-948B-1728B52AA6E4}">
                <ns10:decorative xmlns:ns10="http://schemas.microsoft.com/office/drawing/2017/decorative" val="1"/>
              </a:ext>
            </a:extLst>
          </p:cNvPr>
          <p:cNvSpPr/>
          <p:nvPr/>
        </p:nvSpPr>
        <p:spPr>
          <a:xfrm>
            <a:off x="8330183" y="4389120"/>
            <a:ext cx="1923357" cy="292608"/>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389120"/>
            <a:ext cx="1923357" cy="292608"/>
          </a:xfrm>
          <a:prstGeom prst="rect">
            <a:avLst/>
          </a:prstGeom>
          <a:noFill/>
        </p:spPr>
        <p:txBody>
          <a:bodyPr wrap="square" anchor="ctr" lIns="0" rIns="0" tIns="0" bIns="0">
            <a:spAutoFit/>
          </a:bodyPr>
          <a:lstStyle/>
          <a:p>
            <a:pPr algn="ctr">
              <a:spcAft>
                <a:spcPts val="400"/>
              </a:spcAft>
            </a:pPr>
            <a:r>
              <a:rPr sz="1150" b="0" i="0">
                <a:solidFill>
                  <a:srgbClr val="242424"/>
                </a:solidFill>
                <a:latin typeface="Segoe Sans Display Semibold"/>
              </a:rPr>
              <a:t>Exercise 8 (not Cowork)</a:t>
            </a:r>
          </a:p>
        </p:txBody>
      </p:sp>
      <p:sp>
        <p:nvSpPr>
          <p:cNvPr id="27" name="Rounded Rectangle 26">
            <a:extLst>
              <a:ext uri="{C183D7F6-B498-43B3-948B-1728B52AA6E4}">
                <ns11:decorative xmlns:ns11="http://schemas.microsoft.com/office/drawing/2017/decorative" val="1"/>
              </a:ext>
            </a:extLst>
          </p:cNvPr>
          <p:cNvSpPr/>
          <p:nvPr/>
        </p:nvSpPr>
        <p:spPr>
          <a:xfrm>
            <a:off x="548640" y="5166360"/>
            <a:ext cx="11091672" cy="777240"/>
          </a:xfrm>
          <a:prstGeom prst="roundRect">
            <a:avLst>
              <a:gd name="adj" fmla="val 1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166360"/>
            <a:ext cx="10543032" cy="777240"/>
          </a:xfrm>
          <a:prstGeom prst="rect">
            <a:avLst/>
          </a:prstGeom>
          <a:noFill/>
        </p:spPr>
        <p:txBody>
          <a:bodyPr wrap="square" anchor="ctr" lIns="0" rIns="0" tIns="0" bIns="0">
            <a:spAutoFit/>
          </a:bodyPr>
          <a:lstStyle/>
          <a:p>
            <a:pPr algn="l">
              <a:spcAft>
                <a:spcPts val="400"/>
              </a:spcAft>
            </a:pPr>
            <a:r>
              <a:rPr sz="1500" b="1" i="0">
                <a:solidFill>
                  <a:srgbClr val="FFFFFF"/>
                </a:solidFill>
                <a:latin typeface="Segoe Sans Display Semibold"/>
              </a:rPr>
              <a:t>Cowork is the focus</a:t>
            </a:r>
            <a:r>
              <a:rPr sz="1500" b="0" i="0">
                <a:solidFill>
                  <a:srgbClr val="FFFFFF"/>
                </a:solidFill>
                <a:latin typeface="Segoe Sans Display"/>
              </a:rPr>
              <a:t> (Exercises 1–7). The finale switches to </a:t>
            </a:r>
            <a:r>
              <a:rPr sz="1500" b="1" i="0">
                <a:solidFill>
                  <a:srgbClr val="FFFFFF"/>
                </a:solidFill>
                <a:latin typeface="Segoe Sans Display Semibold"/>
              </a:rPr>
              <a:t>Agent Builder</a:t>
            </a:r>
            <a:r>
              <a:rPr sz="1500" b="0" i="0">
                <a:solidFill>
                  <a:srgbClr val="FFFFFF"/>
                </a:solidFill>
                <a:latin typeface="Segoe Sans Display"/>
              </a:rPr>
              <a:t>, so attendees leave knowing when each tool fits.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Agenda · 240 minutes</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Short framing, then mostly hands-on</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6</a:t>
            </a:r>
          </a:p>
        </p:txBody>
      </p:sp>
      <p:sp>
        <p:nvSpPr>
          <p:cNvPr id="9" name="Rounded Rectangle 8">
            <a:extLst>
              <a:ext uri="{C183D7F6-B498-43B3-948B-1728B52AA6E4}">
                <ns2:decorative xmlns:ns2="http://schemas.microsoft.com/office/drawing/2017/decorative" val="1"/>
              </a:ext>
            </a:extLst>
          </p:cNvPr>
          <p:cNvSpPr/>
          <p:nvPr/>
        </p:nvSpPr>
        <p:spPr>
          <a:xfrm>
            <a:off x="548640" y="1828800"/>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0:00–0:40</a:t>
            </a:r>
          </a:p>
        </p:txBody>
      </p:sp>
      <p:sp>
        <p:nvSpPr>
          <p:cNvPr id="11" name="TextBox 10"/>
          <p:cNvSpPr txBox="1"/>
          <p:nvPr/>
        </p:nvSpPr>
        <p:spPr>
          <a:xfrm>
            <a:off x="1920240" y="1828800"/>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Welcome, Copilot vs. Cowork, UI tour, and setup</a:t>
            </a:r>
          </a:p>
        </p:txBody>
      </p:sp>
      <p:sp>
        <p:nvSpPr>
          <p:cNvPr id="12" name="Rounded Rectangle 11">
            <a:extLst>
              <a:ext uri="{C183D7F6-B498-43B3-948B-1728B52AA6E4}">
                <ns3:decorative xmlns:ns3="http://schemas.microsoft.com/office/drawing/2017/decorative" val="1"/>
              </a:ext>
            </a:extLst>
          </p:cNvPr>
          <p:cNvSpPr/>
          <p:nvPr/>
        </p:nvSpPr>
        <p:spPr>
          <a:xfrm>
            <a:off x="548640" y="2432304"/>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432304"/>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0:40–1:05</a:t>
            </a:r>
          </a:p>
        </p:txBody>
      </p:sp>
      <p:sp>
        <p:nvSpPr>
          <p:cNvPr id="14" name="TextBox 13"/>
          <p:cNvSpPr txBox="1"/>
          <p:nvPr/>
        </p:nvSpPr>
        <p:spPr>
          <a:xfrm>
            <a:off x="1920240" y="2432304"/>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1 · Executive Command Center</a:t>
            </a:r>
          </a:p>
        </p:txBody>
      </p:sp>
      <p:sp>
        <p:nvSpPr>
          <p:cNvPr id="15" name="Rounded Rectangle 14">
            <a:extLst>
              <a:ext uri="{C183D7F6-B498-43B3-948B-1728B52AA6E4}">
                <ns4:decorative xmlns:ns4="http://schemas.microsoft.com/office/drawing/2017/decorative" val="1"/>
              </a:ext>
            </a:extLst>
          </p:cNvPr>
          <p:cNvSpPr/>
          <p:nvPr/>
        </p:nvSpPr>
        <p:spPr>
          <a:xfrm>
            <a:off x="548640" y="3035808"/>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35808"/>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1:05–1:25</a:t>
            </a:r>
          </a:p>
        </p:txBody>
      </p:sp>
      <p:sp>
        <p:nvSpPr>
          <p:cNvPr id="17" name="TextBox 16"/>
          <p:cNvSpPr txBox="1"/>
          <p:nvPr/>
        </p:nvSpPr>
        <p:spPr>
          <a:xfrm>
            <a:off x="1920240" y="3035808"/>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2 · Research the Web with Deep Research</a:t>
            </a:r>
          </a:p>
        </p:txBody>
      </p:sp>
      <p:sp>
        <p:nvSpPr>
          <p:cNvPr id="18" name="Rounded Rectangle 17">
            <a:extLst>
              <a:ext uri="{C183D7F6-B498-43B3-948B-1728B52AA6E4}">
                <ns5:decorative xmlns:ns5="http://schemas.microsoft.com/office/drawing/2017/decorative" val="1"/>
              </a:ext>
            </a:extLst>
          </p:cNvPr>
          <p:cNvSpPr/>
          <p:nvPr/>
        </p:nvSpPr>
        <p:spPr>
          <a:xfrm>
            <a:off x="548640" y="3639312"/>
            <a:ext cx="5394960" cy="512064"/>
          </a:xfrm>
          <a:prstGeom prst="roundRect">
            <a:avLst>
              <a:gd name="adj" fmla="val 20000"/>
            </a:avLst>
          </a:prstGeom>
          <a:solidFill>
            <a:srgbClr val="F4F4F4"/>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639312"/>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1:25–1:35</a:t>
            </a:r>
          </a:p>
        </p:txBody>
      </p:sp>
      <p:sp>
        <p:nvSpPr>
          <p:cNvPr id="20" name="TextBox 19"/>
          <p:cNvSpPr txBox="1"/>
          <p:nvPr/>
        </p:nvSpPr>
        <p:spPr>
          <a:xfrm>
            <a:off x="1920240" y="3639312"/>
            <a:ext cx="3931920" cy="512064"/>
          </a:xfrm>
          <a:prstGeom prst="rect">
            <a:avLst/>
          </a:prstGeom>
          <a:noFill/>
        </p:spPr>
        <p:txBody>
          <a:bodyPr wrap="square" anchor="ctr" lIns="0" rIns="0" tIns="0" bIns="0">
            <a:spAutoFit/>
          </a:bodyPr>
          <a:lstStyle/>
          <a:p>
            <a:pPr algn="l">
              <a:spcAft>
                <a:spcPts val="400"/>
              </a:spcAft>
            </a:pPr>
            <a:r>
              <a:rPr sz="1250" b="0" i="0">
                <a:solidFill>
                  <a:srgbClr val="616161"/>
                </a:solidFill>
                <a:latin typeface="Segoe UI"/>
              </a:rPr>
              <a:t>Break</a:t>
            </a:r>
          </a:p>
        </p:txBody>
      </p:sp>
      <p:sp>
        <p:nvSpPr>
          <p:cNvPr id="21" name="Rounded Rectangle 20">
            <a:extLst>
              <a:ext uri="{C183D7F6-B498-43B3-948B-1728B52AA6E4}">
                <ns6:decorative xmlns:ns6="http://schemas.microsoft.com/office/drawing/2017/decorative" val="1"/>
              </a:ext>
            </a:extLst>
          </p:cNvPr>
          <p:cNvSpPr/>
          <p:nvPr/>
        </p:nvSpPr>
        <p:spPr>
          <a:xfrm>
            <a:off x="548640" y="4242816"/>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242816"/>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1:35–2:00</a:t>
            </a:r>
          </a:p>
        </p:txBody>
      </p:sp>
      <p:sp>
        <p:nvSpPr>
          <p:cNvPr id="23" name="TextBox 22"/>
          <p:cNvSpPr txBox="1"/>
          <p:nvPr/>
        </p:nvSpPr>
        <p:spPr>
          <a:xfrm>
            <a:off x="1920240" y="4242816"/>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3 · Navigate Websites with Cowork’s Browser</a:t>
            </a:r>
          </a:p>
        </p:txBody>
      </p:sp>
      <p:sp>
        <p:nvSpPr>
          <p:cNvPr id="24" name="Rounded Rectangle 23">
            <a:extLst>
              <a:ext uri="{C183D7F6-B498-43B3-948B-1728B52AA6E4}">
                <ns7:decorative xmlns:ns7="http://schemas.microsoft.com/office/drawing/2017/decorative" val="1"/>
              </a:ext>
            </a:extLst>
          </p:cNvPr>
          <p:cNvSpPr/>
          <p:nvPr/>
        </p:nvSpPr>
        <p:spPr>
          <a:xfrm>
            <a:off x="548640" y="4846320"/>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846320"/>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2:00–2:30</a:t>
            </a:r>
          </a:p>
        </p:txBody>
      </p:sp>
      <p:sp>
        <p:nvSpPr>
          <p:cNvPr id="26" name="TextBox 25"/>
          <p:cNvSpPr txBox="1"/>
          <p:nvPr/>
        </p:nvSpPr>
        <p:spPr>
          <a:xfrm>
            <a:off x="1920240" y="4846320"/>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4 · Build a Custom Skill: HR Policy Answer</a:t>
            </a:r>
          </a:p>
        </p:txBody>
      </p:sp>
      <p:sp>
        <p:nvSpPr>
          <p:cNvPr id="27" name="Rounded Rectangle 26">
            <a:extLst>
              <a:ext uri="{C183D7F6-B498-43B3-948B-1728B52AA6E4}">
                <ns8:decorative xmlns:ns8="http://schemas.microsoft.com/office/drawing/2017/decorative" val="1"/>
              </a:ext>
            </a:extLst>
          </p:cNvPr>
          <p:cNvSpPr/>
          <p:nvPr/>
        </p:nvSpPr>
        <p:spPr>
          <a:xfrm>
            <a:off x="548640" y="5449824"/>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449824"/>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2:30–2:45</a:t>
            </a:r>
          </a:p>
        </p:txBody>
      </p:sp>
      <p:sp>
        <p:nvSpPr>
          <p:cNvPr id="29" name="TextBox 28"/>
          <p:cNvSpPr txBox="1"/>
          <p:nvPr/>
        </p:nvSpPr>
        <p:spPr>
          <a:xfrm>
            <a:off x="1920240" y="5449824"/>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5 · Recruiting + Reporting</a:t>
            </a:r>
          </a:p>
        </p:txBody>
      </p:sp>
      <p:sp>
        <p:nvSpPr>
          <p:cNvPr id="30" name="Rounded Rectangle 29">
            <a:extLst>
              <a:ext uri="{C183D7F6-B498-43B3-948B-1728B52AA6E4}">
                <ns9:decorative xmlns:ns9="http://schemas.microsoft.com/office/drawing/2017/decorative" val="1"/>
              </a:ext>
            </a:extLst>
          </p:cNvPr>
          <p:cNvSpPr/>
          <p:nvPr/>
        </p:nvSpPr>
        <p:spPr>
          <a:xfrm>
            <a:off x="6217920" y="1828800"/>
            <a:ext cx="5394960" cy="512064"/>
          </a:xfrm>
          <a:prstGeom prst="roundRect">
            <a:avLst>
              <a:gd name="adj" fmla="val 20000"/>
            </a:avLst>
          </a:prstGeom>
          <a:solidFill>
            <a:srgbClr val="F4F4F4"/>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1828800"/>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2:45–2:55</a:t>
            </a:r>
          </a:p>
        </p:txBody>
      </p:sp>
      <p:sp>
        <p:nvSpPr>
          <p:cNvPr id="32" name="TextBox 31"/>
          <p:cNvSpPr txBox="1"/>
          <p:nvPr/>
        </p:nvSpPr>
        <p:spPr>
          <a:xfrm>
            <a:off x="7589520" y="1828800"/>
            <a:ext cx="3931920" cy="512064"/>
          </a:xfrm>
          <a:prstGeom prst="rect">
            <a:avLst/>
          </a:prstGeom>
          <a:noFill/>
        </p:spPr>
        <p:txBody>
          <a:bodyPr wrap="square" anchor="ctr" lIns="0" rIns="0" tIns="0" bIns="0">
            <a:spAutoFit/>
          </a:bodyPr>
          <a:lstStyle/>
          <a:p>
            <a:pPr algn="l">
              <a:spcAft>
                <a:spcPts val="400"/>
              </a:spcAft>
            </a:pPr>
            <a:r>
              <a:rPr sz="1250" b="0" i="0">
                <a:solidFill>
                  <a:srgbClr val="616161"/>
                </a:solidFill>
                <a:latin typeface="Segoe UI"/>
              </a:rPr>
              <a:t>Break</a:t>
            </a:r>
          </a:p>
        </p:txBody>
      </p:sp>
      <p:sp>
        <p:nvSpPr>
          <p:cNvPr id="33" name="Rounded Rectangle 32">
            <a:extLst>
              <a:ext uri="{C183D7F6-B498-43B3-948B-1728B52AA6E4}">
                <ns10:decorative xmlns:ns10="http://schemas.microsoft.com/office/drawing/2017/decorative" val="1"/>
              </a:ext>
            </a:extLst>
          </p:cNvPr>
          <p:cNvSpPr/>
          <p:nvPr/>
        </p:nvSpPr>
        <p:spPr>
          <a:xfrm>
            <a:off x="6217920" y="2432304"/>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2432304"/>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2:55–3:15</a:t>
            </a:r>
          </a:p>
        </p:txBody>
      </p:sp>
      <p:sp>
        <p:nvSpPr>
          <p:cNvPr id="35" name="TextBox 34"/>
          <p:cNvSpPr txBox="1"/>
          <p:nvPr/>
        </p:nvSpPr>
        <p:spPr>
          <a:xfrm>
            <a:off x="7589520" y="2432304"/>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6 · Onboarding Orientation Pack</a:t>
            </a:r>
          </a:p>
        </p:txBody>
      </p:sp>
      <p:sp>
        <p:nvSpPr>
          <p:cNvPr id="36" name="Rounded Rectangle 35">
            <a:extLst>
              <a:ext uri="{C183D7F6-B498-43B3-948B-1728B52AA6E4}">
                <ns11:decorative xmlns:ns11="http://schemas.microsoft.com/office/drawing/2017/decorative" val="1"/>
              </a:ext>
            </a:extLst>
          </p:cNvPr>
          <p:cNvSpPr/>
          <p:nvPr/>
        </p:nvSpPr>
        <p:spPr>
          <a:xfrm>
            <a:off x="6217920" y="3035808"/>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3035808"/>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3:15–3:30</a:t>
            </a:r>
          </a:p>
        </p:txBody>
      </p:sp>
      <p:sp>
        <p:nvSpPr>
          <p:cNvPr id="38" name="TextBox 37"/>
          <p:cNvSpPr txBox="1"/>
          <p:nvPr/>
        </p:nvSpPr>
        <p:spPr>
          <a:xfrm>
            <a:off x="7589520" y="3035808"/>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7 · Automate &amp; Share</a:t>
            </a:r>
          </a:p>
        </p:txBody>
      </p:sp>
      <p:sp>
        <p:nvSpPr>
          <p:cNvPr id="39" name="Rounded Rectangle 38">
            <a:extLst>
              <a:ext uri="{C183D7F6-B498-43B3-948B-1728B52AA6E4}">
                <ns12:decorative xmlns:ns12="http://schemas.microsoft.com/office/drawing/2017/decorative" val="1"/>
              </a:ext>
            </a:extLst>
          </p:cNvPr>
          <p:cNvSpPr/>
          <p:nvPr/>
        </p:nvSpPr>
        <p:spPr>
          <a:xfrm>
            <a:off x="6217920" y="3639312"/>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3639312"/>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3:30–3:35</a:t>
            </a:r>
          </a:p>
        </p:txBody>
      </p:sp>
      <p:sp>
        <p:nvSpPr>
          <p:cNvPr id="41" name="TextBox 40"/>
          <p:cNvSpPr txBox="1"/>
          <p:nvPr/>
        </p:nvSpPr>
        <p:spPr>
          <a:xfrm>
            <a:off x="7589520" y="3639312"/>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Spotlight · Extend Cowork with HR plugins (talk only)</a:t>
            </a:r>
          </a:p>
        </p:txBody>
      </p:sp>
      <p:sp>
        <p:nvSpPr>
          <p:cNvPr id="42" name="Rounded Rectangle 41">
            <a:extLst>
              <a:ext uri="{C183D7F6-B498-43B3-948B-1728B52AA6E4}">
                <ns13:decorative xmlns:ns13="http://schemas.microsoft.com/office/drawing/2017/decorative" val="1"/>
              </a:ext>
            </a:extLst>
          </p:cNvPr>
          <p:cNvSpPr/>
          <p:nvPr/>
        </p:nvSpPr>
        <p:spPr>
          <a:xfrm>
            <a:off x="6217920" y="4242816"/>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4242816"/>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3:35–3:55</a:t>
            </a:r>
          </a:p>
        </p:txBody>
      </p:sp>
      <p:sp>
        <p:nvSpPr>
          <p:cNvPr id="44" name="TextBox 43"/>
          <p:cNvSpPr txBox="1"/>
          <p:nvPr/>
        </p:nvSpPr>
        <p:spPr>
          <a:xfrm>
            <a:off x="7589520" y="4242816"/>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8 · HR Policy Agent with Agent Builder (not Cowork)</a:t>
            </a:r>
          </a:p>
        </p:txBody>
      </p:sp>
      <p:sp>
        <p:nvSpPr>
          <p:cNvPr id="45" name="Rounded Rectangle 44">
            <a:extLst>
              <a:ext uri="{C183D7F6-B498-43B3-948B-1728B52AA6E4}">
                <ns14:decorative xmlns:ns14="http://schemas.microsoft.com/office/drawing/2017/decorative" val="1"/>
              </a:ext>
            </a:extLst>
          </p:cNvPr>
          <p:cNvSpPr/>
          <p:nvPr/>
        </p:nvSpPr>
        <p:spPr>
          <a:xfrm>
            <a:off x="6217920" y="4846320"/>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4846320"/>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3:55–4:00</a:t>
            </a:r>
          </a:p>
        </p:txBody>
      </p:sp>
      <p:sp>
        <p:nvSpPr>
          <p:cNvPr id="47" name="TextBox 46"/>
          <p:cNvSpPr txBox="1"/>
          <p:nvPr/>
        </p:nvSpPr>
        <p:spPr>
          <a:xfrm>
            <a:off x="7589520" y="4846320"/>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Wrap-up and next steps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The hands-on exercises · 1–4</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What attendees build, and why it matters for HR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7</a:t>
            </a:r>
          </a:p>
        </p:txBody>
      </p:sp>
      <p:sp>
        <p:nvSpPr>
          <p:cNvPr id="9" name="Rounded Rectangle 8">
            <a:extLst>
              <a:ext uri="{C183D7F6-B498-43B3-948B-1728B52AA6E4}">
                <ns2:decorative xmlns:ns2="http://schemas.microsoft.com/office/drawing/2017/decorative" val="1"/>
              </a:ext>
            </a:extLst>
          </p:cNvPr>
          <p:cNvSpPr/>
          <p:nvPr/>
        </p:nvSpPr>
        <p:spPr>
          <a:xfrm>
            <a:off x="548640"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1417319"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llustration for Exercise 1"/>
          <p:cNvPicPr>
            <a:picLocks noChangeAspect="1"/>
          </p:cNvPicPr>
          <p:nvPr/>
        </p:nvPicPr>
        <p:blipFill>
          <a:blip r:embed="rId3"/>
          <a:stretch>
            <a:fillRect/>
          </a:stretch>
        </p:blipFill>
        <p:spPr>
          <a:xfrm>
            <a:off x="1563623" y="2112264"/>
            <a:ext cx="621792" cy="621792"/>
          </a:xfrm>
          <a:prstGeom prst="rect">
            <a:avLst/>
          </a:prstGeom>
        </p:spPr>
      </p:pic>
      <p:sp>
        <p:nvSpPr>
          <p:cNvPr id="12" name="TextBox 11"/>
          <p:cNvSpPr txBox="1"/>
          <p:nvPr/>
        </p:nvSpPr>
        <p:spPr>
          <a:xfrm>
            <a:off x="731520"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1</a:t>
            </a:r>
          </a:p>
        </p:txBody>
      </p:sp>
      <p:sp>
        <p:nvSpPr>
          <p:cNvPr id="13" name="TextBox 12"/>
          <p:cNvSpPr txBox="1"/>
          <p:nvPr/>
        </p:nvSpPr>
        <p:spPr>
          <a:xfrm>
            <a:off x="731520"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Executive Command Center</a:t>
            </a:r>
          </a:p>
        </p:txBody>
      </p:sp>
      <p:sp>
        <p:nvSpPr>
          <p:cNvPr id="14" name="TextBox 13"/>
          <p:cNvSpPr txBox="1"/>
          <p:nvPr/>
        </p:nvSpPr>
        <p:spPr>
          <a:xfrm>
            <a:off x="749808"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Turn your calendar, communications, and priority work into a daily executive view of decisions, risks, and actions requiring attention.</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An interactive executive command center covering meetings, priorities, and org pulse, with labeled recommendations and links to supporting context.</a:t>
            </a:r>
          </a:p>
        </p:txBody>
      </p:sp>
      <p:sp>
        <p:nvSpPr>
          <p:cNvPr id="15" name="Rounded Rectangle 14">
            <a:extLst>
              <a:ext uri="{C183D7F6-B498-43B3-948B-1728B52AA6E4}">
                <ns4:decorative xmlns:ns4="http://schemas.microsoft.com/office/drawing/2017/decorative" val="1"/>
              </a:ext>
            </a:extLst>
          </p:cNvPr>
          <p:cNvSpPr/>
          <p:nvPr/>
        </p:nvSpPr>
        <p:spPr>
          <a:xfrm>
            <a:off x="749808"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25 min</a:t>
            </a:r>
          </a:p>
        </p:txBody>
      </p:sp>
      <p:sp>
        <p:nvSpPr>
          <p:cNvPr id="17" name="Rounded Rectangle 16">
            <a:extLst>
              <a:ext uri="{C183D7F6-B498-43B3-948B-1728B52AA6E4}">
                <ns5:decorative xmlns:ns5="http://schemas.microsoft.com/office/drawing/2017/decorative" val="1"/>
              </a:ext>
            </a:extLst>
          </p:cNvPr>
          <p:cNvSpPr/>
          <p:nvPr/>
        </p:nvSpPr>
        <p:spPr>
          <a:xfrm>
            <a:off x="1489640" y="5806440"/>
            <a:ext cx="835429"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89640" y="5806440"/>
            <a:ext cx="835429"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Executive</a:t>
            </a:r>
          </a:p>
        </p:txBody>
      </p:sp>
      <p:sp>
        <p:nvSpPr>
          <p:cNvPr id="19" name="Rounded Rectangle 18">
            <a:extLst>
              <a:ext uri="{C183D7F6-B498-43B3-948B-1728B52AA6E4}">
                <ns6:decorative xmlns:ns6="http://schemas.microsoft.com/office/drawing/2017/decorative" val="1"/>
              </a:ext>
            </a:extLst>
          </p:cNvPr>
          <p:cNvSpPr/>
          <p:nvPr/>
        </p:nvSpPr>
        <p:spPr>
          <a:xfrm>
            <a:off x="3362248"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a:extLst>
              <a:ext uri="{C183D7F6-B498-43B3-948B-1728B52AA6E4}">
                <ns7:decorative xmlns:ns7="http://schemas.microsoft.com/office/drawing/2017/decorative" val="1"/>
              </a:ext>
            </a:extLst>
          </p:cNvPr>
          <p:cNvSpPr/>
          <p:nvPr/>
        </p:nvSpPr>
        <p:spPr>
          <a:xfrm>
            <a:off x="4230928"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llustration for Exercise 2"/>
          <p:cNvPicPr>
            <a:picLocks noChangeAspect="1"/>
          </p:cNvPicPr>
          <p:nvPr/>
        </p:nvPicPr>
        <p:blipFill>
          <a:blip r:embed="rId4"/>
          <a:stretch>
            <a:fillRect/>
          </a:stretch>
        </p:blipFill>
        <p:spPr>
          <a:xfrm>
            <a:off x="4377232" y="2112264"/>
            <a:ext cx="621792" cy="621792"/>
          </a:xfrm>
          <a:prstGeom prst="rect">
            <a:avLst/>
          </a:prstGeom>
        </p:spPr>
      </p:pic>
      <p:sp>
        <p:nvSpPr>
          <p:cNvPr id="22" name="TextBox 21"/>
          <p:cNvSpPr txBox="1"/>
          <p:nvPr/>
        </p:nvSpPr>
        <p:spPr>
          <a:xfrm>
            <a:off x="3545128"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2</a:t>
            </a:r>
          </a:p>
        </p:txBody>
      </p:sp>
      <p:sp>
        <p:nvSpPr>
          <p:cNvPr id="23" name="TextBox 22"/>
          <p:cNvSpPr txBox="1"/>
          <p:nvPr/>
        </p:nvSpPr>
        <p:spPr>
          <a:xfrm>
            <a:off x="3545128"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Research the Web with Deep Research</a:t>
            </a:r>
          </a:p>
        </p:txBody>
      </p:sp>
      <p:sp>
        <p:nvSpPr>
          <p:cNvPr id="24" name="TextBox 23"/>
          <p:cNvSpPr txBox="1"/>
          <p:nvPr/>
        </p:nvSpPr>
        <p:spPr>
          <a:xfrm>
            <a:off x="3563416"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Get an evidence-based view of structured behavioral interviewing and turn it into questions for a real open role.</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 cited one-page briefing, five tailored questions for Zava’s HR Coordinator role, and an interviewer scorecard in Word and Excel with the scoring scales filled in.</a:t>
            </a:r>
          </a:p>
        </p:txBody>
      </p:sp>
      <p:sp>
        <p:nvSpPr>
          <p:cNvPr id="25" name="Rounded Rectangle 24">
            <a:extLst>
              <a:ext uri="{C183D7F6-B498-43B3-948B-1728B52AA6E4}">
                <ns8:decorative xmlns:ns8="http://schemas.microsoft.com/office/drawing/2017/decorative" val="1"/>
              </a:ext>
            </a:extLst>
          </p:cNvPr>
          <p:cNvSpPr/>
          <p:nvPr/>
        </p:nvSpPr>
        <p:spPr>
          <a:xfrm>
            <a:off x="3563416"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3416"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20 min</a:t>
            </a:r>
          </a:p>
        </p:txBody>
      </p:sp>
      <p:sp>
        <p:nvSpPr>
          <p:cNvPr id="27" name="Rounded Rectangle 26">
            <a:extLst>
              <a:ext uri="{C183D7F6-B498-43B3-948B-1728B52AA6E4}">
                <ns9:decorative xmlns:ns9="http://schemas.microsoft.com/office/drawing/2017/decorative" val="1"/>
              </a:ext>
            </a:extLst>
          </p:cNvPr>
          <p:cNvSpPr/>
          <p:nvPr/>
        </p:nvSpPr>
        <p:spPr>
          <a:xfrm>
            <a:off x="4303249" y="5806440"/>
            <a:ext cx="960120"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03249" y="5806440"/>
            <a:ext cx="960120"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Talent</a:t>
            </a:r>
          </a:p>
        </p:txBody>
      </p:sp>
      <p:sp>
        <p:nvSpPr>
          <p:cNvPr id="29" name="Rounded Rectangle 28">
            <a:extLst>
              <a:ext uri="{C183D7F6-B498-43B3-948B-1728B52AA6E4}">
                <ns10:decorative xmlns:ns10="http://schemas.microsoft.com/office/drawing/2017/decorative" val="1"/>
              </a:ext>
            </a:extLst>
          </p:cNvPr>
          <p:cNvSpPr/>
          <p:nvPr/>
        </p:nvSpPr>
        <p:spPr>
          <a:xfrm>
            <a:off x="6175857"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a:extLst>
              <a:ext uri="{C183D7F6-B498-43B3-948B-1728B52AA6E4}">
                <ns11:decorative xmlns:ns11="http://schemas.microsoft.com/office/drawing/2017/decorative" val="1"/>
              </a:ext>
            </a:extLst>
          </p:cNvPr>
          <p:cNvSpPr/>
          <p:nvPr/>
        </p:nvSpPr>
        <p:spPr>
          <a:xfrm>
            <a:off x="7044537"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llustration for Exercise 3"/>
          <p:cNvPicPr>
            <a:picLocks noChangeAspect="1"/>
          </p:cNvPicPr>
          <p:nvPr/>
        </p:nvPicPr>
        <p:blipFill>
          <a:blip r:embed="rId5"/>
          <a:stretch>
            <a:fillRect/>
          </a:stretch>
        </p:blipFill>
        <p:spPr>
          <a:xfrm>
            <a:off x="7190841" y="2112264"/>
            <a:ext cx="621792" cy="621792"/>
          </a:xfrm>
          <a:prstGeom prst="rect">
            <a:avLst/>
          </a:prstGeom>
        </p:spPr>
      </p:pic>
      <p:sp>
        <p:nvSpPr>
          <p:cNvPr id="32" name="TextBox 31"/>
          <p:cNvSpPr txBox="1"/>
          <p:nvPr/>
        </p:nvSpPr>
        <p:spPr>
          <a:xfrm>
            <a:off x="6358737"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3</a:t>
            </a:r>
          </a:p>
        </p:txBody>
      </p:sp>
      <p:sp>
        <p:nvSpPr>
          <p:cNvPr id="33" name="TextBox 32"/>
          <p:cNvSpPr txBox="1"/>
          <p:nvPr/>
        </p:nvSpPr>
        <p:spPr>
          <a:xfrm>
            <a:off x="6358737"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Navigate Websites with Cowork’s Browser</a:t>
            </a:r>
          </a:p>
        </p:txBody>
      </p:sp>
      <p:sp>
        <p:nvSpPr>
          <p:cNvPr id="34" name="TextBox 33"/>
          <p:cNvSpPr txBox="1"/>
          <p:nvPr/>
        </p:nvSpPr>
        <p:spPr>
          <a:xfrm>
            <a:off x="6377025"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Have Cowork drive a real web browser for you — search a site, click through, move to a second site — and bring back a sourced comparison.</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An overtime comparison (U.S. DOL vs. Washington L&amp;I vs. Zava handbook) with a link to every page visited, and a one-page Word brief for payroll about T-2008.</a:t>
            </a:r>
          </a:p>
        </p:txBody>
      </p:sp>
      <p:sp>
        <p:nvSpPr>
          <p:cNvPr id="35" name="Rounded Rectangle 34">
            <a:extLst>
              <a:ext uri="{C183D7F6-B498-43B3-948B-1728B52AA6E4}">
                <ns12:decorative xmlns:ns12="http://schemas.microsoft.com/office/drawing/2017/decorative" val="1"/>
              </a:ext>
            </a:extLst>
          </p:cNvPr>
          <p:cNvSpPr/>
          <p:nvPr/>
        </p:nvSpPr>
        <p:spPr>
          <a:xfrm>
            <a:off x="6377025"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77025"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25 min</a:t>
            </a:r>
          </a:p>
        </p:txBody>
      </p:sp>
      <p:sp>
        <p:nvSpPr>
          <p:cNvPr id="37" name="Rounded Rectangle 36">
            <a:extLst>
              <a:ext uri="{C183D7F6-B498-43B3-948B-1728B52AA6E4}">
                <ns13:decorative xmlns:ns13="http://schemas.microsoft.com/office/drawing/2017/decorative" val="1"/>
              </a:ext>
            </a:extLst>
          </p:cNvPr>
          <p:cNvSpPr/>
          <p:nvPr/>
        </p:nvSpPr>
        <p:spPr>
          <a:xfrm>
            <a:off x="7116858" y="5806440"/>
            <a:ext cx="1209501"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16858" y="5806440"/>
            <a:ext cx="1209501"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Compliance</a:t>
            </a:r>
          </a:p>
        </p:txBody>
      </p:sp>
      <p:sp>
        <p:nvSpPr>
          <p:cNvPr id="39" name="Rounded Rectangle 38">
            <a:extLst>
              <a:ext uri="{C183D7F6-B498-43B3-948B-1728B52AA6E4}">
                <ns14:decorative xmlns:ns14="http://schemas.microsoft.com/office/drawing/2017/decorative" val="1"/>
              </a:ext>
            </a:extLst>
          </p:cNvPr>
          <p:cNvSpPr/>
          <p:nvPr/>
        </p:nvSpPr>
        <p:spPr>
          <a:xfrm>
            <a:off x="8989466"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a:extLst>
              <a:ext uri="{C183D7F6-B498-43B3-948B-1728B52AA6E4}">
                <ns15:decorative xmlns:ns15="http://schemas.microsoft.com/office/drawing/2017/decorative" val="1"/>
              </a:ext>
            </a:extLst>
          </p:cNvPr>
          <p:cNvSpPr/>
          <p:nvPr/>
        </p:nvSpPr>
        <p:spPr>
          <a:xfrm>
            <a:off x="9858146"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llustration for Exercise 4"/>
          <p:cNvPicPr>
            <a:picLocks noChangeAspect="1"/>
          </p:cNvPicPr>
          <p:nvPr/>
        </p:nvPicPr>
        <p:blipFill>
          <a:blip r:embed="rId6"/>
          <a:stretch>
            <a:fillRect/>
          </a:stretch>
        </p:blipFill>
        <p:spPr>
          <a:xfrm>
            <a:off x="10004450" y="2112264"/>
            <a:ext cx="621792" cy="621792"/>
          </a:xfrm>
          <a:prstGeom prst="rect">
            <a:avLst/>
          </a:prstGeom>
        </p:spPr>
      </p:pic>
      <p:sp>
        <p:nvSpPr>
          <p:cNvPr id="42" name="TextBox 41"/>
          <p:cNvSpPr txBox="1"/>
          <p:nvPr/>
        </p:nvSpPr>
        <p:spPr>
          <a:xfrm>
            <a:off x="9172346"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4</a:t>
            </a:r>
          </a:p>
        </p:txBody>
      </p:sp>
      <p:sp>
        <p:nvSpPr>
          <p:cNvPr id="43" name="TextBox 42"/>
          <p:cNvSpPr txBox="1"/>
          <p:nvPr/>
        </p:nvSpPr>
        <p:spPr>
          <a:xfrm>
            <a:off x="9172346"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Build a Custom Skill: HR Policy Answer</a:t>
            </a:r>
          </a:p>
        </p:txBody>
      </p:sp>
      <p:sp>
        <p:nvSpPr>
          <p:cNvPr id="44" name="TextBox 43"/>
          <p:cNvSpPr txBox="1"/>
          <p:nvPr/>
        </p:nvSpPr>
        <p:spPr>
          <a:xfrm>
            <a:off x="9190634"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Teach Cowork to answer policy and benefits questions the same clear, sourced way — every time.</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 saved custom skill, “HR Policy Answer,” with a quality score, that triggers on policy questions and answers Answer → Details → Source → “confirm with HR.”</a:t>
            </a:r>
          </a:p>
        </p:txBody>
      </p:sp>
      <p:sp>
        <p:nvSpPr>
          <p:cNvPr id="45" name="Rounded Rectangle 44">
            <a:extLst>
              <a:ext uri="{C183D7F6-B498-43B3-948B-1728B52AA6E4}">
                <ns16:decorative xmlns:ns16="http://schemas.microsoft.com/office/drawing/2017/decorative" val="1"/>
              </a:ext>
            </a:extLst>
          </p:cNvPr>
          <p:cNvSpPr/>
          <p:nvPr/>
        </p:nvSpPr>
        <p:spPr>
          <a:xfrm>
            <a:off x="9190634"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90634"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30 min</a:t>
            </a:r>
          </a:p>
        </p:txBody>
      </p:sp>
      <p:sp>
        <p:nvSpPr>
          <p:cNvPr id="47" name="Rounded Rectangle 46">
            <a:extLst>
              <a:ext uri="{C183D7F6-B498-43B3-948B-1728B52AA6E4}">
                <ns17:decorative xmlns:ns17="http://schemas.microsoft.com/office/drawing/2017/decorative" val="1"/>
              </a:ext>
            </a:extLst>
          </p:cNvPr>
          <p:cNvSpPr/>
          <p:nvPr/>
        </p:nvSpPr>
        <p:spPr>
          <a:xfrm>
            <a:off x="9930467" y="5806440"/>
            <a:ext cx="960120"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30467" y="5806440"/>
            <a:ext cx="960120"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Policy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The hands-on exercises · 5–8</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What attendees build, and why it matters for HR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8</a:t>
            </a:r>
          </a:p>
        </p:txBody>
      </p:sp>
      <p:sp>
        <p:nvSpPr>
          <p:cNvPr id="9" name="Rounded Rectangle 8">
            <a:extLst>
              <a:ext uri="{C183D7F6-B498-43B3-948B-1728B52AA6E4}">
                <ns2:decorative xmlns:ns2="http://schemas.microsoft.com/office/drawing/2017/decorative" val="1"/>
              </a:ext>
            </a:extLst>
          </p:cNvPr>
          <p:cNvSpPr/>
          <p:nvPr/>
        </p:nvSpPr>
        <p:spPr>
          <a:xfrm>
            <a:off x="548640"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1417319"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llustration for Exercise 5"/>
          <p:cNvPicPr>
            <a:picLocks noChangeAspect="1"/>
          </p:cNvPicPr>
          <p:nvPr/>
        </p:nvPicPr>
        <p:blipFill>
          <a:blip r:embed="rId3"/>
          <a:stretch>
            <a:fillRect/>
          </a:stretch>
        </p:blipFill>
        <p:spPr>
          <a:xfrm>
            <a:off x="1563623" y="2112264"/>
            <a:ext cx="621792" cy="621792"/>
          </a:xfrm>
          <a:prstGeom prst="rect">
            <a:avLst/>
          </a:prstGeom>
        </p:spPr>
      </p:pic>
      <p:sp>
        <p:nvSpPr>
          <p:cNvPr id="12" name="TextBox 11"/>
          <p:cNvSpPr txBox="1"/>
          <p:nvPr/>
        </p:nvSpPr>
        <p:spPr>
          <a:xfrm>
            <a:off x="731520"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5</a:t>
            </a:r>
          </a:p>
        </p:txBody>
      </p:sp>
      <p:sp>
        <p:nvSpPr>
          <p:cNvPr id="13" name="TextBox 12"/>
          <p:cNvSpPr txBox="1"/>
          <p:nvPr/>
        </p:nvSpPr>
        <p:spPr>
          <a:xfrm>
            <a:off x="731520"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Recruiting + Reporting</a:t>
            </a:r>
          </a:p>
        </p:txBody>
      </p:sp>
      <p:sp>
        <p:nvSpPr>
          <p:cNvPr id="14" name="TextBox 13"/>
          <p:cNvSpPr txBox="1"/>
          <p:nvPr/>
        </p:nvSpPr>
        <p:spPr>
          <a:xfrm>
            <a:off x="749808"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Attract the right candidates for an open role and get on top of the HR service queue in minutes.</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An inclusive HR Coordinator job posting in Word, with off-putting wording flagged, and a ticket summary highlighting today’s high-priority open items.</a:t>
            </a:r>
          </a:p>
        </p:txBody>
      </p:sp>
      <p:sp>
        <p:nvSpPr>
          <p:cNvPr id="15" name="Rounded Rectangle 14">
            <a:extLst>
              <a:ext uri="{C183D7F6-B498-43B3-948B-1728B52AA6E4}">
                <ns4:decorative xmlns:ns4="http://schemas.microsoft.com/office/drawing/2017/decorative" val="1"/>
              </a:ext>
            </a:extLst>
          </p:cNvPr>
          <p:cNvSpPr/>
          <p:nvPr/>
        </p:nvSpPr>
        <p:spPr>
          <a:xfrm>
            <a:off x="749808"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17" name="Rounded Rectangle 16">
            <a:extLst>
              <a:ext uri="{C183D7F6-B498-43B3-948B-1728B52AA6E4}">
                <ns5:decorative xmlns:ns5="http://schemas.microsoft.com/office/drawing/2017/decorative" val="1"/>
              </a:ext>
            </a:extLst>
          </p:cNvPr>
          <p:cNvSpPr/>
          <p:nvPr/>
        </p:nvSpPr>
        <p:spPr>
          <a:xfrm>
            <a:off x="1489640" y="5806440"/>
            <a:ext cx="1334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89640" y="5806440"/>
            <a:ext cx="13341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Talent &amp; Ops</a:t>
            </a:r>
          </a:p>
        </p:txBody>
      </p:sp>
      <p:sp>
        <p:nvSpPr>
          <p:cNvPr id="19" name="Rounded Rectangle 18">
            <a:extLst>
              <a:ext uri="{C183D7F6-B498-43B3-948B-1728B52AA6E4}">
                <ns6:decorative xmlns:ns6="http://schemas.microsoft.com/office/drawing/2017/decorative" val="1"/>
              </a:ext>
            </a:extLst>
          </p:cNvPr>
          <p:cNvSpPr/>
          <p:nvPr/>
        </p:nvSpPr>
        <p:spPr>
          <a:xfrm>
            <a:off x="3362248"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a:extLst>
              <a:ext uri="{C183D7F6-B498-43B3-948B-1728B52AA6E4}">
                <ns7:decorative xmlns:ns7="http://schemas.microsoft.com/office/drawing/2017/decorative" val="1"/>
              </a:ext>
            </a:extLst>
          </p:cNvPr>
          <p:cNvSpPr/>
          <p:nvPr/>
        </p:nvSpPr>
        <p:spPr>
          <a:xfrm>
            <a:off x="4230928"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llustration for Exercise 6"/>
          <p:cNvPicPr>
            <a:picLocks noChangeAspect="1"/>
          </p:cNvPicPr>
          <p:nvPr/>
        </p:nvPicPr>
        <p:blipFill>
          <a:blip r:embed="rId4"/>
          <a:stretch>
            <a:fillRect/>
          </a:stretch>
        </p:blipFill>
        <p:spPr>
          <a:xfrm>
            <a:off x="4377232" y="2112264"/>
            <a:ext cx="621792" cy="621792"/>
          </a:xfrm>
          <a:prstGeom prst="rect">
            <a:avLst/>
          </a:prstGeom>
        </p:spPr>
      </p:pic>
      <p:sp>
        <p:nvSpPr>
          <p:cNvPr id="22" name="TextBox 21"/>
          <p:cNvSpPr txBox="1"/>
          <p:nvPr/>
        </p:nvSpPr>
        <p:spPr>
          <a:xfrm>
            <a:off x="3545128"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6</a:t>
            </a:r>
          </a:p>
        </p:txBody>
      </p:sp>
      <p:sp>
        <p:nvSpPr>
          <p:cNvPr id="23" name="TextBox 22"/>
          <p:cNvSpPr txBox="1"/>
          <p:nvPr/>
        </p:nvSpPr>
        <p:spPr>
          <a:xfrm>
            <a:off x="3545128"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Onboarding Orientation Pack</a:t>
            </a:r>
          </a:p>
        </p:txBody>
      </p:sp>
      <p:sp>
        <p:nvSpPr>
          <p:cNvPr id="24" name="TextBox 23"/>
          <p:cNvSpPr txBox="1"/>
          <p:nvPr/>
        </p:nvSpPr>
        <p:spPr>
          <a:xfrm>
            <a:off x="3563416"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Give a new hire a polished first-day experience without assembling it by hand.</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 6–8 slide orientation deck, a scheduled kickoff with a Teams link, and a team announcement draft for Sofia Alvarez, Zava’s new HR Coordinator.</a:t>
            </a:r>
          </a:p>
        </p:txBody>
      </p:sp>
      <p:sp>
        <p:nvSpPr>
          <p:cNvPr id="25" name="Rounded Rectangle 24">
            <a:extLst>
              <a:ext uri="{C183D7F6-B498-43B3-948B-1728B52AA6E4}">
                <ns8:decorative xmlns:ns8="http://schemas.microsoft.com/office/drawing/2017/decorative" val="1"/>
              </a:ext>
            </a:extLst>
          </p:cNvPr>
          <p:cNvSpPr/>
          <p:nvPr/>
        </p:nvSpPr>
        <p:spPr>
          <a:xfrm>
            <a:off x="3563416"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3416"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20 min</a:t>
            </a:r>
          </a:p>
        </p:txBody>
      </p:sp>
      <p:sp>
        <p:nvSpPr>
          <p:cNvPr id="27" name="Rounded Rectangle 26">
            <a:extLst>
              <a:ext uri="{C183D7F6-B498-43B3-948B-1728B52AA6E4}">
                <ns9:decorative xmlns:ns9="http://schemas.microsoft.com/office/drawing/2017/decorative" val="1"/>
              </a:ext>
            </a:extLst>
          </p:cNvPr>
          <p:cNvSpPr/>
          <p:nvPr/>
        </p:nvSpPr>
        <p:spPr>
          <a:xfrm>
            <a:off x="4303249" y="5806440"/>
            <a:ext cx="1209501"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03249" y="5806440"/>
            <a:ext cx="1209501"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Onboarding</a:t>
            </a:r>
          </a:p>
        </p:txBody>
      </p:sp>
      <p:sp>
        <p:nvSpPr>
          <p:cNvPr id="29" name="Rounded Rectangle 28">
            <a:extLst>
              <a:ext uri="{C183D7F6-B498-43B3-948B-1728B52AA6E4}">
                <ns10:decorative xmlns:ns10="http://schemas.microsoft.com/office/drawing/2017/decorative" val="1"/>
              </a:ext>
            </a:extLst>
          </p:cNvPr>
          <p:cNvSpPr/>
          <p:nvPr/>
        </p:nvSpPr>
        <p:spPr>
          <a:xfrm>
            <a:off x="6175857"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a:extLst>
              <a:ext uri="{C183D7F6-B498-43B3-948B-1728B52AA6E4}">
                <ns11:decorative xmlns:ns11="http://schemas.microsoft.com/office/drawing/2017/decorative" val="1"/>
              </a:ext>
            </a:extLst>
          </p:cNvPr>
          <p:cNvSpPr/>
          <p:nvPr/>
        </p:nvSpPr>
        <p:spPr>
          <a:xfrm>
            <a:off x="7044537"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llustration for Exercise 7"/>
          <p:cNvPicPr>
            <a:picLocks noChangeAspect="1"/>
          </p:cNvPicPr>
          <p:nvPr/>
        </p:nvPicPr>
        <p:blipFill>
          <a:blip r:embed="rId5"/>
          <a:stretch>
            <a:fillRect/>
          </a:stretch>
        </p:blipFill>
        <p:spPr>
          <a:xfrm>
            <a:off x="7190841" y="2112264"/>
            <a:ext cx="621792" cy="621792"/>
          </a:xfrm>
          <a:prstGeom prst="rect">
            <a:avLst/>
          </a:prstGeom>
        </p:spPr>
      </p:pic>
      <p:sp>
        <p:nvSpPr>
          <p:cNvPr id="32" name="TextBox 31"/>
          <p:cNvSpPr txBox="1"/>
          <p:nvPr/>
        </p:nvSpPr>
        <p:spPr>
          <a:xfrm>
            <a:off x="6358737"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7</a:t>
            </a:r>
          </a:p>
        </p:txBody>
      </p:sp>
      <p:sp>
        <p:nvSpPr>
          <p:cNvPr id="33" name="TextBox 32"/>
          <p:cNvSpPr txBox="1"/>
          <p:nvPr/>
        </p:nvSpPr>
        <p:spPr>
          <a:xfrm>
            <a:off x="6358737"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Automate &amp; Share</a:t>
            </a:r>
          </a:p>
        </p:txBody>
      </p:sp>
      <p:sp>
        <p:nvSpPr>
          <p:cNvPr id="34" name="TextBox 33"/>
          <p:cNvSpPr txBox="1"/>
          <p:nvPr/>
        </p:nvSpPr>
        <p:spPr>
          <a:xfrm>
            <a:off x="6377025"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Stop re-asking for the same work — put it on a schedule and share what you built.</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An active weekly automation (Monday HR-ticket digest), a Daily Briefing, and your custom skill shared (or kept private) and re-shared after an edit.</a:t>
            </a:r>
          </a:p>
        </p:txBody>
      </p:sp>
      <p:sp>
        <p:nvSpPr>
          <p:cNvPr id="35" name="Rounded Rectangle 34">
            <a:extLst>
              <a:ext uri="{C183D7F6-B498-43B3-948B-1728B52AA6E4}">
                <ns12:decorative xmlns:ns12="http://schemas.microsoft.com/office/drawing/2017/decorative" val="1"/>
              </a:ext>
            </a:extLst>
          </p:cNvPr>
          <p:cNvSpPr/>
          <p:nvPr/>
        </p:nvSpPr>
        <p:spPr>
          <a:xfrm>
            <a:off x="6377025"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77025"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37" name="Rounded Rectangle 36">
            <a:extLst>
              <a:ext uri="{C183D7F6-B498-43B3-948B-1728B52AA6E4}">
                <ns13:decorative xmlns:ns13="http://schemas.microsoft.com/office/drawing/2017/decorative" val="1"/>
              </a:ext>
            </a:extLst>
          </p:cNvPr>
          <p:cNvSpPr/>
          <p:nvPr/>
        </p:nvSpPr>
        <p:spPr>
          <a:xfrm>
            <a:off x="7116858" y="5806440"/>
            <a:ext cx="1209501"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16858" y="5806440"/>
            <a:ext cx="1209501"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Operations</a:t>
            </a:r>
          </a:p>
        </p:txBody>
      </p:sp>
      <p:sp>
        <p:nvSpPr>
          <p:cNvPr id="39" name="Rounded Rectangle 38">
            <a:extLst>
              <a:ext uri="{C183D7F6-B498-43B3-948B-1728B52AA6E4}">
                <ns14:decorative xmlns:ns14="http://schemas.microsoft.com/office/drawing/2017/decorative" val="1"/>
              </a:ext>
            </a:extLst>
          </p:cNvPr>
          <p:cNvSpPr/>
          <p:nvPr/>
        </p:nvSpPr>
        <p:spPr>
          <a:xfrm>
            <a:off x="8989466" y="1783080"/>
            <a:ext cx="2651760" cy="4480560"/>
          </a:xfrm>
          <a:prstGeom prst="roundRect">
            <a:avLst>
              <a:gd name="adj" fmla="val 5000"/>
            </a:avLst>
          </a:prstGeom>
          <a:solidFill>
            <a:srgbClr val="FFFFFF"/>
          </a:solidFill>
          <a:ln w="952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a:extLst>
              <a:ext uri="{C183D7F6-B498-43B3-948B-1728B52AA6E4}">
                <ns15:decorative xmlns:ns15="http://schemas.microsoft.com/office/drawing/2017/decorative" val="1"/>
              </a:ext>
            </a:extLst>
          </p:cNvPr>
          <p:cNvSpPr/>
          <p:nvPr/>
        </p:nvSpPr>
        <p:spPr>
          <a:xfrm>
            <a:off x="9858146"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llustration for Exercise 8"/>
          <p:cNvPicPr>
            <a:picLocks noChangeAspect="1"/>
          </p:cNvPicPr>
          <p:nvPr/>
        </p:nvPicPr>
        <p:blipFill>
          <a:blip r:embed="rId6"/>
          <a:stretch>
            <a:fillRect/>
          </a:stretch>
        </p:blipFill>
        <p:spPr>
          <a:xfrm>
            <a:off x="10004450" y="2112264"/>
            <a:ext cx="621792" cy="621792"/>
          </a:xfrm>
          <a:prstGeom prst="rect">
            <a:avLst/>
          </a:prstGeom>
        </p:spPr>
      </p:pic>
      <p:sp>
        <p:nvSpPr>
          <p:cNvPr id="42" name="Rounded Rectangle 41">
            <a:extLst>
              <a:ext uri="{C183D7F6-B498-43B3-948B-1728B52AA6E4}">
                <ns16:decorative xmlns:ns16="http://schemas.microsoft.com/office/drawing/2017/decorative" val="1"/>
              </a:ext>
            </a:extLst>
          </p:cNvPr>
          <p:cNvSpPr/>
          <p:nvPr/>
        </p:nvSpPr>
        <p:spPr>
          <a:xfrm>
            <a:off x="9126626" y="1920240"/>
            <a:ext cx="866601" cy="246888"/>
          </a:xfrm>
          <a:prstGeom prst="roundRect">
            <a:avLst>
              <a:gd name="adj" fmla="val 50000"/>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26626" y="1920240"/>
            <a:ext cx="866601" cy="246888"/>
          </a:xfrm>
          <a:prstGeom prst="rect">
            <a:avLst/>
          </a:prstGeom>
          <a:noFill/>
        </p:spPr>
        <p:txBody>
          <a:bodyPr wrap="square" anchor="ctr" lIns="0" rIns="0" tIns="0" bIns="0">
            <a:spAutoFit/>
          </a:bodyPr>
          <a:lstStyle/>
          <a:p>
            <a:pPr algn="ctr">
              <a:spcAft>
                <a:spcPts val="400"/>
              </a:spcAft>
            </a:pPr>
            <a:r>
              <a:rPr sz="950" b="0" i="0">
                <a:solidFill>
                  <a:srgbClr val="FFFFFF"/>
                </a:solidFill>
                <a:latin typeface="Segoe Sans Display Semibold"/>
              </a:rPr>
              <a:t>Not Cowork</a:t>
            </a:r>
          </a:p>
        </p:txBody>
      </p:sp>
      <p:sp>
        <p:nvSpPr>
          <p:cNvPr id="44" name="TextBox 43"/>
          <p:cNvSpPr txBox="1"/>
          <p:nvPr/>
        </p:nvSpPr>
        <p:spPr>
          <a:xfrm>
            <a:off x="9172346"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8</a:t>
            </a:r>
          </a:p>
        </p:txBody>
      </p:sp>
      <p:sp>
        <p:nvSpPr>
          <p:cNvPr id="45" name="TextBox 44"/>
          <p:cNvSpPr txBox="1"/>
          <p:nvPr/>
        </p:nvSpPr>
        <p:spPr>
          <a:xfrm>
            <a:off x="9172346"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HR Policy Agent with Agent Builder</a:t>
            </a:r>
          </a:p>
        </p:txBody>
      </p:sp>
      <p:sp>
        <p:nvSpPr>
          <p:cNvPr id="46" name="TextBox 45"/>
          <p:cNvSpPr txBox="1"/>
          <p:nvPr/>
        </p:nvSpPr>
        <p:spPr>
          <a:xfrm>
            <a:off x="9190634"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Stand up a reusable Q&amp;A agent employees can chat with to get sourced policy answers.</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 working “HR Policy Agent” in Microsoft 365 Copilot, grounded in Zava’s HR documents, that cites sources and declines out-of-scope questions.</a:t>
            </a:r>
          </a:p>
        </p:txBody>
      </p:sp>
      <p:sp>
        <p:nvSpPr>
          <p:cNvPr id="47" name="Rounded Rectangle 46">
            <a:extLst>
              <a:ext uri="{C183D7F6-B498-43B3-948B-1728B52AA6E4}">
                <ns17:decorative xmlns:ns17="http://schemas.microsoft.com/office/drawing/2017/decorative" val="1"/>
              </a:ext>
            </a:extLst>
          </p:cNvPr>
          <p:cNvSpPr/>
          <p:nvPr/>
        </p:nvSpPr>
        <p:spPr>
          <a:xfrm>
            <a:off x="9190634"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90634"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20 min</a:t>
            </a:r>
          </a:p>
        </p:txBody>
      </p:sp>
      <p:sp>
        <p:nvSpPr>
          <p:cNvPr id="49" name="Rounded Rectangle 48">
            <a:extLst>
              <a:ext uri="{C183D7F6-B498-43B3-948B-1728B52AA6E4}">
                <ns18:decorative xmlns:ns18="http://schemas.microsoft.com/office/drawing/2017/decorative" val="1"/>
              </a:ext>
            </a:extLst>
          </p:cNvPr>
          <p:cNvSpPr/>
          <p:nvPr/>
        </p:nvSpPr>
        <p:spPr>
          <a:xfrm>
            <a:off x="9930467" y="5806440"/>
            <a:ext cx="1084810"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30467" y="5806440"/>
            <a:ext cx="1084810"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Agent Builder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How each exercise runs</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The same rhythm every time, so attendees always know what’s next</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9</a:t>
            </a:r>
          </a:p>
        </p:txBody>
      </p:sp>
      <p:sp>
        <p:nvSpPr>
          <p:cNvPr id="9" name="Rounded Rectangle 8">
            <a:extLst>
              <a:ext uri="{C183D7F6-B498-43B3-948B-1728B52AA6E4}">
                <ns2:decorative xmlns:ns2="http://schemas.microsoft.com/office/drawing/2017/decorative" val="1"/>
              </a:ext>
            </a:extLst>
          </p:cNvPr>
          <p:cNvSpPr/>
          <p:nvPr/>
        </p:nvSpPr>
        <p:spPr>
          <a:xfrm>
            <a:off x="548640" y="1920240"/>
            <a:ext cx="2560320" cy="246888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1508760" y="2103120"/>
            <a:ext cx="640080" cy="640080"/>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2103120"/>
            <a:ext cx="640080" cy="640080"/>
          </a:xfrm>
          <a:prstGeom prst="rect">
            <a:avLst/>
          </a:prstGeom>
          <a:noFill/>
        </p:spPr>
        <p:txBody>
          <a:bodyPr wrap="square" anchor="ctr" lIns="0" rIns="0" tIns="0" bIns="0">
            <a:spAutoFit/>
          </a:bodyPr>
          <a:lstStyle/>
          <a:p>
            <a:pPr algn="ctr">
              <a:spcAft>
                <a:spcPts val="400"/>
              </a:spcAft>
            </a:pPr>
            <a:r>
              <a:rPr sz="2000" b="1" i="0">
                <a:solidFill>
                  <a:srgbClr val="FFFFFF"/>
                </a:solidFill>
                <a:latin typeface="Segoe UI"/>
              </a:rPr>
              <a:t>1</a:t>
            </a:r>
          </a:p>
        </p:txBody>
      </p:sp>
      <p:sp>
        <p:nvSpPr>
          <p:cNvPr id="12" name="TextBox 11"/>
          <p:cNvSpPr txBox="1"/>
          <p:nvPr/>
        </p:nvSpPr>
        <p:spPr>
          <a:xfrm>
            <a:off x="731520" y="2880360"/>
            <a:ext cx="2194560" cy="365760"/>
          </a:xfrm>
          <a:prstGeom prst="rect">
            <a:avLst/>
          </a:prstGeom>
          <a:noFill/>
        </p:spPr>
        <p:txBody>
          <a:bodyPr wrap="square" anchor="t" lIns="0" rIns="0" tIns="0" bIns="0">
            <a:spAutoFit/>
          </a:bodyPr>
          <a:lstStyle/>
          <a:p>
            <a:pPr algn="ctr">
              <a:spcAft>
                <a:spcPts val="400"/>
              </a:spcAft>
            </a:pPr>
            <a:r>
              <a:rPr sz="1600" b="1" i="0">
                <a:solidFill>
                  <a:srgbClr val="0F6CBD"/>
                </a:solidFill>
                <a:latin typeface="Segoe Sans Display Semibold"/>
              </a:rPr>
              <a:t>Scenario card</a:t>
            </a:r>
          </a:p>
        </p:txBody>
      </p:sp>
      <p:sp>
        <p:nvSpPr>
          <p:cNvPr id="13" name="TextBox 12"/>
          <p:cNvSpPr txBox="1"/>
          <p:nvPr/>
        </p:nvSpPr>
        <p:spPr>
          <a:xfrm>
            <a:off x="731520" y="3291840"/>
            <a:ext cx="2194560" cy="1005840"/>
          </a:xfrm>
          <a:prstGeom prst="rect">
            <a:avLst/>
          </a:prstGeom>
          <a:noFill/>
        </p:spPr>
        <p:txBody>
          <a:bodyPr wrap="square" anchor="t" lIns="0" rIns="0" tIns="0" bIns="0">
            <a:spAutoFit/>
          </a:bodyPr>
          <a:lstStyle/>
          <a:p>
            <a:pPr algn="ctr">
              <a:lnSpc>
                <a:spcPct val="105000"/>
              </a:lnSpc>
              <a:spcAft>
                <a:spcPts val="400"/>
              </a:spcAft>
            </a:pPr>
            <a:r>
              <a:rPr sz="1250" b="0" i="0">
                <a:solidFill>
                  <a:srgbClr val="242424"/>
                </a:solidFill>
                <a:latin typeface="Segoe UI"/>
              </a:rPr>
              <a:t>Goal, output, why Cowork, the prompt, workflow, and data sources</a:t>
            </a:r>
          </a:p>
        </p:txBody>
      </p:sp>
      <p:sp>
        <p:nvSpPr>
          <p:cNvPr id="14" name="TextBox 13"/>
          <p:cNvSpPr txBox="1"/>
          <p:nvPr/>
        </p:nvSpPr>
        <p:spPr>
          <a:xfrm>
            <a:off x="3108960" y="2834640"/>
            <a:ext cx="274320" cy="457200"/>
          </a:xfrm>
          <a:prstGeom prst="rect">
            <a:avLst/>
          </a:prstGeom>
          <a:noFill/>
        </p:spPr>
        <p:txBody>
          <a:bodyPr wrap="square" anchor="t" lIns="0" rIns="0" tIns="0" bIns="0">
            <a:spAutoFit/>
          </a:bodyPr>
          <a:lstStyle/>
          <a:p>
            <a:pPr algn="ctr">
              <a:spcAft>
                <a:spcPts val="400"/>
              </a:spcAft>
            </a:pPr>
            <a:r>
              <a:rPr sz="2200" b="0" i="0">
                <a:solidFill>
                  <a:srgbClr val="616161"/>
                </a:solidFill>
                <a:latin typeface="Segoe UI"/>
              </a:rPr>
              <a:t>→</a:t>
            </a:r>
          </a:p>
        </p:txBody>
      </p:sp>
      <p:sp>
        <p:nvSpPr>
          <p:cNvPr id="15" name="Rounded Rectangle 14">
            <a:extLst>
              <a:ext uri="{C183D7F6-B498-43B3-948B-1728B52AA6E4}">
                <ns4:decorative xmlns:ns4="http://schemas.microsoft.com/office/drawing/2017/decorative" val="1"/>
              </a:ext>
            </a:extLst>
          </p:cNvPr>
          <p:cNvSpPr/>
          <p:nvPr/>
        </p:nvSpPr>
        <p:spPr>
          <a:xfrm>
            <a:off x="3383280" y="1920240"/>
            <a:ext cx="2560320" cy="246888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a:extLst>
              <a:ext uri="{C183D7F6-B498-43B3-948B-1728B52AA6E4}">
                <ns5:decorative xmlns:ns5="http://schemas.microsoft.com/office/drawing/2017/decorative" val="1"/>
              </a:ext>
            </a:extLst>
          </p:cNvPr>
          <p:cNvSpPr/>
          <p:nvPr/>
        </p:nvSpPr>
        <p:spPr>
          <a:xfrm>
            <a:off x="4343400" y="2103120"/>
            <a:ext cx="640080" cy="640080"/>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2103120"/>
            <a:ext cx="640080" cy="640080"/>
          </a:xfrm>
          <a:prstGeom prst="rect">
            <a:avLst/>
          </a:prstGeom>
          <a:noFill/>
        </p:spPr>
        <p:txBody>
          <a:bodyPr wrap="square" anchor="ctr" lIns="0" rIns="0" tIns="0" bIns="0">
            <a:spAutoFit/>
          </a:bodyPr>
          <a:lstStyle/>
          <a:p>
            <a:pPr algn="ctr">
              <a:spcAft>
                <a:spcPts val="400"/>
              </a:spcAft>
            </a:pPr>
            <a:r>
              <a:rPr sz="2000" b="1" i="0">
                <a:solidFill>
                  <a:srgbClr val="FFFFFF"/>
                </a:solidFill>
                <a:latin typeface="Segoe UI"/>
              </a:rPr>
              <a:t>2</a:t>
            </a:r>
          </a:p>
        </p:txBody>
      </p:sp>
      <p:sp>
        <p:nvSpPr>
          <p:cNvPr id="18" name="TextBox 17"/>
          <p:cNvSpPr txBox="1"/>
          <p:nvPr/>
        </p:nvSpPr>
        <p:spPr>
          <a:xfrm>
            <a:off x="3566160" y="2880360"/>
            <a:ext cx="2194560" cy="365760"/>
          </a:xfrm>
          <a:prstGeom prst="rect">
            <a:avLst/>
          </a:prstGeom>
          <a:noFill/>
        </p:spPr>
        <p:txBody>
          <a:bodyPr wrap="square" anchor="t" lIns="0" rIns="0" tIns="0" bIns="0">
            <a:spAutoFit/>
          </a:bodyPr>
          <a:lstStyle/>
          <a:p>
            <a:pPr algn="ctr">
              <a:spcAft>
                <a:spcPts val="400"/>
              </a:spcAft>
            </a:pPr>
            <a:r>
              <a:rPr sz="1600" b="1" i="0">
                <a:solidFill>
                  <a:srgbClr val="8064A2"/>
                </a:solidFill>
                <a:latin typeface="Segoe Sans Display Semibold"/>
              </a:rPr>
              <a:t>Recorded demo</a:t>
            </a:r>
          </a:p>
        </p:txBody>
      </p:sp>
      <p:sp>
        <p:nvSpPr>
          <p:cNvPr id="19" name="TextBox 18"/>
          <p:cNvSpPr txBox="1"/>
          <p:nvPr/>
        </p:nvSpPr>
        <p:spPr>
          <a:xfrm>
            <a:off x="3566160" y="3291840"/>
            <a:ext cx="2194560" cy="1005840"/>
          </a:xfrm>
          <a:prstGeom prst="rect">
            <a:avLst/>
          </a:prstGeom>
          <a:noFill/>
        </p:spPr>
        <p:txBody>
          <a:bodyPr wrap="square" anchor="t" lIns="0" rIns="0" tIns="0" bIns="0">
            <a:spAutoFit/>
          </a:bodyPr>
          <a:lstStyle/>
          <a:p>
            <a:pPr algn="ctr">
              <a:lnSpc>
                <a:spcPct val="105000"/>
              </a:lnSpc>
              <a:spcAft>
                <a:spcPts val="400"/>
              </a:spcAft>
            </a:pPr>
            <a:r>
              <a:rPr sz="1250" b="0" i="0">
                <a:solidFill>
                  <a:srgbClr val="242424"/>
                </a:solidFill>
                <a:latin typeface="Segoe UI"/>
              </a:rPr>
              <a:t>The facilitator plays a recorded run, so no one waits for long tasks</a:t>
            </a:r>
          </a:p>
        </p:txBody>
      </p:sp>
      <p:sp>
        <p:nvSpPr>
          <p:cNvPr id="20" name="TextBox 19"/>
          <p:cNvSpPr txBox="1"/>
          <p:nvPr/>
        </p:nvSpPr>
        <p:spPr>
          <a:xfrm>
            <a:off x="5943600" y="2834640"/>
            <a:ext cx="274320" cy="457200"/>
          </a:xfrm>
          <a:prstGeom prst="rect">
            <a:avLst/>
          </a:prstGeom>
          <a:noFill/>
        </p:spPr>
        <p:txBody>
          <a:bodyPr wrap="square" anchor="t" lIns="0" rIns="0" tIns="0" bIns="0">
            <a:spAutoFit/>
          </a:bodyPr>
          <a:lstStyle/>
          <a:p>
            <a:pPr algn="ctr">
              <a:spcAft>
                <a:spcPts val="400"/>
              </a:spcAft>
            </a:pPr>
            <a:r>
              <a:rPr sz="2200" b="0" i="0">
                <a:solidFill>
                  <a:srgbClr val="616161"/>
                </a:solidFill>
                <a:latin typeface="Segoe UI"/>
              </a:rPr>
              <a:t>→</a:t>
            </a:r>
          </a:p>
        </p:txBody>
      </p:sp>
      <p:sp>
        <p:nvSpPr>
          <p:cNvPr id="21" name="Rounded Rectangle 20">
            <a:extLst>
              <a:ext uri="{C183D7F6-B498-43B3-948B-1728B52AA6E4}">
                <ns6:decorative xmlns:ns6="http://schemas.microsoft.com/office/drawing/2017/decorative" val="1"/>
              </a:ext>
            </a:extLst>
          </p:cNvPr>
          <p:cNvSpPr/>
          <p:nvPr/>
        </p:nvSpPr>
        <p:spPr>
          <a:xfrm>
            <a:off x="6217920" y="1920240"/>
            <a:ext cx="2560320" cy="246888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a:extLst>
              <a:ext uri="{C183D7F6-B498-43B3-948B-1728B52AA6E4}">
                <ns7:decorative xmlns:ns7="http://schemas.microsoft.com/office/drawing/2017/decorative" val="1"/>
              </a:ext>
            </a:extLst>
          </p:cNvPr>
          <p:cNvSpPr/>
          <p:nvPr/>
        </p:nvSpPr>
        <p:spPr>
          <a:xfrm>
            <a:off x="7178040" y="2103120"/>
            <a:ext cx="640080" cy="64008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103120"/>
            <a:ext cx="640080" cy="640080"/>
          </a:xfrm>
          <a:prstGeom prst="rect">
            <a:avLst/>
          </a:prstGeom>
          <a:noFill/>
        </p:spPr>
        <p:txBody>
          <a:bodyPr wrap="square" anchor="ctr" lIns="0" rIns="0" tIns="0" bIns="0">
            <a:spAutoFit/>
          </a:bodyPr>
          <a:lstStyle/>
          <a:p>
            <a:pPr algn="ctr">
              <a:spcAft>
                <a:spcPts val="400"/>
              </a:spcAft>
            </a:pPr>
            <a:r>
              <a:rPr sz="2000" b="1" i="0">
                <a:solidFill>
                  <a:srgbClr val="FFFFFF"/>
                </a:solidFill>
                <a:latin typeface="Segoe UI"/>
              </a:rPr>
              <a:t>3</a:t>
            </a:r>
          </a:p>
        </p:txBody>
      </p:sp>
      <p:sp>
        <p:nvSpPr>
          <p:cNvPr id="24" name="TextBox 23"/>
          <p:cNvSpPr txBox="1"/>
          <p:nvPr/>
        </p:nvSpPr>
        <p:spPr>
          <a:xfrm>
            <a:off x="6400800" y="2880360"/>
            <a:ext cx="2194560" cy="365760"/>
          </a:xfrm>
          <a:prstGeom prst="rect">
            <a:avLst/>
          </a:prstGeom>
          <a:noFill/>
        </p:spPr>
        <p:txBody>
          <a:bodyPr wrap="square" anchor="t" lIns="0" rIns="0" tIns="0" bIns="0">
            <a:spAutoFit/>
          </a:bodyPr>
          <a:lstStyle/>
          <a:p>
            <a:pPr algn="ctr">
              <a:spcAft>
                <a:spcPts val="400"/>
              </a:spcAft>
            </a:pPr>
            <a:r>
              <a:rPr sz="1600" b="1" i="0">
                <a:solidFill>
                  <a:srgbClr val="107C10"/>
                </a:solidFill>
                <a:latin typeface="Segoe Sans Display Semibold"/>
              </a:rPr>
              <a:t>Hands-on</a:t>
            </a:r>
          </a:p>
        </p:txBody>
      </p:sp>
      <p:sp>
        <p:nvSpPr>
          <p:cNvPr id="25" name="TextBox 24"/>
          <p:cNvSpPr txBox="1"/>
          <p:nvPr/>
        </p:nvSpPr>
        <p:spPr>
          <a:xfrm>
            <a:off x="6400800" y="3291840"/>
            <a:ext cx="2194560" cy="1005840"/>
          </a:xfrm>
          <a:prstGeom prst="rect">
            <a:avLst/>
          </a:prstGeom>
          <a:noFill/>
        </p:spPr>
        <p:txBody>
          <a:bodyPr wrap="square" anchor="t" lIns="0" rIns="0" tIns="0" bIns="0">
            <a:spAutoFit/>
          </a:bodyPr>
          <a:lstStyle/>
          <a:p>
            <a:pPr algn="ctr">
              <a:lnSpc>
                <a:spcPct val="105000"/>
              </a:lnSpc>
              <a:spcAft>
                <a:spcPts val="400"/>
              </a:spcAft>
            </a:pPr>
            <a:r>
              <a:rPr sz="1250" b="0" i="0">
                <a:solidFill>
                  <a:srgbClr val="242424"/>
                </a:solidFill>
                <a:latin typeface="Segoe UI"/>
              </a:rPr>
              <a:t>Each attendee runs it in their own account, with proctors on hand</a:t>
            </a:r>
          </a:p>
        </p:txBody>
      </p:sp>
      <p:sp>
        <p:nvSpPr>
          <p:cNvPr id="26" name="TextBox 25"/>
          <p:cNvSpPr txBox="1"/>
          <p:nvPr/>
        </p:nvSpPr>
        <p:spPr>
          <a:xfrm>
            <a:off x="8778240" y="2834640"/>
            <a:ext cx="274320" cy="457200"/>
          </a:xfrm>
          <a:prstGeom prst="rect">
            <a:avLst/>
          </a:prstGeom>
          <a:noFill/>
        </p:spPr>
        <p:txBody>
          <a:bodyPr wrap="square" anchor="t" lIns="0" rIns="0" tIns="0" bIns="0">
            <a:spAutoFit/>
          </a:bodyPr>
          <a:lstStyle/>
          <a:p>
            <a:pPr algn="ctr">
              <a:spcAft>
                <a:spcPts val="400"/>
              </a:spcAft>
            </a:pPr>
            <a:r>
              <a:rPr sz="2200" b="0" i="0">
                <a:solidFill>
                  <a:srgbClr val="616161"/>
                </a:solidFill>
                <a:latin typeface="Segoe UI"/>
              </a:rPr>
              <a:t>→</a:t>
            </a:r>
          </a:p>
        </p:txBody>
      </p:sp>
      <p:sp>
        <p:nvSpPr>
          <p:cNvPr id="27" name="Rounded Rectangle 26">
            <a:extLst>
              <a:ext uri="{C183D7F6-B498-43B3-948B-1728B52AA6E4}">
                <ns8:decorative xmlns:ns8="http://schemas.microsoft.com/office/drawing/2017/decorative" val="1"/>
              </a:ext>
            </a:extLst>
          </p:cNvPr>
          <p:cNvSpPr/>
          <p:nvPr/>
        </p:nvSpPr>
        <p:spPr>
          <a:xfrm>
            <a:off x="9052560" y="1920240"/>
            <a:ext cx="2560320" cy="246888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a:extLst>
              <a:ext uri="{C183D7F6-B498-43B3-948B-1728B52AA6E4}">
                <ns9:decorative xmlns:ns9="http://schemas.microsoft.com/office/drawing/2017/decorative" val="1"/>
              </a:ext>
            </a:extLst>
          </p:cNvPr>
          <p:cNvSpPr/>
          <p:nvPr/>
        </p:nvSpPr>
        <p:spPr>
          <a:xfrm>
            <a:off x="10012680" y="2103120"/>
            <a:ext cx="640080" cy="6400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12680" y="2103120"/>
            <a:ext cx="640080" cy="640080"/>
          </a:xfrm>
          <a:prstGeom prst="rect">
            <a:avLst/>
          </a:prstGeom>
          <a:noFill/>
        </p:spPr>
        <p:txBody>
          <a:bodyPr wrap="square" anchor="ctr" lIns="0" rIns="0" tIns="0" bIns="0">
            <a:spAutoFit/>
          </a:bodyPr>
          <a:lstStyle/>
          <a:p>
            <a:pPr algn="ctr">
              <a:spcAft>
                <a:spcPts val="400"/>
              </a:spcAft>
            </a:pPr>
            <a:r>
              <a:rPr sz="2000" b="1" i="0">
                <a:solidFill>
                  <a:srgbClr val="FFFFFF"/>
                </a:solidFill>
                <a:latin typeface="Segoe UI"/>
              </a:rPr>
              <a:t>4</a:t>
            </a:r>
          </a:p>
        </p:txBody>
      </p:sp>
      <p:sp>
        <p:nvSpPr>
          <p:cNvPr id="30" name="TextBox 29"/>
          <p:cNvSpPr txBox="1"/>
          <p:nvPr/>
        </p:nvSpPr>
        <p:spPr>
          <a:xfrm>
            <a:off x="9235440" y="2880360"/>
            <a:ext cx="2194560" cy="365760"/>
          </a:xfrm>
          <a:prstGeom prst="rect">
            <a:avLst/>
          </a:prstGeom>
          <a:noFill/>
        </p:spPr>
        <p:txBody>
          <a:bodyPr wrap="square" anchor="t" lIns="0" rIns="0" tIns="0" bIns="0">
            <a:spAutoFit/>
          </a:bodyPr>
          <a:lstStyle/>
          <a:p>
            <a:pPr algn="ctr">
              <a:spcAft>
                <a:spcPts val="400"/>
              </a:spcAft>
            </a:pPr>
            <a:r>
              <a:rPr sz="1600" b="1" i="0">
                <a:solidFill>
                  <a:srgbClr val="C55A11"/>
                </a:solidFill>
                <a:latin typeface="Segoe Sans Display Semibold"/>
              </a:rPr>
              <a:t>Checkpoint</a:t>
            </a:r>
          </a:p>
        </p:txBody>
      </p:sp>
      <p:sp>
        <p:nvSpPr>
          <p:cNvPr id="31" name="TextBox 30"/>
          <p:cNvSpPr txBox="1"/>
          <p:nvPr/>
        </p:nvSpPr>
        <p:spPr>
          <a:xfrm>
            <a:off x="9235440" y="3291840"/>
            <a:ext cx="2194560" cy="1005840"/>
          </a:xfrm>
          <a:prstGeom prst="rect">
            <a:avLst/>
          </a:prstGeom>
          <a:noFill/>
        </p:spPr>
        <p:txBody>
          <a:bodyPr wrap="square" anchor="t" lIns="0" rIns="0" tIns="0" bIns="0">
            <a:spAutoFit/>
          </a:bodyPr>
          <a:lstStyle/>
          <a:p>
            <a:pPr algn="ctr">
              <a:lnSpc>
                <a:spcPct val="105000"/>
              </a:lnSpc>
              <a:spcAft>
                <a:spcPts val="400"/>
              </a:spcAft>
            </a:pPr>
            <a:r>
              <a:rPr sz="1250" b="0" i="0">
                <a:solidFill>
                  <a:srgbClr val="242424"/>
                </a:solidFill>
                <a:latin typeface="Segoe UI"/>
              </a:rPr>
              <a:t>Check the result against the expected outcome, then discuss</a:t>
            </a:r>
          </a:p>
        </p:txBody>
      </p:sp>
      <p:sp>
        <p:nvSpPr>
          <p:cNvPr id="32" name="Rounded Rectangle 31">
            <a:extLst>
              <a:ext uri="{C183D7F6-B498-43B3-948B-1728B52AA6E4}">
                <ns10:decorative xmlns:ns10="http://schemas.microsoft.com/office/drawing/2017/decorative" val="1"/>
              </a:ext>
            </a:extLst>
          </p:cNvPr>
          <p:cNvSpPr/>
          <p:nvPr/>
        </p:nvSpPr>
        <p:spPr>
          <a:xfrm>
            <a:off x="548640" y="4754880"/>
            <a:ext cx="11091672" cy="777240"/>
          </a:xfrm>
          <a:prstGeom prst="roundRect">
            <a:avLst>
              <a:gd name="adj" fmla="val 1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754880"/>
            <a:ext cx="10543032" cy="777240"/>
          </a:xfrm>
          <a:prstGeom prst="rect">
            <a:avLst/>
          </a:prstGeom>
          <a:noFill/>
        </p:spPr>
        <p:txBody>
          <a:bodyPr wrap="square" anchor="ctr" lIns="0" rIns="0" tIns="0" bIns="0">
            <a:spAutoFit/>
          </a:bodyPr>
          <a:lstStyle/>
          <a:p>
            <a:pPr algn="l">
              <a:spcAft>
                <a:spcPts val="400"/>
              </a:spcAft>
            </a:pPr>
            <a:r>
              <a:rPr sz="1400" b="1" i="0">
                <a:solidFill>
                  <a:srgbClr val="FFFFFF"/>
                </a:solidFill>
                <a:latin typeface="Segoe Sans Display Semibold"/>
              </a:rPr>
              <a:t>Facilitators come prepared:</a:t>
            </a:r>
            <a:r>
              <a:rPr sz="1400" b="0" i="0">
                <a:solidFill>
                  <a:srgbClr val="FFFFFF"/>
                </a:solidFill>
                <a:latin typeface="Segoe Sans Display"/>
              </a:rPr>
              <a:t> an answer key with expected results, a troubleshooting guide, and a whole-room Plan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Built-in safety for HR work</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Habits we practice in every exercise</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10</a:t>
            </a:r>
          </a:p>
        </p:txBody>
      </p:sp>
      <p:sp>
        <p:nvSpPr>
          <p:cNvPr id="9" name="Rounded Rectangle 8">
            <a:extLst>
              <a:ext uri="{C183D7F6-B498-43B3-948B-1728B52AA6E4}">
                <ns2:decorative xmlns:ns2="http://schemas.microsoft.com/office/drawing/2017/decorative" val="1"/>
              </a:ext>
            </a:extLst>
          </p:cNvPr>
          <p:cNvSpPr/>
          <p:nvPr/>
        </p:nvSpPr>
        <p:spPr>
          <a:xfrm>
            <a:off x="548640"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7568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39112"/>
            <a:ext cx="3035808"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Sans Display Semibold"/>
              </a:rPr>
              <a:t>Fictional data only</a:t>
            </a:r>
          </a:p>
        </p:txBody>
      </p:sp>
      <p:sp>
        <p:nvSpPr>
          <p:cNvPr id="12" name="TextBox 11"/>
          <p:cNvSpPr txBox="1"/>
          <p:nvPr/>
        </p:nvSpPr>
        <p:spPr>
          <a:xfrm>
            <a:off x="777240"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Exercises use the fictional company Zava. No real employee data.</a:t>
            </a:r>
          </a:p>
        </p:txBody>
      </p:sp>
      <p:sp>
        <p:nvSpPr>
          <p:cNvPr id="13" name="Rounded Rectangle 12">
            <a:extLst>
              <a:ext uri="{C183D7F6-B498-43B3-948B-1728B52AA6E4}">
                <ns4:decorative xmlns:ns4="http://schemas.microsoft.com/office/drawing/2017/decorative" val="1"/>
              </a:ext>
            </a:extLst>
          </p:cNvPr>
          <p:cNvSpPr/>
          <p:nvPr/>
        </p:nvSpPr>
        <p:spPr>
          <a:xfrm>
            <a:off x="4325112"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4507992" y="207568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2039112"/>
            <a:ext cx="3035808"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Sans Display Semibold"/>
              </a:rPr>
              <a:t>Approve one at a time</a:t>
            </a:r>
          </a:p>
        </p:txBody>
      </p:sp>
      <p:sp>
        <p:nvSpPr>
          <p:cNvPr id="16" name="TextBox 15"/>
          <p:cNvSpPr txBox="1"/>
          <p:nvPr/>
        </p:nvSpPr>
        <p:spPr>
          <a:xfrm>
            <a:off x="4553712"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Cowork asks before it sends, posts, or schedules. No “Approve All”.</a:t>
            </a:r>
          </a:p>
        </p:txBody>
      </p:sp>
      <p:sp>
        <p:nvSpPr>
          <p:cNvPr id="17" name="Rounded Rectangle 16">
            <a:extLst>
              <a:ext uri="{C183D7F6-B498-43B3-948B-1728B52AA6E4}">
                <ns6:decorative xmlns:ns6="http://schemas.microsoft.com/office/drawing/2017/decorative" val="1"/>
              </a:ext>
            </a:extLst>
          </p:cNvPr>
          <p:cNvSpPr/>
          <p:nvPr/>
        </p:nvSpPr>
        <p:spPr>
          <a:xfrm>
            <a:off x="8101583"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8284463" y="207568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2039112"/>
            <a:ext cx="3035808"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Sans Display Semibold"/>
              </a:rPr>
              <a:t>Every output is a draft</a:t>
            </a:r>
          </a:p>
        </p:txBody>
      </p:sp>
      <p:sp>
        <p:nvSpPr>
          <p:cNvPr id="20" name="TextBox 19"/>
          <p:cNvSpPr txBox="1"/>
          <p:nvPr/>
        </p:nvSpPr>
        <p:spPr>
          <a:xfrm>
            <a:off x="8330183"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Review before anything is sent, shared, or filed.</a:t>
            </a:r>
          </a:p>
        </p:txBody>
      </p:sp>
      <p:sp>
        <p:nvSpPr>
          <p:cNvPr id="21" name="Rounded Rectangle 20">
            <a:extLst>
              <a:ext uri="{C183D7F6-B498-43B3-948B-1728B52AA6E4}">
                <ns8:decorative xmlns:ns8="http://schemas.microsoft.com/office/drawing/2017/decorative" val="1"/>
              </a:ext>
            </a:extLst>
          </p:cNvPr>
          <p:cNvSpPr/>
          <p:nvPr/>
        </p:nvSpPr>
        <p:spPr>
          <a:xfrm>
            <a:off x="548640"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731520" y="4178807"/>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142231"/>
            <a:ext cx="3035808" cy="365760"/>
          </a:xfrm>
          <a:prstGeom prst="rect">
            <a:avLst/>
          </a:prstGeom>
          <a:noFill/>
        </p:spPr>
        <p:txBody>
          <a:bodyPr wrap="square" anchor="t" lIns="0" rIns="0" tIns="0" bIns="0">
            <a:spAutoFit/>
          </a:bodyPr>
          <a:lstStyle/>
          <a:p>
            <a:pPr algn="l">
              <a:spcAft>
                <a:spcPts val="400"/>
              </a:spcAft>
            </a:pPr>
            <a:r>
              <a:rPr sz="1400" b="1" i="0">
                <a:solidFill>
                  <a:srgbClr val="C55A11"/>
                </a:solidFill>
                <a:latin typeface="Segoe Sans Display Semibold"/>
              </a:rPr>
              <a:t>Cite and confirm</a:t>
            </a:r>
          </a:p>
        </p:txBody>
      </p:sp>
      <p:sp>
        <p:nvSpPr>
          <p:cNvPr id="24" name="TextBox 23"/>
          <p:cNvSpPr txBox="1"/>
          <p:nvPr/>
        </p:nvSpPr>
        <p:spPr>
          <a:xfrm>
            <a:off x="777240"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Policy answers name their source and say “please confirm with HR”.</a:t>
            </a:r>
          </a:p>
        </p:txBody>
      </p:sp>
      <p:sp>
        <p:nvSpPr>
          <p:cNvPr id="25" name="Rounded Rectangle 24">
            <a:extLst>
              <a:ext uri="{C183D7F6-B498-43B3-948B-1728B52AA6E4}">
                <ns10:decorative xmlns:ns10="http://schemas.microsoft.com/office/drawing/2017/decorative" val="1"/>
              </a:ext>
            </a:extLst>
          </p:cNvPr>
          <p:cNvSpPr/>
          <p:nvPr/>
        </p:nvSpPr>
        <p:spPr>
          <a:xfrm>
            <a:off x="4325112"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extLst>
              <a:ext uri="{C183D7F6-B498-43B3-948B-1728B52AA6E4}">
                <ns11:decorative xmlns:ns11="http://schemas.microsoft.com/office/drawing/2017/decorative" val="1"/>
              </a:ext>
            </a:extLst>
          </p:cNvPr>
          <p:cNvSpPr/>
          <p:nvPr/>
        </p:nvSpPr>
        <p:spPr>
          <a:xfrm>
            <a:off x="4507992" y="4178807"/>
            <a:ext cx="54864" cy="3474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2583" y="4142231"/>
            <a:ext cx="3035808" cy="365760"/>
          </a:xfrm>
          <a:prstGeom prst="rect">
            <a:avLst/>
          </a:prstGeom>
          <a:noFill/>
        </p:spPr>
        <p:txBody>
          <a:bodyPr wrap="square" anchor="t" lIns="0" rIns="0" tIns="0" bIns="0">
            <a:spAutoFit/>
          </a:bodyPr>
          <a:lstStyle/>
          <a:p>
            <a:pPr algn="l">
              <a:spcAft>
                <a:spcPts val="400"/>
              </a:spcAft>
            </a:pPr>
            <a:r>
              <a:rPr sz="1400" b="1" i="0">
                <a:solidFill>
                  <a:srgbClr val="0E7C86"/>
                </a:solidFill>
                <a:latin typeface="Segoe Sans Display Semibold"/>
              </a:rPr>
              <a:t>People decisions stay with people</a:t>
            </a:r>
          </a:p>
        </p:txBody>
      </p:sp>
      <p:sp>
        <p:nvSpPr>
          <p:cNvPr id="28" name="TextBox 27"/>
          <p:cNvSpPr txBox="1"/>
          <p:nvPr/>
        </p:nvSpPr>
        <p:spPr>
          <a:xfrm>
            <a:off x="4553712"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No performance ratings or pay decisions by AI.</a:t>
            </a:r>
          </a:p>
        </p:txBody>
      </p:sp>
      <p:sp>
        <p:nvSpPr>
          <p:cNvPr id="29" name="Rounded Rectangle 28">
            <a:extLst>
              <a:ext uri="{C183D7F6-B498-43B3-948B-1728B52AA6E4}">
                <ns12:decorative xmlns:ns12="http://schemas.microsoft.com/office/drawing/2017/decorative" val="1"/>
              </a:ext>
            </a:extLst>
          </p:cNvPr>
          <p:cNvSpPr/>
          <p:nvPr/>
        </p:nvSpPr>
        <p:spPr>
          <a:xfrm>
            <a:off x="8101583"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extLst>
              <a:ext uri="{C183D7F6-B498-43B3-948B-1728B52AA6E4}">
                <ns13:decorative xmlns:ns13="http://schemas.microsoft.com/office/drawing/2017/decorative" val="1"/>
              </a:ext>
            </a:extLst>
          </p:cNvPr>
          <p:cNvSpPr/>
          <p:nvPr/>
        </p:nvSpPr>
        <p:spPr>
          <a:xfrm>
            <a:off x="8284463" y="4178807"/>
            <a:ext cx="54864" cy="3474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49056" y="4142231"/>
            <a:ext cx="3035808" cy="365760"/>
          </a:xfrm>
          <a:prstGeom prst="rect">
            <a:avLst/>
          </a:prstGeom>
          <a:noFill/>
        </p:spPr>
        <p:txBody>
          <a:bodyPr wrap="square" anchor="t" lIns="0" rIns="0" tIns="0" bIns="0">
            <a:spAutoFit/>
          </a:bodyPr>
          <a:lstStyle/>
          <a:p>
            <a:pPr algn="l">
              <a:spcAft>
                <a:spcPts val="400"/>
              </a:spcAft>
            </a:pPr>
            <a:r>
              <a:rPr sz="1400" b="1" i="0">
                <a:solidFill>
                  <a:srgbClr val="C0504D"/>
                </a:solidFill>
                <a:latin typeface="Segoe Sans Display Semibold"/>
              </a:rPr>
              <a:t>Your own space</a:t>
            </a:r>
          </a:p>
        </p:txBody>
      </p:sp>
      <p:sp>
        <p:nvSpPr>
          <p:cNvPr id="32" name="TextBox 31"/>
          <p:cNvSpPr txBox="1"/>
          <p:nvPr/>
        </p:nvSpPr>
        <p:spPr>
          <a:xfrm>
            <a:off x="8330183"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Each attendee works in their own OneDrive; skills stay private.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What your team takes away</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Materials and habits that last beyond the session</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11</a:t>
            </a:r>
          </a:p>
        </p:txBody>
      </p:sp>
      <p:sp>
        <p:nvSpPr>
          <p:cNvPr id="9" name="Rounded Rectangle 8">
            <a:extLst>
              <a:ext uri="{C183D7F6-B498-43B3-948B-1728B52AA6E4}">
                <ns2:decorative xmlns:ns2="http://schemas.microsoft.com/office/drawing/2017/decorative" val="1"/>
              </a:ext>
            </a:extLst>
          </p:cNvPr>
          <p:cNvSpPr/>
          <p:nvPr/>
        </p:nvSpPr>
        <p:spPr>
          <a:xfrm>
            <a:off x="548640" y="1874519"/>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777240" y="2194560"/>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94560"/>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12" name="TextBox 11"/>
          <p:cNvSpPr txBox="1"/>
          <p:nvPr/>
        </p:nvSpPr>
        <p:spPr>
          <a:xfrm>
            <a:off x="1554480" y="20574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Participant workbook</a:t>
            </a:r>
          </a:p>
          <a:p>
            <a:pPr algn="l">
              <a:spcAft>
                <a:spcPts val="400"/>
              </a:spcAft>
            </a:pPr>
            <a:r>
              <a:rPr sz="1250" b="0" i="0">
                <a:solidFill>
                  <a:srgbClr val="616161"/>
                </a:solidFill>
                <a:latin typeface="Segoe UI"/>
              </a:rPr>
              <a:t>Every exercise, step by step, with checkpoints</a:t>
            </a:r>
          </a:p>
        </p:txBody>
      </p:sp>
      <p:sp>
        <p:nvSpPr>
          <p:cNvPr id="13" name="Rounded Rectangle 12">
            <a:extLst>
              <a:ext uri="{C183D7F6-B498-43B3-948B-1728B52AA6E4}">
                <ns4:decorative xmlns:ns4="http://schemas.microsoft.com/office/drawing/2017/decorative" val="1"/>
              </a:ext>
            </a:extLst>
          </p:cNvPr>
          <p:cNvSpPr/>
          <p:nvPr/>
        </p:nvSpPr>
        <p:spPr>
          <a:xfrm>
            <a:off x="6153912" y="1874519"/>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a:extLst>
              <a:ext uri="{C183D7F6-B498-43B3-948B-1728B52AA6E4}">
                <ns5:decorative xmlns:ns5="http://schemas.microsoft.com/office/drawing/2017/decorative" val="1"/>
              </a:ext>
            </a:extLst>
          </p:cNvPr>
          <p:cNvSpPr/>
          <p:nvPr/>
        </p:nvSpPr>
        <p:spPr>
          <a:xfrm>
            <a:off x="6382512" y="2194560"/>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194560"/>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16" name="TextBox 15"/>
          <p:cNvSpPr txBox="1"/>
          <p:nvPr/>
        </p:nvSpPr>
        <p:spPr>
          <a:xfrm>
            <a:off x="7159752" y="20574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Quick-reference card</a:t>
            </a:r>
          </a:p>
          <a:p>
            <a:pPr algn="l">
              <a:spcAft>
                <a:spcPts val="400"/>
              </a:spcAft>
            </a:pPr>
            <a:r>
              <a:rPr sz="1250" b="0" i="0">
                <a:solidFill>
                  <a:srgbClr val="616161"/>
                </a:solidFill>
                <a:latin typeface="Segoe UI"/>
              </a:rPr>
              <a:t>One printable page: tools, prompt recipe, approvals</a:t>
            </a:r>
          </a:p>
        </p:txBody>
      </p:sp>
      <p:sp>
        <p:nvSpPr>
          <p:cNvPr id="17" name="Rounded Rectangle 16">
            <a:extLst>
              <a:ext uri="{C183D7F6-B498-43B3-948B-1728B52AA6E4}">
                <ns6:decorative xmlns:ns6="http://schemas.microsoft.com/office/drawing/2017/decorative" val="1"/>
              </a:ext>
            </a:extLst>
          </p:cNvPr>
          <p:cNvSpPr/>
          <p:nvPr/>
        </p:nvSpPr>
        <p:spPr>
          <a:xfrm>
            <a:off x="548640" y="3246120"/>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a:extLst>
              <a:ext uri="{C183D7F6-B498-43B3-948B-1728B52AA6E4}">
                <ns7:decorative xmlns:ns7="http://schemas.microsoft.com/office/drawing/2017/decorative" val="1"/>
              </a:ext>
            </a:extLst>
          </p:cNvPr>
          <p:cNvSpPr/>
          <p:nvPr/>
        </p:nvSpPr>
        <p:spPr>
          <a:xfrm>
            <a:off x="777240" y="3566160"/>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66160"/>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20" name="TextBox 19"/>
          <p:cNvSpPr txBox="1"/>
          <p:nvPr/>
        </p:nvSpPr>
        <p:spPr>
          <a:xfrm>
            <a:off x="1554480" y="34290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Prompt library</a:t>
            </a:r>
          </a:p>
          <a:p>
            <a:pPr algn="l">
              <a:spcAft>
                <a:spcPts val="400"/>
              </a:spcAft>
            </a:pPr>
            <a:r>
              <a:rPr sz="1250" b="0" i="0">
                <a:solidFill>
                  <a:srgbClr val="616161"/>
                </a:solidFill>
                <a:latin typeface="Segoe UI"/>
              </a:rPr>
              <a:t>Copy-paste HR prompts by scenario</a:t>
            </a:r>
          </a:p>
        </p:txBody>
      </p:sp>
      <p:sp>
        <p:nvSpPr>
          <p:cNvPr id="21" name="Rounded Rectangle 20">
            <a:extLst>
              <a:ext uri="{C183D7F6-B498-43B3-948B-1728B52AA6E4}">
                <ns8:decorative xmlns:ns8="http://schemas.microsoft.com/office/drawing/2017/decorative" val="1"/>
              </a:ext>
            </a:extLst>
          </p:cNvPr>
          <p:cNvSpPr/>
          <p:nvPr/>
        </p:nvSpPr>
        <p:spPr>
          <a:xfrm>
            <a:off x="6153912" y="3246120"/>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a:extLst>
              <a:ext uri="{C183D7F6-B498-43B3-948B-1728B52AA6E4}">
                <ns9:decorative xmlns:ns9="http://schemas.microsoft.com/office/drawing/2017/decorative" val="1"/>
              </a:ext>
            </a:extLst>
          </p:cNvPr>
          <p:cNvSpPr/>
          <p:nvPr/>
        </p:nvSpPr>
        <p:spPr>
          <a:xfrm>
            <a:off x="6382512" y="3566160"/>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566160"/>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24" name="TextBox 23"/>
          <p:cNvSpPr txBox="1"/>
          <p:nvPr/>
        </p:nvSpPr>
        <p:spPr>
          <a:xfrm>
            <a:off x="7159752" y="34290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Their own custom skill</a:t>
            </a:r>
          </a:p>
          <a:p>
            <a:pPr algn="l">
              <a:spcAft>
                <a:spcPts val="400"/>
              </a:spcAft>
            </a:pPr>
            <a:r>
              <a:rPr sz="1250" b="0" i="0">
                <a:solidFill>
                  <a:srgbClr val="616161"/>
                </a:solidFill>
                <a:latin typeface="Segoe UI"/>
              </a:rPr>
              <a:t>An HR Policy Answer skill they built and tested</a:t>
            </a:r>
          </a:p>
        </p:txBody>
      </p:sp>
      <p:sp>
        <p:nvSpPr>
          <p:cNvPr id="25" name="Rounded Rectangle 24">
            <a:extLst>
              <a:ext uri="{C183D7F6-B498-43B3-948B-1728B52AA6E4}">
                <ns10:decorative xmlns:ns10="http://schemas.microsoft.com/office/drawing/2017/decorative" val="1"/>
              </a:ext>
            </a:extLst>
          </p:cNvPr>
          <p:cNvSpPr/>
          <p:nvPr/>
        </p:nvSpPr>
        <p:spPr>
          <a:xfrm>
            <a:off x="548640" y="4617720"/>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a:extLst>
              <a:ext uri="{C183D7F6-B498-43B3-948B-1728B52AA6E4}">
                <ns11:decorative xmlns:ns11="http://schemas.microsoft.com/office/drawing/2017/decorative" val="1"/>
              </a:ext>
            </a:extLst>
          </p:cNvPr>
          <p:cNvSpPr/>
          <p:nvPr/>
        </p:nvSpPr>
        <p:spPr>
          <a:xfrm>
            <a:off x="777240" y="4937759"/>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937759"/>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28" name="TextBox 27"/>
          <p:cNvSpPr txBox="1"/>
          <p:nvPr/>
        </p:nvSpPr>
        <p:spPr>
          <a:xfrm>
            <a:off x="1554480" y="48006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A working HR agent</a:t>
            </a:r>
          </a:p>
          <a:p>
            <a:pPr algn="l">
              <a:spcAft>
                <a:spcPts val="400"/>
              </a:spcAft>
            </a:pPr>
            <a:r>
              <a:rPr sz="1250" b="0" i="0">
                <a:solidFill>
                  <a:srgbClr val="616161"/>
                </a:solidFill>
                <a:latin typeface="Segoe UI"/>
              </a:rPr>
              <a:t>Built in Agent Builder, grounded in HR documents</a:t>
            </a:r>
          </a:p>
        </p:txBody>
      </p:sp>
      <p:sp>
        <p:nvSpPr>
          <p:cNvPr id="29" name="Rounded Rectangle 28">
            <a:extLst>
              <a:ext uri="{C183D7F6-B498-43B3-948B-1728B52AA6E4}">
                <ns12:decorative xmlns:ns12="http://schemas.microsoft.com/office/drawing/2017/decorative" val="1"/>
              </a:ext>
            </a:extLst>
          </p:cNvPr>
          <p:cNvSpPr/>
          <p:nvPr/>
        </p:nvSpPr>
        <p:spPr>
          <a:xfrm>
            <a:off x="6153912" y="4617720"/>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a:extLst>
              <a:ext uri="{C183D7F6-B498-43B3-948B-1728B52AA6E4}">
                <ns13:decorative xmlns:ns13="http://schemas.microsoft.com/office/drawing/2017/decorative" val="1"/>
              </a:ext>
            </a:extLst>
          </p:cNvPr>
          <p:cNvSpPr/>
          <p:nvPr/>
        </p:nvSpPr>
        <p:spPr>
          <a:xfrm>
            <a:off x="6382512" y="4937759"/>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4937759"/>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32" name="TextBox 31"/>
          <p:cNvSpPr txBox="1"/>
          <p:nvPr/>
        </p:nvSpPr>
        <p:spPr>
          <a:xfrm>
            <a:off x="7159752" y="48006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After-the-workshop pack</a:t>
            </a:r>
          </a:p>
          <a:p>
            <a:pPr algn="l">
              <a:spcAft>
                <a:spcPts val="400"/>
              </a:spcAft>
            </a:pPr>
            <a:r>
              <a:rPr sz="1250" b="0" i="0">
                <a:solidFill>
                  <a:srgbClr val="616161"/>
                </a:solidFill>
                <a:latin typeface="Segoe UI"/>
              </a:rPr>
              <a:t>Knowledge check, feedback survey, and a 30-day adoption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What we need from you</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Tenant readiness is the biggest success factor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12</a:t>
            </a:r>
          </a:p>
        </p:txBody>
      </p:sp>
      <p:sp>
        <p:nvSpPr>
          <p:cNvPr id="9" name="Rounded Rectangle 8">
            <a:extLst>
              <a:ext uri="{C183D7F6-B498-43B3-948B-1728B52AA6E4}">
                <ns2:decorative xmlns:ns2="http://schemas.microsoft.com/office/drawing/2017/decorative" val="1"/>
              </a:ext>
            </a:extLst>
          </p:cNvPr>
          <p:cNvSpPr/>
          <p:nvPr/>
        </p:nvSpPr>
        <p:spPr>
          <a:xfrm>
            <a:off x="548640" y="1828800"/>
            <a:ext cx="5486400" cy="443484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2996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93392"/>
            <a:ext cx="4983480"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Sans Display Semibold"/>
              </a:rPr>
              <a:t>Prerequisites</a:t>
            </a:r>
          </a:p>
        </p:txBody>
      </p:sp>
      <p:sp>
        <p:nvSpPr>
          <p:cNvPr id="12" name="TextBox 11"/>
          <p:cNvSpPr txBox="1"/>
          <p:nvPr/>
        </p:nvSpPr>
        <p:spPr>
          <a:xfrm>
            <a:off x="777240" y="2395728"/>
            <a:ext cx="5074920" cy="3730751"/>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450" b="0" i="0">
                <a:solidFill>
                  <a:srgbClr val="242424"/>
                </a:solidFill>
                <a:latin typeface="Segoe UI"/>
              </a:rPr>
              <a:t>A </a:t>
            </a:r>
            <a:r>
              <a:rPr sz="1450" b="1" i="0">
                <a:solidFill>
                  <a:srgbClr val="242424"/>
                </a:solidFill>
                <a:latin typeface="Segoe UI"/>
              </a:rPr>
              <a:t>Microsoft 365 Copilot</a:t>
            </a:r>
            <a:r>
              <a:rPr sz="1450" b="0" i="0">
                <a:solidFill>
                  <a:srgbClr val="242424"/>
                </a:solidFill>
                <a:latin typeface="Segoe UI"/>
              </a:rPr>
              <a:t> license for each attendee</a:t>
            </a:r>
          </a:p>
          <a:p>
            <a:pPr algn="l" marL="182880" indent="-182880">
              <a:lnSpc>
                <a:spcPct val="105000"/>
              </a:lnSpc>
              <a:spcAft>
                <a:spcPts val="500"/>
              </a:spcAft>
              <a:buFont typeface="Arial"/>
              <a:buChar char="•"/>
            </a:pPr>
            <a:r>
              <a:rPr sz="1450" b="1" i="0">
                <a:solidFill>
                  <a:srgbClr val="242424"/>
                </a:solidFill>
                <a:latin typeface="Segoe UI"/>
              </a:rPr>
              <a:t>Usage-based billing</a:t>
            </a:r>
            <a:r>
              <a:rPr sz="1450" b="0" i="0">
                <a:solidFill>
                  <a:srgbClr val="242424"/>
                </a:solidFill>
                <a:latin typeface="Segoe UI"/>
              </a:rPr>
              <a:t> and a </a:t>
            </a:r>
            <a:r>
              <a:rPr sz="1450" b="1" i="0">
                <a:solidFill>
                  <a:srgbClr val="242424"/>
                </a:solidFill>
                <a:latin typeface="Segoe UI"/>
              </a:rPr>
              <a:t>Cowork spending policy</a:t>
            </a:r>
            <a:r>
              <a:rPr sz="1450" b="0" i="0">
                <a:solidFill>
                  <a:srgbClr val="242424"/>
                </a:solidFill>
                <a:latin typeface="Segoe UI"/>
              </a:rPr>
              <a:t> for the attendee group (this grants Cowork access)</a:t>
            </a:r>
          </a:p>
          <a:p>
            <a:pPr algn="l" marL="182880" indent="-182880">
              <a:lnSpc>
                <a:spcPct val="105000"/>
              </a:lnSpc>
              <a:spcAft>
                <a:spcPts val="500"/>
              </a:spcAft>
              <a:buFont typeface="Arial"/>
              <a:buChar char="•"/>
            </a:pPr>
            <a:r>
              <a:rPr sz="1450" b="1" i="0">
                <a:solidFill>
                  <a:srgbClr val="242424"/>
                </a:solidFill>
                <a:latin typeface="Segoe UI"/>
              </a:rPr>
              <a:t>Cowork Browsing</a:t>
            </a:r>
            <a:r>
              <a:rPr sz="1450" b="0" i="0">
                <a:solidFill>
                  <a:srgbClr val="242424"/>
                </a:solidFill>
                <a:latin typeface="Segoe UI"/>
              </a:rPr>
              <a:t> allowed for the group (Exercise 3)</a:t>
            </a:r>
          </a:p>
          <a:p>
            <a:pPr algn="l" marL="182880" indent="-182880">
              <a:lnSpc>
                <a:spcPct val="105000"/>
              </a:lnSpc>
              <a:spcAft>
                <a:spcPts val="500"/>
              </a:spcAft>
              <a:buFont typeface="Arial"/>
              <a:buChar char="•"/>
            </a:pPr>
            <a:r>
              <a:rPr sz="1450" b="0" i="0">
                <a:solidFill>
                  <a:srgbClr val="242424"/>
                </a:solidFill>
                <a:latin typeface="Segoe UI"/>
              </a:rPr>
              <a:t>~25 attendee accounts </a:t>
            </a:r>
            <a:r>
              <a:rPr sz="1450" b="1" i="0">
                <a:solidFill>
                  <a:srgbClr val="242424"/>
                </a:solidFill>
                <a:latin typeface="Segoe UI"/>
              </a:rPr>
              <a:t>plus 2–3 spares</a:t>
            </a:r>
            <a:r>
              <a:rPr sz="1450" b="0" i="0">
                <a:solidFill>
                  <a:srgbClr val="242424"/>
                </a:solidFill>
                <a:latin typeface="Segoe UI"/>
              </a:rPr>
              <a:t> in one tenant</a:t>
            </a:r>
          </a:p>
          <a:p>
            <a:pPr algn="l" marL="182880" indent="-182880">
              <a:lnSpc>
                <a:spcPct val="105000"/>
              </a:lnSpc>
              <a:spcAft>
                <a:spcPts val="500"/>
              </a:spcAft>
              <a:buFont typeface="Arial"/>
              <a:buChar char="•"/>
            </a:pPr>
            <a:r>
              <a:rPr sz="1450" b="0" i="0">
                <a:solidFill>
                  <a:srgbClr val="242424"/>
                </a:solidFill>
                <a:latin typeface="Segoe UI"/>
              </a:rPr>
              <a:t>Laptops with </a:t>
            </a:r>
            <a:r>
              <a:rPr sz="1450" b="1" i="0">
                <a:solidFill>
                  <a:srgbClr val="242424"/>
                </a:solidFill>
                <a:latin typeface="Segoe UI"/>
              </a:rPr>
              <a:t>Microsoft Edge 152 or later</a:t>
            </a:r>
          </a:p>
          <a:p>
            <a:pPr algn="l" marL="182880" indent="-182880">
              <a:lnSpc>
                <a:spcPct val="105000"/>
              </a:lnSpc>
              <a:spcAft>
                <a:spcPts val="500"/>
              </a:spcAft>
              <a:buFont typeface="Arial"/>
              <a:buChar char="•"/>
            </a:pPr>
            <a:r>
              <a:rPr sz="1450" b="0" i="0">
                <a:solidFill>
                  <a:srgbClr val="242424"/>
                </a:solidFill>
                <a:latin typeface="Segoe UI"/>
              </a:rPr>
              <a:t>A shared Teams or SharePoint folder for the sample files</a:t>
            </a:r>
          </a:p>
        </p:txBody>
      </p:sp>
      <p:sp>
        <p:nvSpPr>
          <p:cNvPr id="13" name="Rounded Rectangle 12">
            <a:extLst>
              <a:ext uri="{C183D7F6-B498-43B3-948B-1728B52AA6E4}">
                <ns4:decorative xmlns:ns4="http://schemas.microsoft.com/office/drawing/2017/decorative" val="1"/>
              </a:ext>
            </a:extLst>
          </p:cNvPr>
          <p:cNvSpPr/>
          <p:nvPr/>
        </p:nvSpPr>
        <p:spPr>
          <a:xfrm>
            <a:off x="6153912" y="1828800"/>
            <a:ext cx="5486400" cy="443484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993392"/>
            <a:ext cx="5029200"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Sans Display Semibold"/>
              </a:rPr>
              <a:t>Preparation timeline</a:t>
            </a:r>
          </a:p>
        </p:txBody>
      </p:sp>
      <p:sp>
        <p:nvSpPr>
          <p:cNvPr id="15" name="Oval 14">
            <a:extLst>
              <a:ext uri="{C183D7F6-B498-43B3-948B-1728B52AA6E4}">
                <ns5:decorative xmlns:ns5="http://schemas.microsoft.com/office/drawing/2017/decorative" val="1"/>
              </a:ext>
            </a:extLst>
          </p:cNvPr>
          <p:cNvSpPr/>
          <p:nvPr/>
        </p:nvSpPr>
        <p:spPr>
          <a:xfrm>
            <a:off x="6446520" y="262432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extLst>
              <a:ext uri="{C183D7F6-B498-43B3-948B-1728B52AA6E4}">
                <ns6:decorative xmlns:ns6="http://schemas.microsoft.com/office/drawing/2017/decorative" val="1"/>
              </a:ext>
            </a:extLst>
          </p:cNvPr>
          <p:cNvSpPr/>
          <p:nvPr/>
        </p:nvSpPr>
        <p:spPr>
          <a:xfrm>
            <a:off x="6537960" y="2825496"/>
            <a:ext cx="18288" cy="530352"/>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2514600"/>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T − 3 weeks</a:t>
            </a:r>
          </a:p>
          <a:p>
            <a:pPr algn="l">
              <a:spcAft>
                <a:spcPts val="100"/>
              </a:spcAft>
            </a:pPr>
            <a:r>
              <a:rPr sz="1350" b="0" i="0">
                <a:solidFill>
                  <a:srgbClr val="616161"/>
                </a:solidFill>
                <a:latin typeface="Segoe UI"/>
              </a:rPr>
              <a:t>Licenses, billing, spending policy, browsing</a:t>
            </a:r>
          </a:p>
        </p:txBody>
      </p:sp>
      <p:sp>
        <p:nvSpPr>
          <p:cNvPr id="18" name="Oval 17">
            <a:extLst>
              <a:ext uri="{C183D7F6-B498-43B3-948B-1728B52AA6E4}">
                <ns7:decorative xmlns:ns7="http://schemas.microsoft.com/office/drawing/2017/decorative" val="1"/>
              </a:ext>
            </a:extLst>
          </p:cNvPr>
          <p:cNvSpPr/>
          <p:nvPr/>
        </p:nvSpPr>
        <p:spPr>
          <a:xfrm>
            <a:off x="6446520" y="335584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a:extLst>
              <a:ext uri="{C183D7F6-B498-43B3-948B-1728B52AA6E4}">
                <ns8:decorative xmlns:ns8="http://schemas.microsoft.com/office/drawing/2017/decorative" val="1"/>
              </a:ext>
            </a:extLst>
          </p:cNvPr>
          <p:cNvSpPr/>
          <p:nvPr/>
        </p:nvSpPr>
        <p:spPr>
          <a:xfrm>
            <a:off x="6537960" y="3557015"/>
            <a:ext cx="18288" cy="530352"/>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3246120"/>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T − 2 weeks</a:t>
            </a:r>
          </a:p>
          <a:p>
            <a:pPr algn="l">
              <a:spcAft>
                <a:spcPts val="100"/>
              </a:spcAft>
            </a:pPr>
            <a:r>
              <a:rPr sz="1350" b="0" i="0">
                <a:solidFill>
                  <a:srgbClr val="616161"/>
                </a:solidFill>
                <a:latin typeface="Segoe UI"/>
              </a:rPr>
              <a:t>Accounts and spares provisioned</a:t>
            </a:r>
          </a:p>
        </p:txBody>
      </p:sp>
      <p:sp>
        <p:nvSpPr>
          <p:cNvPr id="21" name="Oval 20">
            <a:extLst>
              <a:ext uri="{C183D7F6-B498-43B3-948B-1728B52AA6E4}">
                <ns9:decorative xmlns:ns9="http://schemas.microsoft.com/office/drawing/2017/decorative" val="1"/>
              </a:ext>
            </a:extLst>
          </p:cNvPr>
          <p:cNvSpPr/>
          <p:nvPr/>
        </p:nvSpPr>
        <p:spPr>
          <a:xfrm>
            <a:off x="6446520" y="408736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10:decorative xmlns:ns10="http://schemas.microsoft.com/office/drawing/2017/decorative" val="1"/>
              </a:ext>
            </a:extLst>
          </p:cNvPr>
          <p:cNvSpPr/>
          <p:nvPr/>
        </p:nvSpPr>
        <p:spPr>
          <a:xfrm>
            <a:off x="6537960" y="4288536"/>
            <a:ext cx="18288" cy="530352"/>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3977639"/>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T − 1 week</a:t>
            </a:r>
          </a:p>
          <a:p>
            <a:pPr algn="l">
              <a:spcAft>
                <a:spcPts val="100"/>
              </a:spcAft>
            </a:pPr>
            <a:r>
              <a:rPr sz="1350" b="0" i="0">
                <a:solidFill>
                  <a:srgbClr val="616161"/>
                </a:solidFill>
                <a:latin typeface="Segoe UI"/>
              </a:rPr>
              <a:t>Full dry run; demo videos recorded</a:t>
            </a:r>
          </a:p>
        </p:txBody>
      </p:sp>
      <p:sp>
        <p:nvSpPr>
          <p:cNvPr id="24" name="Oval 23">
            <a:extLst>
              <a:ext uri="{C183D7F6-B498-43B3-948B-1728B52AA6E4}">
                <ns11:decorative xmlns:ns11="http://schemas.microsoft.com/office/drawing/2017/decorative" val="1"/>
              </a:ext>
            </a:extLst>
          </p:cNvPr>
          <p:cNvSpPr/>
          <p:nvPr/>
        </p:nvSpPr>
        <p:spPr>
          <a:xfrm>
            <a:off x="6446520" y="481888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a:extLst>
              <a:ext uri="{C183D7F6-B498-43B3-948B-1728B52AA6E4}">
                <ns12:decorative xmlns:ns12="http://schemas.microsoft.com/office/drawing/2017/decorative" val="1"/>
              </a:ext>
            </a:extLst>
          </p:cNvPr>
          <p:cNvSpPr/>
          <p:nvPr/>
        </p:nvSpPr>
        <p:spPr>
          <a:xfrm>
            <a:off x="6537960" y="5020056"/>
            <a:ext cx="18288" cy="530352"/>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280" y="4709160"/>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T − 1 day</a:t>
            </a:r>
          </a:p>
          <a:p>
            <a:pPr algn="l">
              <a:spcAft>
                <a:spcPts val="100"/>
              </a:spcAft>
            </a:pPr>
            <a:r>
              <a:rPr sz="1350" b="0" i="0">
                <a:solidFill>
                  <a:srgbClr val="616161"/>
                </a:solidFill>
                <a:latin typeface="Segoe UI"/>
              </a:rPr>
              <a:t>Sample emails and meetings loaded; spot checks</a:t>
            </a:r>
          </a:p>
        </p:txBody>
      </p:sp>
      <p:sp>
        <p:nvSpPr>
          <p:cNvPr id="27" name="Oval 26">
            <a:extLst>
              <a:ext uri="{C183D7F6-B498-43B3-948B-1728B52AA6E4}">
                <ns13:decorative xmlns:ns13="http://schemas.microsoft.com/office/drawing/2017/decorative" val="1"/>
              </a:ext>
            </a:extLst>
          </p:cNvPr>
          <p:cNvSpPr/>
          <p:nvPr/>
        </p:nvSpPr>
        <p:spPr>
          <a:xfrm>
            <a:off x="6446520" y="555040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280" y="5440680"/>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Day after</a:t>
            </a:r>
          </a:p>
          <a:p>
            <a:pPr algn="l">
              <a:spcAft>
                <a:spcPts val="100"/>
              </a:spcAft>
            </a:pPr>
            <a:r>
              <a:rPr sz="1350" b="0" i="0">
                <a:solidFill>
                  <a:srgbClr val="616161"/>
                </a:solidFill>
                <a:latin typeface="Segoe UI"/>
              </a:rPr>
              <a:t>Pause schedules; survey; review usage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Planning for cost</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Cowork is usage-billed, so we plan and cap it together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13</a:t>
            </a:r>
          </a:p>
        </p:txBody>
      </p:sp>
      <p:sp>
        <p:nvSpPr>
          <p:cNvPr id="9" name="Rounded Rectangle 8">
            <a:extLst>
              <a:ext uri="{C183D7F6-B498-43B3-948B-1728B52AA6E4}">
                <ns2:decorative xmlns:ns2="http://schemas.microsoft.com/office/drawing/2017/decorative" val="1"/>
              </a:ext>
            </a:extLst>
          </p:cNvPr>
          <p:cNvSpPr/>
          <p:nvPr/>
        </p:nvSpPr>
        <p:spPr>
          <a:xfrm>
            <a:off x="548640" y="1828800"/>
            <a:ext cx="5486400" cy="329184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2996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93392"/>
            <a:ext cx="4983480" cy="365760"/>
          </a:xfrm>
          <a:prstGeom prst="rect">
            <a:avLst/>
          </a:prstGeom>
          <a:noFill/>
        </p:spPr>
        <p:txBody>
          <a:bodyPr wrap="square" anchor="t" lIns="0" rIns="0" tIns="0" bIns="0">
            <a:spAutoFit/>
          </a:bodyPr>
          <a:lstStyle/>
          <a:p>
            <a:pPr algn="l">
              <a:spcAft>
                <a:spcPts val="400"/>
              </a:spcAft>
            </a:pPr>
            <a:r>
              <a:rPr sz="1700" b="1" i="0">
                <a:solidFill>
                  <a:srgbClr val="107C10"/>
                </a:solidFill>
                <a:latin typeface="Segoe Sans Display Semibold"/>
              </a:rPr>
              <a:t>Before the session</a:t>
            </a:r>
          </a:p>
        </p:txBody>
      </p:sp>
      <p:sp>
        <p:nvSpPr>
          <p:cNvPr id="12" name="TextBox 11"/>
          <p:cNvSpPr txBox="1"/>
          <p:nvPr/>
        </p:nvSpPr>
        <p:spPr>
          <a:xfrm>
            <a:off x="777240" y="2395728"/>
            <a:ext cx="5074920" cy="258775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500" b="1" i="0">
                <a:solidFill>
                  <a:srgbClr val="242424"/>
                </a:solidFill>
                <a:latin typeface="Segoe UI"/>
              </a:rPr>
              <a:t>Estimate</a:t>
            </a:r>
            <a:r>
              <a:rPr sz="1500" b="0" i="0">
                <a:solidFill>
                  <a:srgbClr val="242424"/>
                </a:solidFill>
                <a:latin typeface="Segoe UI"/>
              </a:rPr>
              <a:t> with the Copilot Cowork customer cost estimator</a:t>
            </a:r>
          </a:p>
          <a:p>
            <a:pPr algn="l" marL="182880" indent="-182880">
              <a:lnSpc>
                <a:spcPct val="105000"/>
              </a:lnSpc>
              <a:spcAft>
                <a:spcPts val="500"/>
              </a:spcAft>
              <a:buFont typeface="Arial"/>
              <a:buChar char="•"/>
            </a:pPr>
            <a:r>
              <a:rPr sz="1500" b="1" i="0">
                <a:solidFill>
                  <a:srgbClr val="242424"/>
                </a:solidFill>
                <a:latin typeface="Segoe UI"/>
              </a:rPr>
              <a:t>Cap it:</a:t>
            </a:r>
            <a:r>
              <a:rPr sz="1500" b="0" i="0">
                <a:solidFill>
                  <a:srgbClr val="242424"/>
                </a:solidFill>
                <a:latin typeface="Segoe UI"/>
              </a:rPr>
              <a:t> a per-user credit limit and alerts on the workshop spending policy</a:t>
            </a:r>
          </a:p>
          <a:p>
            <a:pPr algn="l" marL="182880" indent="-182880">
              <a:lnSpc>
                <a:spcPct val="105000"/>
              </a:lnSpc>
              <a:spcAft>
                <a:spcPts val="500"/>
              </a:spcAft>
              <a:buFont typeface="Arial"/>
              <a:buChar char="•"/>
            </a:pPr>
            <a:r>
              <a:rPr sz="1500" b="1" i="0">
                <a:solidFill>
                  <a:srgbClr val="242424"/>
                </a:solidFill>
                <a:latin typeface="Segoe UI"/>
              </a:rPr>
              <a:t>Keep defaults</a:t>
            </a:r>
            <a:r>
              <a:rPr sz="1500" b="0" i="0">
                <a:solidFill>
                  <a:srgbClr val="242424"/>
                </a:solidFill>
                <a:latin typeface="Segoe UI"/>
              </a:rPr>
              <a:t> (“Let Cowork decide” model, default reasoning effort) unless an exercise needs more</a:t>
            </a:r>
          </a:p>
        </p:txBody>
      </p:sp>
      <p:sp>
        <p:nvSpPr>
          <p:cNvPr id="13" name="Rounded Rectangle 12">
            <a:extLst>
              <a:ext uri="{C183D7F6-B498-43B3-948B-1728B52AA6E4}">
                <ns4:decorative xmlns:ns4="http://schemas.microsoft.com/office/drawing/2017/decorative" val="1"/>
              </a:ext>
            </a:extLst>
          </p:cNvPr>
          <p:cNvSpPr/>
          <p:nvPr/>
        </p:nvSpPr>
        <p:spPr>
          <a:xfrm>
            <a:off x="6153912" y="1828800"/>
            <a:ext cx="5486400" cy="329184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6336792" y="2029968"/>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1993392"/>
            <a:ext cx="4983480" cy="365760"/>
          </a:xfrm>
          <a:prstGeom prst="rect">
            <a:avLst/>
          </a:prstGeom>
          <a:noFill/>
        </p:spPr>
        <p:txBody>
          <a:bodyPr wrap="square" anchor="t" lIns="0" rIns="0" tIns="0" bIns="0">
            <a:spAutoFit/>
          </a:bodyPr>
          <a:lstStyle/>
          <a:p>
            <a:pPr algn="l">
              <a:spcAft>
                <a:spcPts val="400"/>
              </a:spcAft>
            </a:pPr>
            <a:r>
              <a:rPr sz="1700" b="1" i="0">
                <a:solidFill>
                  <a:srgbClr val="C55A11"/>
                </a:solidFill>
                <a:latin typeface="Segoe Sans Display Semibold"/>
              </a:rPr>
              <a:t>During and after</a:t>
            </a:r>
          </a:p>
        </p:txBody>
      </p:sp>
      <p:sp>
        <p:nvSpPr>
          <p:cNvPr id="16" name="TextBox 15"/>
          <p:cNvSpPr txBox="1"/>
          <p:nvPr/>
        </p:nvSpPr>
        <p:spPr>
          <a:xfrm>
            <a:off x="6382512" y="2395728"/>
            <a:ext cx="5074920" cy="258775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500" b="0" i="0">
                <a:solidFill>
                  <a:srgbClr val="242424"/>
                </a:solidFill>
                <a:latin typeface="Segoe UI"/>
              </a:rPr>
              <a:t>Attendees check what a task cost with </a:t>
            </a:r>
            <a:r>
              <a:rPr sz="1500" b="1" i="0">
                <a:solidFill>
                  <a:srgbClr val="242424"/>
                </a:solidFill>
                <a:latin typeface="Segoe UI"/>
              </a:rPr>
              <a:t>/cost</a:t>
            </a:r>
            <a:r>
              <a:rPr sz="1500" b="0" i="0">
                <a:solidFill>
                  <a:srgbClr val="242424"/>
                </a:solidFill>
                <a:latin typeface="Segoe UI"/>
              </a:rPr>
              <a:t> (taught in Exercise 1)</a:t>
            </a:r>
          </a:p>
          <a:p>
            <a:pPr algn="l" marL="182880" indent="-182880">
              <a:lnSpc>
                <a:spcPct val="105000"/>
              </a:lnSpc>
              <a:spcAft>
                <a:spcPts val="500"/>
              </a:spcAft>
              <a:buFont typeface="Arial"/>
              <a:buChar char="•"/>
            </a:pPr>
            <a:r>
              <a:rPr sz="1500" b="1" i="0">
                <a:solidFill>
                  <a:srgbClr val="242424"/>
                </a:solidFill>
                <a:latin typeface="Segoe UI"/>
              </a:rPr>
              <a:t>Pause</a:t>
            </a:r>
            <a:r>
              <a:rPr sz="1500" b="0" i="0">
                <a:solidFill>
                  <a:srgbClr val="242424"/>
                </a:solidFill>
                <a:latin typeface="Segoe UI"/>
              </a:rPr>
              <a:t> the two scheduled automations the day after</a:t>
            </a:r>
          </a:p>
          <a:p>
            <a:pPr algn="l" marL="182880" indent="-182880">
              <a:lnSpc>
                <a:spcPct val="105000"/>
              </a:lnSpc>
              <a:spcAft>
                <a:spcPts val="500"/>
              </a:spcAft>
              <a:buFont typeface="Arial"/>
              <a:buChar char="•"/>
            </a:pPr>
            <a:r>
              <a:rPr sz="1500" b="1" i="0">
                <a:solidFill>
                  <a:srgbClr val="242424"/>
                </a:solidFill>
                <a:latin typeface="Segoe UI"/>
              </a:rPr>
              <a:t>Remove</a:t>
            </a:r>
            <a:r>
              <a:rPr sz="1500" b="0" i="0">
                <a:solidFill>
                  <a:srgbClr val="242424"/>
                </a:solidFill>
                <a:latin typeface="Segoe UI"/>
              </a:rPr>
              <a:t> the workshop group from the spending policy if accounts shouldn’t keep access</a:t>
            </a:r>
          </a:p>
          <a:p>
            <a:pPr algn="l" marL="182880" indent="-182880">
              <a:lnSpc>
                <a:spcPct val="105000"/>
              </a:lnSpc>
              <a:spcAft>
                <a:spcPts val="500"/>
              </a:spcAft>
              <a:buFont typeface="Arial"/>
              <a:buChar char="•"/>
            </a:pPr>
            <a:r>
              <a:rPr sz="1500" b="0" i="0">
                <a:solidFill>
                  <a:srgbClr val="242424"/>
                </a:solidFill>
                <a:latin typeface="Segoe UI"/>
              </a:rPr>
              <a:t>Review totals in the </a:t>
            </a:r>
            <a:r>
              <a:rPr sz="1500" b="1" i="0">
                <a:solidFill>
                  <a:srgbClr val="242424"/>
                </a:solidFill>
                <a:latin typeface="Segoe UI"/>
              </a:rPr>
              <a:t>Microsoft 365 admin center</a:t>
            </a:r>
          </a:p>
        </p:txBody>
      </p:sp>
      <p:sp>
        <p:nvSpPr>
          <p:cNvPr id="17" name="TextBox 16"/>
          <p:cNvSpPr txBox="1"/>
          <p:nvPr/>
        </p:nvSpPr>
        <p:spPr>
          <a:xfrm>
            <a:off x="548640" y="5349240"/>
            <a:ext cx="11064240" cy="365760"/>
          </a:xfrm>
          <a:prstGeom prst="rect">
            <a:avLst/>
          </a:prstGeom>
          <a:noFill/>
        </p:spPr>
        <p:txBody>
          <a:bodyPr wrap="square" anchor="t" lIns="0" rIns="0" tIns="0" bIns="0">
            <a:spAutoFit/>
          </a:bodyPr>
          <a:lstStyle/>
          <a:p>
            <a:pPr algn="l">
              <a:spcAft>
                <a:spcPts val="400"/>
              </a:spcAft>
            </a:pPr>
            <a:r>
              <a:rPr sz="1300" b="0" i="0">
                <a:solidFill>
                  <a:srgbClr val="616161"/>
                </a:solidFill>
                <a:latin typeface="Segoe UI"/>
              </a:rPr>
              <a:t>Estimator: </a:t>
            </a:r>
            <a:r>
              <a:rPr sz="1300" b="0" i="0">
                <a:solidFill>
                  <a:srgbClr val="0F6CBD"/>
                </a:solidFill>
                <a:latin typeface="Segoe UI"/>
                <a:hlinkClick r:id="rId3"/>
              </a:rPr>
              <a:t>aka.ms/CustomerCoworkEstimator</a:t>
            </a:r>
            <a:r>
              <a:rPr sz="1300" b="0" i="0">
                <a:solidFill>
                  <a:srgbClr val="616161"/>
                </a:solidFill>
                <a:latin typeface="Segoe UI"/>
              </a:rPr>
              <a:t>    ·    Credit usage and /cost: </a:t>
            </a:r>
            <a:r>
              <a:rPr sz="1300" b="0" i="0">
                <a:solidFill>
                  <a:srgbClr val="0F6CBD"/>
                </a:solidFill>
                <a:latin typeface="Segoe UI"/>
                <a:hlinkClick r:id="rId4"/>
              </a:rPr>
              <a:t>learn.microsoft.com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Your feedback: help us tailor it</a:t>
            </a:r>
          </a:p>
        </p:txBody>
      </p:sp>
      <p:sp>
        <p:nvSpPr>
          <p:cNvPr id="4" name="Rounded Rectangle 3">
            <a:extLst>
              <a:ext uri="{C183D7F6-B498-43B3-948B-1728B52AA6E4}">
                <ns1:decorative xmlns:ns1="http://schemas.microsoft.com/office/drawing/2017/decorative" val="1"/>
              </a:ext>
            </a:extLst>
          </p:cNvPr>
          <p:cNvSpPr/>
          <p:nvPr/>
        </p:nvSpPr>
        <p:spPr>
          <a:xfrm>
            <a:off x="548640" y="274320"/>
            <a:ext cx="897774"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97774"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Your input</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Questions for today’s discussion</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14</a:t>
            </a:r>
          </a:p>
        </p:txBody>
      </p:sp>
      <p:sp>
        <p:nvSpPr>
          <p:cNvPr id="9" name="Rounded Rectangle 8">
            <a:extLst>
              <a:ext uri="{C183D7F6-B498-43B3-948B-1728B52AA6E4}">
                <ns2:decorative xmlns:ns2="http://schemas.microsoft.com/office/drawing/2017/decorative" val="1"/>
              </a:ext>
            </a:extLst>
          </p:cNvPr>
          <p:cNvSpPr/>
          <p:nvPr/>
        </p:nvSpPr>
        <p:spPr>
          <a:xfrm>
            <a:off x="548640" y="1828800"/>
            <a:ext cx="5394960" cy="205740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2996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93392"/>
            <a:ext cx="4892040"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Sans Display Semibold"/>
              </a:rPr>
              <a:t>Audience &amp; goals</a:t>
            </a:r>
          </a:p>
        </p:txBody>
      </p:sp>
      <p:sp>
        <p:nvSpPr>
          <p:cNvPr id="12" name="TextBox 11"/>
          <p:cNvSpPr txBox="1"/>
          <p:nvPr/>
        </p:nvSpPr>
        <p:spPr>
          <a:xfrm>
            <a:off x="777240" y="2395728"/>
            <a:ext cx="4983480" cy="135331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Who will attend, and how familiar are they with Copilot?</a:t>
            </a:r>
          </a:p>
          <a:p>
            <a:pPr algn="l" marL="182880" indent="-182880">
              <a:lnSpc>
                <a:spcPct val="105000"/>
              </a:lnSpc>
              <a:spcAft>
                <a:spcPts val="500"/>
              </a:spcAft>
              <a:buFont typeface="Arial"/>
              <a:buChar char="•"/>
            </a:pPr>
            <a:r>
              <a:rPr sz="1300" b="0" i="0">
                <a:solidFill>
                  <a:srgbClr val="242424"/>
                </a:solidFill>
                <a:latin typeface="Segoe UI"/>
              </a:rPr>
              <a:t>What should they be able to do the week after?</a:t>
            </a:r>
          </a:p>
        </p:txBody>
      </p:sp>
      <p:sp>
        <p:nvSpPr>
          <p:cNvPr id="13" name="Rounded Rectangle 12">
            <a:extLst>
              <a:ext uri="{C183D7F6-B498-43B3-948B-1728B52AA6E4}">
                <ns4:decorative xmlns:ns4="http://schemas.microsoft.com/office/drawing/2017/decorative" val="1"/>
              </a:ext>
            </a:extLst>
          </p:cNvPr>
          <p:cNvSpPr/>
          <p:nvPr/>
        </p:nvSpPr>
        <p:spPr>
          <a:xfrm>
            <a:off x="6153912" y="1828800"/>
            <a:ext cx="5394960" cy="205740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6336792" y="202996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1993392"/>
            <a:ext cx="4892040"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Sans Display Semibold"/>
              </a:rPr>
              <a:t>Scenarios</a:t>
            </a:r>
          </a:p>
        </p:txBody>
      </p:sp>
      <p:sp>
        <p:nvSpPr>
          <p:cNvPr id="16" name="TextBox 15"/>
          <p:cNvSpPr txBox="1"/>
          <p:nvPr/>
        </p:nvSpPr>
        <p:spPr>
          <a:xfrm>
            <a:off x="6382512" y="2395728"/>
            <a:ext cx="4983480" cy="135331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Which exercises matter most? What would you drop or deepen?</a:t>
            </a:r>
          </a:p>
          <a:p>
            <a:pPr algn="l" marL="182880" indent="-182880">
              <a:lnSpc>
                <a:spcPct val="105000"/>
              </a:lnSpc>
              <a:spcAft>
                <a:spcPts val="500"/>
              </a:spcAft>
              <a:buFont typeface="Arial"/>
              <a:buChar char="•"/>
            </a:pPr>
            <a:r>
              <a:rPr sz="1300" b="0" i="0">
                <a:solidFill>
                  <a:srgbClr val="242424"/>
                </a:solidFill>
                <a:latin typeface="Segoe UI"/>
              </a:rPr>
              <a:t>Which HR tasks take the most manual effort today?</a:t>
            </a:r>
          </a:p>
        </p:txBody>
      </p:sp>
      <p:sp>
        <p:nvSpPr>
          <p:cNvPr id="17" name="Rounded Rectangle 16">
            <a:extLst>
              <a:ext uri="{C183D7F6-B498-43B3-948B-1728B52AA6E4}">
                <ns6:decorative xmlns:ns6="http://schemas.microsoft.com/office/drawing/2017/decorative" val="1"/>
              </a:ext>
            </a:extLst>
          </p:cNvPr>
          <p:cNvSpPr/>
          <p:nvPr/>
        </p:nvSpPr>
        <p:spPr>
          <a:xfrm>
            <a:off x="548640" y="4069080"/>
            <a:ext cx="5394960" cy="205740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731520" y="427024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233672"/>
            <a:ext cx="4892040" cy="365760"/>
          </a:xfrm>
          <a:prstGeom prst="rect">
            <a:avLst/>
          </a:prstGeom>
          <a:noFill/>
        </p:spPr>
        <p:txBody>
          <a:bodyPr wrap="square" anchor="t" lIns="0" rIns="0" tIns="0" bIns="0">
            <a:spAutoFit/>
          </a:bodyPr>
          <a:lstStyle/>
          <a:p>
            <a:pPr algn="l">
              <a:spcAft>
                <a:spcPts val="400"/>
              </a:spcAft>
            </a:pPr>
            <a:r>
              <a:rPr sz="1500" b="1" i="0">
                <a:solidFill>
                  <a:srgbClr val="107C10"/>
                </a:solidFill>
                <a:latin typeface="Segoe Sans Display Semibold"/>
              </a:rPr>
              <a:t>Data &amp; systems</a:t>
            </a:r>
          </a:p>
        </p:txBody>
      </p:sp>
      <p:sp>
        <p:nvSpPr>
          <p:cNvPr id="20" name="TextBox 19"/>
          <p:cNvSpPr txBox="1"/>
          <p:nvPr/>
        </p:nvSpPr>
        <p:spPr>
          <a:xfrm>
            <a:off x="777240" y="4636008"/>
            <a:ext cx="4983480" cy="135331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Which HR systems do you use (e.g., SAP SuccessFactors, Workday)?</a:t>
            </a:r>
          </a:p>
          <a:p>
            <a:pPr algn="l" marL="182880" indent="-182880">
              <a:lnSpc>
                <a:spcPct val="105000"/>
              </a:lnSpc>
              <a:spcAft>
                <a:spcPts val="500"/>
              </a:spcAft>
              <a:buFont typeface="Arial"/>
              <a:buChar char="•"/>
            </a:pPr>
            <a:r>
              <a:rPr sz="1300" b="0" i="0">
                <a:solidFill>
                  <a:srgbClr val="242424"/>
                </a:solidFill>
                <a:latin typeface="Segoe UI"/>
              </a:rPr>
              <a:t>Fictional data, or sanitized versions of your own policies?</a:t>
            </a:r>
          </a:p>
          <a:p>
            <a:pPr algn="l" marL="182880" indent="-182880">
              <a:lnSpc>
                <a:spcPct val="105000"/>
              </a:lnSpc>
              <a:spcAft>
                <a:spcPts val="500"/>
              </a:spcAft>
              <a:buFont typeface="Arial"/>
              <a:buChar char="•"/>
            </a:pPr>
            <a:r>
              <a:rPr sz="1300" b="0" i="0">
                <a:solidFill>
                  <a:srgbClr val="242424"/>
                </a:solidFill>
                <a:latin typeface="Segoe UI"/>
              </a:rPr>
              <a:t>Any data, regional, or works council constraints?</a:t>
            </a:r>
          </a:p>
        </p:txBody>
      </p:sp>
      <p:sp>
        <p:nvSpPr>
          <p:cNvPr id="21" name="Rounded Rectangle 20">
            <a:extLst>
              <a:ext uri="{C183D7F6-B498-43B3-948B-1728B52AA6E4}">
                <ns8:decorative xmlns:ns8="http://schemas.microsoft.com/office/drawing/2017/decorative" val="1"/>
              </a:ext>
            </a:extLst>
          </p:cNvPr>
          <p:cNvSpPr/>
          <p:nvPr/>
        </p:nvSpPr>
        <p:spPr>
          <a:xfrm>
            <a:off x="6153912" y="4069080"/>
            <a:ext cx="5394960" cy="205740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6336792" y="4270248"/>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1383" y="4233672"/>
            <a:ext cx="4892040" cy="365760"/>
          </a:xfrm>
          <a:prstGeom prst="rect">
            <a:avLst/>
          </a:prstGeom>
          <a:noFill/>
        </p:spPr>
        <p:txBody>
          <a:bodyPr wrap="square" anchor="t" lIns="0" rIns="0" tIns="0" bIns="0">
            <a:spAutoFit/>
          </a:bodyPr>
          <a:lstStyle/>
          <a:p>
            <a:pPr algn="l">
              <a:spcAft>
                <a:spcPts val="400"/>
              </a:spcAft>
            </a:pPr>
            <a:r>
              <a:rPr sz="1500" b="1" i="0">
                <a:solidFill>
                  <a:srgbClr val="C55A11"/>
                </a:solidFill>
                <a:latin typeface="Segoe Sans Display Semibold"/>
              </a:rPr>
              <a:t>Format &amp; logistics</a:t>
            </a:r>
          </a:p>
        </p:txBody>
      </p:sp>
      <p:sp>
        <p:nvSpPr>
          <p:cNvPr id="24" name="TextBox 23"/>
          <p:cNvSpPr txBox="1"/>
          <p:nvPr/>
        </p:nvSpPr>
        <p:spPr>
          <a:xfrm>
            <a:off x="6382512" y="4636008"/>
            <a:ext cx="4983480" cy="135331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One 4-hour block, or two 2-hour sessions? In person or remote?</a:t>
            </a:r>
          </a:p>
          <a:p>
            <a:pPr algn="l" marL="182880" indent="-182880">
              <a:lnSpc>
                <a:spcPct val="105000"/>
              </a:lnSpc>
              <a:spcAft>
                <a:spcPts val="500"/>
              </a:spcAft>
              <a:buFont typeface="Arial"/>
              <a:buChar char="•"/>
            </a:pPr>
            <a:r>
              <a:rPr sz="1300" b="0" i="0">
                <a:solidFill>
                  <a:srgbClr val="242424"/>
                </a:solidFill>
                <a:latin typeface="Segoe UI"/>
              </a:rPr>
              <a:t>Preferred dates, and who owns tenant readiness?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Ways we can tailor the workshop</a:t>
            </a:r>
          </a:p>
        </p:txBody>
      </p:sp>
      <p:sp>
        <p:nvSpPr>
          <p:cNvPr id="4" name="Rounded Rectangle 3">
            <a:extLst>
              <a:ext uri="{C183D7F6-B498-43B3-948B-1728B52AA6E4}">
                <ns1:decorative xmlns:ns1="http://schemas.microsoft.com/office/drawing/2017/decorative" val="1"/>
              </a:ext>
            </a:extLst>
          </p:cNvPr>
          <p:cNvSpPr/>
          <p:nvPr/>
        </p:nvSpPr>
        <p:spPr>
          <a:xfrm>
            <a:off x="548640" y="274320"/>
            <a:ext cx="897774"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97774"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Your input</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Pick what fits; we’ll confirm the trade-offs on time</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15</a:t>
            </a:r>
          </a:p>
        </p:txBody>
      </p:sp>
      <p:sp>
        <p:nvSpPr>
          <p:cNvPr id="9" name="Rounded Rectangle 8">
            <a:extLst>
              <a:ext uri="{C183D7F6-B498-43B3-948B-1728B52AA6E4}">
                <ns2:decorative xmlns:ns2="http://schemas.microsoft.com/office/drawing/2017/decorative" val="1"/>
              </a:ext>
            </a:extLst>
          </p:cNvPr>
          <p:cNvSpPr/>
          <p:nvPr/>
        </p:nvSpPr>
        <p:spPr>
          <a:xfrm>
            <a:off x="548640"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7568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39112"/>
            <a:ext cx="3035808"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Sans Display Semibold"/>
              </a:rPr>
              <a:t>Swap in your scenarios</a:t>
            </a:r>
          </a:p>
        </p:txBody>
      </p:sp>
      <p:sp>
        <p:nvSpPr>
          <p:cNvPr id="12" name="TextBox 11"/>
          <p:cNvSpPr txBox="1"/>
          <p:nvPr/>
        </p:nvSpPr>
        <p:spPr>
          <a:xfrm>
            <a:off x="777240"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Replace an exercise with one of your own HR workflows.</a:t>
            </a:r>
          </a:p>
        </p:txBody>
      </p:sp>
      <p:sp>
        <p:nvSpPr>
          <p:cNvPr id="13" name="Rounded Rectangle 12">
            <a:extLst>
              <a:ext uri="{C183D7F6-B498-43B3-948B-1728B52AA6E4}">
                <ns4:decorative xmlns:ns4="http://schemas.microsoft.com/office/drawing/2017/decorative" val="1"/>
              </a:ext>
            </a:extLst>
          </p:cNvPr>
          <p:cNvSpPr/>
          <p:nvPr/>
        </p:nvSpPr>
        <p:spPr>
          <a:xfrm>
            <a:off x="4325112"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4507992" y="207568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2039112"/>
            <a:ext cx="3035808"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Sans Display Semibold"/>
              </a:rPr>
              <a:t>Use your content</a:t>
            </a:r>
          </a:p>
        </p:txBody>
      </p:sp>
      <p:sp>
        <p:nvSpPr>
          <p:cNvPr id="16" name="TextBox 15"/>
          <p:cNvSpPr txBox="1"/>
          <p:nvPr/>
        </p:nvSpPr>
        <p:spPr>
          <a:xfrm>
            <a:off x="4553712"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Sanitized versions of your handbook or policies instead of the Zava samples.</a:t>
            </a:r>
          </a:p>
        </p:txBody>
      </p:sp>
      <p:sp>
        <p:nvSpPr>
          <p:cNvPr id="17" name="Rounded Rectangle 16">
            <a:extLst>
              <a:ext uri="{C183D7F6-B498-43B3-948B-1728B52AA6E4}">
                <ns6:decorative xmlns:ns6="http://schemas.microsoft.com/office/drawing/2017/decorative" val="1"/>
              </a:ext>
            </a:extLst>
          </p:cNvPr>
          <p:cNvSpPr/>
          <p:nvPr/>
        </p:nvSpPr>
        <p:spPr>
          <a:xfrm>
            <a:off x="8101583"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8284463" y="207568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2039112"/>
            <a:ext cx="3035808"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Sans Display Semibold"/>
              </a:rPr>
              <a:t>Spotlight your HR system</a:t>
            </a:r>
          </a:p>
        </p:txBody>
      </p:sp>
      <p:sp>
        <p:nvSpPr>
          <p:cNvPr id="20" name="TextBox 19"/>
          <p:cNvSpPr txBox="1"/>
          <p:nvPr/>
        </p:nvSpPr>
        <p:spPr>
          <a:xfrm>
            <a:off x="8330183"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How your HR system could connect, e.g., an agent or a plugin for SAP SuccessFactors.</a:t>
            </a:r>
          </a:p>
        </p:txBody>
      </p:sp>
      <p:sp>
        <p:nvSpPr>
          <p:cNvPr id="21" name="Rounded Rectangle 20">
            <a:extLst>
              <a:ext uri="{C183D7F6-B498-43B3-948B-1728B52AA6E4}">
                <ns8:decorative xmlns:ns8="http://schemas.microsoft.com/office/drawing/2017/decorative" val="1"/>
              </a:ext>
            </a:extLst>
          </p:cNvPr>
          <p:cNvSpPr/>
          <p:nvPr/>
        </p:nvSpPr>
        <p:spPr>
          <a:xfrm>
            <a:off x="548640"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731520" y="4178807"/>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142231"/>
            <a:ext cx="3035808" cy="365760"/>
          </a:xfrm>
          <a:prstGeom prst="rect">
            <a:avLst/>
          </a:prstGeom>
          <a:noFill/>
        </p:spPr>
        <p:txBody>
          <a:bodyPr wrap="square" anchor="t" lIns="0" rIns="0" tIns="0" bIns="0">
            <a:spAutoFit/>
          </a:bodyPr>
          <a:lstStyle/>
          <a:p>
            <a:pPr algn="l">
              <a:spcAft>
                <a:spcPts val="400"/>
              </a:spcAft>
            </a:pPr>
            <a:r>
              <a:rPr sz="1400" b="1" i="0">
                <a:solidFill>
                  <a:srgbClr val="C55A11"/>
                </a:solidFill>
                <a:latin typeface="Segoe Sans Display Semibold"/>
              </a:rPr>
              <a:t>Change the format</a:t>
            </a:r>
          </a:p>
        </p:txBody>
      </p:sp>
      <p:sp>
        <p:nvSpPr>
          <p:cNvPr id="24" name="TextBox 23"/>
          <p:cNvSpPr txBox="1"/>
          <p:nvPr/>
        </p:nvSpPr>
        <p:spPr>
          <a:xfrm>
            <a:off x="777240"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Two 2-hour sessions, or a 90-minute overview for HR leaders.</a:t>
            </a:r>
          </a:p>
        </p:txBody>
      </p:sp>
      <p:sp>
        <p:nvSpPr>
          <p:cNvPr id="25" name="Rounded Rectangle 24">
            <a:extLst>
              <a:ext uri="{C183D7F6-B498-43B3-948B-1728B52AA6E4}">
                <ns10:decorative xmlns:ns10="http://schemas.microsoft.com/office/drawing/2017/decorative" val="1"/>
              </a:ext>
            </a:extLst>
          </p:cNvPr>
          <p:cNvSpPr/>
          <p:nvPr/>
        </p:nvSpPr>
        <p:spPr>
          <a:xfrm>
            <a:off x="4325112"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extLst>
              <a:ext uri="{C183D7F6-B498-43B3-948B-1728B52AA6E4}">
                <ns11:decorative xmlns:ns11="http://schemas.microsoft.com/office/drawing/2017/decorative" val="1"/>
              </a:ext>
            </a:extLst>
          </p:cNvPr>
          <p:cNvSpPr/>
          <p:nvPr/>
        </p:nvSpPr>
        <p:spPr>
          <a:xfrm>
            <a:off x="4507992" y="4178807"/>
            <a:ext cx="54864" cy="3474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2583" y="4142231"/>
            <a:ext cx="3035808" cy="365760"/>
          </a:xfrm>
          <a:prstGeom prst="rect">
            <a:avLst/>
          </a:prstGeom>
          <a:noFill/>
        </p:spPr>
        <p:txBody>
          <a:bodyPr wrap="square" anchor="t" lIns="0" rIns="0" tIns="0" bIns="0">
            <a:spAutoFit/>
          </a:bodyPr>
          <a:lstStyle/>
          <a:p>
            <a:pPr algn="l">
              <a:spcAft>
                <a:spcPts val="400"/>
              </a:spcAft>
            </a:pPr>
            <a:r>
              <a:rPr sz="1400" b="1" i="0">
                <a:solidFill>
                  <a:srgbClr val="0E7C86"/>
                </a:solidFill>
                <a:latin typeface="Segoe Sans Display Semibold"/>
              </a:rPr>
              <a:t>Go deeper on agents</a:t>
            </a:r>
          </a:p>
        </p:txBody>
      </p:sp>
      <p:sp>
        <p:nvSpPr>
          <p:cNvPr id="28" name="TextBox 27"/>
          <p:cNvSpPr txBox="1"/>
          <p:nvPr/>
        </p:nvSpPr>
        <p:spPr>
          <a:xfrm>
            <a:off x="4553712"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Extend Exercise 8, or plan a follow-up on Copilot Studio.</a:t>
            </a:r>
          </a:p>
        </p:txBody>
      </p:sp>
      <p:sp>
        <p:nvSpPr>
          <p:cNvPr id="29" name="Rounded Rectangle 28">
            <a:extLst>
              <a:ext uri="{C183D7F6-B498-43B3-948B-1728B52AA6E4}">
                <ns12:decorative xmlns:ns12="http://schemas.microsoft.com/office/drawing/2017/decorative" val="1"/>
              </a:ext>
            </a:extLst>
          </p:cNvPr>
          <p:cNvSpPr/>
          <p:nvPr/>
        </p:nvSpPr>
        <p:spPr>
          <a:xfrm>
            <a:off x="8101583"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extLst>
              <a:ext uri="{C183D7F6-B498-43B3-948B-1728B52AA6E4}">
                <ns13:decorative xmlns:ns13="http://schemas.microsoft.com/office/drawing/2017/decorative" val="1"/>
              </a:ext>
            </a:extLst>
          </p:cNvPr>
          <p:cNvSpPr/>
          <p:nvPr/>
        </p:nvSpPr>
        <p:spPr>
          <a:xfrm>
            <a:off x="8284463" y="4178807"/>
            <a:ext cx="54864" cy="3474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49056" y="4142231"/>
            <a:ext cx="3035808" cy="365760"/>
          </a:xfrm>
          <a:prstGeom prst="rect">
            <a:avLst/>
          </a:prstGeom>
          <a:noFill/>
        </p:spPr>
        <p:txBody>
          <a:bodyPr wrap="square" anchor="t" lIns="0" rIns="0" tIns="0" bIns="0">
            <a:spAutoFit/>
          </a:bodyPr>
          <a:lstStyle/>
          <a:p>
            <a:pPr algn="l">
              <a:spcAft>
                <a:spcPts val="400"/>
              </a:spcAft>
            </a:pPr>
            <a:r>
              <a:rPr sz="1400" b="1" i="0">
                <a:solidFill>
                  <a:srgbClr val="C0504D"/>
                </a:solidFill>
                <a:latin typeface="Segoe Sans Display Semibold"/>
              </a:rPr>
              <a:t>Follow-up support</a:t>
            </a:r>
          </a:p>
        </p:txBody>
      </p:sp>
      <p:sp>
        <p:nvSpPr>
          <p:cNvPr id="32" name="TextBox 31"/>
          <p:cNvSpPr txBox="1"/>
          <p:nvPr/>
        </p:nvSpPr>
        <p:spPr>
          <a:xfrm>
            <a:off x="8330183"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Office hours and a 30-day adoption check-in.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Feedback capture</a:t>
            </a:r>
          </a:p>
        </p:txBody>
      </p:sp>
      <p:sp>
        <p:nvSpPr>
          <p:cNvPr id="4" name="Rounded Rectangle 3">
            <a:extLst>
              <a:ext uri="{C183D7F6-B498-43B3-948B-1728B52AA6E4}">
                <ns1:decorative xmlns:ns1="http://schemas.microsoft.com/office/drawing/2017/decorative" val="1"/>
              </a:ext>
            </a:extLst>
          </p:cNvPr>
          <p:cNvSpPr/>
          <p:nvPr/>
        </p:nvSpPr>
        <p:spPr>
          <a:xfrm>
            <a:off x="548640" y="274320"/>
            <a:ext cx="897774"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97774"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Your input</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Filled in together during the meeting</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16</a:t>
            </a:r>
          </a:p>
        </p:txBody>
      </p:sp>
      <p:graphicFrame>
        <p:nvGraphicFramePr>
          <p:cNvPr id="9" name="Feedback capture table"/>
          <p:cNvGraphicFramePr>
            <a:graphicFrameLocks noGrp="1"/>
          </p:cNvGraphicFramePr>
          <p:nvPr/>
        </p:nvGraphicFramePr>
        <p:xfrm>
          <a:off x="548640" y="1828800"/>
          <a:ext cx="11091672" cy="4389120"/>
        </p:xfrm>
        <a:graphic>
          <a:graphicData uri="http://schemas.openxmlformats.org/drawingml/2006/table">
            <a:tbl>
              <a:tblPr firstRow="1" bandRow="1">
                <a:tableStyleId>{5C22544A-7EE6-4342-B048-85BDC9FD1C3A}</a:tableStyleId>
              </a:tblPr>
              <a:tblGrid>
                <a:gridCol w="2743200"/>
                <a:gridCol w="6976872"/>
                <a:gridCol w="1371600"/>
              </a:tblGrid>
              <a:tr h="548640">
                <a:tc>
                  <a:txBody>
                    <a:bodyPr/>
                    <a:lstStyle/>
                    <a:p>
                      <a:r>
                        <a:rPr sz="1300" b="1">
                          <a:solidFill>
                            <a:srgbClr val="242424"/>
                          </a:solidFill>
                          <a:latin typeface="Segoe UI"/>
                        </a:rPr>
                        <a:t>Topic</a:t>
                      </a:r>
                    </a:p>
                  </a:txBody>
                  <a:tcPr anchor="ctr">
                    <a:solidFill>
                      <a:srgbClr val="F3E5FD"/>
                    </a:solidFill>
                  </a:tcPr>
                </a:tc>
                <a:tc>
                  <a:txBody>
                    <a:bodyPr/>
                    <a:lstStyle/>
                    <a:p>
                      <a:r>
                        <a:rPr sz="1300" b="1">
                          <a:solidFill>
                            <a:srgbClr val="242424"/>
                          </a:solidFill>
                          <a:latin typeface="Segoe UI"/>
                        </a:rPr>
                        <a:t>What we heard</a:t>
                      </a:r>
                    </a:p>
                  </a:txBody>
                  <a:tcPr anchor="ctr">
                    <a:solidFill>
                      <a:srgbClr val="F3E5FD"/>
                    </a:solidFill>
                  </a:tcPr>
                </a:tc>
                <a:tc>
                  <a:txBody>
                    <a:bodyPr/>
                    <a:lstStyle/>
                    <a:p>
                      <a:r>
                        <a:rPr sz="1300" b="1">
                          <a:solidFill>
                            <a:srgbClr val="242424"/>
                          </a:solidFill>
                          <a:latin typeface="Segoe UI"/>
                        </a:rPr>
                        <a:t>Priority</a:t>
                      </a:r>
                    </a:p>
                  </a:txBody>
                  <a:tcPr anchor="ctr">
                    <a:solidFill>
                      <a:srgbClr val="F3E5FD"/>
                    </a:solidFill>
                  </a:tcPr>
                </a:tc>
              </a:tr>
              <a:tr h="640080">
                <a:tc>
                  <a:txBody>
                    <a:bodyPr/>
                    <a:lstStyle/>
                    <a:p>
                      <a:r>
                        <a:rPr sz="1250" b="1">
                          <a:solidFill>
                            <a:srgbClr val="242424"/>
                          </a:solidFill>
                          <a:latin typeface="Segoe UI"/>
                        </a:rPr>
                        <a:t>Audience &amp; goals</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Exercises to keep / change</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Data &amp; HR systems</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Format &amp; logistics</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Tenant readiness &amp; owner</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Other</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Next steps</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From today’s feedback to a workshop that fits your team</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17</a:t>
            </a:r>
          </a:p>
        </p:txBody>
      </p:sp>
      <p:sp>
        <p:nvSpPr>
          <p:cNvPr id="9" name="Rectangle 8">
            <a:extLst>
              <a:ext uri="{C183D7F6-B498-43B3-948B-1728B52AA6E4}">
                <ns2:decorative xmlns:ns2="http://schemas.microsoft.com/office/drawing/2017/decorative" val="1"/>
              </a:ext>
            </a:extLst>
          </p:cNvPr>
          <p:cNvSpPr/>
          <p:nvPr/>
        </p:nvSpPr>
        <p:spPr>
          <a:xfrm>
            <a:off x="548640" y="2697480"/>
            <a:ext cx="1691640" cy="10972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1152144" y="2432304"/>
            <a:ext cx="493776" cy="493776"/>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1</a:t>
            </a:r>
          </a:p>
        </p:txBody>
      </p:sp>
      <p:sp>
        <p:nvSpPr>
          <p:cNvPr id="12" name="TextBox 11"/>
          <p:cNvSpPr txBox="1"/>
          <p:nvPr/>
        </p:nvSpPr>
        <p:spPr>
          <a:xfrm>
            <a:off x="548640" y="3154680"/>
            <a:ext cx="1691640" cy="365760"/>
          </a:xfrm>
          <a:prstGeom prst="rect">
            <a:avLst/>
          </a:prstGeom>
          <a:noFill/>
        </p:spPr>
        <p:txBody>
          <a:bodyPr wrap="square" anchor="t" lIns="0" rIns="0" tIns="0" bIns="0">
            <a:spAutoFit/>
          </a:bodyPr>
          <a:lstStyle/>
          <a:p>
            <a:pPr algn="ctr">
              <a:spcAft>
                <a:spcPts val="400"/>
              </a:spcAft>
            </a:pPr>
            <a:r>
              <a:rPr sz="1600" b="1" i="0">
                <a:solidFill>
                  <a:srgbClr val="0F6CBD"/>
                </a:solidFill>
                <a:latin typeface="Segoe Sans Display Semibold"/>
              </a:rPr>
              <a:t>Today</a:t>
            </a:r>
          </a:p>
        </p:txBody>
      </p:sp>
      <p:sp>
        <p:nvSpPr>
          <p:cNvPr id="13" name="TextBox 12"/>
          <p:cNvSpPr txBox="1"/>
          <p:nvPr/>
        </p:nvSpPr>
        <p:spPr>
          <a:xfrm>
            <a:off x="594360"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Your feedback on scenarios, data, and format</a:t>
            </a:r>
          </a:p>
        </p:txBody>
      </p:sp>
      <p:sp>
        <p:nvSpPr>
          <p:cNvPr id="14" name="Rectangle 13">
            <a:extLst>
              <a:ext uri="{C183D7F6-B498-43B3-948B-1728B52AA6E4}">
                <ns4:decorative xmlns:ns4="http://schemas.microsoft.com/office/drawing/2017/decorative" val="1"/>
              </a:ext>
            </a:extLst>
          </p:cNvPr>
          <p:cNvSpPr/>
          <p:nvPr/>
        </p:nvSpPr>
        <p:spPr>
          <a:xfrm>
            <a:off x="2423160" y="2697480"/>
            <a:ext cx="1691640" cy="10972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a:extLst>
              <a:ext uri="{C183D7F6-B498-43B3-948B-1728B52AA6E4}">
                <ns5:decorative xmlns:ns5="http://schemas.microsoft.com/office/drawing/2017/decorative" val="1"/>
              </a:ext>
            </a:extLst>
          </p:cNvPr>
          <p:cNvSpPr/>
          <p:nvPr/>
        </p:nvSpPr>
        <p:spPr>
          <a:xfrm>
            <a:off x="3026664" y="2432304"/>
            <a:ext cx="493776" cy="493776"/>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26664"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2</a:t>
            </a:r>
          </a:p>
        </p:txBody>
      </p:sp>
      <p:sp>
        <p:nvSpPr>
          <p:cNvPr id="17" name="TextBox 16"/>
          <p:cNvSpPr txBox="1"/>
          <p:nvPr/>
        </p:nvSpPr>
        <p:spPr>
          <a:xfrm>
            <a:off x="2423160" y="3154680"/>
            <a:ext cx="1691640" cy="365760"/>
          </a:xfrm>
          <a:prstGeom prst="rect">
            <a:avLst/>
          </a:prstGeom>
          <a:noFill/>
        </p:spPr>
        <p:txBody>
          <a:bodyPr wrap="square" anchor="t" lIns="0" rIns="0" tIns="0" bIns="0">
            <a:spAutoFit/>
          </a:bodyPr>
          <a:lstStyle/>
          <a:p>
            <a:pPr algn="ctr">
              <a:spcAft>
                <a:spcPts val="400"/>
              </a:spcAft>
            </a:pPr>
            <a:r>
              <a:rPr sz="1600" b="1" i="0">
                <a:solidFill>
                  <a:srgbClr val="8064A2"/>
                </a:solidFill>
                <a:latin typeface="Segoe Sans Display Semibold"/>
              </a:rPr>
              <a:t>Within 1 week</a:t>
            </a:r>
          </a:p>
        </p:txBody>
      </p:sp>
      <p:sp>
        <p:nvSpPr>
          <p:cNvPr id="18" name="TextBox 17"/>
          <p:cNvSpPr txBox="1"/>
          <p:nvPr/>
        </p:nvSpPr>
        <p:spPr>
          <a:xfrm>
            <a:off x="2468879"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We share a tailored agenda and exercise list</a:t>
            </a:r>
          </a:p>
        </p:txBody>
      </p:sp>
      <p:sp>
        <p:nvSpPr>
          <p:cNvPr id="19" name="Rectangle 18">
            <a:extLst>
              <a:ext uri="{C183D7F6-B498-43B3-948B-1728B52AA6E4}">
                <ns6:decorative xmlns:ns6="http://schemas.microsoft.com/office/drawing/2017/decorative" val="1"/>
              </a:ext>
            </a:extLst>
          </p:cNvPr>
          <p:cNvSpPr/>
          <p:nvPr/>
        </p:nvSpPr>
        <p:spPr>
          <a:xfrm>
            <a:off x="4297679" y="2697480"/>
            <a:ext cx="1691640" cy="10972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a:extLst>
              <a:ext uri="{C183D7F6-B498-43B3-948B-1728B52AA6E4}">
                <ns7:decorative xmlns:ns7="http://schemas.microsoft.com/office/drawing/2017/decorative" val="1"/>
              </a:ext>
            </a:extLst>
          </p:cNvPr>
          <p:cNvSpPr/>
          <p:nvPr/>
        </p:nvSpPr>
        <p:spPr>
          <a:xfrm>
            <a:off x="4901183" y="2432304"/>
            <a:ext cx="493776" cy="493776"/>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01183"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3</a:t>
            </a:r>
          </a:p>
        </p:txBody>
      </p:sp>
      <p:sp>
        <p:nvSpPr>
          <p:cNvPr id="22" name="TextBox 21"/>
          <p:cNvSpPr txBox="1"/>
          <p:nvPr/>
        </p:nvSpPr>
        <p:spPr>
          <a:xfrm>
            <a:off x="4297679" y="3154680"/>
            <a:ext cx="1691640" cy="365760"/>
          </a:xfrm>
          <a:prstGeom prst="rect">
            <a:avLst/>
          </a:prstGeom>
          <a:noFill/>
        </p:spPr>
        <p:txBody>
          <a:bodyPr wrap="square" anchor="t" lIns="0" rIns="0" tIns="0" bIns="0">
            <a:spAutoFit/>
          </a:bodyPr>
          <a:lstStyle/>
          <a:p>
            <a:pPr algn="ctr">
              <a:spcAft>
                <a:spcPts val="400"/>
              </a:spcAft>
            </a:pPr>
            <a:r>
              <a:rPr sz="1600" b="1" i="0">
                <a:solidFill>
                  <a:srgbClr val="107C10"/>
                </a:solidFill>
                <a:latin typeface="Segoe Sans Display Semibold"/>
              </a:rPr>
              <a:t>T − 3 weeks</a:t>
            </a:r>
          </a:p>
        </p:txBody>
      </p:sp>
      <p:sp>
        <p:nvSpPr>
          <p:cNvPr id="23" name="TextBox 22"/>
          <p:cNvSpPr txBox="1"/>
          <p:nvPr/>
        </p:nvSpPr>
        <p:spPr>
          <a:xfrm>
            <a:off x="4343399"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Tenant readiness starts with your admin</a:t>
            </a:r>
          </a:p>
        </p:txBody>
      </p:sp>
      <p:sp>
        <p:nvSpPr>
          <p:cNvPr id="24" name="Rectangle 23">
            <a:extLst>
              <a:ext uri="{C183D7F6-B498-43B3-948B-1728B52AA6E4}">
                <ns8:decorative xmlns:ns8="http://schemas.microsoft.com/office/drawing/2017/decorative" val="1"/>
              </a:ext>
            </a:extLst>
          </p:cNvPr>
          <p:cNvSpPr/>
          <p:nvPr/>
        </p:nvSpPr>
        <p:spPr>
          <a:xfrm>
            <a:off x="6172199" y="2697480"/>
            <a:ext cx="1691640" cy="10972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a:extLst>
              <a:ext uri="{C183D7F6-B498-43B3-948B-1728B52AA6E4}">
                <ns9:decorative xmlns:ns9="http://schemas.microsoft.com/office/drawing/2017/decorative" val="1"/>
              </a:ext>
            </a:extLst>
          </p:cNvPr>
          <p:cNvSpPr/>
          <p:nvPr/>
        </p:nvSpPr>
        <p:spPr>
          <a:xfrm>
            <a:off x="6775703" y="2432304"/>
            <a:ext cx="493776" cy="493776"/>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703"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4</a:t>
            </a:r>
          </a:p>
        </p:txBody>
      </p:sp>
      <p:sp>
        <p:nvSpPr>
          <p:cNvPr id="27" name="TextBox 26"/>
          <p:cNvSpPr txBox="1"/>
          <p:nvPr/>
        </p:nvSpPr>
        <p:spPr>
          <a:xfrm>
            <a:off x="6172199" y="3154680"/>
            <a:ext cx="1691640" cy="365760"/>
          </a:xfrm>
          <a:prstGeom prst="rect">
            <a:avLst/>
          </a:prstGeom>
          <a:noFill/>
        </p:spPr>
        <p:txBody>
          <a:bodyPr wrap="square" anchor="t" lIns="0" rIns="0" tIns="0" bIns="0">
            <a:spAutoFit/>
          </a:bodyPr>
          <a:lstStyle/>
          <a:p>
            <a:pPr algn="ctr">
              <a:spcAft>
                <a:spcPts val="400"/>
              </a:spcAft>
            </a:pPr>
            <a:r>
              <a:rPr sz="1600" b="1" i="0">
                <a:solidFill>
                  <a:srgbClr val="C55A11"/>
                </a:solidFill>
                <a:latin typeface="Segoe Sans Display Semibold"/>
              </a:rPr>
              <a:t>T − 1 week</a:t>
            </a:r>
          </a:p>
        </p:txBody>
      </p:sp>
      <p:sp>
        <p:nvSpPr>
          <p:cNvPr id="28" name="TextBox 27"/>
          <p:cNvSpPr txBox="1"/>
          <p:nvPr/>
        </p:nvSpPr>
        <p:spPr>
          <a:xfrm>
            <a:off x="6217919"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Full dry run in your tenant</a:t>
            </a:r>
          </a:p>
        </p:txBody>
      </p:sp>
      <p:sp>
        <p:nvSpPr>
          <p:cNvPr id="29" name="Rectangle 28">
            <a:extLst>
              <a:ext uri="{C183D7F6-B498-43B3-948B-1728B52AA6E4}">
                <ns10:decorative xmlns:ns10="http://schemas.microsoft.com/office/drawing/2017/decorative" val="1"/>
              </a:ext>
            </a:extLst>
          </p:cNvPr>
          <p:cNvSpPr/>
          <p:nvPr/>
        </p:nvSpPr>
        <p:spPr>
          <a:xfrm>
            <a:off x="8046719" y="2697480"/>
            <a:ext cx="1691640" cy="10972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a:extLst>
              <a:ext uri="{C183D7F6-B498-43B3-948B-1728B52AA6E4}">
                <ns11:decorative xmlns:ns11="http://schemas.microsoft.com/office/drawing/2017/decorative" val="1"/>
              </a:ext>
            </a:extLst>
          </p:cNvPr>
          <p:cNvSpPr/>
          <p:nvPr/>
        </p:nvSpPr>
        <p:spPr>
          <a:xfrm>
            <a:off x="8650224" y="2432304"/>
            <a:ext cx="493776" cy="49377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50224"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5</a:t>
            </a:r>
          </a:p>
        </p:txBody>
      </p:sp>
      <p:sp>
        <p:nvSpPr>
          <p:cNvPr id="32" name="TextBox 31"/>
          <p:cNvSpPr txBox="1"/>
          <p:nvPr/>
        </p:nvSpPr>
        <p:spPr>
          <a:xfrm>
            <a:off x="8046719" y="3154680"/>
            <a:ext cx="1691640" cy="365760"/>
          </a:xfrm>
          <a:prstGeom prst="rect">
            <a:avLst/>
          </a:prstGeom>
          <a:noFill/>
        </p:spPr>
        <p:txBody>
          <a:bodyPr wrap="square" anchor="t" lIns="0" rIns="0" tIns="0" bIns="0">
            <a:spAutoFit/>
          </a:bodyPr>
          <a:lstStyle/>
          <a:p>
            <a:pPr algn="ctr">
              <a:spcAft>
                <a:spcPts val="400"/>
              </a:spcAft>
            </a:pPr>
            <a:r>
              <a:rPr sz="1600" b="1" i="0">
                <a:solidFill>
                  <a:srgbClr val="0E7C86"/>
                </a:solidFill>
                <a:latin typeface="Segoe Sans Display Semibold"/>
              </a:rPr>
              <a:t>Workshop day</a:t>
            </a:r>
          </a:p>
        </p:txBody>
      </p:sp>
      <p:sp>
        <p:nvSpPr>
          <p:cNvPr id="33" name="TextBox 32"/>
          <p:cNvSpPr txBox="1"/>
          <p:nvPr/>
        </p:nvSpPr>
        <p:spPr>
          <a:xfrm>
            <a:off x="8092440"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4 hours, hands-on</a:t>
            </a:r>
          </a:p>
        </p:txBody>
      </p:sp>
      <p:sp>
        <p:nvSpPr>
          <p:cNvPr id="34" name="Rectangle 33">
            <a:extLst>
              <a:ext uri="{C183D7F6-B498-43B3-948B-1728B52AA6E4}">
                <ns12:decorative xmlns:ns12="http://schemas.microsoft.com/office/drawing/2017/decorative" val="1"/>
              </a:ext>
            </a:extLst>
          </p:cNvPr>
          <p:cNvSpPr/>
          <p:nvPr/>
        </p:nvSpPr>
        <p:spPr>
          <a:xfrm>
            <a:off x="9921240" y="2697480"/>
            <a:ext cx="1691640" cy="10972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a:extLst>
              <a:ext uri="{C183D7F6-B498-43B3-948B-1728B52AA6E4}">
                <ns13:decorative xmlns:ns13="http://schemas.microsoft.com/office/drawing/2017/decorative" val="1"/>
              </a:ext>
            </a:extLst>
          </p:cNvPr>
          <p:cNvSpPr/>
          <p:nvPr/>
        </p:nvSpPr>
        <p:spPr>
          <a:xfrm>
            <a:off x="10524744" y="2432304"/>
            <a:ext cx="493776" cy="493776"/>
          </a:xfrm>
          <a:prstGeom prst="ellipse">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24744"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6</a:t>
            </a:r>
          </a:p>
        </p:txBody>
      </p:sp>
      <p:sp>
        <p:nvSpPr>
          <p:cNvPr id="37" name="TextBox 36"/>
          <p:cNvSpPr txBox="1"/>
          <p:nvPr/>
        </p:nvSpPr>
        <p:spPr>
          <a:xfrm>
            <a:off x="9921240" y="3154680"/>
            <a:ext cx="1691640" cy="365760"/>
          </a:xfrm>
          <a:prstGeom prst="rect">
            <a:avLst/>
          </a:prstGeom>
          <a:noFill/>
        </p:spPr>
        <p:txBody>
          <a:bodyPr wrap="square" anchor="t" lIns="0" rIns="0" tIns="0" bIns="0">
            <a:spAutoFit/>
          </a:bodyPr>
          <a:lstStyle/>
          <a:p>
            <a:pPr algn="ctr">
              <a:spcAft>
                <a:spcPts val="400"/>
              </a:spcAft>
            </a:pPr>
            <a:r>
              <a:rPr sz="1600" b="1" i="0">
                <a:solidFill>
                  <a:srgbClr val="C0504D"/>
                </a:solidFill>
                <a:latin typeface="Segoe Sans Display Semibold"/>
              </a:rPr>
              <a:t>+ 30 days</a:t>
            </a:r>
          </a:p>
        </p:txBody>
      </p:sp>
      <p:sp>
        <p:nvSpPr>
          <p:cNvPr id="38" name="TextBox 37"/>
          <p:cNvSpPr txBox="1"/>
          <p:nvPr/>
        </p:nvSpPr>
        <p:spPr>
          <a:xfrm>
            <a:off x="9966960"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Adoption check-in</a:t>
            </a:r>
          </a:p>
        </p:txBody>
      </p:sp>
      <p:sp>
        <p:nvSpPr>
          <p:cNvPr id="39" name="Rounded Rectangle 38">
            <a:extLst>
              <a:ext uri="{C183D7F6-B498-43B3-948B-1728B52AA6E4}">
                <ns14:decorative xmlns:ns14="http://schemas.microsoft.com/office/drawing/2017/decorative" val="1"/>
              </a:ext>
            </a:extLst>
          </p:cNvPr>
          <p:cNvSpPr/>
          <p:nvPr/>
        </p:nvSpPr>
        <p:spPr>
          <a:xfrm>
            <a:off x="548640" y="5166360"/>
            <a:ext cx="11091672" cy="822960"/>
          </a:xfrm>
          <a:prstGeom prst="roundRect">
            <a:avLst>
              <a:gd name="adj" fmla="val 1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166360"/>
            <a:ext cx="10543032" cy="822960"/>
          </a:xfrm>
          <a:prstGeom prst="rect">
            <a:avLst/>
          </a:prstGeom>
          <a:noFill/>
        </p:spPr>
        <p:txBody>
          <a:bodyPr wrap="square" anchor="ctr" lIns="0" rIns="0" tIns="0" bIns="0">
            <a:spAutoFit/>
          </a:bodyPr>
          <a:lstStyle/>
          <a:p>
            <a:pPr algn="l">
              <a:spcAft>
                <a:spcPts val="400"/>
              </a:spcAft>
            </a:pPr>
            <a:r>
              <a:rPr sz="1700" b="1" i="0">
                <a:solidFill>
                  <a:srgbClr val="FFFFFF"/>
                </a:solidFill>
                <a:latin typeface="Segoe Sans Display Semibold"/>
              </a:rPr>
              <a:t>Thank you.</a:t>
            </a:r>
            <a:r>
              <a:rPr sz="1700" b="0" i="0">
                <a:solidFill>
                  <a:srgbClr val="FFFFFF"/>
                </a:solidFill>
                <a:latin typeface="Segoe Sans Display"/>
              </a:rPr>
              <a:t> Questions or more feedback? Contact: [Name] · [Email]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Things Done with Copilot Cowork for HR Tasks — Customer preview</dc:title>
  <dc:subject>Training preview for customer feedback</dc:subject>
  <dc:creator>Copilot Cowork HR workshop kit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