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61DECC52-79FC-434A-8EEF-3EC1F4FD595D}">
          <p14:sldIdLst>
            <p14:sldId id="256"/>
            <p14:sldId id="257"/>
            <p14:sldId id="258"/>
            <p14:sldId id="259"/>
            <p14:sldId id="260"/>
            <p14:sldId id="261"/>
            <p14:sldId id="262"/>
            <p14:sldId id="263"/>
            <p14:sldId id="264"/>
            <p14:sldId id="265"/>
            <p14:sldId id="266"/>
            <p14:sldId id="267"/>
            <p14:sldId id="268"/>
            <p14:sldId id="269"/>
            <p14:sldId id="270"/>
          </p14:sldIdLst>
        </p14:section>
        <p14:section name="Ex 1 · Executive Command Center" id="{BFDBCF7A-4759-4548-AD93-3BA37BCB1BBD}">
          <p14:sldIdLst>
            <p14:sldId id="271"/>
            <p14:sldId id="272"/>
            <p14:sldId id="273"/>
            <p14:sldId id="274"/>
          </p14:sldIdLst>
        </p14:section>
        <p14:section name="Ex 2 · Deep Research" id="{3DB55644-D616-4344-B0F5-A0B6204E684D}">
          <p14:sldIdLst>
            <p14:sldId id="275"/>
            <p14:sldId id="276"/>
            <p14:sldId id="277"/>
            <p14:sldId id="278"/>
          </p14:sldIdLst>
        </p14:section>
        <p14:section name="Ex 3 · Navigate websites" id="{78A5909D-E9DC-426C-9C8E-7D30EFDAEECF}">
          <p14:sldIdLst>
            <p14:sldId id="279"/>
            <p14:sldId id="280"/>
            <p14:sldId id="281"/>
          </p14:sldIdLst>
        </p14:section>
        <p14:section name="Ex 4 · Custom skill" id="{536AC277-B6C4-4003-A0B2-6E80901B2FF0}">
          <p14:sldIdLst>
            <p14:sldId id="282"/>
            <p14:sldId id="283"/>
            <p14:sldId id="284"/>
          </p14:sldIdLst>
        </p14:section>
        <p14:section name="Ex 5 · Recruiting + reporting" id="{815AEBCE-139F-44C9-9A91-7FE1479955D5}">
          <p14:sldIdLst>
            <p14:sldId id="285"/>
            <p14:sldId id="286"/>
            <p14:sldId id="287"/>
            <p14:sldId id="288"/>
          </p14:sldIdLst>
        </p14:section>
        <p14:section name="Ex 6 · Onboarding pack" id="{2DEE1716-DCA5-4B39-A6DF-889500FC25D0}">
          <p14:sldIdLst>
            <p14:sldId id="289"/>
            <p14:sldId id="290"/>
            <p14:sldId id="291"/>
          </p14:sldIdLst>
        </p14:section>
        <p14:section name="Ex 7 · Automate &amp; share" id="{87ABB89E-9C92-475A-B5C9-B83051040401}">
          <p14:sldIdLst>
            <p14:sldId id="292"/>
            <p14:sldId id="293"/>
            <p14:sldId id="294"/>
          </p14:sldIdLst>
        </p14:section>
        <p14:section name="Spotlight · HR plugins" id="{B7D33023-71AF-46F5-8581-CD0C3168A277}">
          <p14:sldIdLst>
            <p14:sldId id="295"/>
          </p14:sldIdLst>
        </p14:section>
        <p14:section name="Ex 8 · HR Policy Agent" id="{D3CCD1EE-9BAF-48EA-B8AD-6E6D22E400BD}">
          <p14:sldIdLst>
            <p14:sldId id="296"/>
            <p14:sldId id="297"/>
            <p14:sldId id="298"/>
          </p14:sldIdLst>
        </p14:section>
        <p14:section name="Close" id="{6408A346-45A0-4F8B-85E8-E784BB919B65}">
          <p14:sldIdLst>
            <p14:sldId id="299"/>
            <p14:sldId id="300"/>
            <p14:sldId id="301"/>
            <p14:sldId id="30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(0:00-0:10).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4 hours, two breaks.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two breaks.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0:00-0:10).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(0:10-0:20).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0:20-0:40).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0:20-0:40).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0:20-0:40). Whole room: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0:20-0:40, about 3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(25 min, 0:40–1:05). Pause here: check the room is ready (anyone still finishing the last exercise?), then introduce the scenario card on the next slide.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(0:40-1:05, 25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(20 min, 1:05–1:25). Pause here: check the room is ready (anyone still finishing the last exercise?), then introduce the scenario card on the next slide.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(1:05-1:25, 20 min). SAY: 'Deep Research reads many web sources and cites them, then we make it useful by grounding it in our own job description and turning it into documents.' Point out the three stages on the card: research, ground, build (Word + Excel). Next exercise shows the OTHER way Cowork uses the web: driving a browser.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TIME CHECK: at 1:20, demo the scorecard follow-up on your screen if most are still researching. NEXT: break, then the browser.</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Next: Cowork drives a web browser, then the centerpiece custom-skill build. Proctors: check Edge profiles and the Edge Cowork setting now.</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(25 min, 1:35–2:00). Pause here: check the room is ready (anyone still finishing the last exercise?), then introduce the scenario card on the next slide.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(1:35-2:00, 25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TIME CHECK: at 1:55 skip 3b and demo it. NEXT: 'You've used built-in skills and the browser. Now build your own skill.'</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(30 min, 2:00–2:30). Pause here: check the room is ready (anyone still finishing the last exercise?), then introduce the scenario card on the next slide.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(2:00-2:30, 30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WATCH FOR: the skill triggering WITHOUT being named; Answer -&gt; Details -&gt; Source -&gt; confirm-with-HR; the salary question declined. IF STUCK: 'Needs work' -&gt; tighten trigger wording and the out-of-scope list; wrong facts -&gt; check the two file names in the instructions match their OneDrive. Keep skills 'Only you'. Answer key: facilitator-answer-key.md and skills/hr-policy-answer/SKILL.md. NEXT: 'This skill helps YOU. In Ex 8 we build an agent that helps OTHERS.'</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(15 min, 2:30–2:45). Pause here: check the room is ready (anyone still finishing the last exercise?), then introduce the scenario card on the next slide.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(2:30-2:45, 15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Check everyone's Exercise 4 skill saved — Exercise 7 shares it.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(20 min, 2:55–3:15). Pause here: check the room is ready (anyone still finishing the last exercise?), then introduce the scenario card on the next slide.</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(2:55-3:15, 20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first (the deck takes longest), then 6b and 6c while it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short on time, do 6a + 6c and watch 6b as a demo. NEXT: 'Now let's stop re-asking for the same work.'</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3:15–3:30). Pause here: check the room is ready (anyone still finishing the last exercise?), then introduce the scenario card on the next slide.</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(3:15-3:30,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and 7c can be demo-only. NEXT: the plugins spotlight.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SPOTLIGHT — HR PLUGINS (3:30-3:35). TALK ONLY, no hands-on. Show Customize → Plugins: Installed (toggles), a plugin's detail page (its skills and connectors), Discover, and Upload plugin. A plugin bundles skills and connectors; connectors can be MCP servers, so Cowork can read and act in systems like payroll, ATS or your HRIS. Example (illustrative): with a payroll plugin such as Gusto, ticket T-2008 (Owen Wright's payroll question) could be answered from the real pay record, with Cowork asking approval before any change. Each user signs in to a connector once; admins can deploy plugins ('Managed by your organization') and activity is in Purview audit logs. Do NOT install plugins in the shared attendee tenant — demo from the facilitator tenant if you have one installed. SAP SUCCESSFACTORS: no SuccessFactors plugin in the Cowork catalog yet (checked Oct 1, 2026). Point to the Employee Self-Service agent with its SAP SuccessFactors extension pack (a Copilot agent, not a Cowork plugin), or a custom plugin with an MCP connector built by IT. Re-check the catalog before each delivery: learn.microsoft.com/microsoft-365/copilot/cowork/cowork-available-plugins. Details: reference/09-plugins.md.</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(20 min, 3:35–3:55). Pause here: check the room is ready (anyone still finishing the last exercise?), then introduce the scenario card on the next slide.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(3:35-3:55, 20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test the open-enrollment question (sourced answer) and the salary question (declines). WATCH FOR: files showing 'Preparing' for a few minutes; .md or .csv files are rejected. IF STUCK: answers ignore the files -&gt; wait, or refresh Knowledge in Configure; no Create agent -&gt; desktop/web Microsoft 365 Copilot with a license. External ACTIONS need Copilot Studio (out of scope). TIME CHECK: if behind, run it as a demo and have attendees build it after class. Detail: reference/08-agent-builder-policy-agent.md. NEXT: wrap-up.</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0:40 Ex 1, 1:25 break, 2:00 Ex 4, 2:45 break, 3:15 Ex 7, 3:35 Ex 8; cut in that order (shorter breaks, demo the Ex 3 scorecard, 6a + 6c only, 7a only, Ex 8 as a demo). Never cut Ex 4.</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(3:55-4:00).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participant/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archive/refs/heads/main.zip" TargetMode="External"/><Relationship Id="rId16" Type="http://schemas.openxmlformats.org/officeDocument/2006/relationships/hyperlink" Target="https://github.com/cragage_microsoft/ai_hr_cowork_workshop" TargetMode="Externa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hyperlink" Target="https://learn.microsoft.com/en-us/microsoft-365/copilot/cowork/cowork-available-plugins" TargetMode="Externa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6.png"/><Relationship Id="rId7" Type="http://schemas.openxmlformats.org/officeDocument/2006/relationships/image" Target="../media/image26.png"/><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blob/main/README.md" TargetMode="External"/><Relationship Id="rId4" Type="http://schemas.openxmlformats.org/officeDocument/2006/relationships/notesSlide" Target="../notesSlides/notesSlide64.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4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4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two breaks.</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20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25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Word/Excel scorecard</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30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PowerPoint + Scheduling + Communications</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Daily Briefing, sharing</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948A54"/>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Spotlight · HR plugins</a:t>
            </a:r>
          </a:p>
          <a:p>
            <a:pPr algn="l">
              <a:spcAft>
                <a:spcPts val="0"/>
              </a:spcAft>
            </a:pPr>
            <a:r>
              <a:rPr sz="1050" b="0" i="0">
                <a:solidFill>
                  <a:srgbClr val="616161"/>
                </a:solidFill>
                <a:latin typeface="Segoe UI"/>
              </a:rPr>
              <a:t>Customize → Plugins, talk only</a:t>
            </a:r>
          </a:p>
        </p:txBody>
      </p:sp>
      <p:sp>
        <p:nvSpPr>
          <p:cNvPr id="56" name="Rectangle 55">
            <a:extLst>
              <a:ext uri="{C183D7F6-B498-43B3-948B-1728B52AA6E4}">
                <ns26:decorative xmlns:ns26="http://schemas.microsoft.com/office/drawing/2017/decorative" val="1"/>
              </a:ext>
            </a:extLst>
          </p:cNvPr>
          <p:cNvSpPr/>
          <p:nvPr/>
        </p:nvSpPr>
        <p:spPr>
          <a:xfrm>
            <a:off x="617220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a:extLst>
              <a:ext uri="{C183D7F6-B498-43B3-948B-1728B52AA6E4}">
                <ns27:decorative xmlns:ns27="http://schemas.microsoft.com/office/drawing/2017/decorative" val="1"/>
              </a:ext>
            </a:extLst>
          </p:cNvPr>
          <p:cNvSpPr/>
          <p:nvPr/>
        </p:nvSpPr>
        <p:spPr>
          <a:xfrm>
            <a:off x="6172200" y="5193792"/>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355080" y="5193792"/>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20 min</a:t>
            </a:r>
          </a:p>
        </p:txBody>
      </p:sp>
      <p:sp>
        <p:nvSpPr>
          <p:cNvPr id="59" name="TextBox 58"/>
          <p:cNvSpPr txBox="1"/>
          <p:nvPr/>
        </p:nvSpPr>
        <p:spPr>
          <a:xfrm>
            <a:off x="726948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60" name="Rectangle 59">
            <a:extLst>
              <a:ext uri="{C183D7F6-B498-43B3-948B-1728B52AA6E4}">
                <ns28:decorative xmlns:ns28="http://schemas.microsoft.com/office/drawing/2017/decorative" val="1"/>
              </a:ext>
            </a:extLst>
          </p:cNvPr>
          <p:cNvSpPr/>
          <p:nvPr/>
        </p:nvSpPr>
        <p:spPr>
          <a:xfrm>
            <a:off x="6172200" y="581558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a:extLst>
              <a:ext uri="{C183D7F6-B498-43B3-948B-1728B52AA6E4}">
                <ns29:decorative xmlns:ns29="http://schemas.microsoft.com/office/drawing/2017/decorative" val="1"/>
              </a:ext>
            </a:extLst>
          </p:cNvPr>
          <p:cNvSpPr/>
          <p:nvPr/>
        </p:nvSpPr>
        <p:spPr>
          <a:xfrm>
            <a:off x="6172200" y="581558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55080" y="581558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63" name="TextBox 62"/>
          <p:cNvSpPr txBox="1"/>
          <p:nvPr/>
        </p:nvSpPr>
        <p:spPr>
          <a:xfrm>
            <a:off x="7269480" y="581558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at once: </a:t>
            </a:r>
            <a:r>
              <a:rPr sz="1500" b="0">
                <a:solidFill>
                  <a:srgbClr val="FFFFFF"/>
                </a:solidFill>
                <a:latin typeface="Segoe UI"/>
              </a:rPr>
              <a:t>download the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whole kit as a zip</a:t>
            </a:r>
            <a:r>
              <a:rPr sz="1500" b="0">
                <a:solidFill>
                  <a:srgbClr val="FFFFFF"/>
                </a:solidFill>
                <a:latin typeface="Segoe UI"/>
              </a:rPr>
              <a:t>, or browse it on </a:t>
            </a:r>
            <a:r>
              <a:rPr sz="1500" b="1" u="sng">
                <a:solidFill>
                  <a:srgbClr val="FFFFFF"/>
                </a:solidFill>
                <a:latin typeface="Segoe UI"/>
                <a:hlinkClick r:id="rId16">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0:40–1:05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1" i="0">
                <a:solidFill>
                  <a:srgbClr val="323139"/>
                </a:solidFill>
                <a:latin typeface="Segoe UI"/>
              </a:rPr>
              <a:t>Approve</a:t>
            </a:r>
            <a:r>
              <a:rPr sz="1500" b="0" i="0">
                <a:solidFill>
                  <a:srgbClr val="323139"/>
                </a:solidFill>
                <a:latin typeface="Segoe UI"/>
              </a:rPr>
              <a:t> the skill save and weekday schedule — confirm in Customize and Automations.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0" i="0">
                <a:solidFill>
                  <a:srgbClr val="323139"/>
                </a:solidFill>
                <a:latin typeface="Segoe UI"/>
              </a:rPr>
              <a:t>Your own data,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five tailored questions for Zava’s HR Coordinator role, and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and </a:t>
            </a:r>
            <a:r>
              <a:rPr sz="1150" b="1" i="0">
                <a:solidFill>
                  <a:srgbClr val="323139"/>
                </a:solidFill>
                <a:latin typeface="Segoe UI"/>
              </a:rPr>
              <a:t>Excel</a:t>
            </a:r>
            <a:r>
              <a:rPr sz="1150" b="0" i="0">
                <a:solidFill>
                  <a:srgbClr val="323139"/>
                </a:solidFill>
                <a:latin typeface="Segoe UI"/>
              </a:rPr>
              <a:t> chips for the scorecard</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five tailored questions, and a Word + Excel interviewer scorecard with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3 · Navigate websites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1:35–2:00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and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Word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 comparison table linking the DOL fact sheet and the Washington L&amp;I overtime page, and a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Step through the DOL FLSA Overtime Security Advisor, with Cowork telling you each answer before it clicks.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30 min  ·  2:00–2:30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employee policy and benefits questions in a consistent, sourced format, grounded in our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company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if the answer isn’t in them,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a policy question should trigger it; “What’s my colleague’s salary?”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2:30–2:45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2:55–3:15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a scheduled kickoff with a Teams link, and a team announcement draft for Sofia Alvarez, Zava’s new HR Coordinator.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30-min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Team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Task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Task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Short on time? Do 6a + 6c; watch 6b as a demo</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orientation deck, a reviewed kickoff invite, and a team announcement draft for Sofia Alvarez.</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3:15–3:30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 Daily Briefing, and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 Daily Briefing, and the share / re-share flow completed.</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Spotlight · Extend Cowork with HR plugins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Talk only</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Customize → Plugins</a:t>
            </a:r>
          </a:p>
        </p:txBody>
      </p:sp>
      <p:pic>
        <p:nvPicPr>
          <p:cNvPr id="54" name="Picture Plugins" descr="Screenshot from Microsoft Learn of Copilot Cowork Customize, Plugins tab, listing installed plugins with on/off toggles, plus Discover and Upload plugin options."/>
          <p:cNvPicPr>
            <a:picLocks noChangeAspect="1"/>
          </p:cNvPicPr>
          <p:nvPr/>
        </p:nvPicPr>
        <p:blipFill>
          <a:blip r:embed="rId6"/>
          <a:stretch>
            <a:fillRect/>
          </a:stretch>
        </p:blipFill>
        <p:spPr>
          <a:xfrm>
            <a:off x="640080" y="1463040"/>
            <a:ext cx="6236208" cy="3275523"/>
          </a:xfrm>
          <a:prstGeom prst="rect">
            <a:avLst/>
          </a:prstGeom>
        </p:spPr>
      </p:pic>
      <p:sp>
        <p:nvSpPr>
          <p:cNvPr id="55" name="TextBox 54"/>
          <p:cNvSpPr txBox="1"/>
          <p:nvPr/>
        </p:nvSpPr>
        <p:spPr>
          <a:xfrm>
            <a:off x="640080" y="4784282"/>
            <a:ext cx="6236208" cy="274320"/>
          </a:xfrm>
          <a:prstGeom prst="rect">
            <a:avLst/>
          </a:prstGeom>
          <a:noFill/>
        </p:spPr>
        <p:txBody>
          <a:bodyPr wrap="square" anchor="t" lIns="0" rIns="0" tIns="0" bIns="0">
            <a:spAutoFit/>
          </a:bodyPr>
          <a:lstStyle/>
          <a:p>
            <a:pPr algn="l">
              <a:spcAft>
                <a:spcPts val="400"/>
              </a:spcAft>
            </a:pPr>
            <a:r>
              <a:rPr sz="900" b="0" i="1">
                <a:solidFill>
                  <a:srgbClr val="616161"/>
                </a:solidFill>
                <a:latin typeface="Segoe UI"/>
              </a:rPr>
              <a:t>Microsoft Learn screenshot (Dynamics 365 plugins shown). HR plugins appear in the same list.</a:t>
            </a:r>
          </a:p>
        </p:txBody>
      </p:sp>
      <p:sp>
        <p:nvSpPr>
          <p:cNvPr id="56" name="TextBox 55"/>
          <p:cNvSpPr txBox="1"/>
          <p:nvPr/>
        </p:nvSpPr>
        <p:spPr>
          <a:xfrm>
            <a:off x="640080" y="5012882"/>
            <a:ext cx="6236208" cy="256032"/>
          </a:xfrm>
          <a:prstGeom prst="rect">
            <a:avLst/>
          </a:prstGeom>
          <a:noFill/>
        </p:spPr>
        <p:txBody>
          <a:bodyPr wrap="square" anchor="t" lIns="0" rIns="0" tIns="0" bIns="0">
            <a:spAutoFit/>
          </a:bodyPr>
          <a:lstStyle/>
          <a:p>
            <a:pPr algn="l">
              <a:spcAft>
                <a:spcPts val="400"/>
              </a:spcAft>
            </a:pPr>
            <a:r>
              <a:rPr sz="900" b="0" i="0">
                <a:solidFill>
                  <a:srgbClr val="0F6CBD"/>
                </a:solidFill>
                <a:latin typeface="Segoe UI"/>
                <a:hlinkClick r:id="rId7"/>
              </a:rPr>
              <a:t>Full catalog: learn.microsoft.com/microsoft-365/copilot/cowork/cowork-available-plugins</a:t>
            </a:r>
          </a:p>
        </p:txBody>
      </p:sp>
      <p:sp>
        <p:nvSpPr>
          <p:cNvPr id="57" name="Rounded Rectangle 56">
            <a:extLst>
              <a:ext uri="{C183D7F6-B498-43B3-948B-1728B52AA6E4}">
                <ns3:decorative xmlns:ns3="http://schemas.microsoft.com/office/drawing/2017/decorative" val="1"/>
              </a:ext>
            </a:extLst>
          </p:cNvPr>
          <p:cNvSpPr/>
          <p:nvPr/>
        </p:nvSpPr>
        <p:spPr>
          <a:xfrm>
            <a:off x="685800" y="5303520"/>
            <a:ext cx="6144768" cy="86868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03520"/>
            <a:ext cx="5760720" cy="86868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A plugin = skills + connectors. </a:t>
            </a:r>
            <a:r>
              <a:rPr sz="1250" b="0" i="0">
                <a:solidFill>
                  <a:srgbClr val="FFFFFF"/>
                </a:solidFill>
                <a:latin typeface="Segoe Sans Display"/>
              </a:rPr>
              <a:t>Connectors can be MCP servers, so Cowork can read and act in your HR systems — still with your approval.</a:t>
            </a:r>
          </a:p>
        </p:txBody>
      </p:sp>
      <p:sp>
        <p:nvSpPr>
          <p:cNvPr id="59" name="Rounded Rectangle 58">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HR plugin examples</a:t>
            </a:r>
          </a:p>
        </p:txBody>
      </p:sp>
      <p:sp>
        <p:nvSpPr>
          <p:cNvPr id="61" name="TextBox 60"/>
          <p:cNvSpPr txBox="1"/>
          <p:nvPr/>
        </p:nvSpPr>
        <p:spPr>
          <a:xfrm>
            <a:off x="7772400" y="1645920"/>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Gusto</a:t>
            </a:r>
          </a:p>
        </p:txBody>
      </p:sp>
      <p:sp>
        <p:nvSpPr>
          <p:cNvPr id="62" name="TextBox 61"/>
          <p:cNvSpPr txBox="1"/>
          <p:nvPr/>
        </p:nvSpPr>
        <p:spPr>
          <a:xfrm>
            <a:off x="7772400" y="1892808"/>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Payroll, PTO and employee records</a:t>
            </a:r>
          </a:p>
        </p:txBody>
      </p:sp>
      <p:sp>
        <p:nvSpPr>
          <p:cNvPr id="63" name="TextBox 62"/>
          <p:cNvSpPr txBox="1"/>
          <p:nvPr/>
        </p:nvSpPr>
        <p:spPr>
          <a:xfrm>
            <a:off x="7772400" y="2267712"/>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ZipRecruiter · Dice.com</a:t>
            </a:r>
          </a:p>
        </p:txBody>
      </p:sp>
      <p:sp>
        <p:nvSpPr>
          <p:cNvPr id="64" name="TextBox 63"/>
          <p:cNvSpPr txBox="1"/>
          <p:nvPr/>
        </p:nvSpPr>
        <p:spPr>
          <a:xfrm>
            <a:off x="7772400" y="2514600"/>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Job posts and candidate pipelines</a:t>
            </a:r>
          </a:p>
        </p:txBody>
      </p:sp>
      <p:sp>
        <p:nvSpPr>
          <p:cNvPr id="65" name="TextBox 64"/>
          <p:cNvSpPr txBox="1"/>
          <p:nvPr/>
        </p:nvSpPr>
        <p:spPr>
          <a:xfrm>
            <a:off x="7772400" y="2889504"/>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Cronofy MCP</a:t>
            </a:r>
          </a:p>
        </p:txBody>
      </p:sp>
      <p:sp>
        <p:nvSpPr>
          <p:cNvPr id="66" name="TextBox 65"/>
          <p:cNvSpPr txBox="1"/>
          <p:nvPr/>
        </p:nvSpPr>
        <p:spPr>
          <a:xfrm>
            <a:off x="7772400" y="3136392"/>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Interview scheduling across calendars</a:t>
            </a:r>
          </a:p>
        </p:txBody>
      </p:sp>
      <p:sp>
        <p:nvSpPr>
          <p:cNvPr id="67" name="TextBox 66"/>
          <p:cNvSpPr txBox="1"/>
          <p:nvPr/>
        </p:nvSpPr>
        <p:spPr>
          <a:xfrm>
            <a:off x="7772400" y="3511296"/>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Articulate</a:t>
            </a:r>
          </a:p>
        </p:txBody>
      </p:sp>
      <p:sp>
        <p:nvSpPr>
          <p:cNvPr id="68" name="TextBox 67"/>
          <p:cNvSpPr txBox="1"/>
          <p:nvPr/>
        </p:nvSpPr>
        <p:spPr>
          <a:xfrm>
            <a:off x="7772400" y="3758184"/>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Learning and training content</a:t>
            </a:r>
          </a:p>
        </p:txBody>
      </p:sp>
      <p:sp>
        <p:nvSpPr>
          <p:cNvPr id="69" name="Rounded Rectangle 68">
            <a:extLst>
              <a:ext uri="{C183D7F6-B498-43B3-948B-1728B52AA6E4}">
                <ns5:decorative xmlns:ns5="http://schemas.microsoft.com/office/drawing/2017/decorative" val="1"/>
              </a:ext>
            </a:extLst>
          </p:cNvPr>
          <p:cNvSpPr/>
          <p:nvPr/>
        </p:nvSpPr>
        <p:spPr>
          <a:xfrm>
            <a:off x="7635240" y="4078224"/>
            <a:ext cx="4206240" cy="585216"/>
          </a:xfrm>
          <a:prstGeom prst="roundRect">
            <a:avLst>
              <a:gd name="adj" fmla="val 12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0" y="4133088"/>
            <a:ext cx="3931920" cy="256032"/>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 SAP SuccessFactors</a:t>
            </a:r>
          </a:p>
        </p:txBody>
      </p:sp>
      <p:sp>
        <p:nvSpPr>
          <p:cNvPr id="71" name="TextBox 70"/>
          <p:cNvSpPr txBox="1"/>
          <p:nvPr/>
        </p:nvSpPr>
        <p:spPr>
          <a:xfrm>
            <a:off x="7772400" y="4379976"/>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No catalog plugin yet: ESS agent, or a custom MCP plugin</a:t>
            </a:r>
          </a:p>
        </p:txBody>
      </p:sp>
      <p:sp>
        <p:nvSpPr>
          <p:cNvPr id="72" name="Rounded Rectangle 71">
            <a:extLst>
              <a:ext uri="{C183D7F6-B498-43B3-948B-1728B52AA6E4}">
                <ns6:decorative xmlns:ns6="http://schemas.microsoft.com/office/drawing/2017/decorative" val="1"/>
              </a:ext>
            </a:extLst>
          </p:cNvPr>
          <p:cNvSpPr/>
          <p:nvPr/>
        </p:nvSpPr>
        <p:spPr>
          <a:xfrm>
            <a:off x="7635240" y="4800600"/>
            <a:ext cx="4206240" cy="1508760"/>
          </a:xfrm>
          <a:prstGeom prst="roundRect">
            <a:avLst>
              <a:gd name="adj" fmla="val 6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7772400" y="487375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Why it matters</a:t>
            </a:r>
          </a:p>
        </p:txBody>
      </p:sp>
      <p:sp>
        <p:nvSpPr>
          <p:cNvPr id="74" name="TextBox 73"/>
          <p:cNvSpPr txBox="1"/>
          <p:nvPr/>
        </p:nvSpPr>
        <p:spPr>
          <a:xfrm>
            <a:off x="7772400" y="5166360"/>
            <a:ext cx="3977640" cy="1463040"/>
          </a:xfrm>
          <a:prstGeom prst="rect">
            <a:avLst/>
          </a:prstGeom>
          <a:noFill/>
        </p:spPr>
        <p:txBody>
          <a:bodyPr wrap="square" anchor="t" lIns="0" rIns="0" tIns="0" bIns="0">
            <a:spAutoFit/>
          </a:bodyPr>
          <a:lstStyle/>
          <a:p>
            <a:pPr algn="l" marL="182880" indent="-182880">
              <a:lnSpc>
                <a:spcPct val="100000"/>
              </a:lnSpc>
              <a:spcAft>
                <a:spcPts val="300"/>
              </a:spcAft>
              <a:buFont typeface="Arial"/>
              <a:buChar char="•"/>
            </a:pPr>
            <a:r>
              <a:rPr sz="1050" b="1" i="0">
                <a:solidFill>
                  <a:srgbClr val="323139"/>
                </a:solidFill>
                <a:latin typeface="Segoe UI"/>
              </a:rPr>
              <a:t>Fewer tabs</a:t>
            </a:r>
            <a:r>
              <a:rPr sz="1050" b="0" i="0">
                <a:solidFill>
                  <a:srgbClr val="323139"/>
                </a:solidFill>
                <a:latin typeface="Segoe UI"/>
              </a:rPr>
              <a:t> — HR data flows into the task</a:t>
            </a:r>
          </a:p>
          <a:p>
            <a:pPr algn="l" marL="182880" indent="-182880">
              <a:lnSpc>
                <a:spcPct val="100000"/>
              </a:lnSpc>
              <a:spcAft>
                <a:spcPts val="300"/>
              </a:spcAft>
              <a:buFont typeface="Arial"/>
              <a:buChar char="•"/>
            </a:pPr>
            <a:r>
              <a:rPr sz="1050" b="1" i="0">
                <a:solidFill>
                  <a:srgbClr val="323139"/>
                </a:solidFill>
                <a:latin typeface="Segoe UI"/>
              </a:rPr>
              <a:t>Governed</a:t>
            </a:r>
            <a:r>
              <a:rPr sz="1050" b="0" i="0">
                <a:solidFill>
                  <a:srgbClr val="323139"/>
                </a:solidFill>
                <a:latin typeface="Segoe UI"/>
              </a:rPr>
              <a:t> — admins deploy; activity in Purview audit</a:t>
            </a:r>
          </a:p>
          <a:p>
            <a:pPr algn="l" marL="182880" indent="-182880">
              <a:lnSpc>
                <a:spcPct val="100000"/>
              </a:lnSpc>
              <a:spcAft>
                <a:spcPts val="300"/>
              </a:spcAft>
              <a:buFont typeface="Arial"/>
              <a:buChar char="•"/>
            </a:pPr>
            <a:r>
              <a:rPr sz="1050" b="1" i="0">
                <a:solidFill>
                  <a:srgbClr val="323139"/>
                </a:solidFill>
                <a:latin typeface="Segoe UI"/>
              </a:rPr>
              <a:t>Your sign-in</a:t>
            </a:r>
            <a:r>
              <a:rPr sz="1050" b="0" i="0">
                <a:solidFill>
                  <a:srgbClr val="323139"/>
                </a:solidFill>
                <a:latin typeface="Segoe UI"/>
              </a:rPr>
              <a:t> — connectors use your own permissions</a:t>
            </a:r>
          </a:p>
          <a:p>
            <a:pPr algn="l" marL="182880" indent="-182880">
              <a:lnSpc>
                <a:spcPct val="100000"/>
              </a:lnSpc>
              <a:spcAft>
                <a:spcPts val="300"/>
              </a:spcAft>
              <a:buFont typeface="Arial"/>
              <a:buChar char="•"/>
            </a:pPr>
            <a:r>
              <a:rPr sz="1050" b="1" i="0">
                <a:solidFill>
                  <a:srgbClr val="323139"/>
                </a:solidFill>
                <a:latin typeface="Segoe UI"/>
              </a:rPr>
              <a:t>Per task</a:t>
            </a:r>
            <a:r>
              <a:rPr sz="1050" b="0" i="0">
                <a:solidFill>
                  <a:srgbClr val="323139"/>
                </a:solidFill>
                <a:latin typeface="Segoe UI"/>
              </a:rPr>
              <a:t> — toggle in Sources &amp; Skills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3:35–3:55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employee questions about company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 “When is open enrollment?” · “What are the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knowledge (the Zava Word files), suggested prompts.</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 policy question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