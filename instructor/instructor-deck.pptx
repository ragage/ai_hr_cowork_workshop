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48.xml" ContentType="application/vnd.openxmlformats-officedocument.themeOverride+xml"/>
  <Override PartName="/ppt/theme/themeOverride49.xml" ContentType="application/vnd.openxmlformats-officedocument.themeOverride+xml"/>
  <Override PartName="/ppt/theme/themeOverride5.xml" ContentType="application/vnd.openxmlformats-officedocument.themeOverride+xml"/>
  <Override PartName="/ppt/theme/themeOverride50.xml" ContentType="application/vnd.openxmlformats-officedocument.themeOverride+xml"/>
  <Override PartName="/ppt/theme/themeOverride51.xml" ContentType="application/vnd.openxmlformats-officedocument.themeOverride+xml"/>
  <Override PartName="/ppt/theme/themeOverride52.xml" ContentType="application/vnd.openxmlformats-officedocument.themeOverride+xml"/>
  <Override PartName="/ppt/theme/themeOverride53.xml" ContentType="application/vnd.openxmlformats-officedocument.themeOverride+xml"/>
  <Override PartName="/ppt/theme/themeOverride54.xml" ContentType="application/vnd.openxmlformats-officedocument.themeOverride+xml"/>
  <Override PartName="/ppt/theme/themeOverride55.xml" ContentType="application/vnd.openxmlformats-officedocument.themeOverride+xml"/>
  <Override PartName="/ppt/theme/themeOverride56.xml" ContentType="application/vnd.openxmlformats-officedocument.themeOverride+xml"/>
  <Override PartName="/ppt/theme/themeOverride57.xml" ContentType="application/vnd.openxmlformats-officedocument.themeOverride+xml"/>
  <Override PartName="/ppt/theme/themeOverride58.xml" ContentType="application/vnd.openxmlformats-officedocument.themeOverride+xml"/>
  <Override PartName="/ppt/theme/themeOverride59.xml" ContentType="application/vnd.openxmlformats-officedocument.themeOverride+xml"/>
  <Override PartName="/ppt/theme/themeOverride6.xml" ContentType="application/vnd.openxmlformats-officedocument.themeOverride+xml"/>
  <Override PartName="/ppt/theme/themeOverride60.xml" ContentType="application/vnd.openxmlformats-officedocument.themeOverride+xml"/>
  <Override PartName="/ppt/theme/themeOverride61.xml" ContentType="application/vnd.openxmlformats-officedocument.themeOverride+xml"/>
  <Override PartName="/ppt/theme/themeOverride62.xml" ContentType="application/vnd.openxmlformats-officedocument.themeOverride+xml"/>
  <Override PartName="/ppt/theme/themeOverride63.xml" ContentType="application/vnd.openxmlformats-officedocument.themeOverride+xml"/>
  <Override PartName="/ppt/theme/themeOverride64.xml" ContentType="application/vnd.openxmlformats-officedocument.themeOverride+xml"/>
  <Override PartName="/ppt/theme/themeOverride65.xml" ContentType="application/vnd.openxmlformats-officedocument.themeOverride+xml"/>
  <Override PartName="/ppt/theme/themeOverride66.xml" ContentType="application/vnd.openxmlformats-officedocument.themeOverride+xml"/>
  <Override PartName="/ppt/theme/themeOverride67.xml" ContentType="application/vnd.openxmlformats-officedocument.themeOverride+xml"/>
  <Override PartName="/ppt/theme/themeOverride68.xml" ContentType="application/vnd.openxmlformats-officedocument.themeOverride+xml"/>
  <Override PartName="/ppt/theme/themeOverride69.xml" ContentType="application/vnd.openxmlformats-officedocument.themeOverride+xml"/>
  <Override PartName="/ppt/theme/themeOverride7.xml" ContentType="application/vnd.openxmlformats-officedocument.themeOverride+xml"/>
  <Override PartName="/ppt/theme/themeOverride70.xml" ContentType="application/vnd.openxmlformats-officedocument.themeOverride+xml"/>
  <Override PartName="/ppt/theme/themeOverride71.xml" ContentType="application/vnd.openxmlformats-officedocument.themeOverride+xml"/>
  <Override PartName="/ppt/theme/themeOverride72.xml" ContentType="application/vnd.openxmlformats-officedocument.themeOverride+xml"/>
  <Override PartName="/ppt/theme/themeOverride73.xml" ContentType="application/vnd.openxmlformats-officedocument.themeOverride+xml"/>
  <Override PartName="/ppt/theme/themeOverride74.xml" ContentType="application/vnd.openxmlformats-officedocument.themeOverride+xml"/>
  <Override PartName="/ppt/theme/themeOverride75.xml" ContentType="application/vnd.openxmlformats-officedocument.themeOverride+xml"/>
  <Override PartName="/ppt/theme/themeOverride76.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24"/>
    <p:sldId id="257" r:id="rId23"/>
    <p:sldId id="258" r:id="rId22"/>
    <p:sldId id="259" r:id="rId21"/>
    <p:sldId id="260" r:id="rId20"/>
    <p:sldId id="261" r:id="rId19"/>
    <p:sldId id="262" r:id="rId18"/>
    <p:sldId id="263" r:id="rId17"/>
    <p:sldId id="264" r:id="rId16"/>
    <p:sldId id="265" r:id="rId15"/>
    <p:sldId id="266" r:id="rId14"/>
    <p:sldId id="267" r:id="rId13"/>
    <p:sldId id="268" r:id="rId12"/>
    <p:sldId id="269" r:id="rId11"/>
    <p:sldId id="270" r:id="rId10"/>
    <p:sldId id="271" r:id="rId9"/>
    <p:sldId id="272" r:id="rId8"/>
    <p:sldId id="273" r:id="rId87"/>
    <p:sldId id="274" r:id="rId88"/>
    <p:sldId id="275" r:id="rId89"/>
    <p:sldId id="276" r:id="rId90"/>
    <p:sldId id="277" r:id="rId91"/>
    <p:sldId id="278" r:id="rId92"/>
    <p:sldId id="279" r:id="rId93"/>
    <p:sldId id="280" r:id="rId94"/>
    <p:sldId id="281" r:id="rId95"/>
    <p:sldId id="282" r:id="rId96"/>
    <p:sldId id="283" r:id="rId97"/>
    <p:sldId id="284" r:id="rId98"/>
    <p:sldId id="285" r:id="rId99"/>
    <p:sldId id="286" r:id="rId100"/>
    <p:sldId id="287" r:id="rId101"/>
    <p:sldId id="288" r:id="rId102"/>
    <p:sldId id="289" r:id="rId103"/>
    <p:sldId id="290" r:id="rId104"/>
    <p:sldId id="291" r:id="rId105"/>
    <p:sldId id="292" r:id="rId106"/>
    <p:sldId id="293" r:id="rId107"/>
    <p:sldId id="294" r:id="rId108"/>
    <p:sldId id="295" r:id="rId109"/>
    <p:sldId id="296" r:id="rId110"/>
    <p:sldId id="297" r:id="rId111"/>
    <p:sldId id="298" r:id="rId112"/>
    <p:sldId id="299" r:id="rId113"/>
    <p:sldId id="300" r:id="rId114"/>
    <p:sldId id="301" r:id="rId115"/>
    <p:sldId id="302" r:id="rId116"/>
    <p:sldId id="303" r:id="rId117"/>
    <p:sldId id="304" r:id="rId118"/>
    <p:sldId id="305" r:id="rId119"/>
    <p:sldId id="306" r:id="rId120"/>
    <p:sldId id="307" r:id="rId121"/>
    <p:sldId id="308" r:id="rId122"/>
    <p:sldId id="309" r:id="rId123"/>
    <p:sldId id="310" r:id="rId124"/>
    <p:sldId id="311" r:id="rId125"/>
    <p:sldId id="312" r:id="rId126"/>
    <p:sldId id="313" r:id="rId127"/>
    <p:sldId id="314" r:id="rId1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8F30D061-FB80-408F-BF73-D0115AFCF0A1}">
          <p14:sldIdLst>
            <p14:sldId id="256"/>
            <p14:sldId id="257"/>
            <p14:sldId id="258"/>
            <p14:sldId id="259"/>
            <p14:sldId id="260"/>
            <p14:sldId id="261"/>
            <p14:sldId id="262"/>
            <p14:sldId id="263"/>
            <p14:sldId id="264"/>
            <p14:sldId id="265"/>
            <p14:sldId id="266"/>
            <p14:sldId id="267"/>
            <p14:sldId id="268"/>
          </p14:sldIdLst>
        </p14:section>
        <p14:section name="Ex 1 · Deep Research" id="{22056853-9B79-4242-99DC-31ED7CEBBA28}">
          <p14:sldIdLst>
            <p14:sldId id="269"/>
            <p14:sldId id="270"/>
            <p14:sldId id="271"/>
            <p14:sldId id="272"/>
            <p14:sldId id="273"/>
            <p14:sldId id="274"/>
          </p14:sldIdLst>
        </p14:section>
        <p14:section name="Ex 2 · Browser" id="{3F7B1BC3-81A7-4651-ADC1-BE7456EC4CB0}">
          <p14:sldIdLst>
            <p14:sldId id="275"/>
            <p14:sldId id="276"/>
            <p14:sldId id="277"/>
            <p14:sldId id="278"/>
          </p14:sldIdLst>
        </p14:section>
        <p14:section name="Ex 3 · Custom Skill" id="{99A2FF57-4848-431F-8A5E-70A1CB7E327F}">
          <p14:sldIdLst>
            <p14:sldId id="279"/>
            <p14:sldId id="280"/>
            <p14:sldId id="281"/>
            <p14:sldId id="282"/>
          </p14:sldIdLst>
        </p14:section>
        <p14:section name="Ex 4 · Recruiting + Reporting" id="{B50EBEB7-B778-4676-8012-9ACD4C692B7C}">
          <p14:sldIdLst>
            <p14:sldId id="283"/>
            <p14:sldId id="284"/>
            <p14:sldId id="285"/>
            <p14:sldId id="286"/>
            <p14:sldId id="287"/>
          </p14:sldIdLst>
        </p14:section>
        <p14:section name="Ex 5 · Onboarding Pack" id="{BABFD404-A55F-42E5-898B-C64DF69F3A97}">
          <p14:sldIdLst>
            <p14:sldId id="288"/>
            <p14:sldId id="289"/>
            <p14:sldId id="290"/>
            <p14:sldId id="291"/>
          </p14:sldIdLst>
        </p14:section>
        <p14:section name="Ex 6 · Automate &amp; Share" id="{0CA3A5EB-8E9C-49EB-920A-25E06ABD585F}">
          <p14:sldIdLst>
            <p14:sldId id="292"/>
            <p14:sldId id="293"/>
            <p14:sldId id="294"/>
            <p14:sldId id="295"/>
          </p14:sldIdLst>
        </p14:section>
        <p14:section name="Ex 7 · HR Policy Agent" id="{B392505E-DFD6-4746-B02A-7153AAAE3E0C}">
          <p14:sldIdLst>
            <p14:sldId id="296"/>
            <p14:sldId id="297"/>
            <p14:sldId id="298"/>
            <p14:sldId id="299"/>
          </p14:sldIdLst>
        </p14:section>
        <p14:section name="Ex 8 · Executive Command Center" id="{44543B8E-4BB7-4F31-A395-FF7C7ADCFEFB}">
          <p14:sldIdLst>
            <p14:sldId id="300"/>
            <p14:sldId id="301"/>
            <p14:sldId id="302"/>
            <p14:sldId id="303"/>
          </p14:sldIdLst>
        </p14:section>
        <p14:section name="Close" id="{4270CAA7-EA34-46EA-93CE-53E4406233AE}">
          <p14:sldIdLst>
            <p14:sldId id="304"/>
            <p14:sldId id="305"/>
            <p14:sldId id="306"/>
          </p14:sldIdLst>
        </p14:section>
        <p14:section name="Appendix" id="{7A7663DD-B3F9-4885-B3E0-469F01CBFE20}">
          <p14:sldIdLst>
            <p14:sldId id="307"/>
            <p14:sldId id="308"/>
            <p14:sldId id="309"/>
            <p14:sldId id="310"/>
            <p14:sldId id="311"/>
            <p14:sldId id="312"/>
            <p14:sldId id="313"/>
            <p14:sldId id="314"/>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73.xml"/><Relationship Id="rId9" Type="http://schemas.openxmlformats.org/officeDocument/2006/relationships/slide" Target="slides/slide72.xml"/><Relationship Id="rId10" Type="http://schemas.openxmlformats.org/officeDocument/2006/relationships/slide" Target="slides/slide71.xml"/><Relationship Id="rId11" Type="http://schemas.openxmlformats.org/officeDocument/2006/relationships/slide" Target="slides/slide70.xml"/><Relationship Id="rId12" Type="http://schemas.openxmlformats.org/officeDocument/2006/relationships/slide" Target="slides/slide69.xml"/><Relationship Id="rId13" Type="http://schemas.openxmlformats.org/officeDocument/2006/relationships/slide" Target="slides/slide68.xml"/><Relationship Id="rId14" Type="http://schemas.openxmlformats.org/officeDocument/2006/relationships/slide" Target="slides/slide67.xml"/><Relationship Id="rId15" Type="http://schemas.openxmlformats.org/officeDocument/2006/relationships/slide" Target="slides/slide66.xml"/><Relationship Id="rId16" Type="http://schemas.openxmlformats.org/officeDocument/2006/relationships/slide" Target="slides/slide65.xml"/><Relationship Id="rId17" Type="http://schemas.openxmlformats.org/officeDocument/2006/relationships/slide" Target="slides/slide64.xml"/><Relationship Id="rId18" Type="http://schemas.openxmlformats.org/officeDocument/2006/relationships/slide" Target="slides/slide63.xml"/><Relationship Id="rId19" Type="http://schemas.openxmlformats.org/officeDocument/2006/relationships/slide" Target="slides/slide62.xml"/><Relationship Id="rId20" Type="http://schemas.openxmlformats.org/officeDocument/2006/relationships/slide" Target="slides/slide61.xml"/><Relationship Id="rId21" Type="http://schemas.openxmlformats.org/officeDocument/2006/relationships/slide" Target="slides/slide60.xml"/><Relationship Id="rId22" Type="http://schemas.openxmlformats.org/officeDocument/2006/relationships/slide" Target="slides/slide59.xml"/><Relationship Id="rId23" Type="http://schemas.openxmlformats.org/officeDocument/2006/relationships/slide" Target="slides/slide58.xml"/><Relationship Id="rId24" Type="http://schemas.openxmlformats.org/officeDocument/2006/relationships/slide" Target="slides/slide57.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 Id="rId111" Type="http://schemas.openxmlformats.org/officeDocument/2006/relationships/slide" Target="slides/slide98.xml"/><Relationship Id="rId112" Type="http://schemas.openxmlformats.org/officeDocument/2006/relationships/slide" Target="slides/slide99.xml"/><Relationship Id="rId113" Type="http://schemas.openxmlformats.org/officeDocument/2006/relationships/slide" Target="slides/slide100.xml"/><Relationship Id="rId114" Type="http://schemas.openxmlformats.org/officeDocument/2006/relationships/slide" Target="slides/slide101.xml"/><Relationship Id="rId115" Type="http://schemas.openxmlformats.org/officeDocument/2006/relationships/slide" Target="slides/slide102.xml"/><Relationship Id="rId116" Type="http://schemas.openxmlformats.org/officeDocument/2006/relationships/slide" Target="slides/slide103.xml"/><Relationship Id="rId117" Type="http://schemas.openxmlformats.org/officeDocument/2006/relationships/slide" Target="slides/slide104.xml"/><Relationship Id="rId118" Type="http://schemas.openxmlformats.org/officeDocument/2006/relationships/slide" Target="slides/slide105.xml"/><Relationship Id="rId119" Type="http://schemas.openxmlformats.org/officeDocument/2006/relationships/slide" Target="slides/slide106.xml"/><Relationship Id="rId120" Type="http://schemas.openxmlformats.org/officeDocument/2006/relationships/slide" Target="slides/slide107.xml"/><Relationship Id="rId121" Type="http://schemas.openxmlformats.org/officeDocument/2006/relationships/slide" Target="slides/slide108.xml"/><Relationship Id="rId122" Type="http://schemas.openxmlformats.org/officeDocument/2006/relationships/slide" Target="slides/slide109.xml"/><Relationship Id="rId123" Type="http://schemas.openxmlformats.org/officeDocument/2006/relationships/slide" Target="slides/slide110.xml"/><Relationship Id="rId124" Type="http://schemas.openxmlformats.org/officeDocument/2006/relationships/slide" Target="slides/slide111.xml"/><Relationship Id="rId125" Type="http://schemas.openxmlformats.org/officeDocument/2006/relationships/slide" Target="slides/slide112.xml"/><Relationship Id="rId126" Type="http://schemas.openxmlformats.org/officeDocument/2006/relationships/slide" Target="slides/slide113.xml"/><Relationship Id="rId127" Type="http://schemas.openxmlformats.org/officeDocument/2006/relationships/slide" Target="slides/slide114.xml"/><Relationship Id="rId128" Type="http://schemas.openxmlformats.org/officeDocument/2006/relationships/slide" Target="slides/slide1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1c) is OPTIONAL: fast finishers run it. TIME CHECK: at 0:30,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Research the Web with Deep Research (15 min, 0:20–0:35). Pause here: check the room is ready (anyone still finishing the last exercise?), then introduce the scenario card on the next slide.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STARTER PROMPTS (part of setup, before Exercise 1; no extra exercise time). Show the three screenshots from left to right: select Cowork, open New task, then explore Try these next and Task ideas. Suggestions such as Organize my inbox, Arrange my week, and Prep for a meeting are starting points, not fixed instructions. Tailor the goal, sources, output format, and constraints before running. Examples: draft a cited morning briefing; audit next week's calendar and suggest focus time without changing meetings; prepare a meeting brief with an agenda and open questions, without sending messages. Keep this a quick orientation, not another live task. Use the instructor demo account; screenshots are examples and attendee suggestions may differ. Review drafts and approve actions one at a time. Then move straight into Exercise 1.</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D has the legend and this example). When Cowork asks a clarifying question or misses, the missing piece is usually one of the four: add it in a follow-up.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8 gathers mail, calendar, and chats through Work IQ; Ex 1 Deep Research + Word/Excel; Ex 2 is browser use (no skill chip); Ex 4 Word/Excel; Ex 5 PowerPoint, Scheduling, Communications; Ex 6 Daily Briefing. Full list: reference/03-skills-catalog.md.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2 runs in the Edge profile signed in with their work account; anyone in a personal profile adds a work profile now (not InPrivate). Attendees use their OWN work accounts; YOU are on a SEPARATE demo tenant. DATA: Ex 8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may meet approval dialogs throughout the training, including the Exercise 8 capstone.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4. Each exercise opens with a scenario card, then a hands-on slide with steps and a checkpoint. Ex 1 is Deep Research with an optional cost check; Ex 8 is the Executive Command Center; Ex 2 has Cowork drive a browser; Ex 3 (custom skill) is the centerpiece; Ex 7 steps OUTSIDE Cowork into Agent Builder.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 automation, and a no-code agent, and finished with the Executive Command Center capstone. 2 hours 35 minutes, one 15-minute break after Ex 4.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optional scorecard (split view, full-screen toggle, Open in native app); show Download and Download All (zip); open OneDrive -&gt; Cowork in a new tab to show the same file. Everyone watches the demo; attendees who built the optional scorecard open their own files. The panel on the right is an illustration of the side panel's sections (per Microsoft Learn), not a screenshot.</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OPTIONAL: skip it if you are behind and mention /cost at the break). SAY: 'Cowork is usage-billed, so let's see what that research task cost.' DO: in your Ex 1 task type /cost, select the skill shown in the screenshot, and send it; point to the result: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Show the Usage screenshot separately: it is monthly consumption, not the Ex 1 task's cost. The example has 732 credits used this month and an unlimited limit; do not present those as the attendee's balance or a currency amount. Point out the daily chart and delayed-total notice. The weekday schedule uses credits on every run, so pause it after class. Source: Microsoft Learn, 'Credit usage for Microsoft Copilot Cowork tasks'.</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Navigate Websites with Cowork’s Browser (15 min, 0:35–0:50). Pause here: check the room is ready (anyone still finishing the last exercise?), then introduce the scenario card on the next slide.</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1.</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2b is OPTIONAL: fast finishers run it; at 0:45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2a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2b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Build a Custom Skill: HR Policy Answer (15 min, 0:50–1:05). Pause here: check the room is ready (anyone still finishing the last exercise?), then introduce the scenario card on the next slide.</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 CENTERPIECE. SAY: 'Build your first custom skill on purpose and let Cowork grade it; the capstone later saves one from a prompt.' Explain why a skill beats re-typing instructions: same format, sources, and guardrails every time. Scoring bands: Excellent 85+, Good 70-84, Needs work 50-69, Poor &lt;50.</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7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Recruiting + Reporting (15 min, 1:05–1:20). Pause here: check the room is ready (anyone still finishing the last exercise?), then introduce the scenario card on the next slide.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(1:05-1:20, 15 min). SAY: 'Two quick wins. In Ex 1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run 4a and 4b back to back; attendees can start 4b while 4a is still working. WATCH FOR: 4a -&gt; a posting under 350 words with the hybrid schedule, plus a wording-review table (e.g., degree requirement, years of experience framed as must-haves); discuss whether every flag is fair. 4b -&gt; 6 open / 14 closed, T-2008 as the ONLY high-priority open ticket. TRAP: T-2003 and T-2013 are High but Closed; listing them means Status was ignored. IF STUCK: wrong counts -&gt; ask Cowork to show the table it counted from. NEXT: break, then they automate this report in Ex 6.</a:t>
            </a:r>
          </a:p>
          <a:p/>
          <a:p>
            <a:r>
              <a:t>PROMPT TO COPY AND PASTE (copy the text under each --- heading; each heading is a separate step):</a:t>
            </a:r>
          </a:p>
          <a:p>
            <a:r>
              <a:t>--- Task 4a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4b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1:20-1:35). Sweep the room for blockers and check everyone's Exercise 3 skill saved: Exercise 6 shares it.</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Onboarding Orientation Pack (10 min, 1:35–1:45). Pause here: check the room is ready (anyone still finishing the last exercise?), then introduce the scenario card on the next slide.</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(1:35-1:45, 10 min). SAY: 'Sofia Alvarez accepted the HR Coordinator role and starts next Monday. Let's get her first day ready.' This is the story arc from Ex 1 (interview) and Ex 4 (posting). Several built-in skills chain together: PowerPoint, Scheduling, Communications. Call out each new skill chip.</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5a is the must-do (the deck takes longest); 5b and 5c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1:45 move on, even if only 5a is done. NEXT: 'Now let's stop re-asking for the same work.'</a:t>
            </a:r>
          </a:p>
          <a:p/>
          <a:p>
            <a:r>
              <a:t>PROMPT TO COPY AND PASTE (copy the text under each --- heading; each heading is a separate step):</a:t>
            </a:r>
          </a:p>
          <a:p>
            <a:r>
              <a:t>--- Task 5a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5b — Optional: schedule the kickoff ---</a:t>
            </a:r>
          </a:p>
          <a:p>
            <a:r>
              <a:t>Schedule a 30-minute onboarding kickoff for Sofia Alvarez’s first day, next Monday at 9:30 AM, add a Teams meeting link, and invite only me. Show it to me before you send it.</a:t>
            </a:r>
          </a:p>
          <a:p/>
          <a:p>
            <a:r>
              <a:t>--- Task 5c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Automate &amp; Share (15 min, 1:45–2:00). Pause here: check the room is ready (anyone still finishing the last exercise?), then introduce the scenario card on the next slide.</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(1:45-2:00, 15 min). SAY: 'You built a skill and a report. Now put recurring work on a schedule and share what you built.' This is their first scheduled workflow; show where schedules live and how to control them.</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create the Automation live; choose 'Activate and run now'; show Runs vs Manage schedules (edit, pause, resume, delete). Demo a Daily Briefing, then Share / Re-share on the Ex 3 skill. WATCH FOR: an Active schedule and a completed run naming T-2008. IF STUCK: run can't find the file -&gt; the prompt must name the exact file and folder. Sharing stays inside the attendee tenant: 'Only you' or initialed names. TIME CHECK: 6a is the must-do; 6b is quick; 6c is OPTIONAL, so demo it. NEXT: Agent Builder, the non-Cowork policy-agent exercise.</a:t>
            </a:r>
          </a:p>
          <a:p/>
          <a:p>
            <a:r>
              <a:t>PROMPT TO COPY AND PASTE (copy the text under each --- heading; each heading is a separate step):</a:t>
            </a:r>
          </a:p>
          <a:p>
            <a:r>
              <a:t>--- Task 6a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6b — New task ---</a:t>
            </a:r>
          </a:p>
          <a:p>
            <a:r>
              <a:t>Give me a Daily Briefing focused on my HR tasks and meetings for today. List the most urgent items first.</a:t>
            </a:r>
          </a:p>
          <a:p/>
          <a:p>
            <a:r>
              <a:t>--- Task 6c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HR Policy Agent with Agent Builder (15 min, 2:00–2:15). Pause here: check the room is ready (anyone still finishing the last exercise?), then introduce the scenario card on the next slide. SAY: 'This exercise is NOT Cowork. We switch to Copilot Agent Builder: Microsoft 365 Copilot -&gt; Create agent.' Ask everyone to leave their Cowork task.</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(2:00-2:15, 15 min) - NON-COWORK EXERCISE.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return to Cowork for the Executive Command Center capstone.</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Executive Command Center (15 min, 2:15–2:30). Pause here: check the room is ready (anyone still finishing the last exercise?), then introduce the scenario card on the next slide.</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(2:15-2:30, 15 min). SAY: 'Watch one prompt gather signals, build a dashboard, save itself as a skill, and schedule itself.' APPROVAL REMINDER: review the permissions Cowork asks for (saving the skill, creating the schedule), one at a time, no Approve All. The detailed approvals slide is in the Appendix after this exercise. It combines the skills from Ex 3 and schedules from Ex 6. Read the guardrail in the prompt aloud: workstreams, not people.</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REVISIT step 3: use the Output folder workflow introduced in Ex 1. CLEANUP: skill stays 'Only you'; pause or delete the weekday schedule after class. NEXT: wrap-up and schedule cleanup.</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(2:30-2:35). Recap the THREE tools and everything they built. Reinforce the golden rules. Ask each person to name ONE task for next week. Remind them to pause/delete the Ex 8 and Ex 6 schedules, then leave the clean-up slide up while people pack up.</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the participant workbook, the prompt library, and the custom-skill and Agent Builder guides. Then show the clean-up slide.</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CLEAN UP THE TRAINING DATA (end of required session; leave this up while people pack up, or continue to the optional Appendix if time allows). Attendees used their own work accounts, so they delete only what they made today and keep anything they want to reuse. Deleting or pausing the Ex 8 and Ex 6 schedules comes first: they're usage-billed. Delete skills from Customize rather than deleting their OneDrive files. The Zava custom instructions apply to every future Cowork task, so they should delete or rewrite them. Deleting the Agent Builder agent is permanent and also removes access for anyone it was shared with. Full steps: the end of participant/participant-workbook.md. Host: also follow the day-after row in instructor/readiness-checklist.md.</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APPENDIX DIVIDER (after the required closing and cleanup slides). The following slides are optional: facilitation and troubleshooting, learning objectives, workshop download links, Cowork settings, approvals, custom instructions, and responsible use. Cover them only if time allows, or share them after the workshop. Preserve wrap-up and schedule cleanup; the required workshop timing is unchanged.</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&amp; TROUBLESHOOTING (Appendix reference). Biggest risks with ~25 people: pace variance, account readiness, and quiet mailboxes in Ex 8 (your demo account is seeded with seed-content.md, loaded through VS Code + the Work IQ MCP server). Attendees use their own work accounts; you're on a separate tenant. Never ask anyone to share their Ex 8 dashboard. Mirrors facilitator-guide.md, facilitator-answer-key.md, and readiness-checklist.md (timeline, cost planning, Plan B). Time checks: 0:20 Ex 1, 0:50 Ex 3, 1:20 break, 2:00 Ex 7, 2:15 Ex 8; optional sub-tasks are for fast finishers. If behind, demo optional work; never cut Ex 3.</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LEARNING OBJECTIVES (after Exercise 8, if time allows). Use the six objectives as a recap of what attendees practiced. They mirror the participant workbook. Skip this slide if time is short; preserve wrap-up and schedule cleanup.</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(optional reference, outside the required agenda). Use this for take-away downloads after the exercises or after the workshop. Distribute setup files through the invitation or shared Teams/SharePoint folder before the session.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SETTINGS (Appendix reference). These are mandatory readiness checks, not optional prerequisites. Before class, the host enables usage-based billing and an enabled spending policy selecting Cowork that includes every attendee. Verify remaining policy budget and user/group credit limits have enough headroom for the workshop, retries, and scheduled runs until paused. There is no fixed credit amount guaranteed for every training run: estimate with the Customer Cowork Estimator and test in the attendee tenant. A tiny limit grants access but can interrupt work when exhausted. The screenshots are examples, not a recommendation for All users, No limit, or alerts off. Prefer the workshop group and appropriate limits and alerts. Show the browser-settings screenshot: enable browser use and choose the workshop users or group rather than copying All users. Separately enable Cowork Browsing for attendees in the admin center, and check Edge 152+, the matching work profile, and Allow Cowork to take actions on your behalf. Managed-device policy may require admin help. Run the smoke test and Exercise 2 browser prompt before class. Source: https://learn.microsoft.com/microsoft-365/copilot/cowork/cowork-admin-governance and reference/10-cowork-browser.md; cost planning: instructor/readiness-checklist.md.</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HOW APPROVALS WORK (after Exercise 8, outside the required agenda). Skip if time is short. Show a real approval dialog and name each option: action button, Cancel, Show parameters, Approve All (n), and More options -&gt; Always allow. Reinforce the exercise reminder: one at a time, no Approve All. Show where to revoke: side panel -&gt; Permissions. Detail: reference/07-cowork-ui-walkthrough.md.</a:t>
            </a:r>
          </a:p>
        </p:txBody>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CUSTOM INSTRUCTIONS (after Exercise 8, about 1 min; outside the required agenda). Skip this if time is short and point to the workbook's Appendix for later. Show it live: Customize -&gt; Preferences -&gt; 'Customize instructions for Cowork'. Explain: guidance Cowork automatically adds to the START of every new task, so tone, format, and rules don't have to be repeated in each prompt. Attendees who opt in paste the workbook sample, save, then test in a new task: 'Draft a two-sentence reminder to employees that open enrollment is in November.' The reply should use the tone and end with the confirm-with-HR note. Instructions are personal, support rich text and / references, up to about 20 KB; keep them short. Clear or adapt the Zava sample before returning to real work. Role-based samples are in the workbook's Appendix and reference/02-settings-and-models.md. Pick ONE, not stack them.</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RESPONSIBLE USE (after Exercise 8, outside the required agenda). This detailed recap is optional; the safety rules still apply throughout the exercises. Draft -&gt; review -&gt; approve. Ex 8 runs on their own real data: results stay private, no screen sharing; all other exercises use fictional Zava files; never send to real people (send only to yourself). Cite sources + 'confirm with HR'. Keep recommendations on workstreams, not on evaluating individuals. Detail: reference/06-responsible-use.md.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notesSlide" Target="../notesSlides/notesSlide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notesSlide" Target="../notesSlides/notesSlide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9.png"/><Relationship Id="rId8"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0.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2.png"/><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4.png"/><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5.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raw/main/sample-knowledge/zava-sample-knowledge.zip" TargetMode="External"/><Relationship Id="rId4" Type="http://schemas.openxmlformats.org/officeDocument/2006/relationships/hyperlink" Target="https://github.com/ragage/ai_hr_cowork_workshop/raw/main/participant/quick-reference-card.docx" TargetMode="External"/><Relationship Id="rId5" Type="http://schemas.openxmlformats.org/officeDocument/2006/relationships/hyperlink" Target="https://github.com/ragage/ai_hr_cowork_workshop/raw/main/reference/04-prompt-library.docx" TargetMode="External"/><Relationship Id="rId6" Type="http://schemas.openxmlformats.org/officeDocument/2006/relationships/hyperlink" Target="https://github.com/ragage/ai_hr_cowork_workshop/raw/main/reference/06-responsible-use.docx" TargetMode="External"/><Relationship Id="rId7" Type="http://schemas.openxmlformats.org/officeDocument/2006/relationships/hyperlink" Target="https://github.com/ragage/ai_hr_cowork_workshop/raw/main/participant/after-the-workshop.docx" TargetMode="External"/><Relationship Id="rId8" Type="http://schemas.openxmlformats.org/officeDocument/2006/relationships/hyperlink" Target="https://github.com/ragage/ai_hr_cowork_workshop/raw/main/instructor/instructor-deck.pptx" TargetMode="External"/><Relationship Id="rId9" Type="http://schemas.openxmlformats.org/officeDocument/2006/relationships/hyperlink" Target="https://github.com/ragage/ai_hr_cowork_workshop/raw/main/instructor/facilitator-guide.docx" TargetMode="External"/><Relationship Id="rId10" Type="http://schemas.openxmlformats.org/officeDocument/2006/relationships/hyperlink" Target="https://github.com/ragage/ai_hr_cowork_workshop/raw/main/instructor/facilitator-answer-key.docx" TargetMode="External"/><Relationship Id="rId11" Type="http://schemas.openxmlformats.org/officeDocument/2006/relationships/hyperlink" Target="https://github.com/ragage/ai_hr_cowork_workshop/raw/main/instructor/readiness-checklist.docx" TargetMode="External"/><Relationship Id="rId12" Type="http://schemas.openxmlformats.org/officeDocument/2006/relationships/hyperlink" Target="https://github.com/ragage/ai_hr_cowork_workshop/raw/main/instructor/seed-content.docx" TargetMode="External"/><Relationship Id="rId13" Type="http://schemas.openxmlformats.org/officeDocument/2006/relationships/hyperlink" Target="https://github.com/ragage/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ragage/ai_hr_cowork_workshop" TargetMode="External"/><Relationship Id="rId1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5.xml"/></Relationships>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2 hours 35 minutes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2 hours 35 minutes,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My tasks, Automations,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Deep Research</a:t>
            </a:r>
          </a:p>
          <a:p>
            <a:pPr algn="l">
              <a:spcAft>
                <a:spcPts val="0"/>
              </a:spcAft>
            </a:pPr>
            <a:r>
              <a:rPr sz="1050" b="0" i="0">
                <a:solidFill>
                  <a:srgbClr val="616161"/>
                </a:solidFill>
                <a:latin typeface="Segoe UI"/>
              </a:rPr>
              <a:t>Cited briefing + 5 questions; optional /cost</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Navigate websites</a:t>
            </a:r>
          </a:p>
          <a:p>
            <a:pPr algn="l">
              <a:spcAft>
                <a:spcPts val="0"/>
              </a:spcAft>
            </a:pPr>
            <a:r>
              <a:rPr sz="1050" b="0" i="0">
                <a:solidFill>
                  <a:srgbClr val="616161"/>
                </a:solidFill>
                <a:latin typeface="Segoe UI"/>
              </a:rPr>
              <a:t>Cowork drives Edge: dol.gov + lni.wa.gov</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Build a custom skill</a:t>
            </a:r>
          </a:p>
          <a:p>
            <a:pPr algn="l">
              <a:spcAft>
                <a:spcPts val="0"/>
              </a:spcAft>
            </a:pPr>
            <a:r>
              <a:rPr sz="1050" b="0" i="0">
                <a:solidFill>
                  <a:srgbClr val="616161"/>
                </a:solidFill>
                <a:latin typeface="Segoe UI"/>
              </a:rPr>
              <a:t>Centerpiece: HR Policy Answer</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Recruiting + reporting</a:t>
            </a:r>
          </a:p>
          <a:p>
            <a:pPr algn="l">
              <a:spcAft>
                <a:spcPts val="0"/>
              </a:spcAft>
            </a:pPr>
            <a:r>
              <a:rPr sz="1050" b="0" i="0">
                <a:solidFill>
                  <a:srgbClr val="616161"/>
                </a:solidFill>
                <a:latin typeface="Segoe UI"/>
              </a:rPr>
              <a:t>Inclusive job posting + ticket summary</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Onboarding pack</a:t>
            </a:r>
          </a:p>
          <a:p>
            <a:pPr algn="l">
              <a:spcAft>
                <a:spcPts val="0"/>
              </a:spcAft>
            </a:pPr>
            <a:r>
              <a:rPr sz="1050" b="0" i="0">
                <a:solidFill>
                  <a:srgbClr val="616161"/>
                </a:solidFill>
                <a:latin typeface="Segoe UI"/>
              </a:rPr>
              <a:t>Orientation deck (+ kickoff, announcement)</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Automate &amp; share</a:t>
            </a:r>
          </a:p>
          <a:p>
            <a:pPr algn="l">
              <a:spcAft>
                <a:spcPts val="0"/>
              </a:spcAft>
            </a:pPr>
            <a:r>
              <a:rPr sz="1050" b="0" i="0">
                <a:solidFill>
                  <a:srgbClr val="616161"/>
                </a:solidFill>
                <a:latin typeface="Segoe UI"/>
              </a:rPr>
              <a:t>Automations + Daily Briefing (+ sharing)</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Agent Builder</a:t>
            </a:r>
          </a:p>
          <a:p>
            <a:pPr algn="l">
              <a:spcAft>
                <a:spcPts val="0"/>
              </a:spcAft>
            </a:pPr>
            <a:r>
              <a:rPr sz="1050" b="0" i="0">
                <a:solidFill>
                  <a:srgbClr val="616161"/>
                </a:solidFill>
                <a:latin typeface="Segoe UI"/>
              </a:rPr>
              <a:t>Non-Cowork: build an HR Policy Agent</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Executive Command Center</a:t>
            </a:r>
          </a:p>
          <a:p>
            <a:pPr algn="l">
              <a:spcAft>
                <a:spcPts val="0"/>
              </a:spcAft>
            </a:pPr>
            <a:r>
              <a:rPr sz="1050" b="0" i="0">
                <a:solidFill>
                  <a:srgbClr val="616161"/>
                </a:solidFill>
                <a:latin typeface="Segoe UI"/>
              </a:rPr>
              <a:t>Capstone: HTML dashboard, skill, schedule</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also use a third tool — </a:t>
            </a:r>
            <a:r>
              <a:rPr sz="1300" b="1" i="0">
                <a:solidFill>
                  <a:srgbClr val="323139"/>
                </a:solidFill>
                <a:latin typeface="Segoe UI"/>
              </a:rPr>
              <a:t>Agent Builder</a:t>
            </a:r>
            <a:r>
              <a:rPr sz="1300" b="0" i="0">
                <a:solidFill>
                  <a:srgbClr val="323139"/>
                </a:solidFill>
                <a:latin typeface="Segoe UI"/>
              </a:rPr>
              <a:t> — in Exercise 7.</a:t>
            </a:r>
          </a:p>
        </p:txBody>
      </p:sp>
    </p:spTree>
    <p:extLst>
      <p:ext uri="{BB962C8B-B14F-4D97-AF65-F5344CB8AC3E}">
        <p14:creationId xmlns:p14="http://schemas.microsoft.com/office/powerpoint/2010/main" val="418314712"/>
      </p:ext>
    </p:extLst>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imag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2)</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8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3)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Sample Cowork prompts to get started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Open a new task, pick a suggestion, then tailor the outcome and guardrails.</a:t>
            </a:r>
          </a:p>
        </p:txBody>
      </p:sp>
      <p:sp>
        <p:nvSpPr>
          <p:cNvPr id="4" name="TextBox 3"/>
          <p:cNvSpPr txBox="1"/>
          <p:nvPr/>
        </p:nvSpPr>
        <p:spPr>
          <a:xfrm>
            <a:off x="502920" y="1417320"/>
            <a:ext cx="1828800"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1 · Cowork → New task</a:t>
            </a:r>
          </a:p>
        </p:txBody>
      </p:sp>
      <p:pic>
        <p:nvPicPr>
          <p:cNvPr id="5" name="Picture 4" descr="Copilot navigation with Cowork selected and New task highlighted."/>
          <p:cNvPicPr>
            <a:picLocks noChangeAspect="1"/>
          </p:cNvPicPr>
          <p:nvPr/>
        </p:nvPicPr>
        <p:blipFill>
          <a:blip r:embed="rId2"/>
          <a:stretch>
            <a:fillRect/>
          </a:stretch>
        </p:blipFill>
        <p:spPr>
          <a:xfrm>
            <a:off x="502920" y="1874519"/>
            <a:ext cx="1828800" cy="1593618"/>
          </a:xfrm>
          <a:prstGeom prst="rect">
            <a:avLst/>
          </a:prstGeom>
        </p:spPr>
      </p:pic>
      <p:sp>
        <p:nvSpPr>
          <p:cNvPr id="6" name="TextBox 5"/>
          <p:cNvSpPr txBox="1"/>
          <p:nvPr/>
        </p:nvSpPr>
        <p:spPr>
          <a:xfrm>
            <a:off x="2560320" y="1417320"/>
            <a:ext cx="5440680"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2 · Try these next</a:t>
            </a:r>
          </a:p>
        </p:txBody>
      </p:sp>
      <p:pic>
        <p:nvPicPr>
          <p:cNvPr id="7" name="Picture 6" descr="Cowork home page with Start a task and suggestions: Organize my inbox, Arrange my week, Prep for a meeting."/>
          <p:cNvPicPr>
            <a:picLocks noChangeAspect="1"/>
          </p:cNvPicPr>
          <p:nvPr/>
        </p:nvPicPr>
        <p:blipFill>
          <a:blip r:embed="rId3"/>
          <a:stretch>
            <a:fillRect/>
          </a:stretch>
        </p:blipFill>
        <p:spPr>
          <a:xfrm>
            <a:off x="2560320" y="1874519"/>
            <a:ext cx="5440680" cy="3167886"/>
          </a:xfrm>
          <a:prstGeom prst="rect">
            <a:avLst/>
          </a:prstGeom>
        </p:spPr>
      </p:pic>
      <p:sp>
        <p:nvSpPr>
          <p:cNvPr id="8" name="TextBox 7"/>
          <p:cNvSpPr txBox="1"/>
          <p:nvPr/>
        </p:nvSpPr>
        <p:spPr>
          <a:xfrm>
            <a:off x="8229600" y="1417320"/>
            <a:ext cx="3456432"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3 · Browse Task ideas</a:t>
            </a:r>
          </a:p>
        </p:txBody>
      </p:sp>
      <p:pic>
        <p:nvPicPr>
          <p:cNvPr id="9" name="Picture 8" descr="Task ideas categorized by Triage, Research, Create, Meetings, and Automate; examples include Morning briefing and Calendar audit."/>
          <p:cNvPicPr>
            <a:picLocks noChangeAspect="1"/>
          </p:cNvPicPr>
          <p:nvPr/>
        </p:nvPicPr>
        <p:blipFill>
          <a:blip r:embed="rId4"/>
          <a:stretch>
            <a:fillRect/>
          </a:stretch>
        </p:blipFill>
        <p:spPr>
          <a:xfrm>
            <a:off x="8229600" y="1874519"/>
            <a:ext cx="3456432" cy="3398899"/>
          </a:xfrm>
          <a:prstGeom prst="rect">
            <a:avLst/>
          </a:prstGeom>
        </p:spPr>
      </p:pic>
      <p:sp>
        <p:nvSpPr>
          <p:cNvPr id="10" name="Rounded Rectangle 9">
            <a:extLst>
              <a:ext uri="{C183D7F6-B498-43B3-948B-1728B52AA6E4}">
                <ns0:decorative xmlns:ns0="http://schemas.microsoft.com/office/drawing/2017/decorative" val="1"/>
              </a:ext>
            </a:extLst>
          </p:cNvPr>
          <p:cNvSpPr/>
          <p:nvPr/>
        </p:nvSpPr>
        <p:spPr>
          <a:xfrm>
            <a:off x="502920" y="5486400"/>
            <a:ext cx="11183112" cy="86868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486400"/>
            <a:ext cx="10634472" cy="86868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Try:</a:t>
            </a:r>
            <a:r>
              <a:rPr sz="1300" b="0" i="0">
                <a:solidFill>
                  <a:srgbClr val="323139"/>
                </a:solidFill>
                <a:latin typeface="Segoe UI"/>
              </a:rPr>
              <a:t> "Draft a morning briefing from today's calendar and unread emails; cite sources."
</a:t>
            </a:r>
            <a:r>
              <a:rPr sz="1300" b="1" i="0">
                <a:solidFill>
                  <a:srgbClr val="323139"/>
                </a:solidFill>
                <a:latin typeface="Segoe UI"/>
              </a:rPr>
              <a:t>Or:</a:t>
            </a:r>
            <a:r>
              <a:rPr sz="1300" b="0" i="0">
                <a:solidFill>
                  <a:srgbClr val="323139"/>
                </a:solidFill>
                <a:latin typeface="Segoe UI"/>
              </a:rPr>
              <a:t> "Review next week's calendar and suggest focus time; do not change any meetings."</a:t>
            </a:r>
          </a:p>
        </p:txBody>
      </p:sp>
    </p:spTree>
    <p:extLst>
      <p:ext uri="{BB962C8B-B14F-4D97-AF65-F5344CB8AC3E}">
        <p14:creationId xmlns:p14="http://schemas.microsoft.com/office/powerpoint/2010/main" val="418314712"/>
      </p:ext>
    </p:extLst>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magnifying glass, for Deep Research"/>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type </a:t>
            </a:r>
            <a:r>
              <a:rPr sz="1500" b="1" i="0">
                <a:solidFill>
                  <a:srgbClr val="323139"/>
                </a:solidFill>
                <a:latin typeface="Segoe UI"/>
              </a:rPr>
              <a:t>/cost</a:t>
            </a:r>
            <a:r>
              <a:rPr sz="1500" b="0" i="0">
                <a:solidFill>
                  <a:srgbClr val="323139"/>
                </a:solidFill>
                <a:latin typeface="Segoe UI"/>
              </a:rPr>
              <a:t> in this task to check approximate credits used (next slide).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optional Word or Excel scorecard: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Follow the demo; if you built the optional scorecard, open your own files too.</a:t>
            </a:r>
          </a:p>
        </p:txBody>
      </p:sp>
      <p:sp>
        <p:nvSpPr>
          <p:cNvPr id="55" name="Rounded Rectangle 54">
            <a:extLst>
              <a:ext uri="{C183D7F6-B498-43B3-948B-1728B52AA6E4}">
                <ns2:decorative xmlns:ns2="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4:decorative xmlns:ns4="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5:decorative xmlns:ns5="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interviewer-scorecard.docx</a:t>
            </a:r>
          </a:p>
        </p:txBody>
      </p:sp>
      <p:sp>
        <p:nvSpPr>
          <p:cNvPr id="68" name="Rounded Rectangle 67">
            <a:extLst>
              <a:ext uri="{C183D7F6-B498-43B3-948B-1728B52AA6E4}">
                <ns6:decorative xmlns:ns6="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7:decorative xmlns:ns7="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Scheduled runs (used later in the training)</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Optional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If time allows</a:t>
            </a:r>
          </a:p>
        </p:txBody>
      </p:sp>
      <p:sp>
        <p:nvSpPr>
          <p:cNvPr id="54" name="TextBox 53"/>
          <p:cNvSpPr txBox="1"/>
          <p:nvPr/>
        </p:nvSpPr>
        <p:spPr>
          <a:xfrm>
            <a:off x="777240" y="1508760"/>
            <a:ext cx="6035040" cy="1280160"/>
          </a:xfrm>
          <a:prstGeom prst="rect">
            <a:avLst/>
          </a:prstGeom>
          <a:noFill/>
        </p:spPr>
        <p:txBody>
          <a:bodyPr wrap="square" anchor="t" lIns="0" rIns="0" tIns="0" bIns="0">
            <a:spAutoFit/>
          </a:bodyPr>
          <a:lstStyle/>
          <a:p>
            <a:pPr algn="l" marL="237744" indent="-237744">
              <a:lnSpc>
                <a:spcPct val="105000"/>
              </a:lnSpc>
              <a:spcAft>
                <a:spcPts val="700"/>
              </a:spcAft>
              <a:buFont typeface="+mj-lt"/>
              <a:buAutoNum type="arabicPeriod"/>
            </a:pPr>
            <a:r>
              <a:rPr sz="1400" b="0" i="0">
                <a:solidFill>
                  <a:srgbClr val="323139"/>
                </a:solidFill>
                <a:latin typeface="Segoe UI"/>
              </a:rPr>
              <a:t>Stay in your </a:t>
            </a:r>
            <a:r>
              <a:rPr sz="1400" b="1" i="0">
                <a:solidFill>
                  <a:srgbClr val="323139"/>
                </a:solidFill>
                <a:latin typeface="Segoe UI"/>
              </a:rPr>
              <a:t>Deep Research</a:t>
            </a:r>
            <a:r>
              <a:rPr sz="1400" b="0" i="0">
                <a:solidFill>
                  <a:srgbClr val="323139"/>
                </a:solidFill>
                <a:latin typeface="Segoe UI"/>
              </a:rPr>
              <a:t> task.</a:t>
            </a:r>
          </a:p>
          <a:p>
            <a:pPr algn="l" marL="237744" indent="-237744">
              <a:lnSpc>
                <a:spcPct val="105000"/>
              </a:lnSpc>
              <a:spcAft>
                <a:spcPts val="700"/>
              </a:spcAft>
              <a:buFont typeface="+mj-lt"/>
              <a:buAutoNum type="arabicPeriod"/>
            </a:pPr>
            <a:r>
              <a:rPr sz="1400" b="0" i="0">
                <a:solidFill>
                  <a:srgbClr val="323139"/>
                </a:solidFill>
                <a:latin typeface="Segoe UI"/>
              </a:rPr>
              <a:t>Type </a:t>
            </a:r>
            <a:r>
              <a:rPr sz="1400" b="1" i="0">
                <a:solidFill>
                  <a:srgbClr val="323139"/>
                </a:solidFill>
                <a:latin typeface="Segoe UI"/>
              </a:rPr>
              <a:t>/cost</a:t>
            </a:r>
            <a:r>
              <a:rPr sz="1400" b="0" i="0">
                <a:solidFill>
                  <a:srgbClr val="323139"/>
                </a:solidFill>
                <a:latin typeface="Segoe UI"/>
              </a:rPr>
              <a:t>, select the skill below, and send it.</a:t>
            </a:r>
          </a:p>
          <a:p>
            <a:pPr algn="l" marL="237744" indent="-237744">
              <a:lnSpc>
                <a:spcPct val="105000"/>
              </a:lnSpc>
              <a:spcAft>
                <a:spcPts val="700"/>
              </a:spcAft>
              <a:buFont typeface="+mj-lt"/>
              <a:buAutoNum type="arabicPeriod"/>
            </a:pPr>
            <a:r>
              <a:rPr sz="1400" b="0" i="0">
                <a:solidFill>
                  <a:srgbClr val="323139"/>
                </a:solidFill>
                <a:latin typeface="Segoe UI"/>
              </a:rPr>
              <a:t>Read the approximate </a:t>
            </a:r>
            <a:r>
              <a:rPr sz="1400" b="1" i="0">
                <a:solidFill>
                  <a:srgbClr val="323139"/>
                </a:solidFill>
                <a:latin typeface="Segoe UI"/>
              </a:rPr>
              <a:t>credits used by this task so far</a:t>
            </a:r>
            <a:r>
              <a:rPr sz="1400" b="0" i="0">
                <a:solidFill>
                  <a:srgbClr val="323139"/>
                </a:solidFill>
                <a:latin typeface="Segoe UI"/>
              </a:rPr>
              <a:t>.</a:t>
            </a:r>
          </a:p>
        </p:txBody>
      </p:sp>
      <p:pic>
        <p:nvPicPr>
          <p:cNvPr id="55" name="Picture 54" descr="Cowork skill picker: /cost shows credits used so far and does not cost credits to use."/>
          <p:cNvPicPr>
            <a:picLocks noChangeAspect="1"/>
          </p:cNvPicPr>
          <p:nvPr/>
        </p:nvPicPr>
        <p:blipFill>
          <a:blip r:embed="rId7"/>
          <a:stretch>
            <a:fillRect/>
          </a:stretch>
        </p:blipFill>
        <p:spPr>
          <a:xfrm>
            <a:off x="685800" y="2926080"/>
            <a:ext cx="6144768" cy="935590"/>
          </a:xfrm>
          <a:prstGeom prst="rect">
            <a:avLst/>
          </a:prstGeom>
        </p:spPr>
      </p:pic>
      <p:sp>
        <p:nvSpPr>
          <p:cNvPr id="56" name="TextBox 55"/>
          <p:cNvSpPr txBox="1"/>
          <p:nvPr/>
        </p:nvSpPr>
        <p:spPr>
          <a:xfrm>
            <a:off x="777240" y="4041648"/>
            <a:ext cx="5852160" cy="1051560"/>
          </a:xfrm>
          <a:prstGeom prst="rect">
            <a:avLst/>
          </a:prstGeom>
          <a:noFill/>
        </p:spPr>
        <p:txBody>
          <a:bodyPr wrap="square" anchor="t" lIns="0" rIns="0" tIns="0" bIns="0">
            <a:spAutoFit/>
          </a:bodyPr>
          <a:lstStyle/>
          <a:p>
            <a:pPr algn="l" marL="182880" indent="-182880">
              <a:spcAft>
                <a:spcPts val="600"/>
              </a:spcAft>
              <a:buFont typeface="Arial"/>
              <a:buChar char="•"/>
            </a:pPr>
            <a:r>
              <a:rPr sz="1200" b="1" i="0">
                <a:solidFill>
                  <a:srgbClr val="323139"/>
                </a:solidFill>
                <a:latin typeface="Segoe UI"/>
              </a:rPr>
              <a:t>/cost is free</a:t>
            </a:r>
            <a:r>
              <a:rPr sz="1200" b="0" i="0">
                <a:solidFill>
                  <a:srgbClr val="323139"/>
                </a:solidFill>
                <a:latin typeface="Segoe UI"/>
              </a:rPr>
              <a:t>; the result is an estimate, not a bill.</a:t>
            </a:r>
          </a:p>
          <a:p>
            <a:pPr algn="l" marL="182880" indent="-182880">
              <a:spcAft>
                <a:spcPts val="600"/>
              </a:spcAft>
              <a:buFont typeface="Arial"/>
              <a:buChar char="•"/>
            </a:pPr>
            <a:r>
              <a:rPr sz="1200" b="0" i="0">
                <a:solidFill>
                  <a:srgbClr val="323139"/>
                </a:solidFill>
                <a:latin typeface="Segoe UI"/>
              </a:rPr>
              <a:t>Usage totals may be delayed. Reopen any earlier task to check it.</a:t>
            </a:r>
          </a:p>
          <a:p>
            <a:pPr algn="l" marL="182880" indent="-182880">
              <a:spcAft>
                <a:spcPts val="600"/>
              </a:spcAft>
              <a:buFont typeface="Arial"/>
              <a:buChar char="•"/>
            </a:pPr>
            <a:r>
              <a:rPr sz="1200" b="0" i="0">
                <a:solidFill>
                  <a:srgbClr val="323139"/>
                </a:solidFill>
                <a:latin typeface="Segoe UI"/>
              </a:rPr>
              <a:t>The Usage panel shows </a:t>
            </a:r>
            <a:r>
              <a:rPr sz="1200" b="1" i="0">
                <a:solidFill>
                  <a:srgbClr val="323139"/>
                </a:solidFill>
                <a:latin typeface="Segoe UI"/>
              </a:rPr>
              <a:t>monthly consumption</a:t>
            </a:r>
            <a:r>
              <a:rPr sz="1200" b="0" i="0">
                <a:solidFill>
                  <a:srgbClr val="323139"/>
                </a:solidFill>
                <a:latin typeface="Segoe UI"/>
              </a:rPr>
              <a:t>, not this task alone.</a:t>
            </a:r>
          </a:p>
        </p:txBody>
      </p:sp>
      <p:sp>
        <p:nvSpPr>
          <p:cNvPr id="57" name="Rounded Rectangle 56">
            <a:extLst>
              <a:ext uri="{C183D7F6-B498-43B3-948B-1728B52AA6E4}">
                <ns2:decorative xmlns:ns2="http://schemas.microsoft.com/office/drawing/2017/decorative" val="1"/>
              </a:ext>
            </a:extLst>
          </p:cNvPr>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Scheduled tasks use credits on every run. </a:t>
            </a:r>
            <a:r>
              <a:rPr sz="1250" b="0" i="0">
                <a:solidFill>
                  <a:srgbClr val="FFFFFF"/>
                </a:solidFill>
                <a:latin typeface="Segoe Sans Display"/>
              </a:rPr>
              <a:t>Pause it after class: Automations → Manage schedules.</a:t>
            </a:r>
          </a:p>
        </p:txBody>
      </p:sp>
      <p:sp>
        <p:nvSpPr>
          <p:cNvPr id="59" name="Rounded Rectangle 58">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Usage · monthly consumption</a:t>
            </a:r>
          </a:p>
        </p:txBody>
      </p:sp>
      <p:pic>
        <p:nvPicPr>
          <p:cNvPr id="61" name="Picture 60" descr="Example Usage panel: 732 credits used this month, unlimited credit limit, daily usage chart for October 3 to 9, and a notice that totals may be delayed."/>
          <p:cNvPicPr>
            <a:picLocks noChangeAspect="1"/>
          </p:cNvPicPr>
          <p:nvPr/>
        </p:nvPicPr>
        <p:blipFill>
          <a:blip r:embed="rId8"/>
          <a:stretch>
            <a:fillRect/>
          </a:stretch>
        </p:blipFill>
        <p:spPr>
          <a:xfrm>
            <a:off x="7635240" y="1691640"/>
            <a:ext cx="4206240" cy="4217194"/>
          </a:xfrm>
          <a:prstGeom prst="rect">
            <a:avLst/>
          </a:prstGeom>
        </p:spPr>
      </p:pic>
      <p:sp>
        <p:nvSpPr>
          <p:cNvPr id="62" name="TextBox 61"/>
          <p:cNvSpPr txBox="1"/>
          <p:nvPr/>
        </p:nvSpPr>
        <p:spPr>
          <a:xfrm>
            <a:off x="7726679" y="6080760"/>
            <a:ext cx="4023360" cy="27432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Example account; your limits and totals may differ.</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globe, for navigating websites with Cowork's browser"/>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hammer and wrench, for building a custom skill"/>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clipboard, for recruiting and reporting"/>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1:05–1:20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4a: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4b: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6</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5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party popper, for welcoming a new hire"/>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1:35–1:45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5b: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5c: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5a is the must-do; 5b and 5c are optional</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n alarm clock, for scheduled automations"/>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1:45–2:00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7" descr="Illustration of a robot, for the HR Policy Agent"/>
          <p:cNvPicPr>
            <a:picLocks noChangeAspect="1"/>
          </p:cNvPicPr>
          <p:nvPr/>
        </p:nvPicPr>
        <p:blipFill>
          <a:blip r:embed="rId7"/>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2:00–2:15</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8001000" y="3639312"/>
            <a:ext cx="3749039"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001000" y="3639312"/>
            <a:ext cx="3749039" cy="4572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
        <p:nvSpPr>
          <p:cNvPr id="914" name="Rounded Rectangle 913">
            <a:extLst>
              <a:ext uri="{C183D7F6-B498-43B3-948B-1728B52AA6E4}">
                <ns1:decorative xmlns:ns1="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6" name="Picture 915"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3)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bar chart, for the executive command center dashboard"/>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2:15–2:30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(use the Output folder workflow from Ex 1).</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Before you leave:</a:t>
            </a:r>
            <a:r>
              <a:rPr sz="1400" b="0" i="0">
                <a:solidFill>
                  <a:srgbClr val="FFFFFF"/>
                </a:solidFill>
                <a:latin typeface="Segoe UI"/>
              </a:rPr>
              <a:t> clean up the training data with the upcoming cleanup slide. At minimum, delete or pause your Exercise 8 and 6 schedules.</a:t>
            </a:r>
          </a:p>
        </p:txBody>
      </p:sp>
    </p:spTree>
    <p:extLst>
      <p:ext uri="{BB962C8B-B14F-4D97-AF65-F5344CB8AC3E}">
        <p14:creationId xmlns:p14="http://schemas.microsoft.com/office/powerpoint/2010/main" val="418314712"/>
      </p:ext>
    </p:extLst>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Thank you</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Clean up the training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Before you leave (or later today): delete only what you made in the workshop, in this order.</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STOP AND REVIEW IN COPILOT</a:t>
            </a:r>
          </a:p>
        </p:txBody>
      </p:sp>
      <p:sp>
        <p:nvSpPr>
          <p:cNvPr id="7" name="TextBox 6"/>
          <p:cNvSpPr txBox="1"/>
          <p:nvPr/>
        </p:nvSpPr>
        <p:spPr>
          <a:xfrm>
            <a:off x="649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Automations → Manage schedules:</a:t>
            </a:r>
            <a:r>
              <a:rPr sz="1300" b="0" i="0">
                <a:solidFill>
                  <a:srgbClr val="242424"/>
                </a:solidFill>
                <a:latin typeface="Segoe UI"/>
              </a:rPr>
              <a:t> delete or pause the Ex 8 command center and Ex 6 ticket digest</a:t>
            </a:r>
          </a:p>
          <a:p>
            <a:pPr algn="l" marL="182880" indent="-182880">
              <a:spcAft>
                <a:spcPts val="500"/>
              </a:spcAft>
              <a:buFont typeface="Arial"/>
              <a:buChar char="•"/>
            </a:pPr>
            <a:r>
              <a:rPr sz="1300" b="1" i="0">
                <a:solidFill>
                  <a:srgbClr val="242424"/>
                </a:solidFill>
                <a:latin typeface="Segoe UI"/>
              </a:rPr>
              <a:t>Customize → Skills:</a:t>
            </a:r>
            <a:r>
              <a:rPr sz="1300" b="0" i="0">
                <a:solidFill>
                  <a:srgbClr val="242424"/>
                </a:solidFill>
                <a:latin typeface="Segoe UI"/>
              </a:rPr>
              <a:t> delete Executive Command Center and HR Policy Answer unless you’ll use them</a:t>
            </a:r>
          </a:p>
          <a:p>
            <a:pPr algn="l" marL="182880" indent="-182880">
              <a:spcAft>
                <a:spcPts val="500"/>
              </a:spcAft>
              <a:buFont typeface="Arial"/>
              <a:buChar char="•"/>
            </a:pPr>
            <a:r>
              <a:rPr sz="1300" b="1" i="0">
                <a:solidFill>
                  <a:srgbClr val="242424"/>
                </a:solidFill>
                <a:latin typeface="Segoe UI"/>
              </a:rPr>
              <a:t>Customize → Preferences:</a:t>
            </a:r>
            <a:r>
              <a:rPr sz="1300" b="0" i="0">
                <a:solidFill>
                  <a:srgbClr val="242424"/>
                </a:solidFill>
                <a:latin typeface="Segoe UI"/>
              </a:rPr>
              <a:t> if set in the optional section, delete or rewrite the Zava instructions</a:t>
            </a:r>
          </a:p>
          <a:p>
            <a:pPr algn="l" marL="182880" indent="-182880">
              <a:spcAft>
                <a:spcPts val="500"/>
              </a:spcAft>
              <a:buFont typeface="Arial"/>
              <a:buChar char="•"/>
            </a:pPr>
            <a:r>
              <a:rPr sz="1300" b="1" i="0">
                <a:solidFill>
                  <a:srgbClr val="242424"/>
                </a:solidFill>
                <a:latin typeface="Segoe UI"/>
              </a:rPr>
              <a:t>Copilot → agent … menu:</a:t>
            </a:r>
            <a:r>
              <a:rPr sz="1300" b="0" i="0">
                <a:solidFill>
                  <a:srgbClr val="242424"/>
                </a:solidFill>
                <a:latin typeface="Segoe UI"/>
              </a:rPr>
              <a:t> delete HR Policy Agent if you don’t need it (permanent)</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2  DELETE THE ZAVA FILES</a:t>
            </a:r>
          </a:p>
        </p:txBody>
      </p:sp>
      <p:sp>
        <p:nvSpPr>
          <p:cNvPr id="11" name="TextBox 10"/>
          <p:cNvSpPr txBox="1"/>
          <p:nvPr/>
        </p:nvSpPr>
        <p:spPr>
          <a:xfrm>
            <a:off x="6364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OneDrive:</a:t>
            </a:r>
            <a:r>
              <a:rPr sz="1300" b="0" i="0">
                <a:solidFill>
                  <a:srgbClr val="242424"/>
                </a:solidFill>
                <a:latin typeface="Segoe UI"/>
              </a:rPr>
              <a:t> delete Documents/ai_hr_cowork_workshop and the Zava files in </a:t>
            </a:r>
            <a:r>
              <a:rPr sz="1300" b="1" i="0">
                <a:solidFill>
                  <a:srgbClr val="242424"/>
                </a:solidFill>
                <a:latin typeface="Segoe UI"/>
              </a:rPr>
              <a:t>Cowork</a:t>
            </a:r>
          </a:p>
          <a:p>
            <a:pPr algn="l" marL="182880" indent="-182880">
              <a:spcAft>
                <a:spcPts val="500"/>
              </a:spcAft>
              <a:buFont typeface="Arial"/>
              <a:buChar char="•"/>
            </a:pPr>
            <a:r>
              <a:rPr sz="1300" b="1" i="0">
                <a:solidFill>
                  <a:srgbClr val="242424"/>
                </a:solidFill>
                <a:latin typeface="Segoe UI"/>
              </a:rPr>
              <a:t>Outlook:</a:t>
            </a:r>
            <a:r>
              <a:rPr sz="1300" b="0" i="0">
                <a:solidFill>
                  <a:srgbClr val="242424"/>
                </a:solidFill>
                <a:latin typeface="Segoe UI"/>
              </a:rPr>
              <a:t> delete the Sofia announcement draft and the kickoff meeting (optional Ex 5 tasks)</a:t>
            </a:r>
          </a:p>
          <a:p>
            <a:pPr algn="l" marL="182880" indent="-182880">
              <a:spcAft>
                <a:spcPts val="500"/>
              </a:spcAft>
              <a:buFont typeface="Arial"/>
              <a:buChar char="•"/>
            </a:pPr>
            <a:r>
              <a:rPr sz="1300" b="1" i="0">
                <a:solidFill>
                  <a:srgbClr val="242424"/>
                </a:solidFill>
                <a:latin typeface="Segoe UI"/>
              </a:rPr>
              <a:t>Laptop:</a:t>
            </a:r>
            <a:r>
              <a:rPr sz="1300" b="0" i="0">
                <a:solidFill>
                  <a:srgbClr val="242424"/>
                </a:solidFill>
                <a:latin typeface="Segoe UI"/>
              </a:rPr>
              <a:t> delete the zip, the extracted files, and any </a:t>
            </a:r>
            <a:r>
              <a:rPr sz="1300" b="1" i="0">
                <a:solidFill>
                  <a:srgbClr val="242424"/>
                </a:solidFill>
                <a:latin typeface="Segoe UI"/>
              </a:rPr>
              <a:t>Download All</a:t>
            </a:r>
            <a:r>
              <a:rPr sz="1300" b="0" i="0">
                <a:solidFill>
                  <a:srgbClr val="242424"/>
                </a:solidFill>
                <a:latin typeface="Segoe UI"/>
              </a:rPr>
              <a:t> zips</a:t>
            </a:r>
          </a:p>
          <a:p>
            <a:pPr algn="l" marL="182880" indent="-182880">
              <a:spcAft>
                <a:spcPts val="500"/>
              </a:spcAft>
              <a:buFont typeface="Arial"/>
              <a:buChar char="•"/>
            </a:pPr>
            <a:r>
              <a:rPr sz="1300" b="1" i="0">
                <a:solidFill>
                  <a:srgbClr val="242424"/>
                </a:solidFill>
                <a:latin typeface="Segoe UI"/>
              </a:rPr>
              <a:t>Shared laptop:</a:t>
            </a:r>
            <a:r>
              <a:rPr sz="1300" b="0" i="0">
                <a:solidFill>
                  <a:srgbClr val="242424"/>
                </a:solidFill>
                <a:latin typeface="Segoe UI"/>
              </a:rPr>
              <a:t> sign out of Microsoft 365</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Host, day after:</a:t>
            </a:r>
            <a:r>
              <a:rPr sz="1300" b="0" i="0">
                <a:solidFill>
                  <a:srgbClr val="FFFFFF"/>
                </a:solidFill>
                <a:latin typeface="Segoe UI"/>
              </a:rPr>
              <a:t> remind attendees about their schedules; remove the workshop group from the Cowork spending policy if attendees shouldn’t keep access. </a:t>
            </a:r>
            <a:r>
              <a:rPr sz="1300" b="1" i="0">
                <a:solidFill>
                  <a:srgbClr val="FFFFFF"/>
                </a:solidFill>
                <a:latin typeface="Segoe UI"/>
              </a:rPr>
              <a:t>Facilitator:</a:t>
            </a:r>
            <a:r>
              <a:rPr sz="1300" b="0" i="0">
                <a:solidFill>
                  <a:srgbClr val="FFFFFF"/>
                </a:solidFill>
                <a:latin typeface="Segoe UI"/>
              </a:rPr>
              <a:t> clean up your demo tenant (seed content, demo schedules, skills, and agents).</a:t>
            </a:r>
          </a:p>
        </p:txBody>
      </p:sp>
    </p:spTree>
    <p:extLst>
      <p:ext uri="{BB962C8B-B14F-4D97-AF65-F5344CB8AC3E}">
        <p14:creationId xmlns:p14="http://schemas.microsoft.com/office/powerpoint/2010/main" val="418314712"/>
      </p:ext>
    </p:extLst>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Appendix</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Optional recaps, walkthroughs, and workshop resources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optional reference after the workshop.</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8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settings — Edge browsing &amp; Copilot Credits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Complete these prerequisites before training; this Appendix slide is a setup reference.</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0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9379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EDGE BROWSING · ADMIN + USER</a:t>
            </a:r>
          </a:p>
        </p:txBody>
      </p:sp>
      <p:sp>
        <p:nvSpPr>
          <p:cNvPr id="7" name="TextBox 6"/>
          <p:cNvSpPr txBox="1"/>
          <p:nvPr/>
        </p:nvSpPr>
        <p:spPr>
          <a:xfrm>
            <a:off x="649224" y="2084832"/>
            <a:ext cx="5193792" cy="1463039"/>
          </a:xfrm>
          <a:prstGeom prst="rect">
            <a:avLst/>
          </a:prstGeom>
          <a:noFill/>
        </p:spPr>
        <p:txBody>
          <a:bodyPr wrap="square" anchor="t" lIns="0" rIns="0" tIns="0" bIns="0">
            <a:spAutoFit/>
          </a:bodyPr>
          <a:lstStyle/>
          <a:p>
            <a:pPr algn="l" marL="182880" indent="-182880">
              <a:spcAft>
                <a:spcPts val="500"/>
              </a:spcAft>
              <a:buFont typeface="Arial"/>
              <a:buChar char="•"/>
            </a:pPr>
            <a:r>
              <a:rPr sz="1200" b="1" i="0">
                <a:solidFill>
                  <a:srgbClr val="242424"/>
                </a:solidFill>
                <a:latin typeface="Segoe UI"/>
              </a:rPr>
              <a:t>Admin:</a:t>
            </a:r>
            <a:r>
              <a:rPr sz="1200" b="0" i="0">
                <a:solidFill>
                  <a:srgbClr val="242424"/>
                </a:solidFill>
                <a:latin typeface="Segoe UI"/>
              </a:rPr>
              <a:t> Copilot → Settings → View all → Cowork settings → Allow browser access; include attendees.</a:t>
            </a:r>
          </a:p>
          <a:p>
            <a:pPr algn="l" marL="182880" indent="-182880">
              <a:spcAft>
                <a:spcPts val="500"/>
              </a:spcAft>
              <a:buFont typeface="Arial"/>
              <a:buChar char="•"/>
            </a:pPr>
            <a:r>
              <a:rPr sz="1200" b="1" i="0">
                <a:solidFill>
                  <a:srgbClr val="242424"/>
                </a:solidFill>
                <a:latin typeface="Segoe UI"/>
              </a:rPr>
              <a:t>User:</a:t>
            </a:r>
            <a:r>
              <a:rPr sz="1200" b="0" i="0">
                <a:solidFill>
                  <a:srgbClr val="242424"/>
                </a:solidFill>
                <a:latin typeface="Segoe UI"/>
              </a:rPr>
              <a:t> Edge 152+, work-account profile; no InPrivate or guest window.</a:t>
            </a:r>
          </a:p>
          <a:p>
            <a:pPr algn="l" marL="182880" indent="-182880">
              <a:spcAft>
                <a:spcPts val="500"/>
              </a:spcAft>
              <a:buFont typeface="Arial"/>
              <a:buChar char="•"/>
            </a:pPr>
            <a:r>
              <a:rPr sz="1200" b="0" i="0">
                <a:solidFill>
                  <a:srgbClr val="242424"/>
                </a:solidFill>
                <a:latin typeface="Segoe UI"/>
              </a:rPr>
              <a:t>In Edge Settings, search </a:t>
            </a:r>
            <a:r>
              <a:rPr sz="1200" b="1" i="0">
                <a:solidFill>
                  <a:srgbClr val="242424"/>
                </a:solidFill>
                <a:latin typeface="Segoe UI"/>
              </a:rPr>
              <a:t>Cowork</a:t>
            </a:r>
            <a:r>
              <a:rPr sz="1200" b="0" i="0">
                <a:solidFill>
                  <a:srgbClr val="242424"/>
                </a:solidFill>
                <a:latin typeface="Segoe UI"/>
              </a:rPr>
              <a:t>; turn on </a:t>
            </a:r>
            <a:r>
              <a:rPr sz="1200" b="1" i="0">
                <a:solidFill>
                  <a:srgbClr val="242424"/>
                </a:solidFill>
                <a:latin typeface="Segoe UI"/>
              </a:rPr>
              <a:t>Allow Cowork to take actions on your behalf</a:t>
            </a:r>
            <a:r>
              <a:rPr sz="1200" b="0" i="0">
                <a:solidFill>
                  <a:srgbClr val="242424"/>
                </a:solidFill>
                <a:latin typeface="Segoe UI"/>
              </a:rPr>
              <a:t>.</a:t>
            </a:r>
          </a:p>
        </p:txBody>
      </p:sp>
      <p:sp>
        <p:nvSpPr>
          <p:cNvPr id="8" name="Rectangle 7">
            <a:extLst>
              <a:ext uri="{C183D7F6-B498-43B3-948B-1728B52AA6E4}">
                <ns2:decorative xmlns:ns2="http://schemas.microsoft.com/office/drawing/2017/decorative" val="1"/>
              </a:ext>
            </a:extLst>
          </p:cNvPr>
          <p:cNvSpPr/>
          <p:nvPr/>
        </p:nvSpPr>
        <p:spPr>
          <a:xfrm>
            <a:off x="502920" y="3794760"/>
            <a:ext cx="5486400" cy="23774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3794760"/>
            <a:ext cx="548640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224" y="3977640"/>
            <a:ext cx="519379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COPILOT CREDITS · HOST / ADMIN</a:t>
            </a:r>
          </a:p>
        </p:txBody>
      </p:sp>
      <p:sp>
        <p:nvSpPr>
          <p:cNvPr id="11" name="TextBox 10"/>
          <p:cNvSpPr txBox="1"/>
          <p:nvPr/>
        </p:nvSpPr>
        <p:spPr>
          <a:xfrm>
            <a:off x="649224" y="4416552"/>
            <a:ext cx="5193792" cy="1645920"/>
          </a:xfrm>
          <a:prstGeom prst="rect">
            <a:avLst/>
          </a:prstGeom>
          <a:noFill/>
        </p:spPr>
        <p:txBody>
          <a:bodyPr wrap="square" anchor="t" lIns="0" rIns="0" tIns="0" bIns="0">
            <a:spAutoFit/>
          </a:bodyPr>
          <a:lstStyle/>
          <a:p>
            <a:pPr algn="l" marL="182880" indent="-182880">
              <a:spcAft>
                <a:spcPts val="500"/>
              </a:spcAft>
              <a:buFont typeface="Arial"/>
              <a:buChar char="•"/>
            </a:pPr>
            <a:r>
              <a:rPr sz="1200" b="0" i="0">
                <a:solidFill>
                  <a:srgbClr val="242424"/>
                </a:solidFill>
                <a:latin typeface="Segoe UI"/>
              </a:rPr>
              <a:t>Enable usage-based billing; include every attendee in an </a:t>
            </a:r>
            <a:r>
              <a:rPr sz="1200" b="1" i="0">
                <a:solidFill>
                  <a:srgbClr val="242424"/>
                </a:solidFill>
                <a:latin typeface="Segoe UI"/>
              </a:rPr>
              <a:t>enabled spending policy that selects Cowork</a:t>
            </a:r>
            <a:r>
              <a:rPr sz="1200" b="0" i="0">
                <a:solidFill>
                  <a:srgbClr val="242424"/>
                </a:solidFill>
                <a:latin typeface="Segoe UI"/>
              </a:rPr>
              <a:t>.</a:t>
            </a:r>
          </a:p>
          <a:p>
            <a:pPr algn="l" marL="182880" indent="-182880">
              <a:spcAft>
                <a:spcPts val="500"/>
              </a:spcAft>
              <a:buFont typeface="Arial"/>
              <a:buChar char="•"/>
            </a:pPr>
            <a:r>
              <a:rPr sz="1200" b="0" i="0">
                <a:solidFill>
                  <a:srgbClr val="242424"/>
                </a:solidFill>
                <a:latin typeface="Segoe UI"/>
              </a:rPr>
              <a:t>Confirm </a:t>
            </a:r>
            <a:r>
              <a:rPr sz="1200" b="1" i="0">
                <a:solidFill>
                  <a:srgbClr val="242424"/>
                </a:solidFill>
                <a:latin typeface="Segoe UI"/>
              </a:rPr>
              <a:t>enough remaining credits / budget</a:t>
            </a:r>
            <a:r>
              <a:rPr sz="1200" b="0" i="0">
                <a:solidFill>
                  <a:srgbClr val="242424"/>
                </a:solidFill>
                <a:latin typeface="Segoe UI"/>
              </a:rPr>
              <a:t> at policy, user, and group levels for all exercises and retries.</a:t>
            </a:r>
          </a:p>
          <a:p>
            <a:pPr algn="l" marL="182880" indent="-182880">
              <a:spcAft>
                <a:spcPts val="500"/>
              </a:spcAft>
              <a:buFont typeface="Arial"/>
              <a:buChar char="•"/>
            </a:pPr>
            <a:r>
              <a:rPr sz="1200" b="0" i="0">
                <a:solidFill>
                  <a:srgbClr val="242424"/>
                </a:solidFill>
                <a:latin typeface="Segoe UI"/>
              </a:rPr>
              <a:t>Use the estimator and a dry run to set limits with headroom; check </a:t>
            </a:r>
            <a:r>
              <a:rPr sz="1200" b="1" i="0">
                <a:solidFill>
                  <a:srgbClr val="242424"/>
                </a:solidFill>
                <a:latin typeface="Segoe UI"/>
              </a:rPr>
              <a:t>/cost</a:t>
            </a:r>
            <a:r>
              <a:rPr sz="1200" b="0" i="0">
                <a:solidFill>
                  <a:srgbClr val="242424"/>
                </a:solidFill>
                <a:latin typeface="Segoe UI"/>
              </a:rPr>
              <a:t> during training and pause schedules.</a:t>
            </a:r>
          </a:p>
        </p:txBody>
      </p:sp>
      <p:sp>
        <p:nvSpPr>
          <p:cNvPr id="12" name="TextBox 11"/>
          <p:cNvSpPr txBox="1"/>
          <p:nvPr/>
        </p:nvSpPr>
        <p:spPr>
          <a:xfrm>
            <a:off x="6263640" y="1417320"/>
            <a:ext cx="5394960" cy="32004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Admin · Cowork browser settings</a:t>
            </a:r>
          </a:p>
        </p:txBody>
      </p:sp>
      <p:pic>
        <p:nvPicPr>
          <p:cNvPr id="13" name="Picture 12" descr="Cowork admin settings: Allow Cowork to use the Microsoft Edge browser is checked; All users is selected, with Specific users and groups available. Scope access to workshop attendees."/>
          <p:cNvPicPr>
            <a:picLocks noChangeAspect="1"/>
          </p:cNvPicPr>
          <p:nvPr/>
        </p:nvPicPr>
        <p:blipFill>
          <a:blip r:embed="rId2"/>
          <a:stretch>
            <a:fillRect/>
          </a:stretch>
        </p:blipFill>
        <p:spPr>
          <a:xfrm>
            <a:off x="7543800" y="1783080"/>
            <a:ext cx="2743200" cy="2031608"/>
          </a:xfrm>
          <a:prstGeom prst="rect">
            <a:avLst/>
          </a:prstGeom>
        </p:spPr>
      </p:pic>
      <p:sp>
        <p:nvSpPr>
          <p:cNvPr id="14" name="TextBox 13"/>
          <p:cNvSpPr txBox="1"/>
          <p:nvPr/>
        </p:nvSpPr>
        <p:spPr>
          <a:xfrm>
            <a:off x="6263640" y="3840480"/>
            <a:ext cx="5394960" cy="32004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Admin · Copilot Credits spending policy</a:t>
            </a:r>
          </a:p>
        </p:txBody>
      </p:sp>
      <p:pic>
        <p:nvPicPr>
          <p:cNvPr id="15" name="Picture 14" descr="Example All Users Policy: enabled, Cowork included, Capacity Packs plus pay-as-you-go billing, no spending limit, user and group limits off, and alerts off. These are example settings, not recommendations."/>
          <p:cNvPicPr>
            <a:picLocks noChangeAspect="1"/>
          </p:cNvPicPr>
          <p:nvPr/>
        </p:nvPicPr>
        <p:blipFill>
          <a:blip r:embed="rId3"/>
          <a:stretch>
            <a:fillRect/>
          </a:stretch>
        </p:blipFill>
        <p:spPr>
          <a:xfrm>
            <a:off x="7543800" y="4206240"/>
            <a:ext cx="2743200" cy="1956154"/>
          </a:xfrm>
          <a:prstGeom prst="rect">
            <a:avLst/>
          </a:prstGeom>
        </p:spPr>
      </p:pic>
      <p:sp>
        <p:nvSpPr>
          <p:cNvPr id="16" name="TextBox 15"/>
          <p:cNvSpPr txBox="1"/>
          <p:nvPr/>
        </p:nvSpPr>
        <p:spPr>
          <a:xfrm>
            <a:off x="6263640" y="6217920"/>
            <a:ext cx="5394960" cy="365760"/>
          </a:xfrm>
          <a:prstGeom prst="rect">
            <a:avLst/>
          </a:prstGeom>
          <a:noFill/>
        </p:spPr>
        <p:txBody>
          <a:bodyPr wrap="square" anchor="t" lIns="0" rIns="0" tIns="0" bIns="0">
            <a:spAutoFit/>
          </a:bodyPr>
          <a:lstStyle/>
          <a:p>
            <a:pPr algn="l">
              <a:spcAft>
                <a:spcPts val="400"/>
              </a:spcAft>
            </a:pPr>
            <a:r>
              <a:rPr sz="1000" b="0" i="0">
                <a:solidFill>
                  <a:srgbClr val="616161"/>
                </a:solidFill>
                <a:latin typeface="Segoe UI"/>
              </a:rPr>
              <a:t>Examples only: scope access to attendees; set spending limits and alerts.</a:t>
            </a:r>
          </a:p>
        </p:txBody>
      </p:sp>
    </p:spTree>
    <p:extLst>
      <p:ext uri="{BB962C8B-B14F-4D97-AF65-F5344CB8AC3E}">
        <p14:creationId xmlns:p14="http://schemas.microsoft.com/office/powerpoint/2010/main" val="418314712"/>
      </p:ext>
    </p:extLst>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Optional walkthrough after Exercise 8: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Optional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After Exercise 8, if time allows; otherwise try this after the workshop.</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OPTIONAL SECTIONS)</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Appendix</a:t>
            </a:r>
          </a:p>
        </p:txBody>
      </p:sp>
    </p:spTree>
    <p:extLst>
      <p:ext uri="{BB962C8B-B14F-4D97-AF65-F5344CB8AC3E}">
        <p14:creationId xmlns:p14="http://schemas.microsoft.com/office/powerpoint/2010/main" val="418314712"/>
      </p:ext>
    </p:extLst>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8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