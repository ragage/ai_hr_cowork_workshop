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 id="313" r:id="rId127"/>
    <p:sldId id="314" r:id="rId128"/>
    <p:sldId id="315" r:id="rId1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B48254B1-6AD9-41EE-B370-CC88F98B11F1}">
          <p14:sldIdLst>
            <p14:sldId id="256"/>
            <p14:sldId id="257"/>
            <p14:sldId id="258"/>
            <p14:sldId id="259"/>
            <p14:sldId id="260"/>
            <p14:sldId id="261"/>
            <p14:sldId id="262"/>
            <p14:sldId id="263"/>
            <p14:sldId id="264"/>
            <p14:sldId id="265"/>
            <p14:sldId id="266"/>
            <p14:sldId id="267"/>
            <p14:sldId id="268"/>
            <p14:sldId id="269"/>
          </p14:sldIdLst>
        </p14:section>
        <p14:section name="Ex 1 · Deep Research" id="{47605100-A478-44CA-91DC-194E1A0DCC80}">
          <p14:sldIdLst>
            <p14:sldId id="270"/>
            <p14:sldId id="271"/>
            <p14:sldId id="272"/>
            <p14:sldId id="273"/>
            <p14:sldId id="274"/>
            <p14:sldId id="275"/>
          </p14:sldIdLst>
        </p14:section>
        <p14:section name="Ex 2 · Browser" id="{5A667208-8945-430F-B0B1-4885D62756C1}">
          <p14:sldIdLst>
            <p14:sldId id="276"/>
            <p14:sldId id="277"/>
            <p14:sldId id="278"/>
            <p14:sldId id="279"/>
          </p14:sldIdLst>
        </p14:section>
        <p14:section name="Ex 3 · Custom Skill" id="{94CC50CA-BB2C-4487-B315-A0E2084FAE2C}">
          <p14:sldIdLst>
            <p14:sldId id="280"/>
            <p14:sldId id="281"/>
            <p14:sldId id="282"/>
            <p14:sldId id="283"/>
          </p14:sldIdLst>
        </p14:section>
        <p14:section name="Ex 4 · Recruiting + Reporting" id="{7FA83EFE-A1B0-4F9A-9936-DD2536B81ECD}">
          <p14:sldIdLst>
            <p14:sldId id="284"/>
            <p14:sldId id="285"/>
            <p14:sldId id="286"/>
            <p14:sldId id="287"/>
            <p14:sldId id="288"/>
          </p14:sldIdLst>
        </p14:section>
        <p14:section name="Ex 5 · Onboarding Pack" id="{E50583A5-7ABA-4BF9-B487-F865B316012B}">
          <p14:sldIdLst>
            <p14:sldId id="289"/>
            <p14:sldId id="290"/>
            <p14:sldId id="291"/>
            <p14:sldId id="292"/>
          </p14:sldIdLst>
        </p14:section>
        <p14:section name="Ex 6 · Automate &amp; Share" id="{1BD70554-69B4-41E4-8D97-1D68ABF9883D}">
          <p14:sldIdLst>
            <p14:sldId id="293"/>
            <p14:sldId id="294"/>
            <p14:sldId id="295"/>
            <p14:sldId id="296"/>
          </p14:sldIdLst>
        </p14:section>
        <p14:section name="Ex 7 · HR Policy Agent" id="{2C840D1D-5A3C-4D12-85C4-AE45D2271750}">
          <p14:sldIdLst>
            <p14:sldId id="297"/>
            <p14:sldId id="298"/>
            <p14:sldId id="299"/>
            <p14:sldId id="300"/>
          </p14:sldIdLst>
        </p14:section>
        <p14:section name="Ex 8 · Executive Command Center" id="{2ADB26E6-40A5-4F3E-8E57-FD42C293CE04}">
          <p14:sldIdLst>
            <p14:sldId id="301"/>
            <p14:sldId id="302"/>
            <p14:sldId id="303"/>
            <p14:sldId id="304"/>
          </p14:sldIdLst>
        </p14:section>
        <p14:section name="Close" id="{294196AC-371F-4C81-9C7E-EE106B92C8A6}">
          <p14:sldIdLst>
            <p14:sldId id="305"/>
            <p14:sldId id="306"/>
            <p14:sldId id="307"/>
          </p14:sldIdLst>
        </p14:section>
        <p14:section name="Appendix" id="{28A04725-7D60-4CCE-9D37-E6F4A9C3A3EF}">
          <p14:sldIdLst>
            <p14:sldId id="308"/>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 Id="rId129" Type="http://schemas.openxmlformats.org/officeDocument/2006/relationships/slide" Target="slides/slide1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 COACH (brief optional aid after Prompting best Practices). Show where to find Prompt Coach under Copilot Chat &gt; Agents, then ask it to critique and suggest a rewrite for the weak open-enrollment prompt. Treat its advice as a draft: verify the sources, dates, audience, and constraints, then edit the prompt yourself using Goal, Source, Expectations, Constraints. Prompt Coach reviews the prompt; it does not replace checking outputs or HR review. Don't enter real employee or confidential data. Agent availability may depend on tenant configuration; skip if it isn't available. Keep this optional and within the existing prompting segment; no extra workshop time.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About 3 hours, including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the participant workbook, the prompt library, and the custom-skill and Agent Builder guides. Then show the clean-up slide.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required session; leave this up while people pack up, or continue to the optional Appendix if time allows).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APPENDIX DIVIDER (after the required closing and cleanup slides). The following slides are optional: facilitation and troubleshooting, learning objectives, workshop download links, Cowork settings, approvals, custom instructions, and responsible use. Cover them only if time allows, or share them after the workshop. Preserve wrap-up and schedule cleanup; the required workshop timing is unchanged.</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&amp; TROUBLESHOOTING (Appendix reference).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optional sub-tasks are for fast finishers. If behind, demo optional work; never cut Ex 3.</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participant workbook. Skip this slide if time is short; preserve wrap-up and schedule cleanup.</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SETTINGS (Appendix reference). These are mandatory readiness checks, not optional prerequisites. Before class, the host enables usage-based billing and an enabled spending policy selecting Cowork that includes every attendee. Verify remaining policy budget and user/group credit limits have enough headroom for the workshop, retries, and scheduled runs until paused. There is no fixed credit amount guaranteed for every training run: estimate with the Customer Cowork Estimator and test in the attendee tenant. A tiny limit grants access but can interrupt work when exhausted. The screenshots are examples, not a recommendation for All users, No limit, or alerts off. Prefer the workshop group and appropriate limits and alerts. Show the browser-settings screenshot: enable browser use and choose the workshop users or group rather than copying All users. Separately enable Cowork Browsing for attendees in the admin center, and check Edge 152+, the matching work profile, and Allow Cowork to take actions on your behalf. Managed-device policy may require admin help. Run the smoke test and Exercise 2 browser prompt before class. Source: https://learn.microsoft.com/microsoft-365/copilot/cowork/cowork-admin-governance and reference/10-cowork-browser.md; cost planning: instructor/readiness-checklist.md.</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6.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About 3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About 3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 Coach — improve a weak prompt</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Find Prompt Coach in Copilot Chat → Agents, then ask it to analyze before you run.</a:t>
            </a:r>
          </a:p>
        </p:txBody>
      </p:sp>
      <p:sp>
        <p:nvSpPr>
          <p:cNvPr id="4" name="TextBox 3"/>
          <p:cNvSpPr txBox="1"/>
          <p:nvPr/>
        </p:nvSpPr>
        <p:spPr>
          <a:xfrm>
            <a:off x="594360" y="1325880"/>
            <a:ext cx="3657600" cy="32004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1 · Find the agent</a:t>
            </a:r>
          </a:p>
        </p:txBody>
      </p:sp>
      <p:pic>
        <p:nvPicPr>
          <p:cNvPr id="5" name="Picture 4" descr="Prompt Coach agent page, created by Microsoft, showing an open-enrollment prompt and starter prompts including Analyze Prompt, Fix my prompt, Prompt Generation, and Prompt Examples."/>
          <p:cNvPicPr>
            <a:picLocks noChangeAspect="1"/>
          </p:cNvPicPr>
          <p:nvPr/>
        </p:nvPicPr>
        <p:blipFill>
          <a:blip r:embed="rId2"/>
          <a:stretch>
            <a:fillRect/>
          </a:stretch>
        </p:blipFill>
        <p:spPr>
          <a:xfrm>
            <a:off x="594360" y="1737360"/>
            <a:ext cx="3657600" cy="2872226"/>
          </a:xfrm>
          <a:prstGeom prst="rect">
            <a:avLst/>
          </a:prstGeom>
        </p:spPr>
      </p:pic>
      <p:sp>
        <p:nvSpPr>
          <p:cNvPr id="6" name="TextBox 5"/>
          <p:cNvSpPr txBox="1"/>
          <p:nvPr/>
        </p:nvSpPr>
        <p:spPr>
          <a:xfrm>
            <a:off x="4526280" y="1325880"/>
            <a:ext cx="7040880" cy="32004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2 · Ask for feedback on a weak prompt</a:t>
            </a:r>
          </a:p>
        </p:txBody>
      </p:sp>
      <p:pic>
        <p:nvPicPr>
          <p:cNvPr id="7" name="Picture 6" descr="Prompt asks Prompt Coach to analyze and suggest improvements to the weak prompt: Write an email about open enrollment."/>
          <p:cNvPicPr>
            <a:picLocks noChangeAspect="1"/>
          </p:cNvPicPr>
          <p:nvPr/>
        </p:nvPicPr>
        <p:blipFill>
          <a:blip r:embed="rId3"/>
          <a:stretch>
            <a:fillRect/>
          </a:stretch>
        </p:blipFill>
        <p:spPr>
          <a:xfrm>
            <a:off x="4526280" y="1737360"/>
            <a:ext cx="7040880" cy="1669129"/>
          </a:xfrm>
          <a:prstGeom prst="rect">
            <a:avLst/>
          </a:prstGeom>
        </p:spPr>
      </p:pic>
      <p:sp>
        <p:nvSpPr>
          <p:cNvPr id="8" name="Rounded Rectangle 7">
            <a:extLst>
              <a:ext uri="{C183D7F6-B498-43B3-948B-1728B52AA6E4}">
                <ns0:decorative xmlns:ns0="http://schemas.microsoft.com/office/drawing/2017/decorative" val="1"/>
              </a:ext>
            </a:extLst>
          </p:cNvPr>
          <p:cNvSpPr/>
          <p:nvPr/>
        </p:nvSpPr>
        <p:spPr>
          <a:xfrm>
            <a:off x="594360" y="4709160"/>
            <a:ext cx="1097280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4709160"/>
            <a:ext cx="10424160" cy="123444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Try:</a:t>
            </a:r>
            <a:r>
              <a:rPr sz="1400" b="0" i="0">
                <a:solidFill>
                  <a:srgbClr val="323139"/>
                </a:solidFill>
                <a:latin typeface="Segoe UI"/>
              </a:rPr>
              <a:t> "Analyze this prompt and suggest a stronger version using Goal, Source, Expectations, and Constraints: Write an email about open enrollment."
</a:t>
            </a:r>
            <a:r>
              <a:rPr sz="1400" b="1" i="0">
                <a:solidFill>
                  <a:srgbClr val="323139"/>
                </a:solidFill>
                <a:latin typeface="Segoe UI"/>
              </a:rPr>
              <a:t>Then review:</a:t>
            </a:r>
            <a:r>
              <a:rPr sz="1400" b="0" i="0">
                <a:solidFill>
                  <a:srgbClr val="323139"/>
                </a:solidFill>
                <a:latin typeface="Segoe UI"/>
              </a:rPr>
              <a:t> add the right audience, trusted files, desired format, and limits; verify dates and details before running.</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upcoming cleanup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Appendix</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Optional recaps, walkthroughs, and workshop resources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optional reference after the workshop.</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settings — Edge browsing &amp; Copilot Credits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Complete these prerequisites before training; this Appendix slide is a setup reference.</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0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9379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EDGE BROWSING · ADMIN + USER</a:t>
            </a:r>
          </a:p>
        </p:txBody>
      </p:sp>
      <p:sp>
        <p:nvSpPr>
          <p:cNvPr id="7" name="TextBox 6"/>
          <p:cNvSpPr txBox="1"/>
          <p:nvPr/>
        </p:nvSpPr>
        <p:spPr>
          <a:xfrm>
            <a:off x="649224" y="2084832"/>
            <a:ext cx="5193792" cy="1463039"/>
          </a:xfrm>
          <a:prstGeom prst="rect">
            <a:avLst/>
          </a:prstGeom>
          <a:noFill/>
        </p:spPr>
        <p:txBody>
          <a:bodyPr wrap="square" anchor="t" lIns="0" rIns="0" tIns="0" bIns="0">
            <a:spAutoFit/>
          </a:bodyPr>
          <a:lstStyle/>
          <a:p>
            <a:pPr algn="l" marL="182880" indent="-182880">
              <a:spcAft>
                <a:spcPts val="500"/>
              </a:spcAft>
              <a:buFont typeface="Arial"/>
              <a:buChar char="•"/>
            </a:pPr>
            <a:r>
              <a:rPr sz="1200" b="1" i="0">
                <a:solidFill>
                  <a:srgbClr val="242424"/>
                </a:solidFill>
                <a:latin typeface="Segoe UI"/>
              </a:rPr>
              <a:t>Admin:</a:t>
            </a:r>
            <a:r>
              <a:rPr sz="1200" b="0" i="0">
                <a:solidFill>
                  <a:srgbClr val="242424"/>
                </a:solidFill>
                <a:latin typeface="Segoe UI"/>
              </a:rPr>
              <a:t> Copilot → Settings → View all → Cowork settings → Allow browser access; include attendees.</a:t>
            </a:r>
          </a:p>
          <a:p>
            <a:pPr algn="l" marL="182880" indent="-182880">
              <a:spcAft>
                <a:spcPts val="500"/>
              </a:spcAft>
              <a:buFont typeface="Arial"/>
              <a:buChar char="•"/>
            </a:pPr>
            <a:r>
              <a:rPr sz="1200" b="1" i="0">
                <a:solidFill>
                  <a:srgbClr val="242424"/>
                </a:solidFill>
                <a:latin typeface="Segoe UI"/>
              </a:rPr>
              <a:t>User:</a:t>
            </a:r>
            <a:r>
              <a:rPr sz="1200" b="0" i="0">
                <a:solidFill>
                  <a:srgbClr val="242424"/>
                </a:solidFill>
                <a:latin typeface="Segoe UI"/>
              </a:rPr>
              <a:t> Edge 152+, work-account profile; no InPrivate or guest window.</a:t>
            </a:r>
          </a:p>
          <a:p>
            <a:pPr algn="l" marL="182880" indent="-182880">
              <a:spcAft>
                <a:spcPts val="500"/>
              </a:spcAft>
              <a:buFont typeface="Arial"/>
              <a:buChar char="•"/>
            </a:pPr>
            <a:r>
              <a:rPr sz="1200" b="0" i="0">
                <a:solidFill>
                  <a:srgbClr val="242424"/>
                </a:solidFill>
                <a:latin typeface="Segoe UI"/>
              </a:rPr>
              <a:t>In Edge Settings, search </a:t>
            </a:r>
            <a:r>
              <a:rPr sz="1200" b="1" i="0">
                <a:solidFill>
                  <a:srgbClr val="242424"/>
                </a:solidFill>
                <a:latin typeface="Segoe UI"/>
              </a:rPr>
              <a:t>Cowork</a:t>
            </a:r>
            <a:r>
              <a:rPr sz="1200" b="0" i="0">
                <a:solidFill>
                  <a:srgbClr val="242424"/>
                </a:solidFill>
                <a:latin typeface="Segoe UI"/>
              </a:rPr>
              <a:t>; turn on </a:t>
            </a:r>
            <a:r>
              <a:rPr sz="1200" b="1" i="0">
                <a:solidFill>
                  <a:srgbClr val="242424"/>
                </a:solidFill>
                <a:latin typeface="Segoe UI"/>
              </a:rPr>
              <a:t>Allow Cowork to take actions on your behalf</a:t>
            </a:r>
            <a:r>
              <a:rPr sz="1200" b="0" i="0">
                <a:solidFill>
                  <a:srgbClr val="242424"/>
                </a:solidFill>
                <a:latin typeface="Segoe UI"/>
              </a:rPr>
              <a:t>.</a:t>
            </a:r>
          </a:p>
        </p:txBody>
      </p:sp>
      <p:sp>
        <p:nvSpPr>
          <p:cNvPr id="8" name="Rectangle 7">
            <a:extLst>
              <a:ext uri="{C183D7F6-B498-43B3-948B-1728B52AA6E4}">
                <ns2:decorative xmlns:ns2="http://schemas.microsoft.com/office/drawing/2017/decorative" val="1"/>
              </a:ext>
            </a:extLst>
          </p:cNvPr>
          <p:cNvSpPr/>
          <p:nvPr/>
        </p:nvSpPr>
        <p:spPr>
          <a:xfrm>
            <a:off x="502920" y="3794760"/>
            <a:ext cx="5486400" cy="23774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3794760"/>
            <a:ext cx="548640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 y="3977640"/>
            <a:ext cx="519379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COPILOT CREDITS · HOST / ADMIN</a:t>
            </a:r>
          </a:p>
        </p:txBody>
      </p:sp>
      <p:sp>
        <p:nvSpPr>
          <p:cNvPr id="11" name="TextBox 10"/>
          <p:cNvSpPr txBox="1"/>
          <p:nvPr/>
        </p:nvSpPr>
        <p:spPr>
          <a:xfrm>
            <a:off x="649224" y="4416552"/>
            <a:ext cx="5193792" cy="1645920"/>
          </a:xfrm>
          <a:prstGeom prst="rect">
            <a:avLst/>
          </a:prstGeom>
          <a:noFill/>
        </p:spPr>
        <p:txBody>
          <a:bodyPr wrap="square" anchor="t" lIns="0" rIns="0" tIns="0" bIns="0">
            <a:spAutoFit/>
          </a:bodyPr>
          <a:lstStyle/>
          <a:p>
            <a:pPr algn="l" marL="182880" indent="-182880">
              <a:spcAft>
                <a:spcPts val="500"/>
              </a:spcAft>
              <a:buFont typeface="Arial"/>
              <a:buChar char="•"/>
            </a:pPr>
            <a:r>
              <a:rPr sz="1200" b="0" i="0">
                <a:solidFill>
                  <a:srgbClr val="242424"/>
                </a:solidFill>
                <a:latin typeface="Segoe UI"/>
              </a:rPr>
              <a:t>Enable usage-based billing; include every attendee in an </a:t>
            </a:r>
            <a:r>
              <a:rPr sz="1200" b="1" i="0">
                <a:solidFill>
                  <a:srgbClr val="242424"/>
                </a:solidFill>
                <a:latin typeface="Segoe UI"/>
              </a:rPr>
              <a:t>enabled spending policy that selects Cowork</a:t>
            </a:r>
            <a:r>
              <a:rPr sz="1200" b="0" i="0">
                <a:solidFill>
                  <a:srgbClr val="242424"/>
                </a:solidFill>
                <a:latin typeface="Segoe UI"/>
              </a:rPr>
              <a:t>.</a:t>
            </a:r>
          </a:p>
          <a:p>
            <a:pPr algn="l" marL="182880" indent="-182880">
              <a:spcAft>
                <a:spcPts val="500"/>
              </a:spcAft>
              <a:buFont typeface="Arial"/>
              <a:buChar char="•"/>
            </a:pPr>
            <a:r>
              <a:rPr sz="1200" b="0" i="0">
                <a:solidFill>
                  <a:srgbClr val="242424"/>
                </a:solidFill>
                <a:latin typeface="Segoe UI"/>
              </a:rPr>
              <a:t>Confirm </a:t>
            </a:r>
            <a:r>
              <a:rPr sz="1200" b="1" i="0">
                <a:solidFill>
                  <a:srgbClr val="242424"/>
                </a:solidFill>
                <a:latin typeface="Segoe UI"/>
              </a:rPr>
              <a:t>enough remaining credits / budget</a:t>
            </a:r>
            <a:r>
              <a:rPr sz="1200" b="0" i="0">
                <a:solidFill>
                  <a:srgbClr val="242424"/>
                </a:solidFill>
                <a:latin typeface="Segoe UI"/>
              </a:rPr>
              <a:t> at policy, user, and group levels for all exercises and retries.</a:t>
            </a:r>
          </a:p>
          <a:p>
            <a:pPr algn="l" marL="182880" indent="-182880">
              <a:spcAft>
                <a:spcPts val="500"/>
              </a:spcAft>
              <a:buFont typeface="Arial"/>
              <a:buChar char="•"/>
            </a:pPr>
            <a:r>
              <a:rPr sz="1200" b="0" i="0">
                <a:solidFill>
                  <a:srgbClr val="242424"/>
                </a:solidFill>
                <a:latin typeface="Segoe UI"/>
              </a:rPr>
              <a:t>Use the estimator and a dry run to set limits with headroom; check </a:t>
            </a:r>
            <a:r>
              <a:rPr sz="1200" b="1" i="0">
                <a:solidFill>
                  <a:srgbClr val="242424"/>
                </a:solidFill>
                <a:latin typeface="Segoe UI"/>
              </a:rPr>
              <a:t>/cost</a:t>
            </a:r>
            <a:r>
              <a:rPr sz="1200" b="0" i="0">
                <a:solidFill>
                  <a:srgbClr val="242424"/>
                </a:solidFill>
                <a:latin typeface="Segoe UI"/>
              </a:rPr>
              <a:t> during training and pause schedules.</a:t>
            </a:r>
          </a:p>
        </p:txBody>
      </p:sp>
      <p:sp>
        <p:nvSpPr>
          <p:cNvPr id="12" name="TextBox 11"/>
          <p:cNvSpPr txBox="1"/>
          <p:nvPr/>
        </p:nvSpPr>
        <p:spPr>
          <a:xfrm>
            <a:off x="6263640" y="141732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Cowork browser settings</a:t>
            </a:r>
          </a:p>
        </p:txBody>
      </p:sp>
      <p:pic>
        <p:nvPicPr>
          <p:cNvPr id="13" name="Picture 12" descr="Cowork admin settings: Allow Cowork to use the Microsoft Edge browser is checked; All users is selected, with Specific users and groups available. Scope access to workshop attendees."/>
          <p:cNvPicPr>
            <a:picLocks noChangeAspect="1"/>
          </p:cNvPicPr>
          <p:nvPr/>
        </p:nvPicPr>
        <p:blipFill>
          <a:blip r:embed="rId2"/>
          <a:stretch>
            <a:fillRect/>
          </a:stretch>
        </p:blipFill>
        <p:spPr>
          <a:xfrm>
            <a:off x="7543800" y="1783080"/>
            <a:ext cx="2743200" cy="2031608"/>
          </a:xfrm>
          <a:prstGeom prst="rect">
            <a:avLst/>
          </a:prstGeom>
        </p:spPr>
      </p:pic>
      <p:sp>
        <p:nvSpPr>
          <p:cNvPr id="14" name="TextBox 13"/>
          <p:cNvSpPr txBox="1"/>
          <p:nvPr/>
        </p:nvSpPr>
        <p:spPr>
          <a:xfrm>
            <a:off x="6263640" y="384048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Copilot Credits spending policy</a:t>
            </a:r>
          </a:p>
        </p:txBody>
      </p:sp>
      <p:pic>
        <p:nvPicPr>
          <p:cNvPr id="15" name="Picture 14" descr="Example All Users Policy: enabled, Cowork included, Capacity Packs plus pay-as-you-go billing, no spending limit, user and group limits off, and alerts off. These are example settings, not recommendations."/>
          <p:cNvPicPr>
            <a:picLocks noChangeAspect="1"/>
          </p:cNvPicPr>
          <p:nvPr/>
        </p:nvPicPr>
        <p:blipFill>
          <a:blip r:embed="rId3"/>
          <a:stretch>
            <a:fillRect/>
          </a:stretch>
        </p:blipFill>
        <p:spPr>
          <a:xfrm>
            <a:off x="7543800" y="4206240"/>
            <a:ext cx="2743200" cy="1956154"/>
          </a:xfrm>
          <a:prstGeom prst="rect">
            <a:avLst/>
          </a:prstGeom>
        </p:spPr>
      </p:pic>
      <p:sp>
        <p:nvSpPr>
          <p:cNvPr id="16" name="TextBox 15"/>
          <p:cNvSpPr txBox="1"/>
          <p:nvPr/>
        </p:nvSpPr>
        <p:spPr>
          <a:xfrm>
            <a:off x="6263640" y="6217920"/>
            <a:ext cx="5394960" cy="365760"/>
          </a:xfrm>
          <a:prstGeom prst="rect">
            <a:avLst/>
          </a:prstGeom>
          <a:noFill/>
        </p:spPr>
        <p:txBody>
          <a:bodyPr wrap="square" anchor="t" lIns="0" rIns="0" tIns="0" bIns="0">
            <a:spAutoFit/>
          </a:bodyPr>
          <a:lstStyle/>
          <a:p>
            <a:pPr algn="l">
              <a:spcAft>
                <a:spcPts val="400"/>
              </a:spcAft>
            </a:pPr>
            <a:r>
              <a:rPr sz="1000" b="0" i="0">
                <a:solidFill>
                  <a:srgbClr val="616161"/>
                </a:solidFill>
                <a:latin typeface="Segoe UI"/>
              </a:rPr>
              <a:t>Examples only: scope access to attendees; set spending limits and alerts.</a:t>
            </a:r>
          </a:p>
        </p:txBody>
      </p:sp>
    </p:spTree>
    <p:extLst>
      <p:ext uri="{BB962C8B-B14F-4D97-AF65-F5344CB8AC3E}">
        <p14:creationId xmlns:p14="http://schemas.microsoft.com/office/powerpoint/2010/main" val="418314712"/>
      </p:ext>
    </p:extLst>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