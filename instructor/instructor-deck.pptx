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ppt/theme/themeOverride52.xml" ContentType="application/vnd.openxmlformats-officedocument.themeOverride+xml"/>
  <Override PartName="/ppt/theme/themeOverride53.xml" ContentType="application/vnd.openxmlformats-officedocument.themeOverride+xml"/>
  <Override PartName="/ppt/theme/themeOverride54.xml" ContentType="application/vnd.openxmlformats-officedocument.themeOverride+xml"/>
  <Override PartName="/ppt/theme/themeOverride55.xml" ContentType="application/vnd.openxmlformats-officedocument.themeOverride+xml"/>
  <Override PartName="/ppt/theme/themeOverride56.xml" ContentType="application/vnd.openxmlformats-officedocument.themeOverride+xml"/>
  <Override PartName="/ppt/theme/themeOverride57.xml" ContentType="application/vnd.openxmlformats-officedocument.themeOverride+xml"/>
  <Override PartName="/ppt/theme/themeOverride58.xml" ContentType="application/vnd.openxmlformats-officedocument.themeOverride+xml"/>
  <Override PartName="/ppt/theme/themeOverride59.xml" ContentType="application/vnd.openxmlformats-officedocument.themeOverride+xml"/>
  <Override PartName="/ppt/theme/themeOverride6.xml" ContentType="application/vnd.openxmlformats-officedocument.themeOverride+xml"/>
  <Override PartName="/ppt/theme/themeOverride60.xml" ContentType="application/vnd.openxmlformats-officedocument.themeOverride+xml"/>
  <Override PartName="/ppt/theme/themeOverride61.xml" ContentType="application/vnd.openxmlformats-officedocument.themeOverride+xml"/>
  <Override PartName="/ppt/theme/themeOverride62.xml" ContentType="application/vnd.openxmlformats-officedocument.themeOverride+xml"/>
  <Override PartName="/ppt/theme/themeOverride63.xml" ContentType="application/vnd.openxmlformats-officedocument.themeOverride+xml"/>
  <Override PartName="/ppt/theme/themeOverride64.xml" ContentType="application/vnd.openxmlformats-officedocument.themeOverride+xml"/>
  <Override PartName="/ppt/theme/themeOverride65.xml" ContentType="application/vnd.openxmlformats-officedocument.themeOverride+xml"/>
  <Override PartName="/ppt/theme/themeOverride66.xml" ContentType="application/vnd.openxmlformats-officedocument.themeOverride+xml"/>
  <Override PartName="/ppt/theme/themeOverride67.xml" ContentType="application/vnd.openxmlformats-officedocument.themeOverride+xml"/>
  <Override PartName="/ppt/theme/themeOverride68.xml" ContentType="application/vnd.openxmlformats-officedocument.themeOverride+xml"/>
  <Override PartName="/ppt/theme/themeOverride69.xml" ContentType="application/vnd.openxmlformats-officedocument.themeOverride+xml"/>
  <Override PartName="/ppt/theme/themeOverride7.xml" ContentType="application/vnd.openxmlformats-officedocument.themeOverride+xml"/>
  <Override PartName="/ppt/theme/themeOverride70.xml" ContentType="application/vnd.openxmlformats-officedocument.themeOverride+xml"/>
  <Override PartName="/ppt/theme/themeOverride71.xml" ContentType="application/vnd.openxmlformats-officedocument.themeOverride+xml"/>
  <Override PartName="/ppt/theme/themeOverride72.xml" ContentType="application/vnd.openxmlformats-officedocument.themeOverride+xml"/>
  <Override PartName="/ppt/theme/themeOverride73.xml" ContentType="application/vnd.openxmlformats-officedocument.themeOverride+xml"/>
  <Override PartName="/ppt/theme/themeOverride74.xml" ContentType="application/vnd.openxmlformats-officedocument.themeOverride+xml"/>
  <Override PartName="/ppt/theme/themeOverride75.xml" ContentType="application/vnd.openxmlformats-officedocument.themeOverride+xml"/>
  <Override PartName="/ppt/theme/themeOverride76.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 id="2147483695" r:id="rId5"/>
    <p:sldMasterId id="2147483710" r:id="rId6"/>
    <p:sldMasterId id="2147483725" r:id="rId7"/>
  </p:sldMasterIdLst>
  <p:notesMasterIdLst>
    <p:notesMasterId r:id="rId25"/>
  </p:notesMasterIdLst>
  <p:sldIdLst>
    <p:sldId id="256" r:id="rId24"/>
    <p:sldId id="257" r:id="rId23"/>
    <p:sldId id="258" r:id="rId22"/>
    <p:sldId id="259" r:id="rId21"/>
    <p:sldId id="260" r:id="rId20"/>
    <p:sldId id="261" r:id="rId19"/>
    <p:sldId id="262" r:id="rId18"/>
    <p:sldId id="263" r:id="rId17"/>
    <p:sldId id="264" r:id="rId16"/>
    <p:sldId id="265" r:id="rId15"/>
    <p:sldId id="266" r:id="rId14"/>
    <p:sldId id="267" r:id="rId13"/>
    <p:sldId id="268" r:id="rId12"/>
    <p:sldId id="269" r:id="rId11"/>
    <p:sldId id="270" r:id="rId10"/>
    <p:sldId id="271" r:id="rId9"/>
    <p:sldId id="272" r:id="rId8"/>
    <p:sldId id="273" r:id="rId87"/>
    <p:sldId id="274" r:id="rId88"/>
    <p:sldId id="275" r:id="rId89"/>
    <p:sldId id="276" r:id="rId90"/>
    <p:sldId id="277" r:id="rId91"/>
    <p:sldId id="278" r:id="rId92"/>
    <p:sldId id="279" r:id="rId93"/>
    <p:sldId id="280" r:id="rId94"/>
    <p:sldId id="281" r:id="rId95"/>
    <p:sldId id="282" r:id="rId96"/>
    <p:sldId id="283" r:id="rId97"/>
    <p:sldId id="284" r:id="rId98"/>
    <p:sldId id="285" r:id="rId99"/>
    <p:sldId id="286" r:id="rId100"/>
    <p:sldId id="287" r:id="rId101"/>
    <p:sldId id="288" r:id="rId102"/>
    <p:sldId id="289" r:id="rId103"/>
    <p:sldId id="290" r:id="rId104"/>
    <p:sldId id="291" r:id="rId105"/>
    <p:sldId id="292" r:id="rId106"/>
    <p:sldId id="293" r:id="rId107"/>
    <p:sldId id="294" r:id="rId108"/>
    <p:sldId id="295" r:id="rId109"/>
    <p:sldId id="296" r:id="rId110"/>
    <p:sldId id="297" r:id="rId111"/>
    <p:sldId id="298" r:id="rId112"/>
    <p:sldId id="299" r:id="rId113"/>
    <p:sldId id="300" r:id="rId114"/>
    <p:sldId id="301" r:id="rId115"/>
    <p:sldId id="302" r:id="rId116"/>
    <p:sldId id="303" r:id="rId117"/>
    <p:sldId id="304" r:id="rId118"/>
    <p:sldId id="305" r:id="rId119"/>
    <p:sldId id="306" r:id="rId120"/>
    <p:sldId id="307" r:id="rId121"/>
    <p:sldId id="308" r:id="rId122"/>
    <p:sldId id="309" r:id="rId123"/>
    <p:sldId id="310" r:id="rId124"/>
    <p:sldId id="311" r:id="rId125"/>
    <p:sldId id="312" r:id="rId126"/>
    <p:sldId id="313" r:id="rId127"/>
    <p:sldId id="314" r:id="rId1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amp; orientation" id="{9DAF4413-8689-4E94-880D-6A6536290167}">
          <p14:sldIdLst>
            <p14:sldId id="256"/>
            <p14:sldId id="257"/>
            <p14:sldId id="258"/>
            <p14:sldId id="259"/>
            <p14:sldId id="260"/>
            <p14:sldId id="261"/>
            <p14:sldId id="262"/>
            <p14:sldId id="263"/>
            <p14:sldId id="264"/>
            <p14:sldId id="265"/>
            <p14:sldId id="266"/>
            <p14:sldId id="267"/>
            <p14:sldId id="268"/>
          </p14:sldIdLst>
        </p14:section>
        <p14:section name="Ex 1 · Deep Research" id="{78E3CBA5-B781-45AD-B9F2-8344D94C6600}">
          <p14:sldIdLst>
            <p14:sldId id="269"/>
            <p14:sldId id="270"/>
            <p14:sldId id="271"/>
            <p14:sldId id="272"/>
            <p14:sldId id="273"/>
            <p14:sldId id="274"/>
          </p14:sldIdLst>
        </p14:section>
        <p14:section name="Ex 2 · Browser" id="{95C61231-ABC5-4B1F-BFB5-EC5FFAFC9BF0}">
          <p14:sldIdLst>
            <p14:sldId id="275"/>
            <p14:sldId id="276"/>
            <p14:sldId id="277"/>
            <p14:sldId id="278"/>
          </p14:sldIdLst>
        </p14:section>
        <p14:section name="Ex 3 · Custom Skill" id="{2BAF2577-D6F1-4420-BE66-312683322FD4}">
          <p14:sldIdLst>
            <p14:sldId id="279"/>
            <p14:sldId id="280"/>
            <p14:sldId id="281"/>
            <p14:sldId id="282"/>
          </p14:sldIdLst>
        </p14:section>
        <p14:section name="Ex 4 · Recruiting + Reporting" id="{789CE965-1C9E-4A15-9319-40A7B8DC6835}">
          <p14:sldIdLst>
            <p14:sldId id="283"/>
            <p14:sldId id="284"/>
            <p14:sldId id="285"/>
            <p14:sldId id="286"/>
            <p14:sldId id="287"/>
          </p14:sldIdLst>
        </p14:section>
        <p14:section name="Ex 5 · Onboarding Pack" id="{856A0726-1A99-4FF7-A376-B3C8383BE07C}">
          <p14:sldIdLst>
            <p14:sldId id="288"/>
            <p14:sldId id="289"/>
            <p14:sldId id="290"/>
            <p14:sldId id="291"/>
          </p14:sldIdLst>
        </p14:section>
        <p14:section name="Ex 6 · Automate &amp; Share" id="{41BA8DCA-4BFD-4481-8A90-C61771B78BBF}">
          <p14:sldIdLst>
            <p14:sldId id="292"/>
            <p14:sldId id="293"/>
            <p14:sldId id="294"/>
            <p14:sldId id="295"/>
          </p14:sldIdLst>
        </p14:section>
        <p14:section name="Ex 7 · HR Policy Agent" id="{63142C6D-D12D-48C2-88CF-A409429F60D8}">
          <p14:sldIdLst>
            <p14:sldId id="296"/>
            <p14:sldId id="297"/>
            <p14:sldId id="298"/>
            <p14:sldId id="299"/>
          </p14:sldIdLst>
        </p14:section>
        <p14:section name="Ex 8 · Executive Command Center" id="{0439E76F-CAAB-4CE2-B809-808BD8CCCC2B}">
          <p14:sldIdLst>
            <p14:sldId id="300"/>
            <p14:sldId id="301"/>
            <p14:sldId id="302"/>
            <p14:sldId id="303"/>
          </p14:sldIdLst>
        </p14:section>
        <p14:section name="Appendix" id="{036B5607-3586-48B9-A9A1-4F3C2529DDA6}">
          <p14:sldIdLst>
            <p14:sldId id="304"/>
            <p14:sldId id="305"/>
            <p14:sldId id="306"/>
            <p14:sldId id="307"/>
            <p14:sldId id="308"/>
            <p14:sldId id="309"/>
            <p14:sldId id="310"/>
          </p14:sldIdLst>
        </p14:section>
        <p14:section name="Close" id="{B132EB54-39FE-49E3-B71C-1E6F1CBBB11A}">
          <p14:sldIdLst>
            <p14:sldId id="311"/>
            <p14:sldId id="312"/>
            <p14:sldId id="313"/>
            <p14:sldId id="31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9C0429-A27D-191E-02F6-1A5EA1ADAF1C}" name="Rodrigo De la Garza" initials="" userId="S::rodela@microsoft.com::aea35d9c-2d89-4bc1-8b94-6f0d54120eda" providerId="AD"/>
  <p188:author id="{4392619F-7B75-E4F8-5D55-40619472227E}" name="Ellie Ferguson" initials="EF" userId="S::elferguson@microsoft.com::55c21014-b655-49ad-a317-db34b175183a" providerId="AD"/>
  <p188:author id="{7F558DBD-3EBD-5EEC-0EC6-1FE8EAD99B4B}" name="Traníssa Cremé Calella" initials="TC" userId="S::trcreme@microsoft.com::da230c5a-0394-4c9f-a6c7-bcd14a74aca4" providerId="AD"/>
  <p188:author id="{EA2BB1CC-CCBC-CFD1-E586-B3F5D4B2902B}" name="Gina Eisele" initials="" userId="S::ginah@microsoft.com::4b775c3a-ed81-4f52-b83b-472130d98b00" providerId="AD"/>
  <p188:author id="{9F6174CF-D48A-DD27-940C-47BFC88AAFD6}" name="Andrea Lum" initials="AL" userId="S::anlum@microsoft.com::89002afe-ac3a-4767-b9c9-147d574dba1b" providerId="AD"/>
  <p188:author id="{251871E8-1052-0574-57C0-60020D8857D0}" name="Saulo Machado" initials="SM" userId="S::samachad@microsoft.com::27113bbf-fdf8-43dc-8297-89297021024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63" d="100"/>
          <a:sy n="163" d="100"/>
        </p:scale>
        <p:origin x="24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73.xml"/><Relationship Id="rId9" Type="http://schemas.openxmlformats.org/officeDocument/2006/relationships/slide" Target="slides/slide72.xml"/><Relationship Id="rId10" Type="http://schemas.openxmlformats.org/officeDocument/2006/relationships/slide" Target="slides/slide71.xml"/><Relationship Id="rId11" Type="http://schemas.openxmlformats.org/officeDocument/2006/relationships/slide" Target="slides/slide70.xml"/><Relationship Id="rId12" Type="http://schemas.openxmlformats.org/officeDocument/2006/relationships/slide" Target="slides/slide69.xml"/><Relationship Id="rId13" Type="http://schemas.openxmlformats.org/officeDocument/2006/relationships/slide" Target="slides/slide68.xml"/><Relationship Id="rId14" Type="http://schemas.openxmlformats.org/officeDocument/2006/relationships/slide" Target="slides/slide67.xml"/><Relationship Id="rId15" Type="http://schemas.openxmlformats.org/officeDocument/2006/relationships/slide" Target="slides/slide66.xml"/><Relationship Id="rId16" Type="http://schemas.openxmlformats.org/officeDocument/2006/relationships/slide" Target="slides/slide65.xml"/><Relationship Id="rId17" Type="http://schemas.openxmlformats.org/officeDocument/2006/relationships/slide" Target="slides/slide64.xml"/><Relationship Id="rId18" Type="http://schemas.openxmlformats.org/officeDocument/2006/relationships/slide" Target="slides/slide63.xml"/><Relationship Id="rId19" Type="http://schemas.openxmlformats.org/officeDocument/2006/relationships/slide" Target="slides/slide62.xml"/><Relationship Id="rId20" Type="http://schemas.openxmlformats.org/officeDocument/2006/relationships/slide" Target="slides/slide61.xml"/><Relationship Id="rId21" Type="http://schemas.openxmlformats.org/officeDocument/2006/relationships/slide" Target="slides/slide60.xml"/><Relationship Id="rId22" Type="http://schemas.openxmlformats.org/officeDocument/2006/relationships/slide" Target="slides/slide59.xml"/><Relationship Id="rId23" Type="http://schemas.openxmlformats.org/officeDocument/2006/relationships/slide" Target="slides/slide58.xml"/><Relationship Id="rId24" Type="http://schemas.openxmlformats.org/officeDocument/2006/relationships/slide" Target="slides/slide57.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8/10/relationships/authors" Target="authors.xml"/><Relationship Id="rId87" Type="http://schemas.openxmlformats.org/officeDocument/2006/relationships/slide" Target="slides/slide74.xml"/><Relationship Id="rId88" Type="http://schemas.openxmlformats.org/officeDocument/2006/relationships/slide" Target="slides/slide75.xml"/><Relationship Id="rId89"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2" Type="http://schemas.openxmlformats.org/officeDocument/2006/relationships/slide" Target="slides/slide79.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98" Type="http://schemas.openxmlformats.org/officeDocument/2006/relationships/slide" Target="slides/slide85.xml"/><Relationship Id="rId99" Type="http://schemas.openxmlformats.org/officeDocument/2006/relationships/slide" Target="slides/slide86.xml"/><Relationship Id="rId100" Type="http://schemas.openxmlformats.org/officeDocument/2006/relationships/slide" Target="slides/slide87.xml"/><Relationship Id="rId101" Type="http://schemas.openxmlformats.org/officeDocument/2006/relationships/slide" Target="slides/slide88.xml"/><Relationship Id="rId102" Type="http://schemas.openxmlformats.org/officeDocument/2006/relationships/slide" Target="slides/slide89.xml"/><Relationship Id="rId103" Type="http://schemas.openxmlformats.org/officeDocument/2006/relationships/slide" Target="slides/slide90.xml"/><Relationship Id="rId104"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7" Type="http://schemas.openxmlformats.org/officeDocument/2006/relationships/slide" Target="slides/slide94.xml"/><Relationship Id="rId108" Type="http://schemas.openxmlformats.org/officeDocument/2006/relationships/slide" Target="slides/slide95.xml"/><Relationship Id="rId109" Type="http://schemas.openxmlformats.org/officeDocument/2006/relationships/slide" Target="slides/slide96.xml"/><Relationship Id="rId110" Type="http://schemas.openxmlformats.org/officeDocument/2006/relationships/slide" Target="slides/slide97.xml"/><Relationship Id="rId111" Type="http://schemas.openxmlformats.org/officeDocument/2006/relationships/slide" Target="slides/slide98.xml"/><Relationship Id="rId112" Type="http://schemas.openxmlformats.org/officeDocument/2006/relationships/slide" Target="slides/slide99.xml"/><Relationship Id="rId113" Type="http://schemas.openxmlformats.org/officeDocument/2006/relationships/slide" Target="slides/slide100.xml"/><Relationship Id="rId114" Type="http://schemas.openxmlformats.org/officeDocument/2006/relationships/slide" Target="slides/slide101.xml"/><Relationship Id="rId115" Type="http://schemas.openxmlformats.org/officeDocument/2006/relationships/slide" Target="slides/slide102.xml"/><Relationship Id="rId116" Type="http://schemas.openxmlformats.org/officeDocument/2006/relationships/slide" Target="slides/slide103.xml"/><Relationship Id="rId117" Type="http://schemas.openxmlformats.org/officeDocument/2006/relationships/slide" Target="slides/slide104.xml"/><Relationship Id="rId118" Type="http://schemas.openxmlformats.org/officeDocument/2006/relationships/slide" Target="slides/slide105.xml"/><Relationship Id="rId119" Type="http://schemas.openxmlformats.org/officeDocument/2006/relationships/slide" Target="slides/slide106.xml"/><Relationship Id="rId120" Type="http://schemas.openxmlformats.org/officeDocument/2006/relationships/slide" Target="slides/slide107.xml"/><Relationship Id="rId121" Type="http://schemas.openxmlformats.org/officeDocument/2006/relationships/slide" Target="slides/slide108.xml"/><Relationship Id="rId122" Type="http://schemas.openxmlformats.org/officeDocument/2006/relationships/slide" Target="slides/slide109.xml"/><Relationship Id="rId123" Type="http://schemas.openxmlformats.org/officeDocument/2006/relationships/slide" Target="slides/slide110.xml"/><Relationship Id="rId124" Type="http://schemas.openxmlformats.org/officeDocument/2006/relationships/slide" Target="slides/slide111.xml"/><Relationship Id="rId125" Type="http://schemas.openxmlformats.org/officeDocument/2006/relationships/slide" Target="slides/slide112.xml"/><Relationship Id="rId126" Type="http://schemas.openxmlformats.org/officeDocument/2006/relationships/slide" Target="slides/slide113.xml"/><Relationship Id="rId127" Type="http://schemas.openxmlformats.org/officeDocument/2006/relationships/slide" Target="slides/slide114.xml"/><Relationship Id="rId128" Type="http://schemas.openxmlformats.org/officeDocument/2006/relationships/slide" Target="slides/slide1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2369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1 HANDS-ON. DO: start Deep Research on your screen first (it takes a few minutes), then the room starts theirs. Use the wait: 'When is web research better than our own content, and when is it riskier?' WATCH FOR: the Deep Research chip; citations that open; Word and Excel chips for the scorecard. IF STUCK: blank scales -&gt; reply 'Fill in the 1, 3, and 5 anchors for every competency.' Only one file -&gt; 'Also create the Excel version.' The scorecard (Task 1c) is OPTIONAL: fast finishers run it. TIME CHECK: at 0:30, demo the scorecard on your screen so everyone sees the Word + Excel output. NEXT: the browser.</a:t>
            </a:r>
          </a:p>
          <a:p/>
          <a:p>
            <a:r>
              <a:t>PROMPT TO COPY AND PASTE (copy the text under each --- heading; each heading is a separate step):</a:t>
            </a:r>
          </a:p>
          <a:p>
            <a:r>
              <a:t>--- Prompt ---</a:t>
            </a:r>
          </a:p>
          <a:p>
            <a:r>
              <a:t>Use Deep Research to summarize current best practices for structured behavioral interviews from multiple reputable sources. Produce a 1-page briefing with the key practices and cite your sources.</a:t>
            </a:r>
          </a:p>
          <a:p/>
          <a:p>
            <a:r>
              <a:t>--- Then ---</a:t>
            </a:r>
          </a:p>
          <a:p>
            <a:r>
              <a:t>Now compare these best practices to our HR Coordinator interview needs in job-description-sample.docx, and suggest 5 interview questions.</a:t>
            </a:r>
          </a:p>
          <a:p/>
          <a:p>
            <a:r>
              <a:t>--- Optional follow-up (if you have time) ---</a:t>
            </a:r>
          </a:p>
          <a:p>
            <a:r>
              <a:t>Turn this into an interviewer scorecard in Word AND Excel with the scoring scales filled in.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DEMO VIDEO — EXERCISE 1: Research the Web with Deep Research. Play your pre-recorded demo so the room doesn't wait while the task runs, and narrate the steps on the right as they happen. TO ADD THE VIDEO (once, before the session): select the media icon in the frame (or Insert &gt; Video &gt; This Device) and pick your recording; on Playback set Start: When Clicked On; use Trim Video to cut long waits. Record it from your demo account with the same prompt. NO VIDEO? Run the demo live, then move on.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1 CARD (0:20-0:35, 15 min). SAY: 'Deep Research reads many web sources and cites them, then we make it useful by grounding it in our own job description and turning it into documents.' Point out the three stages on the card: research, ground, and an optional build (Word + Excel). Next exercise shows the OTHER way Cowork uses the web: driving a browser.</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DIVIDER — EXERCISE 1: Research the Web with Deep Research (15 min, 0:20–0:35). Pause here: check the room is ready (anyone still finishing the last exercise?), then introduce the scenario card on the next slide.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STARTER PROMPTS (part of setup, before Exercise 1; no extra exercise time). Show the three screenshots from left to right: select Cowork, open New task, then explore Try these next and Task ideas. Suggestions such as Organize my inbox, Arrange my week, and Prep for a meeting are starting points, not fixed instructions. Tailor the goal, sources, output format, and constraints before running. Examples: draft a cited morning briefing; audit next week's calendar and suggest focus time without changing meetings; prepare a meeting brief with an agenda and open questions, without sending messages. Keep this a quick orientation, not another live task. Use the instructor demo account; screenshots are examples and attendee suggestions may differ. Review drafts and approve actions one at a time. Then move straight into Exercise 1.</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HOW TO READ A CARD. Every exercise is introduced with the same scenario format. Walk it top-left to bottom-right: Goal, Output, Why Cowork?, Prompt, Workflow, Data sources; the Function tag names the business area. Each card is followed by a hands-on slide with numbered steps, what to watch for, a checkpoint, and a stretch. The Prompt key at the bottom right shows what each prompt color means; the colors are the same on every card and in the workbook.</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DEMO VIDEO — PROMPTING BEST PRACTICES. Run the WEAK prompt from the previous slide, then the STRONG one, in two tasks side by side. Point to each colored element as Cowork uses it, and to the invented-vs-sourced dates. Play your pre-recorded demo so the room doesn't wait while the task runs, and narrate the steps on the right as they happen. TO ADD THE VIDEO (once, before the session): select the media icon in the frame (or Insert &gt; Video &gt; This Device) and pick your recording; on Playback set Start: When Clicked On; use Trim Video to cut long waits. Record it from your demo account with the same prompt. NO VIDEO? Run the demo live, then move on.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PROMPTING BEST PRACTICES (about 4 min, before the exercises). Read the WEAK prompt aloud and ask the room: what would Cowork have to guess? (Audience, which dates, length, tone, whether to send.) Then walk the STRONG version element by element: GOAL (blue) says what outcome and for whom; SOURCE (green) names the exact files and sections; EXPECTATIONS (orange) describe what good looks like: length, subject line, bullets, tone; CONSTRAINTS (purple) say what not to do. Point out 'don't invent dates': the benefits summary only says November, so a weak prompt invites a made-up deadline. Key message: no labels and no fixed order; just check all four are there. Context about the situation belongs in the Goal. Every exercise prompt, in the workbook and on the exercise cards, uses these same colors, and each card has a Prompt key at the bottom right (setup step D has the legend and this example). When Cowork asks a clarifying question or misses, the missing piece is usually one of the four: add it in a follow-up.</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SKILLS. You don't invoke skills manually — Cowork activates them and shows chips. Ex 8 gathers mail, calendar, and chats through Work IQ; Ex 1 Deep Research + Word/Excel; Ex 2 is browser use (no skill chip); Ex 4 Word/Excel; Ex 5 PowerPoint, Scheduling, Communications; Ex 6 Daily Briefing. Full list: reference/03-skills-catalog.md.</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SETTINGS &amp; MODELS. Model picker ('let Cowork decide' is a fine default; Anthropic models may appear as a subprocessor depending on tenant) and reasoning effort (quality vs speed vs cost). Set one custom instruction as a class in Customize. Detail: reference/02-settings-and-models.md.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SETUP (part of 0:10-0:20). The participant email asks attendees to sign in and upload the files BEFORE the session; here you only confirm it. Anyone who hasn't: sign in + smoke test, then download zava-sample-knowledge.zip, extract it, and use Folder upload to add the ai_hr_cowork_workshop folder (the six Word and Excel files) to Documents in their own OneDrive; no Folder upload option? create the folder and upload the files. Show how to attach a file: + -&gt; Attach cloud files, or type /. EDGE PROFILE CHECK: the browser task in Ex 2 runs in the Edge profile signed in with their work account; anyone in a personal profile adds a work profile now (not InPrivate). Attendees use their OWN work accounts; YOU are on a SEPARATE demo tenant. DATA: Ex 8 reads their own mail and calendar (private: no screen sharing); everything else uses the Zava files. Proctors triage; anyone blocked follows your demo. readiness-checklist.md has the triage.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DEMO VIDEO — COPILOT AND COWORK UI WALKTHROUGH. Show the difference first: a quick question in Copilot Chat, then the same app's Cowork entry point. Then tour New task, My tasks, Automations, Customize, and the side panel of a running task. Play your pre-recorded demo so the room doesn't wait while the task runs, and narrate the steps on the right as they happen. TO ADD THE VIDEO (once, before the session): select the media icon in the frame (or Insert &gt; Video &gt; This Device) and pick your recording; on Playback set Start: When Clicked On; use Trim Video to cut long waits. Record it from your demo account with the same prompt. NO VIDEO? Run the demo live, then move on.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COWORK UI WALKTHROUGH (part of 0:10-0:20). The screenshot is the NEW TASK home ('What can I do for you?'): Start a task box, model picker, reasoning effort, attach, dictate, 'Try these next'. Then MY TASKS (resume past work), AUTOMATIONS (Runs / Manage schedules), CUSTOMIZE (instructions, skills, plugins). Point out the session side panel — you'll refer to it all day. Detail: reference/07-cowork-ui-walkthrough.md.</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WHAT IS COWORK. Describe the OUTCOME, not the steps. Cowork plans -&gt; picks skills -&gt; pauses for approval -&gt; returns artifacts, grounded via Work IQ (permission-aware). Hammer the checkpoint model; attendees may meet approval dialogs throughout the training, including the Exercise 8 capstone.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COPILOT vs COWORK (0:05-0:10). Copilot (Chat) = assistant: you ask, it answers, you drive. Cowork = coworker: you describe an outcome, it does the multi-step work and returns a deliverable, pausing for approval. Give one HR example of each and land the rule of thumb. Cowork isn't a replacement for Chat — it's the 'do it for me' mode of the same Copilot family. Detail: reference/00-copilot-vs-cowork.md.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AGENDA. Framing (what/why + Copilot vs Cowork), a UI tour + setup, then EIGHT exercises with one 15-minute break after Ex 4. Each exercise opens with a scenario card, then a hands-on slide with steps and a checkpoint. Ex 1 is Deep Research with an optional cost check; Ex 8 is the Executive Command Center; Ex 2 has Cowork drive a browser; Ex 3 (custom skill) is the centerpiece; Ex 7 steps OUTSIDE Cowork into Agent Builder.</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WELCOME (0:00-0:05). Introduce yourself and the goal: by the end, every attendee knows when to use Copilot Chat vs. Cowork and has built an executive command center, researched the web, had Cowork navigate websites in its browser, built a custom skill, an onboarding pack, an automation, and a no-code agent, and finished with the Executive Command Center capstone. 2 hours 35 minutes, one 15-minute break after Ex 4. The pace is brisk: play the demo videos instead of waiting on long runs. Tenant note: ATTENDEES use their own work accounts; YOU demo from a SEPARATE tenant, so your screen may differ. Golden rule all day: every Cowork output is a DRAFT; Cowork pauses at checkpoints.</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FIND YOUR OUTPUTS (Ex 1, ~3 min). Take your time here; every later exercise relies on it. On your screen: open the side panel with the side panel toggle; point out Input folder (what you attached) vs Output folder (what Cowork created, each file with Preview and Download); Preview the optional scorecard (split view, full-screen toggle, Open in native app); show Download and Download All (zip); open OneDrive -&gt; Cowork in a new tab to show the same file. Everyone watches the demo; attendees who built the optional scorecard open their own files. The panel on the right is an illustration of the side panel's sections (per Microsoft Learn), not a screenshot.</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CHECK THE COST (Ex 1, ~2 min, OPTIONAL: skip it if you are behind and mention /cost at the break). SAY: 'Cowork is usage-billed, so let's see what that research task cost.' DO: in your Ex 1 task type /cost, select the skill shown in the screenshot, and send it; point to the result: credits for this task (all actions in the task, not a line-by-line breakdown), credits used this month, and credits remaining. Then have everyone do it. KEY POINTS: /cost is free; it's an approximation, not a billing record, and can lag a few minutes; you can't check the cost before running a task; you can go back to any earlier task and type /cost; limits are set by the organization, reset at 00:00 UTC on the 1st, and may be a shared group limit. Show the Usage screenshot separately: it is monthly consumption, not the Ex 1 task's cost. The example has 732 credits used this month and an unlimited limit; do not present those as the attendee's balance or a currency amount. Point out the daily chart and delayed-total notice. The weekday schedule uses credits on every run, so pause it after class. Source: Microsoft Learn, 'Credit usage for Microsoft Copilot Cowork tasks'.</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DIVIDER — EXERCISE 2: Navigate Websites with Cowork’s Browser (15 min, 0:35–0:50). Pause here: check the room is ready (anyone still finishing the last exercise?), then introduce the scenario card on the next slide.</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2 CARD (0:35-0:50, 15 min). SAY: 'This is Cowork driving a real browser, like a person or a test tool such as Playwright: it types in a site's search box, clicks links and menus, and moves to another site. There's no browser skill to pick and no skill chip; ask for something that needs a website and Cowork opens a hidden tab in your own Edge, with your sign-ins and your company's policies.' Contrast with Deep Research (reads and cites) from Ex 1.</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DEMO VIDEO — EXERCISE 2: Navigate Websites with Cowork’s Browser. Play your pre-recorded demo so the room doesn't wait while the task runs, and narrate the steps on the right as they happen. TO ADD THE VIDEO (once, before the session): select the media icon in the frame (or Insert &gt; Video &gt; This Device) and pick your recording; on Playback set Start: When Clicked On; use Trim Video to cut long waits. Record it from your demo account with the same prompt. NO VIDEO? Run the demo live, then move on.</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2 HANDS-ON. DO: demo first. Show the consent notice (I understand), the progress chips, and Switch to tab so the room sees Edge typing in the DOL search box and clicking through to Fact Sheet #23, then lni.wa.gov. WATCH FOR: a table showing Zava's 1.5x over 40 hours matches federal and Washington rules; DOL adds the regular-payday rule; Washington adds no waiver and no daily overtime; links to both pages. IF STUCK: 'Browser tasks run in Microsoft Edge' -&gt; wrong browser; no browser at all -&gt; Edge profile isn't their work account, InPrivate, the Edge setting is off, or the admin hasn't allowed browser access (reference/10-cowork-browser.md). They follow your demo. 2b is OPTIONAL: fast finishers run it; at 0:45 demo it. STRETCH: Fact Sheet #17A on dol.gov plus Washington's exempt salary minimum on lni.wa.gov, read only. Don't send people to interactive tools such as the DOL eLaws advisors; Cowork declined one in the dry run. NEXT: 'You've used built-in skills and the browser. Now build your own skill.'</a:t>
            </a:r>
          </a:p>
          <a:p/>
          <a:p>
            <a:r>
              <a:t>PROMPT TO COPY AND PASTE (copy the text under each --- heading; each heading is a separate step):</a:t>
            </a:r>
          </a:p>
          <a:p>
            <a:r>
              <a:t>--- Task 2a — Attach the handbook, then ---</a:t>
            </a:r>
          </a:p>
          <a:p>
            <a:r>
              <a:t>Use my browser to do this step by step, and tell me which page you’re on at each step:</a:t>
            </a:r>
          </a:p>
          <a:p>
            <a:r>
              <a:t>1. Go to https://www.dol.gov and use the site’s search box to find the Wage and Hour Division’s overtime pay fact sheet (Fact Sheet #23). Open it and note the overtime rules and when overtime must be paid.</a:t>
            </a:r>
          </a:p>
          <a:p>
            <a:r>
              <a:t>2. Go to https://lni.wa.gov and use the site’s menu or search to find Washington State’s overtime page. Open it and note anything Washington adds to the federal rules.</a:t>
            </a:r>
          </a:p>
          <a:p>
            <a:r>
              <a:t>3. Compare both with the overtime rule in employee-handbook-excerpt.docx. Give me a table with the columns Rule, Federal (DOL), Washington (L&amp;I), and Zava handbook, plus a link to every page you used.</a:t>
            </a:r>
          </a:p>
          <a:p>
            <a:r>
              <a:t>Only read: don’t sign in, and don’t fill in or submit any form except a site search box.</a:t>
            </a:r>
          </a:p>
          <a:p/>
          <a:p>
            <a:r>
              <a:t>--- Task 2b — Optional follow-up ---</a:t>
            </a:r>
          </a:p>
          <a:p>
            <a:r>
              <a:t>Turn this into a one-page Word brief for our payroll team about ticket T-2008: what the rules say, what our handbook says, and the recommended next step. Don’t send it.</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DIVIDER — EXERCISE 3: Build a Custom Skill: HR Policy Answer (15 min, 0:50–1:05). Pause here: check the room is ready (anyone still finishing the last exercise?), then introduce the scenario card on the next slide.</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3 CARD (0:50-1:05, 15 min) - CENTERPIECE. SAY: 'Build your first custom skill on purpose and let Cowork grade it; the capstone later saves one from a prompt.' Explain why a skill beats re-typing instructions: same format, sources, and guardrails every time. Scoring bands: Excellent 85+, Good 70-84, Needs work 50-69, Poor &lt;50.</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DEMO VIDEO — EXERCISE 3: Build a Custom Skill: HR Policy Answer. Play your pre-recorded demo so the room doesn't wait while the task runs, and narrate the steps on the right as they happen. TO ADD THE VIDEO (once, before the session): select the media icon in the frame (or Insert &gt; Video &gt; This Device) and pick your recording; on Playback set Start: When Clicked On; use Trim Video to cut long waits. Record it from your demo account with the same prompt. NO VIDEO? Run the demo live, then move on.</a:t>
            </a: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3 HANDS-ON. DO: build it live from Customize -&gt; Skills -&gt; Add -&gt; Create new; paste the instructions; read the evaluation ALOUD and name the four dimensions (trigger clarity, instruction specificity, scope boundaries, robustness). Then test both questions in a NEW task, and start the policy question with 'At Zava': attendees' own tenants hold real benefits content, and in the dry run a generic question pulled that instead. WATCH FOR: the skill triggering WITHOUT being named; Answer -&gt; Details -&gt; Source -&gt; confirm-with-HR; the salary question declined. IF STUCK: 'Needs work' -&gt; tighten trigger wording and the out-of-scope list; wrong facts -&gt; check the two file names in the instructions match their OneDrive; answer quotes their own company's benefits -&gt; the instructions must say ONLY the two Zava files, then retest in a new task. Keep skills 'Only you'. Answer key: facilitator-answer-key.md and skills/hr-policy-answer/SKILL.md. NEXT: 'This skill helps YOU. In Ex 7 we build an agent that helps OTHERS.'</a:t>
            </a:r>
          </a:p>
          <a:p/>
          <a:p>
            <a:r>
              <a:t>PROMPT TO COPY AND PASTE (copy the text under each --- heading; each heading is a separate step):</a:t>
            </a:r>
          </a:p>
          <a:p>
            <a:r>
              <a:t>--- Prompt ---</a:t>
            </a:r>
          </a:p>
          <a:p>
            <a:r>
              <a:t>In Customize → Skills → Add → Create new, give Cowork these details:</a:t>
            </a:r>
          </a:p>
          <a:p/>
          <a:p>
            <a:r>
              <a:t>- Name: HR Policy Answer</a:t>
            </a:r>
          </a:p>
          <a:p>
            <a:r>
              <a:t>- Category: Human Resources</a:t>
            </a:r>
          </a:p>
          <a:p>
            <a:r>
              <a:t>- Description: Answers Zava employee policy and benefits questions in a consistent, sourced format, grounded only in Zava’s handbook and benefits documents.</a:t>
            </a:r>
          </a:p>
          <a:p/>
          <a:p>
            <a:r>
              <a:t>--- Instructions ---</a:t>
            </a:r>
          </a:p>
          <a:p>
            <a:r>
              <a:t>Use this skill when someone asks about Zava’s HR policy or benefits (PTO, remote/hybrid work, benefits enrollment, overtime, code of conduct, learning budget). Ground answers only in employee-handbook-excerpt.docx and benefits-summary.docx in my OneDrive folder Documents/ai_hr_cowork_workshop. Don’t use web results or any other documents in my Microsoft 365, and if the answer isn’t in these two files, say so instead of guessing. Answer in this format: a direct plain-language answer, then a short Details section, then a Source line naming the document, then the note “Policies can change — please confirm with HR.” Keep a warm, professional tone. Do not handle individual pay, performance, disciplinary, legal, or medical questions — politely redirect those. Produce a draft for HR to review; never send automatically.</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DIVIDER — EXERCISE 4: Recruiting + Reporting (15 min, 1:05–1:20). Pause here: check the room is ready (anyone still finishing the last exercise?), then introduce the scenario card on the next slide.</a:t>
            </a:r>
          </a:p>
        </p:txBody>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4 CARD (1:05-1:20, 15 min). SAY: 'Two quick wins. In Ex 1 we prepared to interview for the HR Coordinator role; now we write the posting that attracts the right candidates. Then we get on top of the ticket queue.' Point out that Cowork picks Word for writing and Excel for analysis on its own.</a:t>
            </a:r>
          </a:p>
        </p:txBody>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DEMO VIDEO — EXERCISE 4: Recruiting + Reporting. Play your pre-recorded demo so the room doesn't wait while the task runs, and narrate the steps on the right as they happen. TO ADD THE VIDEO (once, before the session): select the media icon in the frame (or Insert &gt; Video &gt; This Device) and pick your recording; on Playback set Start: When Clicked On; use Trim Video to cut long waits. Record it from your demo account with the same prompt. NO VIDEO? Run the demo live, then move on.</a:t>
            </a:r>
          </a:p>
        </p:txBody>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4 HANDS-ON. DO: run 4a and 4b back to back; attendees can start 4b while 4a is still working. WATCH FOR: 4a -&gt; a posting under 350 words with the hybrid schedule, plus a wording-review table (e.g., degree requirement, years of experience framed as must-haves); discuss whether every flag is fair. 4b -&gt; 6 open / 14 closed, T-2008 as the ONLY high-priority open ticket. TRAP: T-2003 and T-2013 are High but Closed; listing them means Status was ignored. IF STUCK: wrong counts -&gt; ask Cowork to show the table it counted from. NEXT: break, then they automate this report in Ex 6.</a:t>
            </a:r>
          </a:p>
          <a:p/>
          <a:p>
            <a:r>
              <a:t>PROMPT TO COPY AND PASTE (copy the text under each --- heading; each heading is a separate step):</a:t>
            </a:r>
          </a:p>
          <a:p>
            <a:r>
              <a:t>--- Task 4a — Inclusive job posting ---</a:t>
            </a:r>
          </a:p>
          <a:p>
            <a:r>
              <a:t>Using job-description-sample.docx, write an inclusive, engaging job posting for the HR Coordinator role for our careers page. Keep it under 350 words, with short What you’ll do, What you’ll bring, and What we offer sections, and mention the hybrid schedule. Then add a separate table that flags any wording in the original description that could discourage qualified applicants, with a suggested alternative for each. Save it as a Word doc. Don’t add pay figures, perks, or requirements that aren’t in the description.</a:t>
            </a:r>
          </a:p>
          <a:p/>
          <a:p>
            <a:r>
              <a:t>--- Task 4b — Ticket summary ---</a:t>
            </a:r>
          </a:p>
          <a:p>
            <a:r>
              <a:t>Using hr-tickets-sample.xlsx, summarize open vs. closed tickets by category and priority, and list the high-priority open items I should follow up on today. Put it in a short report.</a:t>
            </a:r>
          </a:p>
        </p:txBody>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BREAK (15 min, 1:20-1:35). Sweep the room for blockers and check everyone's Exercise 3 skill saved: Exercise 6 shares it.</a:t>
            </a:r>
          </a:p>
        </p:txBody>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DIVIDER — EXERCISE 5: Onboarding Orientation Pack (10 min, 1:35–1:45). Pause here: check the room is ready (anyone still finishing the last exercise?), then introduce the scenario card on the next slide.</a:t>
            </a:r>
          </a:p>
        </p:txBody>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5 CARD (1:35-1:45, 10 min). SAY: 'Sofia Alvarez accepted the HR Coordinator role and starts next Monday. Let's get her first day ready.' This is the story arc from Ex 1 (interview) and Ex 4 (posting). Several built-in skills chain together: PowerPoint, Scheduling, Communications. Call out each new skill chip.</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DEMO VIDEO — EXERCISE 5: Onboarding Orientation Pack. Play your pre-recorded demo so the room doesn't wait while the task runs, and narrate the steps on the right as they happen. TO ADD THE VIDEO (once, before the session): select the media icon in the frame (or Insert &gt; Video &gt; This Device) and pick your recording; on Playback set Start: When Clicked On; use Trim Video to cut long waits. Record it from your demo account with the same prompt. NO VIDEO? Run the demo live, then move on.</a:t>
            </a:r>
          </a:p>
        </p:txBody>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5 HANDS-ON. DO: 5a is the must-do (the deck takes longest); 5b and 5c are OPTIONAL for fast finishers, or demo them while the deck builds. WATCH FOR: PowerPoint, Scheduling/Calendar, and Communications chips; an approval dialog before the invite is sent; the announcement saved as a draft, not sent. SAFETY: invite yourself only; Sofia is fictional and has no account. IF STUCK: no Teams link -&gt; ask Cowork to add one before approving. TIME CHECK: at 1:45 move on, even if only 5a is done. NEXT: 'Now let's stop re-asking for the same work.'</a:t>
            </a:r>
          </a:p>
          <a:p/>
          <a:p>
            <a:r>
              <a:t>PROMPT TO COPY AND PASTE (copy the text under each --- heading; each heading is a separate step):</a:t>
            </a:r>
          </a:p>
          <a:p>
            <a:r>
              <a:t>--- Task 5a — Orientation deck ---</a:t>
            </a:r>
          </a:p>
          <a:p>
            <a:r>
              <a:t>Using onboarding-checklist.docx, employee-handbook-excerpt.docx, and benefits-summary.docx, build a short onboarding orientation PowerPoint (6–8 slides) covering first-day logistics, PTO, remote/hybrid work, and benefits basics. Keep it clean and friendly. Use only facts from these files.</a:t>
            </a:r>
          </a:p>
          <a:p/>
          <a:p>
            <a:r>
              <a:t>--- Task 5b — Optional: schedule the kickoff ---</a:t>
            </a:r>
          </a:p>
          <a:p>
            <a:r>
              <a:t>Schedule a 30-minute onboarding kickoff for Sofia Alvarez’s first day, next Monday at 9:30 AM, add a Teams meeting link, and invite only me. Show it to me before you send it.</a:t>
            </a:r>
          </a:p>
          <a:p/>
          <a:p>
            <a:r>
              <a:t>--- Task 5c — Optional: team announcement ---</a:t>
            </a:r>
          </a:p>
          <a:p>
            <a:r>
              <a:t>Draft a warm, inclusive team announcement introducing Sofia Alvarez, our new HR Coordinator starting next Monday, and her first-week plan, using onboarding-checklist.docx. Save it as an Outlook email draft addressed to me; don’t send it.</a:t>
            </a:r>
          </a:p>
        </p:txBody>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DIVIDER — EXERCISE 6: Automate &amp; Share (15 min, 1:45–2:00). Pause here: check the room is ready (anyone still finishing the last exercise?), then introduce the scenario card on the next slide.</a:t>
            </a:r>
          </a:p>
        </p:txBody>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6 CARD (1:45-2:00, 15 min). SAY: 'You built a skill and a report. Now put recurring work on a schedule and share what you built.' This is their first scheduled workflow; show where schedules live and how to control them.</a:t>
            </a:r>
          </a:p>
        </p:txBody>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DEMO VIDEO — EXERCISE 6: Automate &amp; Share. Play your pre-recorded demo so the room doesn't wait while the task runs, and narrate the steps on the right as they happen. TO ADD THE VIDEO (once, before the session): select the media icon in the frame (or Insert &gt; Video &gt; This Device) and pick your recording; on Playback set Start: When Clicked On; use Trim Video to cut long waits. Record it from your demo account with the same prompt. NO VIDEO? Run the demo live, then move on.</a:t>
            </a:r>
          </a:p>
        </p:txBody>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6 HANDS-ON. DO: create the Automation live; choose 'Activate and run now'; show Runs vs Manage schedules (edit, pause, resume, delete). Demo a Daily Briefing, then Share / Re-share on the Ex 3 skill. WATCH FOR: an Active schedule and a completed run naming T-2008. IF STUCK: run can't find the file -&gt; the prompt must name the exact file and folder. Sharing stays inside the attendee tenant: 'Only you' or initialed names. TIME CHECK: 6a is the must-do; 6b is quick; 6c is OPTIONAL, so demo it. NEXT: Agent Builder, the non-Cowork policy-agent exercise.</a:t>
            </a:r>
          </a:p>
          <a:p/>
          <a:p>
            <a:r>
              <a:t>PROMPT TO COPY AND PASTE (copy the text under each --- heading; each heading is a separate step):</a:t>
            </a:r>
          </a:p>
          <a:p>
            <a:r>
              <a:t>--- Task 6a — Automations → Create ---</a:t>
            </a:r>
          </a:p>
          <a:p>
            <a:r>
              <a:t>Every Monday at 8:00 AM, read hr-tickets-sample.xlsx in my OneDrive folder Documents/ai_hr_cowork_workshop, summarize open tickets by category and priority, list high-priority open tickets first, and put it in a short report. Don’t email anyone.</a:t>
            </a:r>
          </a:p>
          <a:p/>
          <a:p>
            <a:r>
              <a:t>Choose Activate and run now to see the first run in class.</a:t>
            </a:r>
          </a:p>
          <a:p/>
          <a:p>
            <a:r>
              <a:t>--- Task 6b — New task ---</a:t>
            </a:r>
          </a:p>
          <a:p>
            <a:r>
              <a:t>Give me a Daily Briefing focused on my HR tasks and meetings for today. List the most urgent items first.</a:t>
            </a:r>
          </a:p>
          <a:p/>
          <a:p>
            <a:r>
              <a:t>--- Task 6c — Optional: share your skill ---</a:t>
            </a:r>
          </a:p>
          <a:p>
            <a:r>
              <a:t>Open HR Policy Answer on the Customize page → Share. Keep it “Only you” or share to one colleague (add your initials first). Make a small edit, then Re-share.</a:t>
            </a:r>
          </a:p>
        </p:txBody>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DIVIDER — EXERCISE 7: HR Policy Agent with Agent Builder (15 min, 2:00–2:15). Pause here: check the room is ready (anyone still finishing the last exercise?), then introduce the scenario card on the next slide. SAY: 'This exercise is NOT Cowork. We switch to Copilot Agent Builder: Microsoft 365 Copilot -&gt; Create agent.' Ask everyone to leave their Cowork task.</a:t>
            </a:r>
          </a:p>
        </p:txBody>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7 CARD (2:00-2:15, 15 min) - NON-COWORK EXERCISE. SAY: 'Everything so far helped YOU. Now we build something OTHER people can use: an agent, in Microsoft 365 Copilot's Agent Builder.' Same no-code spirit, different tool: a persistent, shareable agent grounded in the same Zava files.</a:t>
            </a:r>
          </a:p>
        </p:txBody>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DEMO VIDEO — EXERCISE 7: HR Policy Agent with Agent Builder. SAY: 'This one is NOT Cowork. We are in Copilot Agent Builder.' Play your pre-recorded demo so the room doesn't wait while the task runs, and narrate the steps on the right as they happen. TO ADD THE VIDEO (once, before the session): select the media icon in the frame (or Insert &gt; Video &gt; This Device) and pick your recording; on Playback set Start: When Clicked On; use Trim Video to cut long waits. Record it from your demo account with the same prompt. NO VIDEO? Run the demo live, then move on.</a:t>
            </a:r>
          </a:p>
        </p:txBody>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7 HANDS-ON. DO: build live via Describe -&gt; Configure -&gt; Try it; add the two Zava Word files as KNOWLEDGE; in Knowledge turn ON 'Only use specified sources' and OFF 'Search all websites'; test 'At Zava, when is open enrollment...?' (sourced answer) and the salary question (declines). WATCH FOR: files showing 'Preparing' for a few minutes; .md or .csv files are rejected. IF STUCK: answers ignore the files -&gt; wait, or refresh Knowledge in Configure; answers about the attendee's own company benefits (seen in the dry run) -&gt; check those two settings and the 'At Zava' wording; Agent Builder prioritizes your sources but can't fully block general knowledge (Copilot Studio can); no Create agent -&gt; desktop/web Microsoft 365 Copilot with a license. External ACTIONS need Copilot Studio (out of scope). TIME CHECK: if behind, run it as a demo and have attendees build it after class. Detail: reference/08-agent-builder-policy-agent.md. NEXT: return to Cowork for the Executive Command Center capstone.</a:t>
            </a:r>
          </a:p>
          <a:p/>
          <a:p>
            <a:r>
              <a:t>PROMPT TO COPY AND PASTE (copy the text under each --- heading; each heading is a separate step):</a:t>
            </a:r>
          </a:p>
          <a:p>
            <a:r>
              <a:t>--- Describe tab ---</a:t>
            </a:r>
          </a:p>
          <a:p>
            <a:r>
              <a:t>Create an HR Policy Agent that answers Zava employees’ questions about Zava’s policies and benefits — PTO, remote/hybrid work, benefits enrollment, overtime, and the code of conduct — using only Zava’s HR documents, in a warm, professional tone. Always cite the source document and remind the reader that HR should confirm. Politely decline questions about individual pay, performance, legal, or medical matters and redirect them to HR.</a:t>
            </a:r>
          </a:p>
          <a:p/>
          <a:p>
            <a:r>
              <a:t>--- Configure tab ---</a:t>
            </a:r>
          </a:p>
          <a:p>
            <a:r>
              <a:t>- Name: HR Policy Agent</a:t>
            </a:r>
          </a:p>
          <a:p>
            <a:r>
              <a:t>- Knowledge: employee-handbook-excerpt.docx and benefits-summary.docx (upload, or pick from OneDrive)</a:t>
            </a:r>
          </a:p>
          <a:p>
            <a:r>
              <a:t>- Only use specified sources: On · Search all websites: Off</a:t>
            </a:r>
          </a:p>
          <a:p>
            <a:r>
              <a:t>- Suggested prompts: “How much PTO do I get at Zava?” · “When is Zava’s open enrollment?” · “What are Zava’s anchor office days?”</a:t>
            </a:r>
          </a:p>
        </p:txBody>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DIVIDER — EXERCISE 8: Executive Command Center (15 min, 2:15–2:30). Pause here: check the room is ready (anyone still finishing the last exercise?), then introduce the scenario card on the next slide.</a:t>
            </a:r>
          </a:p>
        </p:txBody>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8 CARD (2:15-2:30, 15 min). SAY: 'Watch one prompt gather signals, build a dashboard, save itself as a skill, and schedule itself.' APPROVAL REMINDER: review the permissions Cowork asks for (saving the skill, creating the schedule), one at a time, no Approve All. The detailed approvals slide is in the Appendix after this exercise. It combines the skills from Ex 3 and schedules from Ex 6. Read the guardrail in the prompt aloud: workstreams, not people.</a:t>
            </a:r>
          </a:p>
        </p:txBody>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DEMO VIDEO — EXERCISE 8: Executive Command Center. Record this one from your SEEDED demo account (seed-content.md), never from real mail: the Thursday conflict and T-2008 should show. Attendees then run it on their own data, privately. Play your pre-recorded demo so the room doesn't wait while the task runs, and narrate the steps on the right as they happen. TO ADD THE VIDEO (once, before the session): select the media icon in the frame (or Insert &gt; Video &gt; This Device) and pick your recording; on Playback set Start: When Clicked On; use Trim Video to cut long waits. Record it from your demo account with the same prompt. NO VIDEO? Run the demo live, then move on.</a:t>
            </a:r>
          </a:p>
        </p:txBody>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EXERCISE 8 HANDS-ON. DO: show how to fill [Priority Folder] (their own priority-documents folder, or Documents/ai_hr_cowork_workshop) and [time] (e.g., 8:00 AM), then start your demo. SET EXPECTATIONS: this is the only exercise on their OWN mail, calendar, and Teams, so the dashboard shows their real work, not Zava (the dry run flagged this). Tell them what Cowork will ask: clarifying questions (answer in chat), two approval cards near the end (save the skill, create the schedule; one at a time), and suggested follow-ups when it finishes (skip for now). WATCH FOR: Work IQ gathering; the HTML file in the Output folder; in YOUR seeded demo, the Thursday conflict and T-2008 (seed-content.md). Attendees run it on their own mail, calendar, and Teams: results vary and stay private, so debrief on the pattern, never ask them to share screens; a quiet week gives a light dashboard. REVISIT step 3: use the Output folder workflow introduced in Ex 1. CLEANUP: skill stays 'Only you'; pause or delete the weekday schedule after class. NEXT: wrap-up and schedule cleanup.</a:t>
            </a:r>
          </a:p>
          <a:p/>
          <a:p>
            <a:r>
              <a:t>PROMPT TO COPY AND PASTE (copy the text under each --- heading; each heading is a separate step):</a:t>
            </a:r>
          </a:p>
          <a:p>
            <a:r>
              <a:t>--- Prompt ---</a:t>
            </a:r>
          </a:p>
          <a:p>
            <a:r>
              <a:t>Build an interactive HTML Executive Command Center that shows what requires my attention today and this week.</a:t>
            </a:r>
          </a:p>
          <a:p/>
          <a:p>
            <a:r>
              <a:t>Use my calendar, recent emails, Teams conversations, meeting transcripts, and priority documents from [Priority Folder]. Focus on decisions, commitments, risks, and workstreams where my involvement could change the outcome.</a:t>
            </a:r>
          </a:p>
          <a:p/>
          <a:p>
            <a:r>
              <a:t>At the top, show:</a:t>
            </a:r>
          </a:p>
          <a:p>
            <a:r>
              <a:t>- One or two urgent items requiring action</a:t>
            </a:r>
          </a:p>
          <a:p>
            <a:r>
              <a:t>- Today’s most important meeting or priority</a:t>
            </a:r>
          </a:p>
          <a:p>
            <a:r>
              <a:t>- My busiest day this week</a:t>
            </a:r>
          </a:p>
          <a:p>
            <a:r>
              <a:t>- Remaining working days this week</a:t>
            </a:r>
          </a:p>
          <a:p/>
          <a:p>
            <a:r>
              <a:t>Organize the command center into three views:</a:t>
            </a:r>
          </a:p>
          <a:p>
            <a:r>
              <a:t>- Meetings: Key meetings, preparation needed, conflicts, and follow-ups</a:t>
            </a:r>
          </a:p>
          <a:p>
            <a:r>
              <a:t>- Priorities: Active commitments, approaching deadlines, blockers, and decisions waiting on me</a:t>
            </a:r>
          </a:p>
          <a:p>
            <a:r>
              <a:t>- Org pulse: Workstreams receiving significant attention, areas with limited recent activity, and important commitments that may have gone quiet</a:t>
            </a:r>
          </a:p>
          <a:p/>
          <a:p>
            <a:r>
              <a:t>For each recommended action, label it:</a:t>
            </a:r>
          </a:p>
          <a:p>
            <a:r>
              <a:t>- Lean in; OR, Delegate; OR, Re-engage; OR, Protect time</a:t>
            </a:r>
          </a:p>
          <a:p/>
          <a:p>
            <a:r>
              <a:t>Explain the signal behind the recommendation and give me one clear next action. Keep recommendations focused on workstreams, decisions, and commitments rather than evaluating individual people. Make the dashboard executive-ready and easy to scan, with expandable sections, traffic-light indicators, and links to the supporting emails, meetings, chats, and files. The most important content should answer: What needs my attention, and what should I do differently today?</a:t>
            </a:r>
          </a:p>
          <a:p/>
          <a:p>
            <a:r>
              <a:t>Save this as a skill named [Executive Command Center] and schedule it to run every weekday at [time], using the latest available context.</a:t>
            </a:r>
          </a:p>
        </p:txBody>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APPENDIX DIVIDER (after Exercise 8). The following slides are optional: learning objectives, workshop download links, Cowork settings, approvals, custom instructions, and responsible use. Cover them only if time allows, or share them after the workshop. Preserve wrap-up and schedule cleanup; the required workshop timing is unchanged.</a:t>
            </a:r>
          </a:p>
        </p:txBody>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OPTIONAL LEARNING OBJECTIVES (after Exercise 8, if time allows). Use the six objectives as a recap of what attendees practiced. They mirror the README and workbook. Skip this slide if time is short; preserve wrap-up and schedule cleanup.</a:t>
            </a:r>
          </a:p>
        </p:txBody>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WORKSHOP KIT (optional reference, outside the required agenda). Use this for take-away downloads after the exercises or after the workshop. Distribute setup files through the invitation or shared Teams/SharePoint folder before the session. Participants need the workbook and the sample-data zip today; the quick-reference card, prompt library, responsible-use guide, and after-the-workshop pack are take-aways. The right column is for you and the proctors. The links point to the kit's GitHub repo, which is private: before the session, give attendees access or post the files in the shared Teams/SharePoint folder and send that link instead (communication/ has the training overview deck and the invitation emails).</a:t>
            </a:r>
          </a:p>
        </p:txBody>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COWORK SETTINGS (Appendix reference). These are mandatory readiness checks, not optional prerequisites. Before class, the host enables usage-based billing and an enabled spending policy selecting Cowork that includes every attendee. Verify remaining policy budget and user/group credit limits have enough headroom for the workshop, retries, and scheduled runs until paused. There is no fixed credit amount guaranteed for every training run: estimate with the Customer Cowork Estimator and test in the attendee tenant. A tiny limit grants access but can interrupt work when exhausted. The screenshot is an example, not a recommendation for All users, No limit, or alerts off. Prefer the workshop group and appropriate limits and alerts. Separately enable Cowork Browsing for attendees in the admin center, and check Edge 152+, the matching work profile, and Allow Cowork to take actions on your behalf. Managed-device policy may require admin help. Run the smoke test and Exercise 2 browser prompt before class. Source: https://learn.microsoft.com/microsoft-365/copilot/cowork/cowork-admin-governance and reference/10-cowork-browser.md; cost planning: instructor/readiness-checklist.md.</a:t>
            </a:r>
          </a:p>
        </p:txBody>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OPTIONAL HOW APPROVALS WORK (after Exercise 8, outside the required agenda). Skip if time is short. Show a real approval dialog and name each option: action button, Cancel, Show parameters, Approve All (n), and More options -&gt; Always allow. Reinforce the exercise reminder: one at a time, no Approve All. Show where to revoke: side panel -&gt; Permissions. Detail: reference/07-cowork-ui-walkthrough.md.</a:t>
            </a:r>
          </a:p>
        </p:txBody>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OPTIONAL CUSTOM INSTRUCTIONS (after Exercise 8, about 1 min; outside the required agenda). Skip this if time is short and point to the workbook's Appendix for later. Show it live: Customize -&gt; Preferences -&gt; 'Customize instructions for Cowork'. Explain: guidance Cowork automatically adds to the START of every new task, so tone, format, and rules don't have to be repeated in each prompt. Attendees who opt in paste the workbook sample, save, then test in a new task: 'Draft a two-sentence reminder to employees that open enrollment is in November.' The reply should use the tone and end with the confirm-with-HR note. Instructions are personal, support rich text and / references, up to about 20 KB; keep them short. Clear or adapt the Zava sample before returning to real work. Role-based samples are in the workbook's Appendix and reference/02-settings-and-models.md. Pick ONE, not stack them.</a:t>
            </a:r>
          </a:p>
        </p:txBody>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OPTIONAL RESPONSIBLE USE (after Exercise 8, outside the required agenda). This detailed recap is optional; the safety rules still apply throughout the exercises. Draft -&gt; review -&gt; approve. Ex 8 runs on their own real data: results stay private, no screen sharing; all other exercises use fictional Zava files; never send to real people (send only to yourself). Cite sources + 'confirm with HR'. Keep recommendations on workstreams, not on evaluating individuals. Detail: reference/06-responsible-use.md.</a:t>
            </a:r>
          </a:p>
        </p:txBody>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FACILITATION. Biggest risks with ~25 people: pace variance, account readiness, and quiet mailboxes in Ex 8 (your demo account is seeded with seed-content.md, loaded through VS Code + the Work IQ MCP server). Attendees use their own work accounts; you're on a separate tenant. Never ask anyone to share their Ex 8 dashboard. Mirrors facilitator-guide.md, facilitator-answer-key.md, and readiness-checklist.md (timeline, cost planning, Plan B). Time checks: 0:20 Ex 1, 0:50 Ex 3, 1:20 break, 2:00 Ex 7, 2:15 Ex 8; the optional sub-tasks (1c scorecard, 2b brief, 5b + 5c, 6c sharing) are for fast finishers, so demo them rather than wait. If still behind, cut in this order: 6a only, then Ex 7 as a demo. Never cut Ex 3.</a:t>
            </a:r>
          </a:p>
        </p:txBody>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WRAP-UP (2:30-2:35). Recap the THREE tools and everything they built. Reinforce the golden rules. Ask each person to name ONE task for next week. Remind them to pause/delete the Ex 8 and Ex 6 schedules, then leave the clean-up slide up while people pack up.</a:t>
            </a:r>
          </a:p>
        </p:txBody>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CLOSE. Thank the group and take questions. Point to README.md, the prompt library, and the custom-skill and Agent Builder guides. Then show the clean-up slide.</a:t>
            </a:r>
          </a:p>
        </p:txBody>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a:xfrm>
            <a:off x="685800" y="4343400"/>
            <a:ext cx="5486400" cy="4114800"/>
          </a:xfrm>
        </p:spPr>
        <p:txBody>
          <a:bodyPr/>
          <a:lstStyle/>
          <a:p>
            <a:r>
              <a:t>CLEAN UP THE TRAINING DATA (end of session; leave this up while people pack up). Attendees used their own work accounts, so they delete only what they made today and keep anything they want to reuse. Deleting or pausing the Ex 8 and Ex 6 schedules comes first: they're usage-billed. Delete skills from Customize rather than deleting their OneDrive files. The Zava custom instructions apply to every future Cowork task, so they should delete or rewrite them. Deleting the Agent Builder agent is permanent and also removes access for anyone it was shared with. Full steps: the end of participant/participant-workbook.md. Host: also follow the day-after row in instructor/readiness-checklist.md.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jpeg"/><Relationship Id="rId3" Type="http://schemas.openxmlformats.org/officeDocument/2006/relationships/image" Target="../media/image11.png"/><Relationship Id="rId4" Type="http://schemas.openxmlformats.org/officeDocument/2006/relationships/image" Target="../media/image12.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2_Title Slide 2">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25091A6-E739-2F7E-07AB-39433EF1C5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724" y="123128"/>
            <a:ext cx="2137349" cy="1223612"/>
          </a:xfrm>
          <a:prstGeom prst="rect">
            <a:avLst/>
          </a:prstGeom>
        </p:spPr>
      </p:pic>
      <p:sp>
        <p:nvSpPr>
          <p:cNvPr id="9" name="Title 1"/>
          <p:cNvSpPr>
            <a:spLocks noGrp="1"/>
          </p:cNvSpPr>
          <p:nvPr>
            <p:ph type="title" hasCustomPrompt="1"/>
          </p:nvPr>
        </p:nvSpPr>
        <p:spPr>
          <a:xfrm>
            <a:off x="584200" y="1871784"/>
            <a:ext cx="9144000" cy="1661993"/>
          </a:xfrm>
          <a:noFill/>
        </p:spPr>
        <p:txBody>
          <a:bodyPr wrap="square" lIns="0" tIns="0" rIns="0" bIns="0" anchor="b" anchorCtr="0">
            <a:spAutoFit/>
          </a:bodyPr>
          <a:lstStyle>
            <a:lvl1pPr>
              <a:lnSpc>
                <a:spcPct val="90000"/>
              </a:lnSpc>
              <a:defRPr sz="6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a:extLst>
              <a:ext uri="{FF2B5EF4-FFF2-40B4-BE49-F238E27FC236}">
                <a16:creationId xmlns:a16="http://schemas.microsoft.com/office/drawing/2014/main" id="{CA63402F-4347-87B8-3138-7514EE38EDA5}"/>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54898"/>
          <a:stretch>
            <a:fillRect/>
          </a:stretch>
        </p:blipFill>
        <p:spPr>
          <a:xfrm>
            <a:off x="4052712" y="6302757"/>
            <a:ext cx="6046442" cy="555244"/>
          </a:xfrm>
          <a:prstGeom prst="rect">
            <a:avLst/>
          </a:prstGeom>
        </p:spPr>
      </p:pic>
      <p:pic>
        <p:nvPicPr>
          <p:cNvPr id="3" name="Picture 2">
            <a:extLst>
              <a:ext uri="{FF2B5EF4-FFF2-40B4-BE49-F238E27FC236}">
                <a16:creationId xmlns:a16="http://schemas.microsoft.com/office/drawing/2014/main" id="{604D7A63-E9F0-5EBC-B7BB-E070AABDA45F}"/>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a:xfrm>
            <a:off x="6805914" y="0"/>
            <a:ext cx="5386086" cy="895109"/>
          </a:xfrm>
          <a:prstGeom prst="rect">
            <a:avLst/>
          </a:prstGeom>
        </p:spPr>
      </p:pic>
    </p:spTree>
    <p:extLst>
      <p:ext uri="{BB962C8B-B14F-4D97-AF65-F5344CB8AC3E}">
        <p14:creationId xmlns:p14="http://schemas.microsoft.com/office/powerpoint/2010/main" val="15021737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whit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29545" y="3029995"/>
            <a:ext cx="9401560" cy="1793104"/>
          </a:xfrm>
          <a:noFill/>
        </p:spPr>
        <p:txBody>
          <a:bodyPr lIns="0" tIns="0" rIns="0" bIns="182880" anchor="b" anchorCtr="0"/>
          <a:lstStyle>
            <a:lvl1pPr>
              <a:defRPr sz="5294" strike="noStrike" spc="-147" baseline="0">
                <a:solidFill>
                  <a:srgbClr val="000000"/>
                </a:solidFill>
              </a:defRPr>
            </a:lvl1pPr>
          </a:lstStyle>
          <a:p>
            <a:r>
              <a:rPr lang="en-US"/>
              <a:t>Microsoft 365</a:t>
            </a:r>
            <a:br>
              <a:rPr lang="en-US"/>
            </a:br>
            <a:r>
              <a:rPr lang="en-US"/>
              <a:t>title or event name</a:t>
            </a:r>
          </a:p>
        </p:txBody>
      </p:sp>
      <p:sp>
        <p:nvSpPr>
          <p:cNvPr id="5" name="Text Placeholder 4"/>
          <p:cNvSpPr>
            <a:spLocks noGrp="1"/>
          </p:cNvSpPr>
          <p:nvPr>
            <p:ph type="body" sz="quarter" idx="12" hasCustomPrompt="1"/>
          </p:nvPr>
        </p:nvSpPr>
        <p:spPr>
          <a:xfrm>
            <a:off x="426427" y="4838790"/>
            <a:ext cx="9401560" cy="945435"/>
          </a:xfrm>
          <a:noFill/>
        </p:spPr>
        <p:txBody>
          <a:bodyPr lIns="0" tIns="0" rIns="0" bIns="0">
            <a:noAutofit/>
          </a:bodyPr>
          <a:lstStyle>
            <a:lvl1pPr marL="0" indent="0">
              <a:lnSpc>
                <a:spcPct val="100000"/>
              </a:lnSpc>
              <a:spcBef>
                <a:spcPts val="0"/>
              </a:spcBef>
              <a:buNone/>
              <a:defRPr sz="1568" spc="0" baseline="0">
                <a:solidFill>
                  <a:srgbClr val="000000"/>
                </a:solidFill>
                <a:latin typeface="+mn-lt"/>
              </a:defRPr>
            </a:lvl1pPr>
          </a:lstStyle>
          <a:p>
            <a:pPr lvl="0"/>
            <a:r>
              <a:rPr lang="en-US"/>
              <a:t>Author name</a:t>
            </a:r>
          </a:p>
          <a:p>
            <a:pPr lvl="0"/>
            <a:r>
              <a:rPr lang="en-US"/>
              <a:t>Date</a:t>
            </a:r>
          </a:p>
        </p:txBody>
      </p:sp>
      <p:pic>
        <p:nvPicPr>
          <p:cNvPr id="18" name="Picture 17">
            <a:extLst>
              <a:ext uri="{FF2B5EF4-FFF2-40B4-BE49-F238E27FC236}">
                <a16:creationId xmlns:a16="http://schemas.microsoft.com/office/drawing/2014/main" id="{9F4A718E-6F7C-414B-B5B4-AA6809C7682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29544" y="437139"/>
            <a:ext cx="896425" cy="190218"/>
          </a:xfrm>
          <a:prstGeom prst="rect">
            <a:avLst/>
          </a:prstGeom>
        </p:spPr>
      </p:pic>
    </p:spTree>
    <p:extLst>
      <p:ext uri="{BB962C8B-B14F-4D97-AF65-F5344CB8AC3E}">
        <p14:creationId xmlns:p14="http://schemas.microsoft.com/office/powerpoint/2010/main" val="351860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body slide">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7318" y="2139702"/>
            <a:ext cx="11339774" cy="1223171"/>
          </a:xfrm>
        </p:spPr>
        <p:txBody>
          <a:bodyPr wrap="square" lIns="0" tIns="0" rIns="0" bIns="0">
            <a:spAutoFit/>
          </a:bodyPr>
          <a:lstStyle>
            <a:lvl1pPr marL="0" indent="0">
              <a:lnSpc>
                <a:spcPct val="90000"/>
              </a:lnSpc>
              <a:spcBef>
                <a:spcPts val="0"/>
              </a:spcBef>
              <a:spcAft>
                <a:spcPts val="1274"/>
              </a:spcAft>
              <a:buNone/>
              <a:defRPr sz="2549" b="0" i="0">
                <a:solidFill>
                  <a:srgbClr val="000000"/>
                </a:solidFill>
                <a:latin typeface="+mn-lt"/>
              </a:defRPr>
            </a:lvl1pPr>
            <a:lvl2pPr marL="224097" indent="0">
              <a:lnSpc>
                <a:spcPct val="90000"/>
              </a:lnSpc>
              <a:spcBef>
                <a:spcPts val="0"/>
              </a:spcBef>
              <a:spcAft>
                <a:spcPts val="1274"/>
              </a:spcAft>
              <a:buNone/>
              <a:defRPr sz="1961">
                <a:solidFill>
                  <a:srgbClr val="000000"/>
                </a:solidFill>
              </a:defRPr>
            </a:lvl2pPr>
            <a:lvl3pPr marL="448193" indent="0">
              <a:spcBef>
                <a:spcPts val="0"/>
              </a:spcBef>
              <a:spcAft>
                <a:spcPts val="1274"/>
              </a:spcAft>
              <a:buNone/>
              <a:defRPr sz="1961">
                <a:solidFill>
                  <a:srgbClr val="000000"/>
                </a:solidFill>
              </a:defRPr>
            </a:lvl3pPr>
            <a:lvl4pPr marL="672290" indent="0">
              <a:spcBef>
                <a:spcPts val="0"/>
              </a:spcBef>
              <a:spcAft>
                <a:spcPts val="1274"/>
              </a:spcAft>
              <a:buNone/>
              <a:defRPr sz="1961"/>
            </a:lvl4pPr>
            <a:lvl5pPr marL="896386" indent="0">
              <a:buNone/>
              <a:defRPr/>
            </a:lvl5pPr>
          </a:lstStyle>
          <a:p>
            <a:pPr lvl="0"/>
            <a:r>
              <a:rPr lang="en-US"/>
              <a:t>First level Segoe UI 26pt</a:t>
            </a:r>
          </a:p>
          <a:p>
            <a:pPr lvl="1"/>
            <a:r>
              <a:rPr lang="en-US"/>
              <a:t>Second level Segoe UI 20pt</a:t>
            </a:r>
          </a:p>
          <a:p>
            <a:pPr lvl="2"/>
            <a:r>
              <a:rPr lang="en-US"/>
              <a:t>Third level Segoe UI 20pt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26424" y="440495"/>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Heading Segoe UI </a:t>
            </a:r>
            <a:r>
              <a:rPr lang="en-US" err="1"/>
              <a:t>Semibold</a:t>
            </a:r>
            <a:r>
              <a:rPr lang="en-US"/>
              <a:t> 32pt</a:t>
            </a:r>
          </a:p>
        </p:txBody>
      </p:sp>
    </p:spTree>
    <p:extLst>
      <p:ext uri="{BB962C8B-B14F-4D97-AF65-F5344CB8AC3E}">
        <p14:creationId xmlns:p14="http://schemas.microsoft.com/office/powerpoint/2010/main" val="217219106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body slide (with bullets)">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7319" y="2141394"/>
            <a:ext cx="11339774" cy="1223171"/>
          </a:xfrm>
        </p:spPr>
        <p:txBody>
          <a:bodyPr wrap="square" lIns="0" tIns="0" rIns="0" bIns="0">
            <a:spAutoFit/>
          </a:bodyPr>
          <a:lstStyle>
            <a:lvl1pPr marL="268916" indent="-268916">
              <a:lnSpc>
                <a:spcPct val="90000"/>
              </a:lnSpc>
              <a:spcBef>
                <a:spcPts val="0"/>
              </a:spcBef>
              <a:spcAft>
                <a:spcPts val="1274"/>
              </a:spcAft>
              <a:buClr>
                <a:srgbClr val="000000"/>
              </a:buClr>
              <a:buSzPct val="77000"/>
              <a:buFont typeface="Arial" panose="020B0604020202020204" pitchFamily="34" charset="0"/>
              <a:buChar char="•"/>
              <a:defRPr sz="2549" b="0" i="0">
                <a:solidFill>
                  <a:srgbClr val="000000"/>
                </a:solidFill>
                <a:latin typeface="+mn-lt"/>
              </a:defRPr>
            </a:lvl1pPr>
            <a:lvl2pPr marL="537832" indent="-224097">
              <a:lnSpc>
                <a:spcPct val="90000"/>
              </a:lnSpc>
              <a:spcBef>
                <a:spcPts val="0"/>
              </a:spcBef>
              <a:spcAft>
                <a:spcPts val="1274"/>
              </a:spcAft>
              <a:buClr>
                <a:srgbClr val="000000"/>
              </a:buClr>
              <a:buSzPct val="77000"/>
              <a:buFont typeface="Arial" panose="020B0604020202020204" pitchFamily="34" charset="0"/>
              <a:buChar char="•"/>
              <a:defRPr sz="1961">
                <a:solidFill>
                  <a:srgbClr val="000000"/>
                </a:solidFill>
              </a:defRPr>
            </a:lvl2pPr>
            <a:lvl3pPr marL="806748" indent="-224097">
              <a:spcBef>
                <a:spcPts val="0"/>
              </a:spcBef>
              <a:spcAft>
                <a:spcPts val="1274"/>
              </a:spcAft>
              <a:buClr>
                <a:srgbClr val="000000"/>
              </a:buClr>
              <a:buSzPct val="77000"/>
              <a:buFont typeface="Arial" panose="020B0604020202020204" pitchFamily="34" charset="0"/>
              <a:buChar char="•"/>
              <a:defRPr sz="1961">
                <a:solidFill>
                  <a:srgbClr val="000000"/>
                </a:solidFill>
              </a:defRPr>
            </a:lvl3pPr>
            <a:lvl4pPr marL="672290" indent="0">
              <a:spcBef>
                <a:spcPts val="0"/>
              </a:spcBef>
              <a:spcAft>
                <a:spcPts val="1274"/>
              </a:spcAft>
              <a:buNone/>
              <a:defRPr sz="1961"/>
            </a:lvl4pPr>
            <a:lvl5pPr marL="896386" indent="0">
              <a:buNone/>
              <a:defRPr/>
            </a:lvl5pPr>
          </a:lstStyle>
          <a:p>
            <a:pPr lvl="0"/>
            <a:r>
              <a:rPr lang="en-US"/>
              <a:t>First level Segoe UI 26pt</a:t>
            </a:r>
          </a:p>
          <a:p>
            <a:pPr lvl="1"/>
            <a:r>
              <a:rPr lang="en-US"/>
              <a:t>Second level Segoe UI 20pt</a:t>
            </a:r>
          </a:p>
          <a:p>
            <a:pPr lvl="2"/>
            <a:r>
              <a:rPr lang="en-US"/>
              <a:t>Third level Segoe UI 20pt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26424" y="440495"/>
            <a:ext cx="11336039" cy="758022"/>
          </a:xfrm>
          <a:prstGeom prst="rect">
            <a:avLst/>
          </a:prstGeom>
        </p:spPr>
        <p:txBody>
          <a:bodyPr vert="horz" wrap="square" lIns="0" tIns="164592" rIns="0" bIns="0" rtlCol="0" anchor="t">
            <a:noAutofit/>
          </a:bodyPr>
          <a:lstStyle>
            <a:lvl1pPr>
              <a:defRPr>
                <a:solidFill>
                  <a:srgbClr val="000000"/>
                </a:solidFill>
              </a:defRPr>
            </a:lvl1pPr>
          </a:lstStyle>
          <a:p>
            <a:r>
              <a:rPr lang="en-US"/>
              <a:t>Heading Segoe UI </a:t>
            </a:r>
            <a:r>
              <a:rPr lang="en-US" err="1"/>
              <a:t>Semibold</a:t>
            </a:r>
            <a:r>
              <a:rPr lang="en-US"/>
              <a:t> 32pt</a:t>
            </a:r>
          </a:p>
        </p:txBody>
      </p:sp>
      <p:sp>
        <p:nvSpPr>
          <p:cNvPr id="5" name="Text Placeholder 3">
            <a:extLst>
              <a:ext uri="{FF2B5EF4-FFF2-40B4-BE49-F238E27FC236}">
                <a16:creationId xmlns:a16="http://schemas.microsoft.com/office/drawing/2014/main" id="{BF94EA65-2CBF-4A04-9D22-169D8572F347}"/>
              </a:ext>
            </a:extLst>
          </p:cNvPr>
          <p:cNvSpPr>
            <a:spLocks noGrp="1"/>
          </p:cNvSpPr>
          <p:nvPr>
            <p:ph type="body" sz="quarter" idx="12" hasCustomPrompt="1"/>
          </p:nvPr>
        </p:nvSpPr>
        <p:spPr>
          <a:xfrm>
            <a:off x="426423" y="1083831"/>
            <a:ext cx="11339774" cy="353070"/>
          </a:xfrm>
        </p:spPr>
        <p:txBody>
          <a:bodyPr wrap="square" lIns="0" tIns="0" rIns="0" bIns="0">
            <a:spAutoFit/>
          </a:bodyPr>
          <a:lstStyle>
            <a:lvl1pPr marL="0" indent="0">
              <a:lnSpc>
                <a:spcPct val="90000"/>
              </a:lnSpc>
              <a:spcBef>
                <a:spcPts val="0"/>
              </a:spcBef>
              <a:spcAft>
                <a:spcPts val="1274"/>
              </a:spcAft>
              <a:buNone/>
              <a:defRPr sz="2549" b="0" i="0">
                <a:solidFill>
                  <a:srgbClr val="000000"/>
                </a:solidFill>
                <a:latin typeface="+mn-lt"/>
              </a:defRPr>
            </a:lvl1pPr>
            <a:lvl2pPr marL="224097" indent="0">
              <a:lnSpc>
                <a:spcPct val="90000"/>
              </a:lnSpc>
              <a:spcBef>
                <a:spcPts val="0"/>
              </a:spcBef>
              <a:spcAft>
                <a:spcPts val="1274"/>
              </a:spcAft>
              <a:buNone/>
              <a:defRPr sz="1961">
                <a:solidFill>
                  <a:schemeClr val="tx2"/>
                </a:solidFill>
              </a:defRPr>
            </a:lvl2pPr>
            <a:lvl3pPr marL="448193" indent="0">
              <a:spcBef>
                <a:spcPts val="0"/>
              </a:spcBef>
              <a:spcAft>
                <a:spcPts val="1274"/>
              </a:spcAft>
              <a:buNone/>
              <a:defRPr sz="1961"/>
            </a:lvl3pPr>
            <a:lvl4pPr marL="672290" indent="0">
              <a:spcBef>
                <a:spcPts val="0"/>
              </a:spcBef>
              <a:spcAft>
                <a:spcPts val="1274"/>
              </a:spcAft>
              <a:buNone/>
              <a:defRPr sz="1961"/>
            </a:lvl4pPr>
            <a:lvl5pPr marL="896386" indent="0">
              <a:buNone/>
              <a:defRPr/>
            </a:lvl5pPr>
          </a:lstStyle>
          <a:p>
            <a:pPr lvl="0"/>
            <a:r>
              <a:rPr lang="en-US"/>
              <a:t>Subtitle Segoe UI 26pt</a:t>
            </a:r>
          </a:p>
        </p:txBody>
      </p:sp>
    </p:spTree>
    <p:extLst>
      <p:ext uri="{BB962C8B-B14F-4D97-AF65-F5344CB8AC3E}">
        <p14:creationId xmlns:p14="http://schemas.microsoft.com/office/powerpoint/2010/main" val="149363880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03F3274D-8F90-4F75-B990-F6B7A291DE2C}"/>
              </a:ext>
            </a:extLst>
          </p:cNvPr>
          <p:cNvSpPr>
            <a:spLocks noGrp="1"/>
          </p:cNvSpPr>
          <p:nvPr>
            <p:ph type="title" hasCustomPrompt="1"/>
          </p:nvPr>
        </p:nvSpPr>
        <p:spPr>
          <a:xfrm>
            <a:off x="429383" y="437538"/>
            <a:ext cx="11333080" cy="742300"/>
          </a:xfrm>
          <a:prstGeom prst="rect">
            <a:avLst/>
          </a:prstGeom>
        </p:spPr>
        <p:txBody>
          <a:bodyPr vert="horz" wrap="square" lIns="0" tIns="164592" rIns="0" bIns="0" rtlCol="0" anchor="t">
            <a:noAutofit/>
          </a:bodyPr>
          <a:lstStyle>
            <a:lvl1pPr>
              <a:defRPr>
                <a:solidFill>
                  <a:srgbClr val="000000"/>
                </a:solidFill>
              </a:defRPr>
            </a:lvl1pPr>
          </a:lstStyle>
          <a:p>
            <a:r>
              <a:rPr lang="en-US"/>
              <a:t>Title</a:t>
            </a:r>
          </a:p>
        </p:txBody>
      </p:sp>
    </p:spTree>
    <p:extLst>
      <p:ext uri="{BB962C8B-B14F-4D97-AF65-F5344CB8AC3E}">
        <p14:creationId xmlns:p14="http://schemas.microsoft.com/office/powerpoint/2010/main" val="332989667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vice layout">
    <p:spTree>
      <p:nvGrpSpPr>
        <p:cNvPr id="1" name=""/>
        <p:cNvGrpSpPr/>
        <p:nvPr/>
      </p:nvGrpSpPr>
      <p:grpSpPr>
        <a:xfrm>
          <a:off x="0" y="0"/>
          <a:ext cx="0" cy="0"/>
          <a:chOff x="0" y="0"/>
          <a:chExt cx="0" cy="0"/>
        </a:xfrm>
      </p:grpSpPr>
      <p:sp>
        <p:nvSpPr>
          <p:cNvPr id="3" name="Online Image Placeholder 2">
            <a:extLst>
              <a:ext uri="{FF2B5EF4-FFF2-40B4-BE49-F238E27FC236}">
                <a16:creationId xmlns:a16="http://schemas.microsoft.com/office/drawing/2014/main" id="{562D5679-B66F-A244-9E94-0FFE5F1B6168}"/>
              </a:ext>
            </a:extLst>
          </p:cNvPr>
          <p:cNvSpPr>
            <a:spLocks noGrp="1"/>
          </p:cNvSpPr>
          <p:nvPr>
            <p:ph type="clipArt" sz="quarter" idx="11" hasCustomPrompt="1"/>
          </p:nvPr>
        </p:nvSpPr>
        <p:spPr>
          <a:xfrm>
            <a:off x="5982391" y="2145841"/>
            <a:ext cx="5780073" cy="3756460"/>
          </a:xfrm>
        </p:spPr>
        <p:txBody>
          <a:bodyPr anchor="ctr">
            <a:noAutofit/>
          </a:bodyPr>
          <a:lstStyle>
            <a:lvl1pPr algn="ctr">
              <a:defRPr sz="1961">
                <a:latin typeface="+mj-lt"/>
              </a:defRPr>
            </a:lvl1pPr>
          </a:lstStyle>
          <a:p>
            <a:r>
              <a:rPr lang="en-US"/>
              <a:t>Drop photo here</a:t>
            </a:r>
          </a:p>
        </p:txBody>
      </p:sp>
      <p:sp>
        <p:nvSpPr>
          <p:cNvPr id="4" name="Text Placeholder 3"/>
          <p:cNvSpPr>
            <a:spLocks noGrp="1"/>
          </p:cNvSpPr>
          <p:nvPr>
            <p:ph type="body" sz="quarter" idx="10" hasCustomPrompt="1"/>
          </p:nvPr>
        </p:nvSpPr>
        <p:spPr>
          <a:xfrm>
            <a:off x="426424" y="2145841"/>
            <a:ext cx="5138175" cy="2573509"/>
          </a:xfrm>
        </p:spPr>
        <p:txBody>
          <a:bodyPr wrap="square" lIns="0" tIns="0" rIns="0" bIns="0">
            <a:noAutofit/>
          </a:bodyPr>
          <a:lstStyle>
            <a:lvl1pPr marL="0" marR="0" indent="0" algn="l" defTabSz="914367" rtl="0" eaLnBrk="1" fontAlgn="auto" latinLnBrk="0" hangingPunct="1">
              <a:lnSpc>
                <a:spcPct val="90000"/>
              </a:lnSpc>
              <a:spcBef>
                <a:spcPts val="0"/>
              </a:spcBef>
              <a:spcAft>
                <a:spcPts val="2549"/>
              </a:spcAft>
              <a:buClrTx/>
              <a:buSzPct val="90000"/>
              <a:buFont typeface="Wingdings" panose="05000000000000000000" pitchFamily="2" charset="2"/>
              <a:buNone/>
              <a:tabLst/>
              <a:defRPr sz="2549" b="0" i="0">
                <a:solidFill>
                  <a:srgbClr val="000000"/>
                </a:solidFill>
                <a:latin typeface="+mn-lt"/>
              </a:defRPr>
            </a:lvl1pPr>
            <a:lvl2pPr marL="224097" marR="0" indent="0" algn="l" defTabSz="914367" rtl="0" eaLnBrk="1" fontAlgn="auto" latinLnBrk="0" hangingPunct="1">
              <a:lnSpc>
                <a:spcPct val="90000"/>
              </a:lnSpc>
              <a:spcBef>
                <a:spcPct val="20000"/>
              </a:spcBef>
              <a:spcAft>
                <a:spcPts val="0"/>
              </a:spcAft>
              <a:buClrTx/>
              <a:buSzPct val="90000"/>
              <a:buFont typeface="Wingdings" panose="05000000000000000000" pitchFamily="2" charset="2"/>
              <a:buNone/>
              <a:tabLst/>
              <a:defRPr/>
            </a:lvl2pPr>
            <a:lvl3pPr marL="448193" indent="0">
              <a:buNone/>
              <a:defRPr/>
            </a:lvl3pPr>
            <a:lvl4pPr marL="672290" indent="0">
              <a:buNone/>
              <a:defRPr/>
            </a:lvl4pPr>
            <a:lvl5pPr marL="896386" indent="0">
              <a:buNone/>
              <a:defRPr/>
            </a:lvl5pPr>
          </a:lstStyle>
          <a:p>
            <a:pPr lvl="0"/>
            <a:r>
              <a:rPr lang="pt-BR"/>
              <a:t>Subhead Segoe UI 26pt</a:t>
            </a:r>
          </a:p>
          <a:p>
            <a:pPr lvl="0"/>
            <a:r>
              <a:rPr lang="pt-BR"/>
              <a:t>Subhead Segoe UI 26pt</a:t>
            </a:r>
          </a:p>
          <a:p>
            <a:pPr lvl="0"/>
            <a:r>
              <a:rPr lang="pt-BR"/>
              <a:t>Subhead Segoe UI 26pt</a:t>
            </a:r>
          </a:p>
        </p:txBody>
      </p:sp>
      <p:sp>
        <p:nvSpPr>
          <p:cNvPr id="6" name="Title Placeholder 1">
            <a:extLst>
              <a:ext uri="{FF2B5EF4-FFF2-40B4-BE49-F238E27FC236}">
                <a16:creationId xmlns:a16="http://schemas.microsoft.com/office/drawing/2014/main" id="{E60CBD1C-0AFE-4EB9-94D7-943981FE05EE}"/>
              </a:ext>
            </a:extLst>
          </p:cNvPr>
          <p:cNvSpPr>
            <a:spLocks noGrp="1"/>
          </p:cNvSpPr>
          <p:nvPr>
            <p:ph type="title" hasCustomPrompt="1"/>
          </p:nvPr>
        </p:nvSpPr>
        <p:spPr>
          <a:xfrm>
            <a:off x="426424" y="440495"/>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Device layout</a:t>
            </a:r>
          </a:p>
        </p:txBody>
      </p:sp>
    </p:spTree>
    <p:extLst>
      <p:ext uri="{BB962C8B-B14F-4D97-AF65-F5344CB8AC3E}">
        <p14:creationId xmlns:p14="http://schemas.microsoft.com/office/powerpoint/2010/main" val="31805287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phic layout: three columns graphic and text">
    <p:spTree>
      <p:nvGrpSpPr>
        <p:cNvPr id="1" name=""/>
        <p:cNvGrpSpPr/>
        <p:nvPr/>
      </p:nvGrpSpPr>
      <p:grpSpPr>
        <a:xfrm>
          <a:off x="0" y="0"/>
          <a:ext cx="0" cy="0"/>
          <a:chOff x="0" y="0"/>
          <a:chExt cx="0" cy="0"/>
        </a:xfrm>
      </p:grpSpPr>
      <p:sp>
        <p:nvSpPr>
          <p:cNvPr id="3" name="Rectangle 2"/>
          <p:cNvSpPr/>
          <p:nvPr userDrawn="1"/>
        </p:nvSpPr>
        <p:spPr bwMode="auto">
          <a:xfrm>
            <a:off x="426425" y="1599723"/>
            <a:ext cx="3632388"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897219"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6" name="Rectangle 5"/>
          <p:cNvSpPr/>
          <p:nvPr userDrawn="1"/>
        </p:nvSpPr>
        <p:spPr bwMode="auto">
          <a:xfrm>
            <a:off x="4281363" y="1599723"/>
            <a:ext cx="3623052"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126965" y="1599723"/>
            <a:ext cx="3635499"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17" name="Content Placeholder 15"/>
          <p:cNvSpPr>
            <a:spLocks noGrp="1"/>
          </p:cNvSpPr>
          <p:nvPr userDrawn="1">
            <p:ph sz="quarter" idx="18" hasCustomPrompt="1"/>
          </p:nvPr>
        </p:nvSpPr>
        <p:spPr>
          <a:xfrm>
            <a:off x="4746694"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8" name="Content Placeholder 15"/>
          <p:cNvSpPr>
            <a:spLocks noGrp="1"/>
          </p:cNvSpPr>
          <p:nvPr userDrawn="1">
            <p:ph sz="quarter" idx="19" hasCustomPrompt="1"/>
          </p:nvPr>
        </p:nvSpPr>
        <p:spPr>
          <a:xfrm>
            <a:off x="8598490"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2" name="Title Placeholder 1">
            <a:extLst>
              <a:ext uri="{FF2B5EF4-FFF2-40B4-BE49-F238E27FC236}">
                <a16:creationId xmlns:a16="http://schemas.microsoft.com/office/drawing/2014/main" id="{FC74E6E5-9DAD-4A14-9C20-D9F9150874FE}"/>
              </a:ext>
            </a:extLst>
          </p:cNvPr>
          <p:cNvSpPr>
            <a:spLocks noGrp="1"/>
          </p:cNvSpPr>
          <p:nvPr userDrawn="1">
            <p:ph type="title" hasCustomPrompt="1"/>
          </p:nvPr>
        </p:nvSpPr>
        <p:spPr>
          <a:xfrm>
            <a:off x="426424" y="440495"/>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Graphic layout: three columns graphic and text</a:t>
            </a:r>
          </a:p>
        </p:txBody>
      </p:sp>
      <p:sp>
        <p:nvSpPr>
          <p:cNvPr id="13" name="Text Placeholder 4">
            <a:extLst>
              <a:ext uri="{FF2B5EF4-FFF2-40B4-BE49-F238E27FC236}">
                <a16:creationId xmlns:a16="http://schemas.microsoft.com/office/drawing/2014/main" id="{FB052D15-67DF-4845-863F-FEC853640A9E}"/>
              </a:ext>
            </a:extLst>
          </p:cNvPr>
          <p:cNvSpPr>
            <a:spLocks noGrp="1"/>
          </p:cNvSpPr>
          <p:nvPr userDrawn="1">
            <p:ph type="body" sz="quarter" idx="11" hasCustomPrompt="1"/>
          </p:nvPr>
        </p:nvSpPr>
        <p:spPr>
          <a:xfrm>
            <a:off x="426425" y="4927922"/>
            <a:ext cx="3627659" cy="1307666"/>
          </a:xfrm>
        </p:spPr>
        <p:txBody>
          <a:bodyPr lIns="0" tIns="0" rIns="0" bIns="0"/>
          <a:lstStyle>
            <a:lvl1pPr marL="0" indent="0">
              <a:lnSpc>
                <a:spcPct val="100000"/>
              </a:lnSpc>
              <a:spcBef>
                <a:spcPts val="0"/>
              </a:spcBef>
              <a:spcAft>
                <a:spcPts val="784"/>
              </a:spcAft>
              <a:buNone/>
              <a:defRPr sz="1568" b="1">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4" name="Text Placeholder 4">
            <a:extLst>
              <a:ext uri="{FF2B5EF4-FFF2-40B4-BE49-F238E27FC236}">
                <a16:creationId xmlns:a16="http://schemas.microsoft.com/office/drawing/2014/main" id="{A5ECD4C7-D870-4003-9FA8-85EBBED87940}"/>
              </a:ext>
            </a:extLst>
          </p:cNvPr>
          <p:cNvSpPr>
            <a:spLocks noGrp="1"/>
          </p:cNvSpPr>
          <p:nvPr userDrawn="1">
            <p:ph type="body" sz="quarter" idx="12" hasCustomPrompt="1"/>
          </p:nvPr>
        </p:nvSpPr>
        <p:spPr>
          <a:xfrm>
            <a:off x="4281362" y="4927922"/>
            <a:ext cx="3623051"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5" name="Text Placeholder 4">
            <a:extLst>
              <a:ext uri="{FF2B5EF4-FFF2-40B4-BE49-F238E27FC236}">
                <a16:creationId xmlns:a16="http://schemas.microsoft.com/office/drawing/2014/main" id="{AA9BECBA-B2CC-4EE6-B54E-9ADB03EB2595}"/>
              </a:ext>
            </a:extLst>
          </p:cNvPr>
          <p:cNvSpPr>
            <a:spLocks noGrp="1"/>
          </p:cNvSpPr>
          <p:nvPr userDrawn="1">
            <p:ph type="body" sz="quarter" idx="13" hasCustomPrompt="1"/>
          </p:nvPr>
        </p:nvSpPr>
        <p:spPr>
          <a:xfrm>
            <a:off x="8126963" y="4927922"/>
            <a:ext cx="3635502"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Tree>
    <p:extLst>
      <p:ext uri="{BB962C8B-B14F-4D97-AF65-F5344CB8AC3E}">
        <p14:creationId xmlns:p14="http://schemas.microsoft.com/office/powerpoint/2010/main" val="303335748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phic layout: four columns graphic and tex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594C393-E06E-3A4C-A658-2526A14DA5A1}"/>
              </a:ext>
            </a:extLst>
          </p:cNvPr>
          <p:cNvSpPr/>
          <p:nvPr userDrawn="1"/>
        </p:nvSpPr>
        <p:spPr bwMode="auto">
          <a:xfrm>
            <a:off x="9109046"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A011C51E-94BA-C44D-ABF4-E87C4124DAF0}"/>
              </a:ext>
            </a:extLst>
          </p:cNvPr>
          <p:cNvSpPr/>
          <p:nvPr userDrawn="1"/>
        </p:nvSpPr>
        <p:spPr bwMode="auto">
          <a:xfrm>
            <a:off x="6214840"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20" name="Rectangle 19">
            <a:extLst>
              <a:ext uri="{FF2B5EF4-FFF2-40B4-BE49-F238E27FC236}">
                <a16:creationId xmlns:a16="http://schemas.microsoft.com/office/drawing/2014/main" id="{E6DDB665-2DD7-AE40-9862-C6E8E22E9215}"/>
              </a:ext>
            </a:extLst>
          </p:cNvPr>
          <p:cNvSpPr/>
          <p:nvPr userDrawn="1"/>
        </p:nvSpPr>
        <p:spPr bwMode="auto">
          <a:xfrm>
            <a:off x="3320633"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CD677DE-AA2C-984C-BAE1-54D5F0B518CE}"/>
              </a:ext>
            </a:extLst>
          </p:cNvPr>
          <p:cNvSpPr/>
          <p:nvPr userDrawn="1"/>
        </p:nvSpPr>
        <p:spPr bwMode="auto">
          <a:xfrm>
            <a:off x="426426" y="1590385"/>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0347712A-15EB-884C-BF95-7C690BA77817}"/>
              </a:ext>
            </a:extLst>
          </p:cNvPr>
          <p:cNvSpPr>
            <a:spLocks noGrp="1"/>
          </p:cNvSpPr>
          <p:nvPr>
            <p:ph type="title" hasCustomPrompt="1"/>
          </p:nvPr>
        </p:nvSpPr>
        <p:spPr>
          <a:xfrm>
            <a:off x="426424" y="435824"/>
            <a:ext cx="11336039" cy="744014"/>
          </a:xfrm>
        </p:spPr>
        <p:txBody>
          <a:bodyPr/>
          <a:lstStyle>
            <a:lvl1pPr>
              <a:defRPr/>
            </a:lvl1pPr>
          </a:lstStyle>
          <a:p>
            <a:r>
              <a:rPr lang="en-US"/>
              <a:t>Graphic layout: four columns graphic and text</a:t>
            </a:r>
          </a:p>
        </p:txBody>
      </p:sp>
      <p:sp>
        <p:nvSpPr>
          <p:cNvPr id="4" name="Content Placeholder 15">
            <a:extLst>
              <a:ext uri="{FF2B5EF4-FFF2-40B4-BE49-F238E27FC236}">
                <a16:creationId xmlns:a16="http://schemas.microsoft.com/office/drawing/2014/main" id="{F580A529-D3A8-5643-80BA-3E2BE1AA8D57}"/>
              </a:ext>
            </a:extLst>
          </p:cNvPr>
          <p:cNvSpPr>
            <a:spLocks noGrp="1"/>
          </p:cNvSpPr>
          <p:nvPr>
            <p:ph sz="quarter" idx="17" hasCustomPrompt="1"/>
          </p:nvPr>
        </p:nvSpPr>
        <p:spPr>
          <a:xfrm>
            <a:off x="966751" y="2135537"/>
            <a:ext cx="1572767"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7" name="Content Placeholder 15">
            <a:extLst>
              <a:ext uri="{FF2B5EF4-FFF2-40B4-BE49-F238E27FC236}">
                <a16:creationId xmlns:a16="http://schemas.microsoft.com/office/drawing/2014/main" id="{1F6D7A4B-5FFE-2741-8477-E0CAA019B079}"/>
              </a:ext>
            </a:extLst>
          </p:cNvPr>
          <p:cNvSpPr>
            <a:spLocks noGrp="1"/>
          </p:cNvSpPr>
          <p:nvPr>
            <p:ph sz="quarter" idx="18" hasCustomPrompt="1"/>
          </p:nvPr>
        </p:nvSpPr>
        <p:spPr>
          <a:xfrm>
            <a:off x="3849259"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9" name="Text Placeholder 4">
            <a:extLst>
              <a:ext uri="{FF2B5EF4-FFF2-40B4-BE49-F238E27FC236}">
                <a16:creationId xmlns:a16="http://schemas.microsoft.com/office/drawing/2014/main" id="{07CF99F6-2487-AC48-8A09-B34B72BD5FE9}"/>
              </a:ext>
            </a:extLst>
          </p:cNvPr>
          <p:cNvSpPr>
            <a:spLocks noGrp="1"/>
          </p:cNvSpPr>
          <p:nvPr>
            <p:ph type="body" sz="quarter" idx="11" hasCustomPrompt="1"/>
          </p:nvPr>
        </p:nvSpPr>
        <p:spPr>
          <a:xfrm>
            <a:off x="426426" y="4927922"/>
            <a:ext cx="2653417" cy="1307666"/>
          </a:xfrm>
        </p:spPr>
        <p:txBody>
          <a:bodyPr lIns="0" tIns="0" rIns="0" bIns="0"/>
          <a:lstStyle>
            <a:lvl1pPr marL="0" indent="0">
              <a:lnSpc>
                <a:spcPct val="100000"/>
              </a:lnSpc>
              <a:spcBef>
                <a:spcPts val="0"/>
              </a:spcBef>
              <a:spcAft>
                <a:spcPts val="784"/>
              </a:spcAft>
              <a:buNone/>
              <a:defRPr sz="1568" b="1">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0" name="Text Placeholder 4">
            <a:extLst>
              <a:ext uri="{FF2B5EF4-FFF2-40B4-BE49-F238E27FC236}">
                <a16:creationId xmlns:a16="http://schemas.microsoft.com/office/drawing/2014/main" id="{7F7B5F75-90C0-F44E-9322-8FF1108BD340}"/>
              </a:ext>
            </a:extLst>
          </p:cNvPr>
          <p:cNvSpPr>
            <a:spLocks noGrp="1"/>
          </p:cNvSpPr>
          <p:nvPr>
            <p:ph type="body" sz="quarter" idx="12" hasCustomPrompt="1"/>
          </p:nvPr>
        </p:nvSpPr>
        <p:spPr>
          <a:xfrm>
            <a:off x="3320633" y="4927922"/>
            <a:ext cx="2653417"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1" name="Text Placeholder 4">
            <a:extLst>
              <a:ext uri="{FF2B5EF4-FFF2-40B4-BE49-F238E27FC236}">
                <a16:creationId xmlns:a16="http://schemas.microsoft.com/office/drawing/2014/main" id="{6E444E9C-8096-FE42-BE2A-094180C61109}"/>
              </a:ext>
            </a:extLst>
          </p:cNvPr>
          <p:cNvSpPr>
            <a:spLocks noGrp="1"/>
          </p:cNvSpPr>
          <p:nvPr>
            <p:ph type="body" sz="quarter" idx="13" hasCustomPrompt="1"/>
          </p:nvPr>
        </p:nvSpPr>
        <p:spPr>
          <a:xfrm>
            <a:off x="6214840" y="4927922"/>
            <a:ext cx="2653417"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3" name="Content Placeholder 15">
            <a:extLst>
              <a:ext uri="{FF2B5EF4-FFF2-40B4-BE49-F238E27FC236}">
                <a16:creationId xmlns:a16="http://schemas.microsoft.com/office/drawing/2014/main" id="{30602BFF-4B8C-D046-AD65-47970BC89DF5}"/>
              </a:ext>
            </a:extLst>
          </p:cNvPr>
          <p:cNvSpPr>
            <a:spLocks noGrp="1"/>
          </p:cNvSpPr>
          <p:nvPr>
            <p:ph sz="quarter" idx="19" hasCustomPrompt="1"/>
          </p:nvPr>
        </p:nvSpPr>
        <p:spPr>
          <a:xfrm>
            <a:off x="6743466"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4" name="Content Placeholder 15">
            <a:extLst>
              <a:ext uri="{FF2B5EF4-FFF2-40B4-BE49-F238E27FC236}">
                <a16:creationId xmlns:a16="http://schemas.microsoft.com/office/drawing/2014/main" id="{88A8CB35-A244-544E-8BAE-53CB85074FBB}"/>
              </a:ext>
            </a:extLst>
          </p:cNvPr>
          <p:cNvSpPr>
            <a:spLocks noGrp="1"/>
          </p:cNvSpPr>
          <p:nvPr>
            <p:ph sz="quarter" idx="20" hasCustomPrompt="1"/>
          </p:nvPr>
        </p:nvSpPr>
        <p:spPr>
          <a:xfrm>
            <a:off x="9637672"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5" name="Text Placeholder 4">
            <a:extLst>
              <a:ext uri="{FF2B5EF4-FFF2-40B4-BE49-F238E27FC236}">
                <a16:creationId xmlns:a16="http://schemas.microsoft.com/office/drawing/2014/main" id="{D8D35D15-66F4-4840-BA72-4B7AB5A24EFD}"/>
              </a:ext>
            </a:extLst>
          </p:cNvPr>
          <p:cNvSpPr>
            <a:spLocks noGrp="1"/>
          </p:cNvSpPr>
          <p:nvPr>
            <p:ph type="body" sz="quarter" idx="21" hasCustomPrompt="1"/>
          </p:nvPr>
        </p:nvSpPr>
        <p:spPr>
          <a:xfrm>
            <a:off x="9109046" y="4927922"/>
            <a:ext cx="2653417" cy="1307666"/>
          </a:xfrm>
        </p:spPr>
        <p:txBody>
          <a:bodyPr lIns="0" tIns="0" rIns="0" bIns="0"/>
          <a:lstStyle>
            <a:lvl1pPr marL="0" indent="0">
              <a:lnSpc>
                <a:spcPct val="100000"/>
              </a:lnSpc>
              <a:spcBef>
                <a:spcPts val="0"/>
              </a:spcBef>
              <a:spcAft>
                <a:spcPts val="784"/>
              </a:spcAft>
              <a:buNone/>
              <a:defRPr sz="1568">
                <a:solidFill>
                  <a:schemeClr val="accent1"/>
                </a:solidFill>
                <a:latin typeface="+mj-lt"/>
              </a:defRPr>
            </a:lvl1pPr>
            <a:lvl2pPr marL="0" marR="0" indent="0" algn="l" defTabSz="914367" rtl="0" eaLnBrk="1" fontAlgn="auto" latinLnBrk="0" hangingPunct="1">
              <a:lnSpc>
                <a:spcPct val="100000"/>
              </a:lnSpc>
              <a:spcBef>
                <a:spcPts val="0"/>
              </a:spcBef>
              <a:spcAft>
                <a:spcPts val="784"/>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Tree>
    <p:extLst>
      <p:ext uri="{BB962C8B-B14F-4D97-AF65-F5344CB8AC3E}">
        <p14:creationId xmlns:p14="http://schemas.microsoft.com/office/powerpoint/2010/main" val="264660619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white">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26425" y="1184319"/>
            <a:ext cx="7477989" cy="3535032"/>
          </a:xfrm>
          <a:noFill/>
        </p:spPr>
        <p:txBody>
          <a:bodyPr vert="horz" wrap="square" lIns="0" tIns="0" rIns="0" bIns="0" rtlCol="0" anchor="t" anchorCtr="0">
            <a:noAutofit/>
          </a:bodyPr>
          <a:lstStyle>
            <a:lvl1pPr>
              <a:lnSpc>
                <a:spcPct val="90000"/>
              </a:lnSpc>
              <a:defRPr lang="en-US" sz="5294" spc="-147" dirty="0">
                <a:solidFill>
                  <a:srgbClr val="000000"/>
                </a:solidFill>
              </a:defRPr>
            </a:lvl1pPr>
          </a:lstStyle>
          <a:p>
            <a:pPr marL="0" lvl="0">
              <a:lnSpc>
                <a:spcPts val="5490"/>
              </a:lnSpc>
            </a:pPr>
            <a:r>
              <a:rPr lang="en-US"/>
              <a:t>Section title</a:t>
            </a:r>
          </a:p>
        </p:txBody>
      </p:sp>
    </p:spTree>
    <p:extLst>
      <p:ext uri="{BB962C8B-B14F-4D97-AF65-F5344CB8AC3E}">
        <p14:creationId xmlns:p14="http://schemas.microsoft.com/office/powerpoint/2010/main" val="45694735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blue">
    <p:bg>
      <p:bgRef idx="1001">
        <a:schemeClr val="bg2"/>
      </p:bgRef>
    </p:bg>
    <p:spTree>
      <p:nvGrpSpPr>
        <p:cNvPr id="1" name=""/>
        <p:cNvGrpSpPr/>
        <p:nvPr/>
      </p:nvGrpSpPr>
      <p:grpSpPr>
        <a:xfrm>
          <a:off x="0" y="0"/>
          <a:ext cx="0" cy="0"/>
          <a:chOff x="0" y="0"/>
          <a:chExt cx="0" cy="0"/>
        </a:xfrm>
      </p:grpSpPr>
      <p:sp>
        <p:nvSpPr>
          <p:cNvPr id="3" name="Title 35">
            <a:extLst>
              <a:ext uri="{FF2B5EF4-FFF2-40B4-BE49-F238E27FC236}">
                <a16:creationId xmlns:a16="http://schemas.microsoft.com/office/drawing/2014/main" id="{51E9DCD3-357B-4AF7-BDD2-18E09F714F4A}"/>
              </a:ext>
            </a:extLst>
          </p:cNvPr>
          <p:cNvSpPr>
            <a:spLocks noGrp="1"/>
          </p:cNvSpPr>
          <p:nvPr>
            <p:ph type="title" hasCustomPrompt="1"/>
          </p:nvPr>
        </p:nvSpPr>
        <p:spPr>
          <a:xfrm>
            <a:off x="426425" y="1184319"/>
            <a:ext cx="7477989" cy="3535032"/>
          </a:xfrm>
          <a:noFill/>
        </p:spPr>
        <p:txBody>
          <a:bodyPr vert="horz" wrap="square" lIns="0" tIns="0" rIns="0" bIns="0" rtlCol="0" anchor="t" anchorCtr="0">
            <a:noAutofit/>
          </a:bodyPr>
          <a:lstStyle>
            <a:lvl1pPr>
              <a:lnSpc>
                <a:spcPct val="90000"/>
              </a:lnSpc>
              <a:defRPr lang="en-US" sz="5294" spc="-147" dirty="0">
                <a:solidFill>
                  <a:schemeClr val="tx2"/>
                </a:solidFill>
              </a:defRPr>
            </a:lvl1pPr>
          </a:lstStyle>
          <a:p>
            <a:pPr marL="0" lvl="0">
              <a:lnSpc>
                <a:spcPts val="5490"/>
              </a:lnSpc>
            </a:pPr>
            <a:r>
              <a:rPr lang="en-US"/>
              <a:t>Section title</a:t>
            </a:r>
          </a:p>
        </p:txBody>
      </p:sp>
    </p:spTree>
    <p:extLst>
      <p:ext uri="{BB962C8B-B14F-4D97-AF65-F5344CB8AC3E}">
        <p14:creationId xmlns:p14="http://schemas.microsoft.com/office/powerpoint/2010/main" val="204493344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blu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26425" y="1829711"/>
            <a:ext cx="7477989" cy="1473396"/>
          </a:xfrm>
          <a:noFill/>
        </p:spPr>
        <p:txBody>
          <a:bodyPr lIns="0" tIns="0" rIns="0" bIns="0" anchor="t" anchorCtr="0"/>
          <a:lstStyle>
            <a:lvl1pPr>
              <a:lnSpc>
                <a:spcPct val="100000"/>
              </a:lnSpc>
              <a:spcAft>
                <a:spcPts val="1274"/>
              </a:spcAft>
              <a:defRPr sz="2549" spc="-147" baseline="0">
                <a:solidFill>
                  <a:schemeClr val="bg2"/>
                </a:solidFill>
              </a:defRPr>
            </a:lvl1pPr>
          </a:lstStyle>
          <a:p>
            <a:r>
              <a:rPr lang="en-US"/>
              <a:t>Thank you.</a:t>
            </a:r>
          </a:p>
        </p:txBody>
      </p:sp>
      <p:sp>
        <p:nvSpPr>
          <p:cNvPr id="4" name="Text Box 3">
            <a:extLst>
              <a:ext uri="{FF2B5EF4-FFF2-40B4-BE49-F238E27FC236}">
                <a16:creationId xmlns:a16="http://schemas.microsoft.com/office/drawing/2014/main" id="{1688BD8D-D2E4-4DFC-B39C-D55D84362354}"/>
              </a:ext>
            </a:extLst>
          </p:cNvPr>
          <p:cNvSpPr txBox="1">
            <a:spLocks noChangeArrowheads="1"/>
          </p:cNvSpPr>
          <p:nvPr userDrawn="1"/>
        </p:nvSpPr>
        <p:spPr bwMode="blackWhite">
          <a:xfrm>
            <a:off x="428494" y="6318462"/>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bg2"/>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C36BDE7C-8AED-4A87-A171-2EB14E4B983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28681" y="437140"/>
            <a:ext cx="896425" cy="191140"/>
          </a:xfrm>
          <a:prstGeom prst="rect">
            <a:avLst/>
          </a:prstGeom>
        </p:spPr>
      </p:pic>
    </p:spTree>
    <p:extLst>
      <p:ext uri="{BB962C8B-B14F-4D97-AF65-F5344CB8AC3E}">
        <p14:creationId xmlns:p14="http://schemas.microsoft.com/office/powerpoint/2010/main" val="36589547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hoto layout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87B2D435-6763-4273-8B58-EEB87561755F}"/>
              </a:ext>
            </a:extLst>
          </p:cNvPr>
          <p:cNvSpPr>
            <a:spLocks noGrp="1"/>
          </p:cNvSpPr>
          <p:nvPr>
            <p:ph type="title" hasCustomPrompt="1"/>
          </p:nvPr>
        </p:nvSpPr>
        <p:spPr>
          <a:xfrm>
            <a:off x="426425" y="440495"/>
            <a:ext cx="5555966" cy="758022"/>
          </a:xfrm>
          <a:prstGeom prst="rect">
            <a:avLst/>
          </a:prstGeom>
        </p:spPr>
        <p:txBody>
          <a:bodyPr vert="horz" wrap="square" lIns="0" tIns="164592" rIns="0" bIns="0" rtlCol="0" anchor="t">
            <a:noAutofit/>
          </a:bodyPr>
          <a:lstStyle>
            <a:lvl1pPr>
              <a:defRPr/>
            </a:lvl1pPr>
          </a:lstStyle>
          <a:p>
            <a:r>
              <a:rPr lang="en-US"/>
              <a:t>Photo layout 1</a:t>
            </a:r>
          </a:p>
        </p:txBody>
      </p:sp>
      <p:sp>
        <p:nvSpPr>
          <p:cNvPr id="6" name="Text Placeholder 3">
            <a:extLst>
              <a:ext uri="{FF2B5EF4-FFF2-40B4-BE49-F238E27FC236}">
                <a16:creationId xmlns:a16="http://schemas.microsoft.com/office/drawing/2014/main" id="{71CE2F71-BF91-4E7B-BDE5-A747EFEFF88C}"/>
              </a:ext>
            </a:extLst>
          </p:cNvPr>
          <p:cNvSpPr>
            <a:spLocks noGrp="1"/>
          </p:cNvSpPr>
          <p:nvPr>
            <p:ph type="body" sz="quarter" idx="11" hasCustomPrompt="1"/>
          </p:nvPr>
        </p:nvSpPr>
        <p:spPr>
          <a:xfrm>
            <a:off x="426424" y="2145841"/>
            <a:ext cx="5555965" cy="2573509"/>
          </a:xfrm>
        </p:spPr>
        <p:txBody>
          <a:bodyPr wrap="square" lIns="0" tIns="0" rIns="0" bIns="0">
            <a:noAutofit/>
          </a:bodyPr>
          <a:lstStyle>
            <a:lvl1pPr marL="0" marR="0" indent="0" algn="l" defTabSz="914367" rtl="0" eaLnBrk="1" fontAlgn="auto" latinLnBrk="0" hangingPunct="1">
              <a:lnSpc>
                <a:spcPct val="90000"/>
              </a:lnSpc>
              <a:spcBef>
                <a:spcPts val="0"/>
              </a:spcBef>
              <a:spcAft>
                <a:spcPts val="2549"/>
              </a:spcAft>
              <a:buClrTx/>
              <a:buSzPct val="90000"/>
              <a:buFont typeface="Wingdings" panose="05000000000000000000" pitchFamily="2" charset="2"/>
              <a:buNone/>
              <a:tabLst/>
              <a:defRPr sz="2549" b="0" i="0">
                <a:solidFill>
                  <a:srgbClr val="000000"/>
                </a:solidFill>
                <a:latin typeface="+mn-lt"/>
              </a:defRPr>
            </a:lvl1pPr>
            <a:lvl2pPr marL="224097" marR="0" indent="0" algn="l" defTabSz="914367" rtl="0" eaLnBrk="1" fontAlgn="auto" latinLnBrk="0" hangingPunct="1">
              <a:lnSpc>
                <a:spcPct val="90000"/>
              </a:lnSpc>
              <a:spcBef>
                <a:spcPct val="20000"/>
              </a:spcBef>
              <a:spcAft>
                <a:spcPts val="0"/>
              </a:spcAft>
              <a:buClrTx/>
              <a:buSzPct val="90000"/>
              <a:buFont typeface="Wingdings" panose="05000000000000000000" pitchFamily="2" charset="2"/>
              <a:buNone/>
              <a:tabLst/>
              <a:defRPr/>
            </a:lvl2pPr>
            <a:lvl3pPr marL="448193" indent="0">
              <a:buNone/>
              <a:defRPr/>
            </a:lvl3pPr>
            <a:lvl4pPr marL="672290" indent="0">
              <a:buNone/>
              <a:defRPr/>
            </a:lvl4pPr>
            <a:lvl5pPr marL="896386" indent="0">
              <a:buNone/>
              <a:defRPr/>
            </a:lvl5pPr>
          </a:lstStyle>
          <a:p>
            <a:pPr lvl="0"/>
            <a:r>
              <a:rPr lang="pt-BR"/>
              <a:t>Subhead Segoe UI 26pt</a:t>
            </a:r>
          </a:p>
          <a:p>
            <a:pPr lvl="0"/>
            <a:r>
              <a:rPr lang="pt-BR"/>
              <a:t>Subhead Segoe UI 26pt</a:t>
            </a:r>
          </a:p>
          <a:p>
            <a:pPr lvl="0"/>
            <a:r>
              <a:rPr lang="pt-BR"/>
              <a:t>Subhead Segoe UI 26pt</a:t>
            </a:r>
          </a:p>
        </p:txBody>
      </p:sp>
    </p:spTree>
    <p:extLst>
      <p:ext uri="{BB962C8B-B14F-4D97-AF65-F5344CB8AC3E}">
        <p14:creationId xmlns:p14="http://schemas.microsoft.com/office/powerpoint/2010/main" val="289340491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Graphic layout: three columns graphic and tex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FC74E6E5-9DAD-4A14-9C20-D9F9150874FE}"/>
              </a:ext>
            </a:extLst>
          </p:cNvPr>
          <p:cNvSpPr>
            <a:spLocks noGrp="1"/>
          </p:cNvSpPr>
          <p:nvPr>
            <p:ph type="title" hasCustomPrompt="1"/>
          </p:nvPr>
        </p:nvSpPr>
        <p:spPr>
          <a:xfrm>
            <a:off x="426424" y="440496"/>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Graphic layout: three columns graphic and text</a:t>
            </a:r>
          </a:p>
        </p:txBody>
      </p:sp>
      <p:sp>
        <p:nvSpPr>
          <p:cNvPr id="13" name="Text Placeholder 4">
            <a:extLst>
              <a:ext uri="{FF2B5EF4-FFF2-40B4-BE49-F238E27FC236}">
                <a16:creationId xmlns:a16="http://schemas.microsoft.com/office/drawing/2014/main" id="{FB052D15-67DF-4845-863F-FEC853640A9E}"/>
              </a:ext>
            </a:extLst>
          </p:cNvPr>
          <p:cNvSpPr>
            <a:spLocks noGrp="1"/>
          </p:cNvSpPr>
          <p:nvPr>
            <p:ph type="body" sz="quarter" idx="11" hasCustomPrompt="1"/>
          </p:nvPr>
        </p:nvSpPr>
        <p:spPr>
          <a:xfrm>
            <a:off x="426426" y="4927922"/>
            <a:ext cx="3627659" cy="1307666"/>
          </a:xfrm>
        </p:spPr>
        <p:txBody>
          <a:bodyPr lIns="0" tIns="0" rIns="0" bIns="0"/>
          <a:lstStyle>
            <a:lvl1pPr marL="0" indent="0">
              <a:lnSpc>
                <a:spcPct val="100000"/>
              </a:lnSpc>
              <a:spcBef>
                <a:spcPts val="0"/>
              </a:spcBef>
              <a:spcAft>
                <a:spcPts val="784"/>
              </a:spcAft>
              <a:buNone/>
              <a:defRPr sz="1567" b="1">
                <a:solidFill>
                  <a:schemeClr val="accent1"/>
                </a:solidFill>
                <a:latin typeface="+mj-lt"/>
              </a:defRPr>
            </a:lvl1pPr>
            <a:lvl2pPr marL="0" marR="0" indent="0" algn="l" defTabSz="914192" rtl="0" eaLnBrk="1" fontAlgn="auto" latinLnBrk="0" hangingPunct="1">
              <a:lnSpc>
                <a:spcPct val="100000"/>
              </a:lnSpc>
              <a:spcBef>
                <a:spcPts val="0"/>
              </a:spcBef>
              <a:spcAft>
                <a:spcPts val="784"/>
              </a:spcAft>
              <a:buClrTx/>
              <a:buSzPct val="90000"/>
              <a:buFont typeface="Arial" panose="020B0604020202020204" pitchFamily="34" charset="0"/>
              <a:buNone/>
              <a:tabLst/>
              <a:defRPr sz="1567">
                <a:solidFill>
                  <a:srgbClr val="000000"/>
                </a:solidFill>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4" name="Text Placeholder 4">
            <a:extLst>
              <a:ext uri="{FF2B5EF4-FFF2-40B4-BE49-F238E27FC236}">
                <a16:creationId xmlns:a16="http://schemas.microsoft.com/office/drawing/2014/main" id="{A5ECD4C7-D870-4003-9FA8-85EBBED87940}"/>
              </a:ext>
            </a:extLst>
          </p:cNvPr>
          <p:cNvSpPr>
            <a:spLocks noGrp="1"/>
          </p:cNvSpPr>
          <p:nvPr>
            <p:ph type="body" sz="quarter" idx="12" hasCustomPrompt="1"/>
          </p:nvPr>
        </p:nvSpPr>
        <p:spPr>
          <a:xfrm>
            <a:off x="4281363" y="4927922"/>
            <a:ext cx="3623051" cy="1307666"/>
          </a:xfrm>
        </p:spPr>
        <p:txBody>
          <a:bodyPr lIns="0" tIns="0" rIns="0" bIns="0"/>
          <a:lstStyle>
            <a:lvl1pPr marL="0" indent="0">
              <a:lnSpc>
                <a:spcPct val="100000"/>
              </a:lnSpc>
              <a:spcBef>
                <a:spcPts val="0"/>
              </a:spcBef>
              <a:spcAft>
                <a:spcPts val="784"/>
              </a:spcAft>
              <a:buNone/>
              <a:defRPr sz="1567">
                <a:solidFill>
                  <a:schemeClr val="accent1"/>
                </a:solidFill>
                <a:latin typeface="+mj-lt"/>
              </a:defRPr>
            </a:lvl1pPr>
            <a:lvl2pPr marL="0" marR="0" indent="0" algn="l" defTabSz="914192" rtl="0" eaLnBrk="1" fontAlgn="auto" latinLnBrk="0" hangingPunct="1">
              <a:lnSpc>
                <a:spcPct val="100000"/>
              </a:lnSpc>
              <a:spcBef>
                <a:spcPts val="0"/>
              </a:spcBef>
              <a:spcAft>
                <a:spcPts val="784"/>
              </a:spcAft>
              <a:buClrTx/>
              <a:buSzPct val="90000"/>
              <a:buFont typeface="Arial" panose="020B0604020202020204" pitchFamily="34" charset="0"/>
              <a:buNone/>
              <a:tabLst/>
              <a:defRPr sz="1567">
                <a:solidFill>
                  <a:srgbClr val="000000"/>
                </a:solidFill>
              </a:defRPr>
            </a:lvl2pPr>
            <a:lvl3pPr marL="448107" indent="0">
              <a:buNone/>
              <a:defRPr/>
            </a:lvl3pPr>
            <a:lvl4pPr marL="672161" indent="0">
              <a:buNone/>
              <a:defRPr/>
            </a:lvl4pPr>
            <a:lvl5pPr marL="896214"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5" name="Text Placeholder 4">
            <a:extLst>
              <a:ext uri="{FF2B5EF4-FFF2-40B4-BE49-F238E27FC236}">
                <a16:creationId xmlns:a16="http://schemas.microsoft.com/office/drawing/2014/main" id="{AA9BECBA-B2CC-4EE6-B54E-9ADB03EB2595}"/>
              </a:ext>
            </a:extLst>
          </p:cNvPr>
          <p:cNvSpPr>
            <a:spLocks noGrp="1"/>
          </p:cNvSpPr>
          <p:nvPr>
            <p:ph type="body" sz="quarter" idx="13" hasCustomPrompt="1"/>
          </p:nvPr>
        </p:nvSpPr>
        <p:spPr>
          <a:xfrm>
            <a:off x="8126964" y="4927922"/>
            <a:ext cx="3635502" cy="1307666"/>
          </a:xfrm>
        </p:spPr>
        <p:txBody>
          <a:bodyPr lIns="0" tIns="0" rIns="0" bIns="0"/>
          <a:lstStyle>
            <a:lvl1pPr marL="0" indent="0">
              <a:lnSpc>
                <a:spcPct val="100000"/>
              </a:lnSpc>
              <a:spcBef>
                <a:spcPts val="0"/>
              </a:spcBef>
              <a:spcAft>
                <a:spcPts val="784"/>
              </a:spcAft>
              <a:buNone/>
              <a:defRPr sz="1567">
                <a:solidFill>
                  <a:schemeClr val="accent1"/>
                </a:solidFill>
                <a:latin typeface="+mj-lt"/>
              </a:defRPr>
            </a:lvl1pPr>
            <a:lvl2pPr marL="0" marR="0" indent="0" algn="l" defTabSz="914192" rtl="0" eaLnBrk="1" fontAlgn="auto" latinLnBrk="0" hangingPunct="1">
              <a:lnSpc>
                <a:spcPct val="100000"/>
              </a:lnSpc>
              <a:spcBef>
                <a:spcPts val="0"/>
              </a:spcBef>
              <a:spcAft>
                <a:spcPts val="784"/>
              </a:spcAft>
              <a:buClrTx/>
              <a:buSzPct val="90000"/>
              <a:buFont typeface="Arial" panose="020B0604020202020204" pitchFamily="34" charset="0"/>
              <a:buNone/>
              <a:tabLst/>
              <a:defRPr sz="1567">
                <a:solidFill>
                  <a:srgbClr val="000000"/>
                </a:solidFill>
              </a:defRPr>
            </a:lvl2pPr>
            <a:lvl3pPr marL="448107" indent="0">
              <a:buNone/>
              <a:defRPr/>
            </a:lvl3pPr>
            <a:lvl4pPr marL="672161" indent="0">
              <a:buNone/>
              <a:defRPr/>
            </a:lvl4pPr>
            <a:lvl5pPr marL="896214"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Tree>
    <p:extLst>
      <p:ext uri="{BB962C8B-B14F-4D97-AF65-F5344CB8AC3E}">
        <p14:creationId xmlns:p14="http://schemas.microsoft.com/office/powerpoint/2010/main" val="241049729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82D53EF-379E-4348-B193-51A225E179DE}" type="slidenum">
              <a:rPr lang="en-US" smtClean="0"/>
              <a:t>‹#›</a:t>
            </a:fld>
            <a:endParaRPr lang="en-US"/>
          </a:p>
        </p:txBody>
      </p:sp>
    </p:spTree>
    <p:extLst>
      <p:ext uri="{BB962C8B-B14F-4D97-AF65-F5344CB8AC3E}">
        <p14:creationId xmlns:p14="http://schemas.microsoft.com/office/powerpoint/2010/main" val="2140836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Section title blue">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26846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7749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94778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8296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96576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81807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03524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94210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073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73443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41767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06498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19976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MCAPS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741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Blank 5">
    <p:bg>
      <p:bgPr>
        <a:blipFill dpi="0" rotWithShape="1">
          <a:blip r:embed="rId2">
            <a:lum/>
          </a:blip>
          <a:srcRect/>
          <a:stretch>
            <a:fillRect t="-7000" b="-7000"/>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6B15DBD-1404-5599-4352-54E4640D8E34}"/>
              </a:ext>
            </a:extLst>
          </p:cNvPr>
          <p:cNvSpPr>
            <a:spLocks noGrp="1"/>
          </p:cNvSpPr>
          <p:nvPr>
            <p:ph type="title"/>
          </p:nvPr>
        </p:nvSpPr>
        <p:spPr>
          <a:xfrm>
            <a:off x="584200" y="457200"/>
            <a:ext cx="5508419" cy="433965"/>
          </a:xfrm>
        </p:spPr>
        <p:txBody>
          <a:bodyPr tIns="64008"/>
          <a:lstStyle>
            <a:lvl1pPr>
              <a:defRPr sz="24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5299927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83F7F-0DB8-8B3B-2954-2F0C861E43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F23798-84E0-BEB9-EC26-6B3793862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820D27A-2053-3DFE-7F63-F99B4924A62F}"/>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5AF26B13-B831-B8EE-AC6B-9B7729AE6F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01F3F4-09E2-7863-4A71-46C748016FC6}"/>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751932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8325-30DE-69C9-C5BD-67432748BB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377FE2-66B5-9756-ECBF-A3A6B6F495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FBBEE-CA65-6A1C-26DD-EE261F6EEAE6}"/>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8FD98D99-983C-F767-3F27-8AB82FA14E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9B5A91-C2AC-D096-8181-361FD684CE48}"/>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39780868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39E56-F6B2-AFF5-FA74-C99188B9D9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A3F7AE-AE52-E158-7E0C-CBD1EF30AD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D603DF-86EF-D2E6-6815-D9B4FB721AF9}"/>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A769B420-AC93-B384-833E-340FBDD173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3BDFCF-1F8E-BAB1-C0F7-81E0AF3072A0}"/>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16593334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E9386-EB90-8F42-58CB-89C25DE0CB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19FF21-9752-2A75-B7C2-4781DC7BF0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C8E3C9F-CDEF-2A8E-11D3-54DEA2C16D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AF8134-405F-1753-CE3F-1163613A3D4B}"/>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6" name="Footer Placeholder 5">
            <a:extLst>
              <a:ext uri="{FF2B5EF4-FFF2-40B4-BE49-F238E27FC236}">
                <a16:creationId xmlns:a16="http://schemas.microsoft.com/office/drawing/2014/main" id="{327B73D1-8E85-24BC-EC55-BD8A3E28B8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B3356E-E9AF-F73B-E5D4-A0241E328037}"/>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3471456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E4540-12F7-9375-E094-919DA28B18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D37A30-F8CF-297D-0C32-88022A9B76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E4BC01-7377-21BD-3E75-1204FD7930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BB7E55-B9B7-22B0-A551-F083C08761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AD1C14-9398-44F6-F829-98D0EC1290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06F97B-8550-39CA-6A61-334320B17FC3}"/>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8" name="Footer Placeholder 7">
            <a:extLst>
              <a:ext uri="{FF2B5EF4-FFF2-40B4-BE49-F238E27FC236}">
                <a16:creationId xmlns:a16="http://schemas.microsoft.com/office/drawing/2014/main" id="{A2364604-73A7-2DAA-B996-A7D74B0A6A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FC584F3-D525-2CF8-32D7-A0D38AE96129}"/>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25382558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46C89-30AD-742A-7180-44851BB723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2F95FE-2C22-EE36-6BF9-142931AB36B1}"/>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4" name="Footer Placeholder 3">
            <a:extLst>
              <a:ext uri="{FF2B5EF4-FFF2-40B4-BE49-F238E27FC236}">
                <a16:creationId xmlns:a16="http://schemas.microsoft.com/office/drawing/2014/main" id="{B6771BE0-1547-31CA-DBA1-9FBD891A9E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C69C37-BF2D-A12D-7766-0807EA1E7DC6}"/>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42221967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9B760D-5683-5450-DCD1-CA7588565966}"/>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3" name="Footer Placeholder 2">
            <a:extLst>
              <a:ext uri="{FF2B5EF4-FFF2-40B4-BE49-F238E27FC236}">
                <a16:creationId xmlns:a16="http://schemas.microsoft.com/office/drawing/2014/main" id="{F1603E05-7C0C-5DEC-864D-EEDF54A4C0C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D635D1-4E5C-770A-8E69-9C1A8C22DDB1}"/>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4956331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E5E89-FA38-C43C-6680-96F2E90F91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DF2B43-0C86-B8E2-D5E7-C4A3A60799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9342B2-62BF-00B0-C91A-A4AD04749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3C82C0-269D-BDD6-A195-EFA385B63B12}"/>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6" name="Footer Placeholder 5">
            <a:extLst>
              <a:ext uri="{FF2B5EF4-FFF2-40B4-BE49-F238E27FC236}">
                <a16:creationId xmlns:a16="http://schemas.microsoft.com/office/drawing/2014/main" id="{856634ED-F26B-A070-840C-7B25BE81F2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6C1788-BBC9-CD18-D8E7-5C29FEF77B7D}"/>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18494370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42256-97D7-3CA5-80F0-A777CAF469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127417-FA15-B546-BA2E-14A980D9E4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B5D67E7-00FE-0F60-40E4-FC8B7E7D69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8EE07F-64EA-B637-E1EA-6A7F579CDD50}"/>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6" name="Footer Placeholder 5">
            <a:extLst>
              <a:ext uri="{FF2B5EF4-FFF2-40B4-BE49-F238E27FC236}">
                <a16:creationId xmlns:a16="http://schemas.microsoft.com/office/drawing/2014/main" id="{ECA2CA20-8BC7-35B4-97DE-7BB7418FAD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446FA0-C9C6-A9A8-B440-9E0BABDDA019}"/>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14277027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5DE91-78F7-2CF0-C028-64D07E5AA80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5C6A2D-E550-FFBF-5417-637DFFEFE4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F1B573-9B72-48EF-D88F-2C88D99D0EFE}"/>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3C3CFA20-646E-8A9B-9F67-BF4B7AF951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4D7B14-757B-4AC5-CD27-9BFB0ADD2237}"/>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23456063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EA5E3A-68F6-6C7B-3155-274394DD3A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1CD13C-C895-B68A-DFA7-AE7431A6A2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F440CB-0380-70CB-CE23-CBAA6C519687}"/>
              </a:ext>
            </a:extLst>
          </p:cNvPr>
          <p:cNvSpPr>
            <a:spLocks noGrp="1"/>
          </p:cNvSpPr>
          <p:nvPr>
            <p:ph type="dt" sz="half" idx="10"/>
          </p:nvPr>
        </p:nvSpPr>
        <p:spPr/>
        <p:txBody>
          <a:body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CF23C08E-8C62-EC8B-405C-79BA3B6E43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C903D5-1E0E-75D2-3EF1-0C96BC70DC49}"/>
              </a:ext>
            </a:extLst>
          </p:cNvPr>
          <p:cNvSpPr>
            <a:spLocks noGrp="1"/>
          </p:cNvSpPr>
          <p:nvPr>
            <p:ph type="sldNum" sz="quarter" idx="12"/>
          </p:nvPr>
        </p:nvSpPr>
        <p:spPr/>
        <p:txBody>
          <a:bodyPr/>
          <a:lstStyle/>
          <a:p>
            <a:fld id="{11402B53-CE29-4347-9E10-38A305D69B82}" type="slidenum">
              <a:rPr lang="en-IN" smtClean="0"/>
              <a:t>‹#›</a:t>
            </a:fld>
            <a:endParaRPr lang="en-IN"/>
          </a:p>
        </p:txBody>
      </p:sp>
    </p:spTree>
    <p:extLst>
      <p:ext uri="{BB962C8B-B14F-4D97-AF65-F5344CB8AC3E}">
        <p14:creationId xmlns:p14="http://schemas.microsoft.com/office/powerpoint/2010/main" val="37876381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B8D68C-3D8E-5E53-1142-AF659F272741}"/>
              </a:ext>
            </a:extLst>
          </p:cNvPr>
          <p:cNvPicPr>
            <a:picLocks noChangeAspect="1"/>
          </p:cNvPicPr>
          <p:nvPr userDrawn="1"/>
        </p:nvPicPr>
        <p:blipFill>
          <a:blip r:embed="rId3"/>
          <a:srcRect l="3333" r="3333"/>
          <a:stretch/>
        </p:blipFill>
        <p:spPr>
          <a:xfrm>
            <a:off x="-1" y="-1"/>
            <a:ext cx="12192001" cy="6858001"/>
          </a:xfrm>
          <a:prstGeom prst="rect">
            <a:avLst/>
          </a:prstGeom>
        </p:spPr>
      </p:pic>
      <p:pic>
        <p:nvPicPr>
          <p:cNvPr id="2" name="MS logo white - EMF" descr="Microsoft logo white text version">
            <a:extLst>
              <a:ext uri="{FF2B5EF4-FFF2-40B4-BE49-F238E27FC236}">
                <a16:creationId xmlns:a16="http://schemas.microsoft.com/office/drawing/2014/main" id="{1840CBD0-0BEB-DC8F-CEF1-C001B4538665}"/>
              </a:ext>
            </a:extLst>
          </p:cNvPr>
          <p:cNvPicPr>
            <a:picLocks noChangeAspect="1"/>
          </p:cNvPicPr>
          <p:nvPr userDrawn="1"/>
        </p:nvPicPr>
        <p:blipFill>
          <a:blip r:embed="rId4" cstate="print">
            <a:lum bright="100000"/>
            <a:extLst>
              <a:ext uri="{28A0092B-C50C-407E-A947-70E740481C1C}">
                <a14:useLocalDpi xmlns:a14="http://schemas.microsoft.com/office/drawing/2010/main"/>
              </a:ext>
            </a:extLst>
          </a:blip>
          <a:stretch>
            <a:fillRect/>
          </a:stretch>
        </p:blipFill>
        <p:spPr bwMode="black">
          <a:xfrm>
            <a:off x="307976" y="6339128"/>
            <a:ext cx="933451" cy="199917"/>
          </a:xfrm>
          <a:prstGeom prst="rect">
            <a:avLst/>
          </a:prstGeom>
        </p:spPr>
      </p:pic>
      <p:sp>
        <p:nvSpPr>
          <p:cNvPr id="3" name="Text Placeholder 4">
            <a:extLst>
              <a:ext uri="{FF2B5EF4-FFF2-40B4-BE49-F238E27FC236}">
                <a16:creationId xmlns:a16="http://schemas.microsoft.com/office/drawing/2014/main" id="{F41303C3-84B6-E6CF-238B-40E4DFF45156}"/>
              </a:ext>
            </a:extLst>
          </p:cNvPr>
          <p:cNvSpPr>
            <a:spLocks noGrp="1"/>
          </p:cNvSpPr>
          <p:nvPr>
            <p:ph type="body" sz="quarter" idx="12"/>
          </p:nvPr>
        </p:nvSpPr>
        <p:spPr>
          <a:xfrm>
            <a:off x="525780" y="1697492"/>
            <a:ext cx="3434755" cy="246221"/>
          </a:xfrm>
          <a:noFill/>
        </p:spPr>
        <p:txBody>
          <a:bodyPr wrap="square" lIns="0" tIns="0" rIns="0" bIns="0">
            <a:spAutoFit/>
          </a:bodyPr>
          <a:lstStyle>
            <a:lvl1pPr marL="0" indent="0">
              <a:spcBef>
                <a:spcPts val="0"/>
              </a:spcBef>
              <a:buNone/>
              <a:defRPr sz="1600" spc="0" baseline="0">
                <a:solidFill>
                  <a:srgbClr val="7030A0"/>
                </a:solidFill>
                <a:latin typeface="+mn-lt"/>
                <a:cs typeface="Segoe Sans Display" pitchFamily="2" charset="0"/>
              </a:defRPr>
            </a:lvl1pPr>
          </a:lstStyle>
          <a:p>
            <a:pPr lvl="0"/>
            <a:endParaRPr lang="en-US"/>
          </a:p>
        </p:txBody>
      </p:sp>
      <p:sp>
        <p:nvSpPr>
          <p:cNvPr id="7" name="Text Placeholder 4">
            <a:extLst>
              <a:ext uri="{FF2B5EF4-FFF2-40B4-BE49-F238E27FC236}">
                <a16:creationId xmlns:a16="http://schemas.microsoft.com/office/drawing/2014/main" id="{27D2F62B-95C1-501A-9EAF-373FABE01165}"/>
              </a:ext>
            </a:extLst>
          </p:cNvPr>
          <p:cNvSpPr>
            <a:spLocks noGrp="1"/>
          </p:cNvSpPr>
          <p:nvPr>
            <p:ph type="body" sz="quarter" idx="13" hasCustomPrompt="1"/>
          </p:nvPr>
        </p:nvSpPr>
        <p:spPr>
          <a:xfrm>
            <a:off x="525780" y="596605"/>
            <a:ext cx="8242300" cy="646331"/>
          </a:xfrm>
          <a:noFill/>
        </p:spPr>
        <p:txBody>
          <a:bodyPr wrap="square" lIns="0" tIns="0" rIns="0" bIns="0">
            <a:spAutoFit/>
          </a:bodyPr>
          <a:lstStyle>
            <a:lvl1pPr marL="0" indent="0">
              <a:spcBef>
                <a:spcPts val="0"/>
              </a:spcBef>
              <a:buNone/>
              <a:defRPr sz="4200" b="0" spc="0" baseline="0">
                <a:solidFill>
                  <a:srgbClr val="7030A0"/>
                </a:solidFill>
                <a:latin typeface="Segoe UI Semibold" panose="020B0702040204020203" pitchFamily="34" charset="0"/>
                <a:cs typeface="Segoe UI Semibold" panose="020B0702040204020203" pitchFamily="34" charset="0"/>
              </a:defRPr>
            </a:lvl1pPr>
          </a:lstStyle>
          <a:p>
            <a:pPr lvl="0"/>
            <a:r>
              <a:rPr lang="en-US"/>
              <a:t>Title goes here</a:t>
            </a:r>
          </a:p>
        </p:txBody>
      </p:sp>
    </p:spTree>
    <p:extLst>
      <p:ext uri="{BB962C8B-B14F-4D97-AF65-F5344CB8AC3E}">
        <p14:creationId xmlns:p14="http://schemas.microsoft.com/office/powerpoint/2010/main" val="16201456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857348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jpeg"/><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slideLayout" Target="../slideLayouts/slideLayout15.xml"/><Relationship Id="rId1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slideLayout" Target="../slideLayouts/slideLayout41.xml"/><Relationship Id="rId13"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866397260"/>
      </p:ext>
    </p:extLst>
  </p:cSld>
  <p:clrMap bg1="lt1" tx1="dk1" bg2="lt2" tx2="dk2" accent1="accent1" accent2="accent2" accent3="accent3" accent4="accent4" accent5="accent5" accent6="accent6" hlink="hlink" folHlink="folHlink"/>
  <p:sldLayoutIdLst>
    <p:sldLayoutId id="2147483676"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6424" y="435824"/>
            <a:ext cx="11336039" cy="744014"/>
          </a:xfrm>
          <a:prstGeom prst="rect">
            <a:avLst/>
          </a:prstGeom>
        </p:spPr>
        <p:txBody>
          <a:bodyPr vert="horz" wrap="square" lIns="0" tIns="164592" rIns="0" bIns="0" rtlCol="0" anchor="t">
            <a:noAutofit/>
          </a:bodyPr>
          <a:lstStyle/>
          <a:p>
            <a:r>
              <a:rPr lang="en-US"/>
              <a:t>Click to edit Master title style</a:t>
            </a:r>
          </a:p>
        </p:txBody>
      </p:sp>
      <p:sp>
        <p:nvSpPr>
          <p:cNvPr id="4" name="Text Placeholder 3"/>
          <p:cNvSpPr>
            <a:spLocks noGrp="1"/>
          </p:cNvSpPr>
          <p:nvPr>
            <p:ph type="body" idx="1"/>
          </p:nvPr>
        </p:nvSpPr>
        <p:spPr>
          <a:xfrm>
            <a:off x="437319" y="1866615"/>
            <a:ext cx="11336039" cy="1276484"/>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175253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Lst>
  <p:transition>
    <p:fade/>
  </p:transition>
  <p:txStyles>
    <p:titleStyle>
      <a:lvl1pPr algn="l" defTabSz="914367" rtl="0" eaLnBrk="1" latinLnBrk="0" hangingPunct="1">
        <a:lnSpc>
          <a:spcPct val="90000"/>
        </a:lnSpc>
        <a:spcBef>
          <a:spcPct val="0"/>
        </a:spcBef>
        <a:buNone/>
        <a:defRPr lang="en-US" sz="3137" b="0" kern="1200" cap="none" spc="-147" baseline="0" dirty="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2549" kern="1200" spc="0" baseline="0">
          <a:solidFill>
            <a:srgbClr val="000000"/>
          </a:solidFill>
          <a:latin typeface="+mn-lt"/>
          <a:ea typeface="+mn-ea"/>
          <a:cs typeface="+mn-cs"/>
        </a:defRPr>
      </a:lvl1pPr>
      <a:lvl2pPr marL="224097"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961" kern="1200" spc="0" baseline="0">
          <a:solidFill>
            <a:srgbClr val="000000"/>
          </a:solidFill>
          <a:latin typeface="+mn-lt"/>
          <a:ea typeface="+mn-ea"/>
          <a:cs typeface="+mn-cs"/>
        </a:defRPr>
      </a:lvl2pPr>
      <a:lvl3pPr marL="448193"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3pPr>
      <a:lvl4pPr marL="672290"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4pPr>
      <a:lvl5pPr marL="896386"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73">
          <p15:clr>
            <a:srgbClr val="C35EA4"/>
          </p15:clr>
        </p15:guide>
        <p15:guide id="4" pos="1517">
          <p15:clr>
            <a:srgbClr val="C35EA4"/>
          </p15:clr>
        </p15:guide>
        <p15:guide id="5" pos="2608">
          <p15:clr>
            <a:srgbClr val="C35EA4"/>
          </p15:clr>
        </p15:guide>
        <p15:guide id="6" pos="2751">
          <p15:clr>
            <a:srgbClr val="C35EA4"/>
          </p15:clr>
        </p15:guide>
        <p15:guide id="7" pos="3844">
          <p15:clr>
            <a:srgbClr val="C35EA4"/>
          </p15:clr>
        </p15:guide>
        <p15:guide id="8" pos="3989">
          <p15:clr>
            <a:srgbClr val="C35EA4"/>
          </p15:clr>
        </p15:guide>
        <p15:guide id="9" pos="5079">
          <p15:clr>
            <a:srgbClr val="C35EA4"/>
          </p15:clr>
        </p15:guide>
        <p15:guide id="10" pos="5222">
          <p15:clr>
            <a:srgbClr val="C35EA4"/>
          </p15:clr>
        </p15:guide>
        <p15:guide id="11" pos="6317">
          <p15:clr>
            <a:srgbClr val="C35EA4"/>
          </p15:clr>
        </p15:guide>
        <p15:guide id="12" pos="6460">
          <p15:clr>
            <a:srgbClr val="C35EA4"/>
          </p15:clr>
        </p15:guide>
        <p15:guide id="16" pos="274">
          <p15:clr>
            <a:srgbClr val="F26B43"/>
          </p15:clr>
        </p15:guide>
        <p15:guide id="17" pos="7558">
          <p15:clr>
            <a:srgbClr val="F26B43"/>
          </p15:clr>
        </p15:guide>
        <p15:guide id="18" orient="horz" pos="758">
          <p15:clr>
            <a:srgbClr val="5ACBF0"/>
          </p15:clr>
        </p15:guide>
        <p15:guide id="19" orient="horz" pos="1372">
          <p15:clr>
            <a:srgbClr val="5ACBF0"/>
          </p15:clr>
        </p15:guide>
        <p15:guide id="20" orient="horz" pos="612">
          <p15:clr>
            <a:srgbClr val="5ACBF0"/>
          </p15:clr>
        </p15:guide>
        <p15:guide id="21" orient="horz" pos="1515">
          <p15:clr>
            <a:srgbClr val="5ACBF0"/>
          </p15:clr>
        </p15:guide>
        <p15:guide id="22" orient="horz" pos="2127">
          <p15:clr>
            <a:srgbClr val="5ACBF0"/>
          </p15:clr>
        </p15:guide>
        <p15:guide id="23" orient="horz" pos="2275">
          <p15:clr>
            <a:srgbClr val="5ACBF0"/>
          </p15:clr>
        </p15:guide>
        <p15:guide id="25" orient="horz" pos="280">
          <p15:clr>
            <a:srgbClr val="F26B43"/>
          </p15:clr>
        </p15:guide>
        <p15:guide id="26" orient="horz" pos="4127">
          <p15:clr>
            <a:srgbClr val="F26B43"/>
          </p15:clr>
        </p15:guide>
        <p15:guide id="27" orient="horz" pos="2889">
          <p15:clr>
            <a:srgbClr val="5ACBF0"/>
          </p15:clr>
        </p15:guide>
        <p15:guide id="28" orient="horz" pos="3032">
          <p15:clr>
            <a:srgbClr val="5ACBF0"/>
          </p15:clr>
        </p15:guide>
        <p15:guide id="29" orient="horz" pos="3648">
          <p15:clr>
            <a:srgbClr val="5ACBF0"/>
          </p15:clr>
        </p15:guide>
        <p15:guide id="30" orient="horz" pos="3792">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91520917"/>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D1397F-3D96-B4C8-79ED-E1DCF018FF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CC59E5-016C-9074-8D95-7F5F52C312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5A8D74-8E97-FA6C-A820-5D962D5D9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BA38D1-E4C1-4454-A3E5-8863343597FA}" type="datetimeFigureOut">
              <a:rPr lang="en-IN" smtClean="0"/>
              <a:t>31-08-2026</a:t>
            </a:fld>
            <a:endParaRPr lang="en-IN"/>
          </a:p>
        </p:txBody>
      </p:sp>
      <p:sp>
        <p:nvSpPr>
          <p:cNvPr id="5" name="Footer Placeholder 4">
            <a:extLst>
              <a:ext uri="{FF2B5EF4-FFF2-40B4-BE49-F238E27FC236}">
                <a16:creationId xmlns:a16="http://schemas.microsoft.com/office/drawing/2014/main" id="{177EAB47-7AC5-ECE0-6A03-555754A406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6BF72F6-A9CC-C4DE-9F56-6C716BEA7C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402B53-CE29-4347-9E10-38A305D69B82}" type="slidenum">
              <a:rPr lang="en-IN" smtClean="0"/>
              <a:t>‹#›</a:t>
            </a:fld>
            <a:endParaRPr lang="en-IN"/>
          </a:p>
        </p:txBody>
      </p:sp>
    </p:spTree>
    <p:extLst>
      <p:ext uri="{BB962C8B-B14F-4D97-AF65-F5344CB8AC3E}">
        <p14:creationId xmlns:p14="http://schemas.microsoft.com/office/powerpoint/2010/main" val="4193118187"/>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0.png"/><Relationship Id="rId3" Type="http://schemas.openxmlformats.org/officeDocument/2006/relationships/notesSlide" Target="../notesSlides/notesSlide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9.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3.png"/><Relationship Id="rId3" Type="http://schemas.openxmlformats.org/officeDocument/2006/relationships/notesSlide" Target="../notesSlides/notesSlide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8.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7.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notesSlide" Target="../notesSlides/notesSlide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36.png"/><Relationship Id="rId5" Type="http://schemas.openxmlformats.org/officeDocument/2006/relationships/notesSlide" Target="../notesSlides/notesSlide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6.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28.png"/><Relationship Id="rId8" Type="http://schemas.openxmlformats.org/officeDocument/2006/relationships/notesSlide" Target="../notesSlides/notesSlide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5.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notesSlide" Target="../notesSlides/notesSlide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4.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3.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hyperlink" Target="https://github.com/ragage/ai_hr_cowork_workshop/raw/main/participant/participant-workbook.docx" TargetMode="External"/><Relationship Id="rId8" Type="http://schemas.openxmlformats.org/officeDocument/2006/relationships/notesSlide" Target="../notesSlides/notesSlide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2.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1.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48.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29.png"/><Relationship Id="rId8"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49.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50.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51.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hyperlink" Target="https://github.com/ragage/ai_hr_cowork_workshop/raw/main/participant/participant-workbook.docx" TargetMode="External"/><Relationship Id="rId8"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52.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30.png"/><Relationship Id="rId8"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53.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25.png"/><Relationship Id="rId8"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54.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55.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hyperlink" Target="https://github.com/ragage/ai_hr_cowork_workshop/raw/main/participant/participant-workbook.docx" TargetMode="External"/><Relationship Id="rId8"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56.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31.png"/><Relationship Id="rId8"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57.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25.png"/><Relationship Id="rId8"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58.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59.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hyperlink" Target="https://github.com/ragage/ai_hr_cowork_workshop/raw/main/participant/participant-workbook.docx" TargetMode="External"/><Relationship Id="rId8"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60.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61.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32.png"/><Relationship Id="rId8"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62.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25.png"/><Relationship Id="rId8"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63.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64.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hyperlink" Target="https://github.com/ragage/ai_hr_cowork_workshop/raw/main/participant/participant-workbook.docx" TargetMode="External"/><Relationship Id="rId8"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65.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33.png"/><Relationship Id="rId8"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66.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25.png"/><Relationship Id="rId8"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67.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68.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hyperlink" Target="https://github.com/ragage/ai_hr_cowork_workshop/raw/main/participant/participant-workbook.docx" TargetMode="External"/><Relationship Id="rId8"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69.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34.png"/><Relationship Id="rId8"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70.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35.png"/><Relationship Id="rId8"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71.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72.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hyperlink" Target="https://github.com/ragage/ai_hr_cowork_workshop/raw/main/participant/participant-workbook.docx" TargetMode="External"/><Relationship Id="rId8"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73.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74.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75.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themeOverride" Target="../theme/themeOverride76.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5.jpeg"/><Relationship Id="rId6" Type="http://schemas.openxmlformats.org/officeDocument/2006/relationships/image" Target="../media/image26.png"/><Relationship Id="rId7" Type="http://schemas.openxmlformats.org/officeDocument/2006/relationships/hyperlink" Target="https://github.com/ragage/ai_hr_cowork_workshop/raw/main/participant/participant-workbook.docx" TargetMode="External"/><Relationship Id="rId8"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hyperlink" Target="https://github.com/ragage/ai_hr_cowork_workshop/raw/main/participant/participant-workbook.docx" TargetMode="External"/><Relationship Id="rId3" Type="http://schemas.openxmlformats.org/officeDocument/2006/relationships/hyperlink" Target="https://github.com/ragage/ai_hr_cowork_workshop/raw/main/sample-knowledge/zava-sample-knowledge.zip" TargetMode="External"/><Relationship Id="rId4" Type="http://schemas.openxmlformats.org/officeDocument/2006/relationships/hyperlink" Target="https://github.com/ragage/ai_hr_cowork_workshop/raw/main/participant/quick-reference-card.docx" TargetMode="External"/><Relationship Id="rId5" Type="http://schemas.openxmlformats.org/officeDocument/2006/relationships/hyperlink" Target="https://github.com/ragage/ai_hr_cowork_workshop/raw/main/reference/04-prompt-library.docx" TargetMode="External"/><Relationship Id="rId6" Type="http://schemas.openxmlformats.org/officeDocument/2006/relationships/hyperlink" Target="https://github.com/ragage/ai_hr_cowork_workshop/raw/main/reference/06-responsible-use.docx" TargetMode="External"/><Relationship Id="rId7" Type="http://schemas.openxmlformats.org/officeDocument/2006/relationships/hyperlink" Target="https://github.com/ragage/ai_hr_cowork_workshop/raw/main/participant/after-the-workshop.docx" TargetMode="External"/><Relationship Id="rId8" Type="http://schemas.openxmlformats.org/officeDocument/2006/relationships/hyperlink" Target="https://github.com/ragage/ai_hr_cowork_workshop/raw/main/instructor/instructor-deck.pptx" TargetMode="External"/><Relationship Id="rId9" Type="http://schemas.openxmlformats.org/officeDocument/2006/relationships/hyperlink" Target="https://github.com/ragage/ai_hr_cowork_workshop/raw/main/instructor/facilitator-guide.docx" TargetMode="External"/><Relationship Id="rId10" Type="http://schemas.openxmlformats.org/officeDocument/2006/relationships/hyperlink" Target="https://github.com/ragage/ai_hr_cowork_workshop/raw/main/instructor/facilitator-answer-key.docx" TargetMode="External"/><Relationship Id="rId11" Type="http://schemas.openxmlformats.org/officeDocument/2006/relationships/hyperlink" Target="https://github.com/ragage/ai_hr_cowork_workshop/raw/main/instructor/readiness-checklist.docx" TargetMode="External"/><Relationship Id="rId12" Type="http://schemas.openxmlformats.org/officeDocument/2006/relationships/hyperlink" Target="https://github.com/ragage/ai_hr_cowork_workshop/raw/main/instructor/seed-content.docx" TargetMode="External"/><Relationship Id="rId13" Type="http://schemas.openxmlformats.org/officeDocument/2006/relationships/hyperlink" Target="https://github.com/ragage/ai_hr_cowork_workshop/tree/main/communication" TargetMode="External"/><Relationship Id="rId14" Type="http://schemas.openxmlformats.org/officeDocument/2006/relationships/image" Target="../media/image21.png"/><Relationship Id="rId15" Type="http://schemas.openxmlformats.org/officeDocument/2006/relationships/hyperlink" Target="https://github.com/ragage/ai_hr_cowork_workshop" TargetMode="External"/><Relationship Id="rId16"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37.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2.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ragage/ai_hr_cowork_workshop/raw/main/participant/participant-workbook.docx" TargetMode="External"/><Relationship Id="rId3" Type="http://schemas.openxmlformats.org/officeDocument/2006/relationships/hyperlink" Target="https://github.com/ragage/ai_hr_cowork_workshop/blob/main/README.md" TargetMode="External"/><Relationship Id="rId4"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5.xml"/></Relationships>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6CA73066-62EB-02EC-D037-EC294C24A95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A38DABC-8A4C-0F68-E7D3-3975110991B6}"/>
              </a:ext>
            </a:extLst>
          </p:cNvPr>
          <p:cNvSpPr txBox="1">
            <a:spLocks noGrp="1"/>
          </p:cNvSpPr>
          <p:nvPr>
            <p:ph type="title"/>
          </p:nvPr>
        </p:nvSpPr>
        <p:spPr>
          <a:xfrm>
            <a:off x="584200" y="2148840"/>
            <a:ext cx="9144000" cy="1371600"/>
          </a:xfr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lvl1pPr algn="l" defTabSz="932742" rtl="0" eaLnBrk="1" latinLnBrk="0" hangingPunct="1">
              <a:lnSpc>
                <a:spcPct val="100000"/>
              </a:lnSpc>
              <a:spcBef>
                <a:spcPct val="0"/>
              </a:spcBef>
              <a:buNone/>
              <a:defRPr lang="en-US" sz="4000" b="0" kern="1200" cap="none" spc="-50" baseline="0">
                <a:ln w="3175">
                  <a:noFill/>
                </a:ln>
                <a:solidFill>
                  <a:schemeClr val="tx1"/>
                </a:solidFill>
                <a:effectLst/>
                <a:latin typeface="+mj-lt"/>
                <a:ea typeface="+mn-ea"/>
                <a:cs typeface="Segoe Sans Display" pitchFamily="2" charset="0"/>
              </a:defRPr>
            </a:lvl1pPr>
          </a:lstStyle>
          <a:p>
            <a:pPr lvl="0"/>
            <a:r>
              <a:rPr lang="en-US" noProof="0" sz="4000"/>
              <a:t>Getting Things Done with Copilot Cowork</a:t>
            </a:r>
            <a:br>
              <a:rPr lang="en-US" noProof="0" sz="4000"/>
            </a:br>
            <a:r>
              <a:rPr lang="en-US" noProof="0" sz="4000"/>
              <a:t>for HR Tasks</a:t>
            </a:r>
            <a:br>
              <a:rPr lang="en-US" noProof="0" sz="4000"/>
            </a:br>
            <a:endParaRPr lang="en-US" noProof="0"/>
          </a:p>
        </p:txBody>
      </p:sp>
      <p:sp>
        <p:nvSpPr>
          <p:cNvPr id="5" name="Text Placeholder 4">
            <a:extLst>
              <a:ext uri="{FF2B5EF4-FFF2-40B4-BE49-F238E27FC236}">
                <a16:creationId xmlns:a16="http://schemas.microsoft.com/office/drawing/2014/main" id="{66591BFA-242A-4A0F-746F-DC462B53012B}"/>
              </a:ext>
            </a:extLst>
          </p:cNvPr>
          <p:cNvSpPr>
            <a:spLocks noGrp="1"/>
          </p:cNvSpPr>
          <p:nvPr>
            <p:ph type="body" sz="quarter" idx="12"/>
          </p:nvPr>
        </p:nvSpPr>
        <p:spPr/>
        <p:txBody>
          <a:bodyPr/>
          <a:lstStyle/>
          <a:p>
            <a:r>
              <a:rPr lang="en-IN"/>
              <a:t>Instructor-led, hands-on workshop · 2 hours 35 minutes · ~25 attendees</a:t>
            </a:r>
          </a:p>
        </p:txBody>
      </p:sp>
      <p:sp>
        <p:nvSpPr>
          <p:cNvPr id="7" name="TextBox 6">
            <a:extLst>
              <a:ext uri="{FF2B5EF4-FFF2-40B4-BE49-F238E27FC236}">
                <a16:creationId xmlns:a16="http://schemas.microsoft.com/office/drawing/2014/main" id="{9E45F3F4-9BE0-AC31-C0BF-36DF98724E37}"/>
              </a:ext>
            </a:extLst>
          </p:cNvPr>
          <p:cNvSpPr txBox="1"/>
          <p:nvPr/>
        </p:nvSpPr>
        <p:spPr>
          <a:xfrm>
            <a:off x="584200" y="6293077"/>
            <a:ext cx="681192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©2026</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Microsoft</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Corporation.</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All</a:t>
            </a:r>
            <a:r>
              <a:rPr kumimoji="0" lang="en-US" sz="800" b="0" i="0" u="none" strike="noStrike" kern="1200" cap="none" spc="35"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rights</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reserved</a:t>
            </a:r>
            <a:r>
              <a:rPr kumimoji="0" lang="en-US" sz="800" b="0" i="0" u="none" strike="noStrike" kern="1200" cap="none" spc="0" normalizeH="0" baseline="0" noProof="0">
                <a:ln>
                  <a:noFill/>
                </a:ln>
                <a:solidFill>
                  <a:srgbClr val="FFFFFF"/>
                </a:solidFill>
                <a:effectLst/>
                <a:uLnTx/>
                <a:uFillTx/>
                <a:latin typeface="Segoe Sans Display Semilight"/>
                <a:ea typeface="+mn-ea"/>
                <a:cs typeface="+mn-cs"/>
              </a:rPr>
              <a:t>.</a:t>
            </a:r>
            <a:r>
              <a:rPr kumimoji="0" lang="en-US" sz="800" b="0" i="0" u="none" strike="noStrike" kern="1200" cap="none" spc="40" normalizeH="0" baseline="0" noProof="0">
                <a:ln>
                  <a:noFill/>
                </a:ln>
                <a:solidFill>
                  <a:srgbClr val="FFFFFF"/>
                </a:solidFill>
                <a:effectLst/>
                <a:uLnTx/>
                <a:uFillTx/>
                <a:latin typeface="Segoe Sans Display Semilight"/>
                <a:ea typeface="+mn-ea"/>
                <a:cs typeface="+mn-cs"/>
              </a:rPr>
              <a:t> </a:t>
            </a:r>
            <a:endParaRPr kumimoji="0" lang="en-US" sz="1800" b="0" i="0" u="none" strike="noStrike" kern="1200" cap="none" spc="0" normalizeH="0" baseline="0" noProof="0">
              <a:ln>
                <a:noFill/>
              </a:ln>
              <a:solidFill>
                <a:srgbClr val="323139"/>
              </a:solidFill>
              <a:effectLst/>
              <a:uLnTx/>
              <a:uFillTx/>
              <a:latin typeface="Segoe Sans Display Semilight"/>
              <a:ea typeface="+mn-ea"/>
              <a:cs typeface="+mn-cs"/>
            </a:endParaRPr>
          </a:p>
        </p:txBody>
      </p:sp>
    </p:spTree>
    <p:extLst>
      <p:ext uri="{BB962C8B-B14F-4D97-AF65-F5344CB8AC3E}">
        <p14:creationId xmlns:p14="http://schemas.microsoft.com/office/powerpoint/2010/main" val="3541237129"/>
      </p:ext>
    </p:extLst>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Agenda — 2 hours 35 minutes, hands-on</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Framing and a UI tour, then eight scenario-based exercises with one break.</a:t>
            </a:r>
          </a:p>
        </p:txBody>
      </p:sp>
      <p:sp>
        <p:nvSpPr>
          <p:cNvPr id="4" name="Rectangle 3">
            <a:extLst>
              <a:ext uri="{C183D7F6-B498-43B3-948B-1728B52AA6E4}">
                <ns0:decorative xmlns:ns0="http://schemas.microsoft.com/office/drawing/2017/decorative" val="1"/>
              </a:ext>
            </a:extLst>
          </p:cNvPr>
          <p:cNvSpPr/>
          <p:nvPr/>
        </p:nvSpPr>
        <p:spPr>
          <a:xfrm>
            <a:off x="502920" y="1463040"/>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 cy="54864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463040"/>
            <a:ext cx="822960" cy="548640"/>
          </a:xfrm>
          <a:prstGeom prst="rect">
            <a:avLst/>
          </a:prstGeom>
          <a:noFill/>
        </p:spPr>
        <p:txBody>
          <a:bodyPr wrap="square" anchor="ctr" lIns="0" rIns="0" tIns="0" bIns="0">
            <a:spAutoFit/>
          </a:bodyPr>
          <a:lstStyle/>
          <a:p>
            <a:pPr algn="l">
              <a:spcAft>
                <a:spcPts val="400"/>
              </a:spcAft>
            </a:pPr>
            <a:r>
              <a:rPr sz="1200" b="1" i="0">
                <a:solidFill>
                  <a:srgbClr val="0F6CBD"/>
                </a:solidFill>
                <a:latin typeface="Segoe UI"/>
              </a:rPr>
              <a:t>5 min</a:t>
            </a:r>
          </a:p>
        </p:txBody>
      </p:sp>
      <p:sp>
        <p:nvSpPr>
          <p:cNvPr id="7" name="TextBox 6"/>
          <p:cNvSpPr txBox="1"/>
          <p:nvPr/>
        </p:nvSpPr>
        <p:spPr>
          <a:xfrm>
            <a:off x="1600200" y="1463040"/>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Welcome &amp; context</a:t>
            </a:r>
          </a:p>
          <a:p>
            <a:pPr algn="l">
              <a:spcAft>
                <a:spcPts val="0"/>
              </a:spcAft>
            </a:pPr>
            <a:r>
              <a:rPr sz="1050" b="0" i="0">
                <a:solidFill>
                  <a:srgbClr val="616161"/>
                </a:solidFill>
                <a:latin typeface="Segoe UI"/>
              </a:rPr>
              <a:t>What Cowork is, HR value, the approval model</a:t>
            </a:r>
          </a:p>
        </p:txBody>
      </p:sp>
      <p:sp>
        <p:nvSpPr>
          <p:cNvPr id="8" name="Rectangle 7">
            <a:extLst>
              <a:ext uri="{C183D7F6-B498-43B3-948B-1728B52AA6E4}">
                <ns2:decorative xmlns:ns2="http://schemas.microsoft.com/office/drawing/2017/decorative" val="1"/>
              </a:ext>
            </a:extLst>
          </p:cNvPr>
          <p:cNvSpPr/>
          <p:nvPr/>
        </p:nvSpPr>
        <p:spPr>
          <a:xfrm>
            <a:off x="502920" y="2084832"/>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502920" y="2084832"/>
            <a:ext cx="54864" cy="54864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2084832"/>
            <a:ext cx="822960" cy="548640"/>
          </a:xfrm>
          <a:prstGeom prst="rect">
            <a:avLst/>
          </a:prstGeom>
          <a:noFill/>
        </p:spPr>
        <p:txBody>
          <a:bodyPr wrap="square" anchor="ctr" lIns="0" rIns="0" tIns="0" bIns="0">
            <a:spAutoFit/>
          </a:bodyPr>
          <a:lstStyle/>
          <a:p>
            <a:pPr algn="l">
              <a:spcAft>
                <a:spcPts val="400"/>
              </a:spcAft>
            </a:pPr>
            <a:r>
              <a:rPr sz="1200" b="1" i="0">
                <a:solidFill>
                  <a:srgbClr val="0F6CBD"/>
                </a:solidFill>
                <a:latin typeface="Segoe UI"/>
              </a:rPr>
              <a:t>5 min</a:t>
            </a:r>
          </a:p>
        </p:txBody>
      </p:sp>
      <p:sp>
        <p:nvSpPr>
          <p:cNvPr id="11" name="TextBox 10"/>
          <p:cNvSpPr txBox="1"/>
          <p:nvPr/>
        </p:nvSpPr>
        <p:spPr>
          <a:xfrm>
            <a:off x="1600200" y="2084832"/>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Copilot vs. Cowork</a:t>
            </a:r>
          </a:p>
          <a:p>
            <a:pPr algn="l">
              <a:spcAft>
                <a:spcPts val="0"/>
              </a:spcAft>
            </a:pPr>
            <a:r>
              <a:rPr sz="1050" b="0" i="0">
                <a:solidFill>
                  <a:srgbClr val="616161"/>
                </a:solidFill>
                <a:latin typeface="Segoe UI"/>
              </a:rPr>
              <a:t>The difference and when to use which</a:t>
            </a:r>
          </a:p>
        </p:txBody>
      </p:sp>
      <p:sp>
        <p:nvSpPr>
          <p:cNvPr id="12" name="Rectangle 11">
            <a:extLst>
              <a:ext uri="{C183D7F6-B498-43B3-948B-1728B52AA6E4}">
                <ns4:decorative xmlns:ns4="http://schemas.microsoft.com/office/drawing/2017/decorative" val="1"/>
              </a:ext>
            </a:extLst>
          </p:cNvPr>
          <p:cNvSpPr/>
          <p:nvPr/>
        </p:nvSpPr>
        <p:spPr>
          <a:xfrm>
            <a:off x="502920" y="2706624"/>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502920" y="2706624"/>
            <a:ext cx="54864" cy="54864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706624"/>
            <a:ext cx="822960" cy="548640"/>
          </a:xfrm>
          <a:prstGeom prst="rect">
            <a:avLst/>
          </a:prstGeom>
          <a:noFill/>
        </p:spPr>
        <p:txBody>
          <a:bodyPr wrap="square" anchor="ctr" lIns="0" rIns="0" tIns="0" bIns="0">
            <a:spAutoFit/>
          </a:bodyPr>
          <a:lstStyle/>
          <a:p>
            <a:pPr algn="l">
              <a:spcAft>
                <a:spcPts val="400"/>
              </a:spcAft>
            </a:pPr>
            <a:r>
              <a:rPr sz="1200" b="1" i="0">
                <a:solidFill>
                  <a:srgbClr val="0F6CBD"/>
                </a:solidFill>
                <a:latin typeface="Segoe UI"/>
              </a:rPr>
              <a:t>10 min</a:t>
            </a:r>
          </a:p>
        </p:txBody>
      </p:sp>
      <p:sp>
        <p:nvSpPr>
          <p:cNvPr id="15" name="TextBox 14"/>
          <p:cNvSpPr txBox="1"/>
          <p:nvPr/>
        </p:nvSpPr>
        <p:spPr>
          <a:xfrm>
            <a:off x="1600200" y="2706624"/>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Cowork UI walkthrough + setup</a:t>
            </a:r>
          </a:p>
          <a:p>
            <a:pPr algn="l">
              <a:spcAft>
                <a:spcPts val="0"/>
              </a:spcAft>
            </a:pPr>
            <a:r>
              <a:rPr sz="1050" b="0" i="0">
                <a:solidFill>
                  <a:srgbClr val="616161"/>
                </a:solidFill>
                <a:latin typeface="Segoe UI"/>
              </a:rPr>
              <a:t>New task, My tasks, Automations, Customize</a:t>
            </a:r>
          </a:p>
        </p:txBody>
      </p:sp>
      <p:sp>
        <p:nvSpPr>
          <p:cNvPr id="16" name="Rectangle 15">
            <a:extLst>
              <a:ext uri="{C183D7F6-B498-43B3-948B-1728B52AA6E4}">
                <ns6:decorative xmlns:ns6="http://schemas.microsoft.com/office/drawing/2017/decorative" val="1"/>
              </a:ext>
            </a:extLst>
          </p:cNvPr>
          <p:cNvSpPr/>
          <p:nvPr/>
        </p:nvSpPr>
        <p:spPr>
          <a:xfrm>
            <a:off x="502920" y="3328416"/>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7:decorative xmlns:ns7="http://schemas.microsoft.com/office/drawing/2017/decorative" val="1"/>
              </a:ext>
            </a:extLst>
          </p:cNvPr>
          <p:cNvSpPr/>
          <p:nvPr/>
        </p:nvSpPr>
        <p:spPr>
          <a:xfrm>
            <a:off x="502920" y="3328416"/>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328416"/>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15 min</a:t>
            </a:r>
          </a:p>
        </p:txBody>
      </p:sp>
      <p:sp>
        <p:nvSpPr>
          <p:cNvPr id="19" name="TextBox 18"/>
          <p:cNvSpPr txBox="1"/>
          <p:nvPr/>
        </p:nvSpPr>
        <p:spPr>
          <a:xfrm>
            <a:off x="1600200" y="3328416"/>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1 · Deep Research</a:t>
            </a:r>
          </a:p>
          <a:p>
            <a:pPr algn="l">
              <a:spcAft>
                <a:spcPts val="0"/>
              </a:spcAft>
            </a:pPr>
            <a:r>
              <a:rPr sz="1050" b="0" i="0">
                <a:solidFill>
                  <a:srgbClr val="616161"/>
                </a:solidFill>
                <a:latin typeface="Segoe UI"/>
              </a:rPr>
              <a:t>Cited briefing + 5 questions; optional /cost</a:t>
            </a:r>
          </a:p>
        </p:txBody>
      </p:sp>
      <p:sp>
        <p:nvSpPr>
          <p:cNvPr id="20" name="Rectangle 19">
            <a:extLst>
              <a:ext uri="{C183D7F6-B498-43B3-948B-1728B52AA6E4}">
                <ns8:decorative xmlns:ns8="http://schemas.microsoft.com/office/drawing/2017/decorative" val="1"/>
              </a:ext>
            </a:extLst>
          </p:cNvPr>
          <p:cNvSpPr/>
          <p:nvPr/>
        </p:nvSpPr>
        <p:spPr>
          <a:xfrm>
            <a:off x="502920" y="3950208"/>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a:extLst>
              <a:ext uri="{C183D7F6-B498-43B3-948B-1728B52AA6E4}">
                <ns9:decorative xmlns:ns9="http://schemas.microsoft.com/office/drawing/2017/decorative" val="1"/>
              </a:ext>
            </a:extLst>
          </p:cNvPr>
          <p:cNvSpPr/>
          <p:nvPr/>
        </p:nvSpPr>
        <p:spPr>
          <a:xfrm>
            <a:off x="502920" y="3950208"/>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3950208"/>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15 min</a:t>
            </a:r>
          </a:p>
        </p:txBody>
      </p:sp>
      <p:sp>
        <p:nvSpPr>
          <p:cNvPr id="23" name="TextBox 22"/>
          <p:cNvSpPr txBox="1"/>
          <p:nvPr/>
        </p:nvSpPr>
        <p:spPr>
          <a:xfrm>
            <a:off x="1600200" y="3950208"/>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2 · Navigate websites</a:t>
            </a:r>
          </a:p>
          <a:p>
            <a:pPr algn="l">
              <a:spcAft>
                <a:spcPts val="0"/>
              </a:spcAft>
            </a:pPr>
            <a:r>
              <a:rPr sz="1050" b="0" i="0">
                <a:solidFill>
                  <a:srgbClr val="616161"/>
                </a:solidFill>
                <a:latin typeface="Segoe UI"/>
              </a:rPr>
              <a:t>Cowork drives Edge: dol.gov + lni.wa.gov</a:t>
            </a:r>
          </a:p>
        </p:txBody>
      </p:sp>
      <p:sp>
        <p:nvSpPr>
          <p:cNvPr id="24" name="Rectangle 23">
            <a:extLst>
              <a:ext uri="{C183D7F6-B498-43B3-948B-1728B52AA6E4}">
                <ns10:decorative xmlns:ns10="http://schemas.microsoft.com/office/drawing/2017/decorative" val="1"/>
              </a:ext>
            </a:extLst>
          </p:cNvPr>
          <p:cNvSpPr/>
          <p:nvPr/>
        </p:nvSpPr>
        <p:spPr>
          <a:xfrm>
            <a:off x="502920" y="4572000"/>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a:extLst>
              <a:ext uri="{C183D7F6-B498-43B3-948B-1728B52AA6E4}">
                <ns11:decorative xmlns:ns11="http://schemas.microsoft.com/office/drawing/2017/decorative" val="1"/>
              </a:ext>
            </a:extLst>
          </p:cNvPr>
          <p:cNvSpPr/>
          <p:nvPr/>
        </p:nvSpPr>
        <p:spPr>
          <a:xfrm>
            <a:off x="502920" y="4572000"/>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 y="4572000"/>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15 min</a:t>
            </a:r>
          </a:p>
        </p:txBody>
      </p:sp>
      <p:sp>
        <p:nvSpPr>
          <p:cNvPr id="27" name="TextBox 26"/>
          <p:cNvSpPr txBox="1"/>
          <p:nvPr/>
        </p:nvSpPr>
        <p:spPr>
          <a:xfrm>
            <a:off x="1600200" y="4572000"/>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3 · Build a custom skill</a:t>
            </a:r>
          </a:p>
          <a:p>
            <a:pPr algn="l">
              <a:spcAft>
                <a:spcPts val="0"/>
              </a:spcAft>
            </a:pPr>
            <a:r>
              <a:rPr sz="1050" b="0" i="0">
                <a:solidFill>
                  <a:srgbClr val="616161"/>
                </a:solidFill>
                <a:latin typeface="Segoe UI"/>
              </a:rPr>
              <a:t>Centerpiece: HR Policy Answer</a:t>
            </a:r>
          </a:p>
        </p:txBody>
      </p:sp>
      <p:sp>
        <p:nvSpPr>
          <p:cNvPr id="28" name="Rectangle 27">
            <a:extLst>
              <a:ext uri="{C183D7F6-B498-43B3-948B-1728B52AA6E4}">
                <ns12:decorative xmlns:ns12="http://schemas.microsoft.com/office/drawing/2017/decorative" val="1"/>
              </a:ext>
            </a:extLst>
          </p:cNvPr>
          <p:cNvSpPr/>
          <p:nvPr/>
        </p:nvSpPr>
        <p:spPr>
          <a:xfrm>
            <a:off x="502920" y="5193792"/>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a:extLst>
              <a:ext uri="{C183D7F6-B498-43B3-948B-1728B52AA6E4}">
                <ns13:decorative xmlns:ns13="http://schemas.microsoft.com/office/drawing/2017/decorative" val="1"/>
              </a:ext>
            </a:extLst>
          </p:cNvPr>
          <p:cNvSpPr/>
          <p:nvPr/>
        </p:nvSpPr>
        <p:spPr>
          <a:xfrm>
            <a:off x="502920" y="5193792"/>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85800" y="5193792"/>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15 min</a:t>
            </a:r>
          </a:p>
        </p:txBody>
      </p:sp>
      <p:sp>
        <p:nvSpPr>
          <p:cNvPr id="31" name="TextBox 30"/>
          <p:cNvSpPr txBox="1"/>
          <p:nvPr/>
        </p:nvSpPr>
        <p:spPr>
          <a:xfrm>
            <a:off x="1600200" y="5193792"/>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4 · Recruiting + reporting</a:t>
            </a:r>
          </a:p>
          <a:p>
            <a:pPr algn="l">
              <a:spcAft>
                <a:spcPts val="0"/>
              </a:spcAft>
            </a:pPr>
            <a:r>
              <a:rPr sz="1050" b="0" i="0">
                <a:solidFill>
                  <a:srgbClr val="616161"/>
                </a:solidFill>
                <a:latin typeface="Segoe UI"/>
              </a:rPr>
              <a:t>Inclusive job posting + ticket summary</a:t>
            </a:r>
          </a:p>
        </p:txBody>
      </p:sp>
      <p:sp>
        <p:nvSpPr>
          <p:cNvPr id="32" name="Rectangle 31">
            <a:extLst>
              <a:ext uri="{C183D7F6-B498-43B3-948B-1728B52AA6E4}">
                <ns14:decorative xmlns:ns14="http://schemas.microsoft.com/office/drawing/2017/decorative" val="1"/>
              </a:ext>
            </a:extLst>
          </p:cNvPr>
          <p:cNvSpPr/>
          <p:nvPr/>
        </p:nvSpPr>
        <p:spPr>
          <a:xfrm>
            <a:off x="6172200" y="1463040"/>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a:extLst>
              <a:ext uri="{C183D7F6-B498-43B3-948B-1728B52AA6E4}">
                <ns15:decorative xmlns:ns15="http://schemas.microsoft.com/office/drawing/2017/decorative" val="1"/>
              </a:ext>
            </a:extLst>
          </p:cNvPr>
          <p:cNvSpPr/>
          <p:nvPr/>
        </p:nvSpPr>
        <p:spPr>
          <a:xfrm>
            <a:off x="6172200" y="1463040"/>
            <a:ext cx="54864" cy="54864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55080" y="1463040"/>
            <a:ext cx="822960" cy="548640"/>
          </a:xfrm>
          <a:prstGeom prst="rect">
            <a:avLst/>
          </a:prstGeom>
          <a:noFill/>
        </p:spPr>
        <p:txBody>
          <a:bodyPr wrap="square" anchor="ctr" lIns="0" rIns="0" tIns="0" bIns="0">
            <a:spAutoFit/>
          </a:bodyPr>
          <a:lstStyle/>
          <a:p>
            <a:pPr algn="l">
              <a:spcAft>
                <a:spcPts val="400"/>
              </a:spcAft>
            </a:pPr>
            <a:r>
              <a:rPr sz="1200" b="1" i="0">
                <a:solidFill>
                  <a:srgbClr val="8A8886"/>
                </a:solidFill>
                <a:latin typeface="Segoe UI"/>
              </a:rPr>
              <a:t>15 min</a:t>
            </a:r>
          </a:p>
        </p:txBody>
      </p:sp>
      <p:sp>
        <p:nvSpPr>
          <p:cNvPr id="35" name="TextBox 34"/>
          <p:cNvSpPr txBox="1"/>
          <p:nvPr/>
        </p:nvSpPr>
        <p:spPr>
          <a:xfrm>
            <a:off x="7269480" y="1463040"/>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Break</a:t>
            </a:r>
          </a:p>
        </p:txBody>
      </p:sp>
      <p:sp>
        <p:nvSpPr>
          <p:cNvPr id="36" name="Rectangle 35">
            <a:extLst>
              <a:ext uri="{C183D7F6-B498-43B3-948B-1728B52AA6E4}">
                <ns16:decorative xmlns:ns16="http://schemas.microsoft.com/office/drawing/2017/decorative" val="1"/>
              </a:ext>
            </a:extLst>
          </p:cNvPr>
          <p:cNvSpPr/>
          <p:nvPr/>
        </p:nvSpPr>
        <p:spPr>
          <a:xfrm>
            <a:off x="6172200" y="2084832"/>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a:extLst>
              <a:ext uri="{C183D7F6-B498-43B3-948B-1728B52AA6E4}">
                <ns17:decorative xmlns:ns17="http://schemas.microsoft.com/office/drawing/2017/decorative" val="1"/>
              </a:ext>
            </a:extLst>
          </p:cNvPr>
          <p:cNvSpPr/>
          <p:nvPr/>
        </p:nvSpPr>
        <p:spPr>
          <a:xfrm>
            <a:off x="6172200" y="2084832"/>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55080" y="2084832"/>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10 min</a:t>
            </a:r>
          </a:p>
        </p:txBody>
      </p:sp>
      <p:sp>
        <p:nvSpPr>
          <p:cNvPr id="39" name="TextBox 38"/>
          <p:cNvSpPr txBox="1"/>
          <p:nvPr/>
        </p:nvSpPr>
        <p:spPr>
          <a:xfrm>
            <a:off x="7269480" y="2084832"/>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5 · Onboarding pack</a:t>
            </a:r>
          </a:p>
          <a:p>
            <a:pPr algn="l">
              <a:spcAft>
                <a:spcPts val="0"/>
              </a:spcAft>
            </a:pPr>
            <a:r>
              <a:rPr sz="1050" b="0" i="0">
                <a:solidFill>
                  <a:srgbClr val="616161"/>
                </a:solidFill>
                <a:latin typeface="Segoe UI"/>
              </a:rPr>
              <a:t>Orientation deck (+ kickoff, announcement)</a:t>
            </a:r>
          </a:p>
        </p:txBody>
      </p:sp>
      <p:sp>
        <p:nvSpPr>
          <p:cNvPr id="40" name="Rectangle 39">
            <a:extLst>
              <a:ext uri="{C183D7F6-B498-43B3-948B-1728B52AA6E4}">
                <ns18:decorative xmlns:ns18="http://schemas.microsoft.com/office/drawing/2017/decorative" val="1"/>
              </a:ext>
            </a:extLst>
          </p:cNvPr>
          <p:cNvSpPr/>
          <p:nvPr/>
        </p:nvSpPr>
        <p:spPr>
          <a:xfrm>
            <a:off x="6172200" y="2706624"/>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a:extLst>
              <a:ext uri="{C183D7F6-B498-43B3-948B-1728B52AA6E4}">
                <ns19:decorative xmlns:ns19="http://schemas.microsoft.com/office/drawing/2017/decorative" val="1"/>
              </a:ext>
            </a:extLst>
          </p:cNvPr>
          <p:cNvSpPr/>
          <p:nvPr/>
        </p:nvSpPr>
        <p:spPr>
          <a:xfrm>
            <a:off x="6172200" y="2706624"/>
            <a:ext cx="54864" cy="54864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355080" y="2706624"/>
            <a:ext cx="822960" cy="548640"/>
          </a:xfrm>
          <a:prstGeom prst="rect">
            <a:avLst/>
          </a:prstGeom>
          <a:noFill/>
        </p:spPr>
        <p:txBody>
          <a:bodyPr wrap="square" anchor="ctr" lIns="0" rIns="0" tIns="0" bIns="0">
            <a:spAutoFit/>
          </a:bodyPr>
          <a:lstStyle/>
          <a:p>
            <a:pPr algn="l">
              <a:spcAft>
                <a:spcPts val="400"/>
              </a:spcAft>
            </a:pPr>
            <a:r>
              <a:rPr sz="1200" b="1" i="0">
                <a:solidFill>
                  <a:srgbClr val="107C10"/>
                </a:solidFill>
                <a:latin typeface="Segoe UI"/>
              </a:rPr>
              <a:t>15 min</a:t>
            </a:r>
          </a:p>
        </p:txBody>
      </p:sp>
      <p:sp>
        <p:nvSpPr>
          <p:cNvPr id="43" name="TextBox 42"/>
          <p:cNvSpPr txBox="1"/>
          <p:nvPr/>
        </p:nvSpPr>
        <p:spPr>
          <a:xfrm>
            <a:off x="7269480" y="2706624"/>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6 · Automate &amp; share</a:t>
            </a:r>
          </a:p>
          <a:p>
            <a:pPr algn="l">
              <a:spcAft>
                <a:spcPts val="0"/>
              </a:spcAft>
            </a:pPr>
            <a:r>
              <a:rPr sz="1050" b="0" i="0">
                <a:solidFill>
                  <a:srgbClr val="616161"/>
                </a:solidFill>
                <a:latin typeface="Segoe UI"/>
              </a:rPr>
              <a:t>Automations + Daily Briefing (+ sharing)</a:t>
            </a:r>
          </a:p>
        </p:txBody>
      </p:sp>
      <p:sp>
        <p:nvSpPr>
          <p:cNvPr id="44" name="Rectangle 43">
            <a:extLst>
              <a:ext uri="{C183D7F6-B498-43B3-948B-1728B52AA6E4}">
                <ns20:decorative xmlns:ns20="http://schemas.microsoft.com/office/drawing/2017/decorative" val="1"/>
              </a:ext>
            </a:extLst>
          </p:cNvPr>
          <p:cNvSpPr/>
          <p:nvPr/>
        </p:nvSpPr>
        <p:spPr>
          <a:xfrm>
            <a:off x="6172200" y="3328416"/>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a:extLst>
              <a:ext uri="{C183D7F6-B498-43B3-948B-1728B52AA6E4}">
                <ns21:decorative xmlns:ns21="http://schemas.microsoft.com/office/drawing/2017/decorative" val="1"/>
              </a:ext>
            </a:extLst>
          </p:cNvPr>
          <p:cNvSpPr/>
          <p:nvPr/>
        </p:nvSpPr>
        <p:spPr>
          <a:xfrm>
            <a:off x="6172200" y="3328416"/>
            <a:ext cx="54864" cy="54864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355080" y="3328416"/>
            <a:ext cx="822960" cy="548640"/>
          </a:xfrm>
          <a:prstGeom prst="rect">
            <a:avLst/>
          </a:prstGeom>
          <a:noFill/>
        </p:spPr>
        <p:txBody>
          <a:bodyPr wrap="square" anchor="ctr" lIns="0" rIns="0" tIns="0" bIns="0">
            <a:spAutoFit/>
          </a:bodyPr>
          <a:lstStyle/>
          <a:p>
            <a:pPr algn="l">
              <a:spcAft>
                <a:spcPts val="400"/>
              </a:spcAft>
            </a:pPr>
            <a:r>
              <a:rPr sz="1200" b="1" i="0">
                <a:solidFill>
                  <a:srgbClr val="C0504D"/>
                </a:solidFill>
                <a:latin typeface="Segoe UI"/>
              </a:rPr>
              <a:t>15 min</a:t>
            </a:r>
          </a:p>
        </p:txBody>
      </p:sp>
      <p:sp>
        <p:nvSpPr>
          <p:cNvPr id="47" name="TextBox 46"/>
          <p:cNvSpPr txBox="1"/>
          <p:nvPr/>
        </p:nvSpPr>
        <p:spPr>
          <a:xfrm>
            <a:off x="7269480" y="3328416"/>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7 · Agent Builder</a:t>
            </a:r>
          </a:p>
          <a:p>
            <a:pPr algn="l">
              <a:spcAft>
                <a:spcPts val="0"/>
              </a:spcAft>
            </a:pPr>
            <a:r>
              <a:rPr sz="1050" b="0" i="0">
                <a:solidFill>
                  <a:srgbClr val="616161"/>
                </a:solidFill>
                <a:latin typeface="Segoe UI"/>
              </a:rPr>
              <a:t>Non-Cowork: build an HR Policy Agent</a:t>
            </a:r>
          </a:p>
        </p:txBody>
      </p:sp>
      <p:sp>
        <p:nvSpPr>
          <p:cNvPr id="48" name="Rectangle 47">
            <a:extLst>
              <a:ext uri="{C183D7F6-B498-43B3-948B-1728B52AA6E4}">
                <ns22:decorative xmlns:ns22="http://schemas.microsoft.com/office/drawing/2017/decorative" val="1"/>
              </a:ext>
            </a:extLst>
          </p:cNvPr>
          <p:cNvSpPr/>
          <p:nvPr/>
        </p:nvSpPr>
        <p:spPr>
          <a:xfrm>
            <a:off x="6172200" y="3950208"/>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a:extLst>
              <a:ext uri="{C183D7F6-B498-43B3-948B-1728B52AA6E4}">
                <ns23:decorative xmlns:ns23="http://schemas.microsoft.com/office/drawing/2017/decorative" val="1"/>
              </a:ext>
            </a:extLst>
          </p:cNvPr>
          <p:cNvSpPr/>
          <p:nvPr/>
        </p:nvSpPr>
        <p:spPr>
          <a:xfrm>
            <a:off x="6172200" y="3950208"/>
            <a:ext cx="54864" cy="54864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355080" y="3950208"/>
            <a:ext cx="822960" cy="548640"/>
          </a:xfrm>
          <a:prstGeom prst="rect">
            <a:avLst/>
          </a:prstGeom>
          <a:noFill/>
        </p:spPr>
        <p:txBody>
          <a:bodyPr wrap="square" anchor="ctr" lIns="0" rIns="0" tIns="0" bIns="0">
            <a:spAutoFit/>
          </a:bodyPr>
          <a:lstStyle/>
          <a:p>
            <a:pPr algn="l">
              <a:spcAft>
                <a:spcPts val="400"/>
              </a:spcAft>
            </a:pPr>
            <a:r>
              <a:rPr sz="1200" b="1" i="0">
                <a:solidFill>
                  <a:srgbClr val="8064A2"/>
                </a:solidFill>
                <a:latin typeface="Segoe UI"/>
              </a:rPr>
              <a:t>15 min</a:t>
            </a:r>
          </a:p>
        </p:txBody>
      </p:sp>
      <p:sp>
        <p:nvSpPr>
          <p:cNvPr id="51" name="TextBox 50"/>
          <p:cNvSpPr txBox="1"/>
          <p:nvPr/>
        </p:nvSpPr>
        <p:spPr>
          <a:xfrm>
            <a:off x="7269480" y="3950208"/>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Ex 8 · Executive Command Center</a:t>
            </a:r>
          </a:p>
          <a:p>
            <a:pPr algn="l">
              <a:spcAft>
                <a:spcPts val="0"/>
              </a:spcAft>
            </a:pPr>
            <a:r>
              <a:rPr sz="1050" b="0" i="0">
                <a:solidFill>
                  <a:srgbClr val="616161"/>
                </a:solidFill>
                <a:latin typeface="Segoe UI"/>
              </a:rPr>
              <a:t>Capstone: HTML dashboard, skill, schedule</a:t>
            </a:r>
          </a:p>
        </p:txBody>
      </p:sp>
      <p:sp>
        <p:nvSpPr>
          <p:cNvPr id="52" name="Rectangle 51">
            <a:extLst>
              <a:ext uri="{C183D7F6-B498-43B3-948B-1728B52AA6E4}">
                <ns24:decorative xmlns:ns24="http://schemas.microsoft.com/office/drawing/2017/decorative" val="1"/>
              </a:ext>
            </a:extLst>
          </p:cNvPr>
          <p:cNvSpPr/>
          <p:nvPr/>
        </p:nvSpPr>
        <p:spPr>
          <a:xfrm>
            <a:off x="6172200" y="4572000"/>
            <a:ext cx="5486400" cy="5486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a:extLst>
              <a:ext uri="{C183D7F6-B498-43B3-948B-1728B52AA6E4}">
                <ns25:decorative xmlns:ns25="http://schemas.microsoft.com/office/drawing/2017/decorative" val="1"/>
              </a:ext>
            </a:extLst>
          </p:cNvPr>
          <p:cNvSpPr/>
          <p:nvPr/>
        </p:nvSpPr>
        <p:spPr>
          <a:xfrm>
            <a:off x="6172200" y="4572000"/>
            <a:ext cx="54864" cy="54864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355080" y="4572000"/>
            <a:ext cx="822960" cy="548640"/>
          </a:xfrm>
          <a:prstGeom prst="rect">
            <a:avLst/>
          </a:prstGeom>
          <a:noFill/>
        </p:spPr>
        <p:txBody>
          <a:bodyPr wrap="square" anchor="ctr" lIns="0" rIns="0" tIns="0" bIns="0">
            <a:spAutoFit/>
          </a:bodyPr>
          <a:lstStyle/>
          <a:p>
            <a:pPr algn="l">
              <a:spcAft>
                <a:spcPts val="400"/>
              </a:spcAft>
            </a:pPr>
            <a:r>
              <a:rPr sz="1200" b="1" i="0">
                <a:solidFill>
                  <a:srgbClr val="0F6CBD"/>
                </a:solidFill>
                <a:latin typeface="Segoe UI"/>
              </a:rPr>
              <a:t>5 min</a:t>
            </a:r>
          </a:p>
        </p:txBody>
      </p:sp>
      <p:sp>
        <p:nvSpPr>
          <p:cNvPr id="55" name="TextBox 54"/>
          <p:cNvSpPr txBox="1"/>
          <p:nvPr/>
        </p:nvSpPr>
        <p:spPr>
          <a:xfrm>
            <a:off x="7269480" y="4572000"/>
            <a:ext cx="4297680" cy="548640"/>
          </a:xfrm>
          <a:prstGeom prst="rect">
            <a:avLst/>
          </a:prstGeom>
          <a:noFill/>
        </p:spPr>
        <p:txBody>
          <a:bodyPr wrap="square" anchor="ctr" lIns="0" rIns="0" tIns="0" bIns="0">
            <a:spAutoFit/>
          </a:bodyPr>
          <a:lstStyle/>
          <a:p>
            <a:pPr algn="l">
              <a:spcAft>
                <a:spcPts val="0"/>
              </a:spcAft>
            </a:pPr>
            <a:r>
              <a:rPr sz="1300" b="1" i="0">
                <a:solidFill>
                  <a:srgbClr val="242424"/>
                </a:solidFill>
                <a:latin typeface="Segoe UI"/>
              </a:rPr>
              <a:t>Wrap-up</a:t>
            </a:r>
          </a:p>
          <a:p>
            <a:pPr algn="l">
              <a:spcAft>
                <a:spcPts val="0"/>
              </a:spcAft>
            </a:pPr>
            <a:r>
              <a:rPr sz="1050" b="0" i="0">
                <a:solidFill>
                  <a:srgbClr val="616161"/>
                </a:solidFill>
                <a:latin typeface="Segoe UI"/>
              </a:rPr>
              <a:t>Three tools and next steps</a:t>
            </a:r>
          </a:p>
        </p:txBody>
      </p:sp>
    </p:spTree>
    <p:extLst>
      <p:ext uri="{BB962C8B-B14F-4D97-AF65-F5344CB8AC3E}">
        <p14:creationId xmlns:p14="http://schemas.microsoft.com/office/powerpoint/2010/main" val="418314712"/>
      </p:ext>
    </p:extLst>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Copilot vs. Cowork — what’s the difference?</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Start here: the mental model for the whole day.</a:t>
            </a:r>
          </a:p>
        </p:txBody>
      </p:sp>
      <p:sp>
        <p:nvSpPr>
          <p:cNvPr id="4" name="Rectangle 3">
            <a:extLst>
              <a:ext uri="{C183D7F6-B498-43B3-948B-1728B52AA6E4}">
                <ns0:decorative xmlns:ns0="http://schemas.microsoft.com/office/drawing/2017/decorative" val="1"/>
              </a:ext>
            </a:extLst>
          </p:cNvPr>
          <p:cNvSpPr/>
          <p:nvPr/>
        </p:nvSpPr>
        <p:spPr>
          <a:xfrm>
            <a:off x="502920" y="1463040"/>
            <a:ext cx="5468112" cy="30175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68112"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5175504" cy="365760"/>
          </a:xfrm>
          <a:prstGeom prst="rect">
            <a:avLst/>
          </a:prstGeom>
          <a:noFill/>
        </p:spPr>
        <p:txBody>
          <a:bodyPr wrap="square" anchor="t" lIns="0" rIns="0" tIns="0" bIns="0">
            <a:spAutoFit/>
          </a:bodyPr>
          <a:lstStyle/>
          <a:p>
            <a:pPr algn="l">
              <a:spcAft>
                <a:spcPts val="400"/>
              </a:spcAft>
            </a:pPr>
            <a:r>
              <a:rPr sz="1500" b="1" i="0">
                <a:solidFill>
                  <a:srgbClr val="0F6CBD"/>
                </a:solidFill>
                <a:latin typeface="Segoe UI"/>
              </a:rPr>
              <a:t>COPILOT (CHAT) = YOUR AI ASSISTANT</a:t>
            </a:r>
          </a:p>
        </p:txBody>
      </p:sp>
      <p:sp>
        <p:nvSpPr>
          <p:cNvPr id="7" name="TextBox 6"/>
          <p:cNvSpPr txBox="1"/>
          <p:nvPr/>
        </p:nvSpPr>
        <p:spPr>
          <a:xfrm>
            <a:off x="649224" y="2084832"/>
            <a:ext cx="5175504" cy="2286000"/>
          </a:xfrm>
          <a:prstGeom prst="rect">
            <a:avLst/>
          </a:prstGeom>
          <a:noFill/>
        </p:spPr>
        <p:txBody>
          <a:bodyPr wrap="square" anchor="t" lIns="0" rIns="0" tIns="0" bIns="0">
            <a:spAutoFit/>
          </a:bodyPr>
          <a:lstStyle/>
          <a:p>
            <a:pPr algn="l" marL="182880" indent="-182880">
              <a:spcAft>
                <a:spcPts val="500"/>
              </a:spcAft>
              <a:buFont typeface="Arial"/>
              <a:buChar char="•"/>
            </a:pPr>
            <a:r>
              <a:rPr sz="1500" b="1" i="0">
                <a:solidFill>
                  <a:srgbClr val="242424"/>
                </a:solidFill>
                <a:latin typeface="Segoe UI"/>
              </a:rPr>
              <a:t>You ask, it answers</a:t>
            </a:r>
            <a:r>
              <a:rPr sz="1500" b="0" i="0">
                <a:solidFill>
                  <a:srgbClr val="242424"/>
                </a:solidFill>
                <a:latin typeface="Segoe UI"/>
              </a:rPr>
              <a:t> — you drive each step</a:t>
            </a:r>
          </a:p>
          <a:p>
            <a:pPr algn="l" marL="182880" indent="-182880">
              <a:spcAft>
                <a:spcPts val="500"/>
              </a:spcAft>
              <a:buFont typeface="Arial"/>
              <a:buChar char="•"/>
            </a:pPr>
            <a:r>
              <a:rPr sz="1500" b="0" i="0">
                <a:solidFill>
                  <a:srgbClr val="242424"/>
                </a:solidFill>
                <a:latin typeface="Segoe UI"/>
              </a:rPr>
              <a:t>Best for quick answers, drafting, summarizing, rewriting</a:t>
            </a:r>
          </a:p>
          <a:p>
            <a:pPr algn="l" marL="182880" indent="-182880">
              <a:spcAft>
                <a:spcPts val="500"/>
              </a:spcAft>
              <a:buFont typeface="Arial"/>
              <a:buChar char="•"/>
            </a:pPr>
            <a:r>
              <a:rPr sz="1500" b="0" i="0">
                <a:solidFill>
                  <a:srgbClr val="242424"/>
                </a:solidFill>
                <a:latin typeface="Segoe UI"/>
              </a:rPr>
              <a:t>Output: a response in the chat</a:t>
            </a:r>
          </a:p>
          <a:p>
            <a:pPr algn="l" marL="182880" indent="-182880">
              <a:spcAft>
                <a:spcPts val="500"/>
              </a:spcAft>
              <a:buFont typeface="Arial"/>
              <a:buChar char="•"/>
            </a:pPr>
            <a:r>
              <a:rPr sz="1500" b="0" i="0">
                <a:solidFill>
                  <a:srgbClr val="242424"/>
                </a:solidFill>
                <a:latin typeface="Segoe UI"/>
              </a:rPr>
              <a:t>HR example: “Summarize this policy in 3 bullets.”</a:t>
            </a:r>
          </a:p>
        </p:txBody>
      </p:sp>
      <p:sp>
        <p:nvSpPr>
          <p:cNvPr id="8" name="Rectangle 7">
            <a:extLst>
              <a:ext uri="{C183D7F6-B498-43B3-948B-1728B52AA6E4}">
                <ns2:decorative xmlns:ns2="http://schemas.microsoft.com/office/drawing/2017/decorative" val="1"/>
              </a:ext>
            </a:extLst>
          </p:cNvPr>
          <p:cNvSpPr/>
          <p:nvPr/>
        </p:nvSpPr>
        <p:spPr>
          <a:xfrm>
            <a:off x="6217920" y="1463040"/>
            <a:ext cx="5468112" cy="30175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6217920" y="1463040"/>
            <a:ext cx="5468112"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64224" y="1645920"/>
            <a:ext cx="5175504" cy="365760"/>
          </a:xfrm>
          <a:prstGeom prst="rect">
            <a:avLst/>
          </a:prstGeom>
          <a:noFill/>
        </p:spPr>
        <p:txBody>
          <a:bodyPr wrap="square" anchor="t" lIns="0" rIns="0" tIns="0" bIns="0">
            <a:spAutoFit/>
          </a:bodyPr>
          <a:lstStyle/>
          <a:p>
            <a:pPr algn="l">
              <a:spcAft>
                <a:spcPts val="400"/>
              </a:spcAft>
            </a:pPr>
            <a:r>
              <a:rPr sz="1500" b="1" i="0">
                <a:solidFill>
                  <a:srgbClr val="8064A2"/>
                </a:solidFill>
                <a:latin typeface="Segoe UI"/>
              </a:rPr>
              <a:t>COWORK = YOUR AI COWORKER</a:t>
            </a:r>
          </a:p>
        </p:txBody>
      </p:sp>
      <p:sp>
        <p:nvSpPr>
          <p:cNvPr id="11" name="TextBox 10"/>
          <p:cNvSpPr txBox="1"/>
          <p:nvPr/>
        </p:nvSpPr>
        <p:spPr>
          <a:xfrm>
            <a:off x="6364224" y="2084832"/>
            <a:ext cx="5175504" cy="2286000"/>
          </a:xfrm>
          <a:prstGeom prst="rect">
            <a:avLst/>
          </a:prstGeom>
          <a:noFill/>
        </p:spPr>
        <p:txBody>
          <a:bodyPr wrap="square" anchor="t" lIns="0" rIns="0" tIns="0" bIns="0">
            <a:spAutoFit/>
          </a:bodyPr>
          <a:lstStyle/>
          <a:p>
            <a:pPr algn="l" marL="182880" indent="-182880">
              <a:spcAft>
                <a:spcPts val="500"/>
              </a:spcAft>
              <a:buFont typeface="Arial"/>
              <a:buChar char="•"/>
            </a:pPr>
            <a:r>
              <a:rPr sz="1500" b="1" i="0">
                <a:solidFill>
                  <a:srgbClr val="242424"/>
                </a:solidFill>
                <a:latin typeface="Segoe UI"/>
              </a:rPr>
              <a:t>You describe an outcome</a:t>
            </a:r>
            <a:r>
              <a:rPr sz="1500" b="0" i="0">
                <a:solidFill>
                  <a:srgbClr val="242424"/>
                </a:solidFill>
                <a:latin typeface="Segoe UI"/>
              </a:rPr>
              <a:t> — it plans and does the multi-step work</a:t>
            </a:r>
          </a:p>
          <a:p>
            <a:pPr algn="l" marL="182880" indent="-182880">
              <a:spcAft>
                <a:spcPts val="500"/>
              </a:spcAft>
              <a:buFont typeface="Arial"/>
              <a:buChar char="•"/>
            </a:pPr>
            <a:r>
              <a:rPr sz="1500" b="0" i="0">
                <a:solidFill>
                  <a:srgbClr val="242424"/>
                </a:solidFill>
                <a:latin typeface="Segoe UI"/>
              </a:rPr>
              <a:t>Best for tasks that end in a doc, email, deck, report, or schedule</a:t>
            </a:r>
          </a:p>
          <a:p>
            <a:pPr algn="l" marL="182880" indent="-182880">
              <a:spcAft>
                <a:spcPts val="500"/>
              </a:spcAft>
              <a:buFont typeface="Arial"/>
              <a:buChar char="•"/>
            </a:pPr>
            <a:r>
              <a:rPr sz="1500" b="0" i="0">
                <a:solidFill>
                  <a:srgbClr val="242424"/>
                </a:solidFill>
                <a:latin typeface="Segoe UI"/>
              </a:rPr>
              <a:t>Output: finished artifacts — and it can run on a schedule</a:t>
            </a:r>
          </a:p>
          <a:p>
            <a:pPr algn="l" marL="182880" indent="-182880">
              <a:spcAft>
                <a:spcPts val="500"/>
              </a:spcAft>
              <a:buFont typeface="Arial"/>
              <a:buChar char="•"/>
            </a:pPr>
            <a:r>
              <a:rPr sz="1500" b="0" i="0">
                <a:solidFill>
                  <a:srgbClr val="242424"/>
                </a:solidFill>
                <a:latin typeface="Segoe UI"/>
              </a:rPr>
              <a:t>HR example: “Draft welcome emails for all 4 new hires and save them as drafts.”</a:t>
            </a:r>
          </a:p>
        </p:txBody>
      </p:sp>
      <p:sp>
        <p:nvSpPr>
          <p:cNvPr id="12" name="Rounded Rectangle 11">
            <a:extLst>
              <a:ext uri="{C183D7F6-B498-43B3-948B-1728B52AA6E4}">
                <ns4:decorative xmlns:ns4="http://schemas.microsoft.com/office/drawing/2017/decorative" val="1"/>
              </a:ext>
            </a:extLst>
          </p:cNvPr>
          <p:cNvSpPr/>
          <p:nvPr/>
        </p:nvSpPr>
        <p:spPr>
          <a:xfrm>
            <a:off x="502920" y="4754880"/>
            <a:ext cx="11183112" cy="1417320"/>
          </a:xfrm>
          <a:prstGeom prst="roundRect">
            <a:avLst>
              <a:gd name="adj" fmla="val 12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4754880"/>
            <a:ext cx="10634472" cy="1417320"/>
          </a:xfrm>
          <a:prstGeom prst="rect">
            <a:avLst/>
          </a:prstGeom>
          <a:noFill/>
        </p:spPr>
        <p:txBody>
          <a:bodyPr wrap="square" anchor="ctr" lIns="0" rIns="0" tIns="0" bIns="0">
            <a:spAutoFit/>
          </a:bodyPr>
          <a:lstStyle/>
          <a:p>
            <a:pPr algn="l">
              <a:lnSpc>
                <a:spcPct val="105000"/>
              </a:lnSpc>
              <a:spcAft>
                <a:spcPts val="400"/>
              </a:spcAft>
            </a:pPr>
            <a:r>
              <a:rPr sz="1300" b="1" i="0">
                <a:solidFill>
                  <a:srgbClr val="323139"/>
                </a:solidFill>
                <a:latin typeface="Segoe UI"/>
              </a:rPr>
              <a:t>Rule of thumb:</a:t>
            </a:r>
            <a:r>
              <a:rPr sz="1300" b="0" i="0">
                <a:solidFill>
                  <a:srgbClr val="323139"/>
                </a:solidFill>
                <a:latin typeface="Segoe UI"/>
              </a:rPr>
              <a:t> several steps that end in a file, email, schedule, or report → </a:t>
            </a:r>
            <a:r>
              <a:rPr sz="1300" b="1" i="0">
                <a:solidFill>
                  <a:srgbClr val="323139"/>
                </a:solidFill>
                <a:latin typeface="Segoe UI"/>
              </a:rPr>
              <a:t>Cowork</a:t>
            </a:r>
            <a:r>
              <a:rPr sz="1300" b="0" i="0">
                <a:solidFill>
                  <a:srgbClr val="323139"/>
                </a:solidFill>
                <a:latin typeface="Segoe UI"/>
              </a:rPr>
              <a:t>. A quick answer or rewrite → </a:t>
            </a:r>
            <a:r>
              <a:rPr sz="1300" b="1" i="0">
                <a:solidFill>
                  <a:srgbClr val="323139"/>
                </a:solidFill>
                <a:latin typeface="Segoe UI"/>
              </a:rPr>
              <a:t>Copilot Chat</a:t>
            </a:r>
            <a:r>
              <a:rPr sz="1300" b="0" i="0">
                <a:solidFill>
                  <a:srgbClr val="323139"/>
                </a:solidFill>
                <a:latin typeface="Segoe UI"/>
              </a:rPr>
              <a:t>. Both are grounded in your work through Work IQ and respect the same permissions. We also use a third tool — </a:t>
            </a:r>
            <a:r>
              <a:rPr sz="1300" b="1" i="0">
                <a:solidFill>
                  <a:srgbClr val="323139"/>
                </a:solidFill>
                <a:latin typeface="Segoe UI"/>
              </a:rPr>
              <a:t>Agent Builder</a:t>
            </a:r>
            <a:r>
              <a:rPr sz="1300" b="0" i="0">
                <a:solidFill>
                  <a:srgbClr val="323139"/>
                </a:solidFill>
                <a:latin typeface="Segoe UI"/>
              </a:rPr>
              <a:t> — in Exercise 7.</a:t>
            </a:r>
          </a:p>
        </p:txBody>
      </p:sp>
    </p:spTree>
    <p:extLst>
      <p:ext uri="{BB962C8B-B14F-4D97-AF65-F5344CB8AC3E}">
        <p14:creationId xmlns:p14="http://schemas.microsoft.com/office/powerpoint/2010/main" val="418314712"/>
      </p:ext>
    </p:extLst>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What is Copilot Cowork?</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You describe the outcome — Cowork plans and delivers, grounded in your work via Work IQ.</a:t>
            </a:r>
          </a:p>
        </p:txBody>
      </p:sp>
      <p:sp>
        <p:nvSpPr>
          <p:cNvPr id="4" name="Rectangle 3">
            <a:extLst>
              <a:ext uri="{C183D7F6-B498-43B3-948B-1728B52AA6E4}">
                <ns0:decorative xmlns:ns0="http://schemas.microsoft.com/office/drawing/2017/decorative" val="1"/>
              </a:ext>
            </a:extLst>
          </p:cNvPr>
          <p:cNvSpPr/>
          <p:nvPr/>
        </p:nvSpPr>
        <p:spPr>
          <a:xfrm>
            <a:off x="502920" y="1463040"/>
            <a:ext cx="2679192" cy="2697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2679192"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2386584" cy="365760"/>
          </a:xfrm>
          <a:prstGeom prst="rect">
            <a:avLst/>
          </a:prstGeom>
          <a:noFill/>
        </p:spPr>
        <p:txBody>
          <a:bodyPr wrap="square" anchor="t" lIns="0" rIns="0" tIns="0" bIns="0">
            <a:spAutoFit/>
          </a:bodyPr>
          <a:lstStyle/>
          <a:p>
            <a:pPr algn="l">
              <a:spcAft>
                <a:spcPts val="400"/>
              </a:spcAft>
            </a:pPr>
            <a:r>
              <a:rPr sz="1600" b="1" i="0">
                <a:solidFill>
                  <a:srgbClr val="0F6CBD"/>
                </a:solidFill>
                <a:latin typeface="Segoe UI"/>
              </a:rPr>
              <a:t>1 · PLANS</a:t>
            </a:r>
          </a:p>
        </p:txBody>
      </p:sp>
      <p:sp>
        <p:nvSpPr>
          <p:cNvPr id="7" name="TextBox 6"/>
          <p:cNvSpPr txBox="1"/>
          <p:nvPr/>
        </p:nvSpPr>
        <p:spPr>
          <a:xfrm>
            <a:off x="649224" y="2084832"/>
            <a:ext cx="2386584" cy="1965960"/>
          </a:xfrm>
          <a:prstGeom prst="rect">
            <a:avLst/>
          </a:prstGeom>
          <a:noFill/>
        </p:spPr>
        <p:txBody>
          <a:bodyPr wrap="square" anchor="t" lIns="0" rIns="0" tIns="0" bIns="0">
            <a:spAutoFit/>
          </a:bodyPr>
          <a:lstStyle/>
          <a:p>
            <a:pPr algn="l">
              <a:spcAft>
                <a:spcPts val="1400"/>
              </a:spcAft>
            </a:pPr>
            <a:r>
              <a:rPr sz="1600" b="0" i="0">
                <a:solidFill>
                  <a:srgbClr val="242424"/>
                </a:solidFill>
                <a:latin typeface="Segoe UI"/>
              </a:rPr>
              <a:t>the steps needed to reach your outcome</a:t>
            </a:r>
          </a:p>
          <a:p>
            <a:pPr algn="l">
              <a:spcAft>
                <a:spcPts val="500"/>
              </a:spcAft>
            </a:pPr>
            <a:r>
              <a:rPr sz="1300" b="0" i="1">
                <a:solidFill>
                  <a:srgbClr val="616161"/>
                </a:solidFill>
                <a:latin typeface="Segoe UI"/>
              </a:rPr>
              <a:t>e.g., gather → draft → schedule</a:t>
            </a:r>
          </a:p>
        </p:txBody>
      </p:sp>
      <p:sp>
        <p:nvSpPr>
          <p:cNvPr id="8" name="Rectangle 7">
            <a:extLst>
              <a:ext uri="{C183D7F6-B498-43B3-948B-1728B52AA6E4}">
                <ns2:decorative xmlns:ns2="http://schemas.microsoft.com/office/drawing/2017/decorative" val="1"/>
              </a:ext>
            </a:extLst>
          </p:cNvPr>
          <p:cNvSpPr/>
          <p:nvPr/>
        </p:nvSpPr>
        <p:spPr>
          <a:xfrm>
            <a:off x="3337560" y="1463040"/>
            <a:ext cx="2679192" cy="2697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3337560" y="1463040"/>
            <a:ext cx="2679192"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83864" y="1645920"/>
            <a:ext cx="2386584" cy="365760"/>
          </a:xfrm>
          <a:prstGeom prst="rect">
            <a:avLst/>
          </a:prstGeom>
          <a:noFill/>
        </p:spPr>
        <p:txBody>
          <a:bodyPr wrap="square" anchor="t" lIns="0" rIns="0" tIns="0" bIns="0">
            <a:spAutoFit/>
          </a:bodyPr>
          <a:lstStyle/>
          <a:p>
            <a:pPr algn="l">
              <a:spcAft>
                <a:spcPts val="400"/>
              </a:spcAft>
            </a:pPr>
            <a:r>
              <a:rPr sz="1600" b="1" i="0">
                <a:solidFill>
                  <a:srgbClr val="8064A2"/>
                </a:solidFill>
                <a:latin typeface="Segoe UI"/>
              </a:rPr>
              <a:t>2 · PICKS</a:t>
            </a:r>
          </a:p>
        </p:txBody>
      </p:sp>
      <p:sp>
        <p:nvSpPr>
          <p:cNvPr id="11" name="TextBox 10"/>
          <p:cNvSpPr txBox="1"/>
          <p:nvPr/>
        </p:nvSpPr>
        <p:spPr>
          <a:xfrm>
            <a:off x="3483864" y="2084832"/>
            <a:ext cx="2386584" cy="1965960"/>
          </a:xfrm>
          <a:prstGeom prst="rect">
            <a:avLst/>
          </a:prstGeom>
          <a:noFill/>
        </p:spPr>
        <p:txBody>
          <a:bodyPr wrap="square" anchor="t" lIns="0" rIns="0" tIns="0" bIns="0">
            <a:spAutoFit/>
          </a:bodyPr>
          <a:lstStyle/>
          <a:p>
            <a:pPr algn="l">
              <a:spcAft>
                <a:spcPts val="1400"/>
              </a:spcAft>
            </a:pPr>
            <a:r>
              <a:rPr sz="1600" b="0" i="0">
                <a:solidFill>
                  <a:srgbClr val="242424"/>
                </a:solidFill>
                <a:latin typeface="Segoe UI"/>
              </a:rPr>
              <a:t>the right skills and apps for each step</a:t>
            </a:r>
          </a:p>
          <a:p>
            <a:pPr algn="l">
              <a:spcAft>
                <a:spcPts val="500"/>
              </a:spcAft>
            </a:pPr>
            <a:r>
              <a:rPr sz="1300" b="0" i="1">
                <a:solidFill>
                  <a:srgbClr val="616161"/>
                </a:solidFill>
                <a:latin typeface="Segoe UI"/>
              </a:rPr>
              <a:t>e.g., Email, Word, Calendar</a:t>
            </a:r>
          </a:p>
        </p:txBody>
      </p:sp>
      <p:sp>
        <p:nvSpPr>
          <p:cNvPr id="12" name="Rectangle 11">
            <a:extLst>
              <a:ext uri="{C183D7F6-B498-43B3-948B-1728B52AA6E4}">
                <ns4:decorative xmlns:ns4="http://schemas.microsoft.com/office/drawing/2017/decorative" val="1"/>
              </a:ext>
            </a:extLst>
          </p:cNvPr>
          <p:cNvSpPr/>
          <p:nvPr/>
        </p:nvSpPr>
        <p:spPr>
          <a:xfrm>
            <a:off x="6172200" y="1463040"/>
            <a:ext cx="2679192" cy="2697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6172200" y="1463040"/>
            <a:ext cx="2679192" cy="4114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18504" y="1645920"/>
            <a:ext cx="2386584" cy="365760"/>
          </a:xfrm>
          <a:prstGeom prst="rect">
            <a:avLst/>
          </a:prstGeom>
          <a:noFill/>
        </p:spPr>
        <p:txBody>
          <a:bodyPr wrap="square" anchor="t" lIns="0" rIns="0" tIns="0" bIns="0">
            <a:spAutoFit/>
          </a:bodyPr>
          <a:lstStyle/>
          <a:p>
            <a:pPr algn="l">
              <a:spcAft>
                <a:spcPts val="400"/>
              </a:spcAft>
            </a:pPr>
            <a:r>
              <a:rPr sz="1600" b="1" i="0">
                <a:solidFill>
                  <a:srgbClr val="107C10"/>
                </a:solidFill>
                <a:latin typeface="Segoe UI"/>
              </a:rPr>
              <a:t>3 · PAUSES</a:t>
            </a:r>
          </a:p>
        </p:txBody>
      </p:sp>
      <p:sp>
        <p:nvSpPr>
          <p:cNvPr id="15" name="TextBox 14"/>
          <p:cNvSpPr txBox="1"/>
          <p:nvPr/>
        </p:nvSpPr>
        <p:spPr>
          <a:xfrm>
            <a:off x="6318504" y="2084832"/>
            <a:ext cx="2386584" cy="1965960"/>
          </a:xfrm>
          <a:prstGeom prst="rect">
            <a:avLst/>
          </a:prstGeom>
          <a:noFill/>
        </p:spPr>
        <p:txBody>
          <a:bodyPr wrap="square" anchor="t" lIns="0" rIns="0" tIns="0" bIns="0">
            <a:spAutoFit/>
          </a:bodyPr>
          <a:lstStyle/>
          <a:p>
            <a:pPr algn="l">
              <a:spcAft>
                <a:spcPts val="1400"/>
              </a:spcAft>
            </a:pPr>
            <a:r>
              <a:rPr sz="1600" b="0" i="0">
                <a:solidFill>
                  <a:srgbClr val="242424"/>
                </a:solidFill>
                <a:latin typeface="Segoe UI"/>
              </a:rPr>
              <a:t>for your approval at key checkpoints</a:t>
            </a:r>
          </a:p>
          <a:p>
            <a:pPr algn="l">
              <a:spcAft>
                <a:spcPts val="500"/>
              </a:spcAft>
            </a:pPr>
            <a:r>
              <a:rPr sz="1300" b="0" i="1">
                <a:solidFill>
                  <a:srgbClr val="616161"/>
                </a:solidFill>
                <a:latin typeface="Segoe UI"/>
              </a:rPr>
              <a:t>e.g., before it sends or deletes</a:t>
            </a:r>
          </a:p>
        </p:txBody>
      </p:sp>
      <p:sp>
        <p:nvSpPr>
          <p:cNvPr id="16" name="Rectangle 15">
            <a:extLst>
              <a:ext uri="{C183D7F6-B498-43B3-948B-1728B52AA6E4}">
                <ns6:decorative xmlns:ns6="http://schemas.microsoft.com/office/drawing/2017/decorative" val="1"/>
              </a:ext>
            </a:extLst>
          </p:cNvPr>
          <p:cNvSpPr/>
          <p:nvPr/>
        </p:nvSpPr>
        <p:spPr>
          <a:xfrm>
            <a:off x="9006840" y="1463040"/>
            <a:ext cx="2679192" cy="2697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7:decorative xmlns:ns7="http://schemas.microsoft.com/office/drawing/2017/decorative" val="1"/>
              </a:ext>
            </a:extLst>
          </p:cNvPr>
          <p:cNvSpPr/>
          <p:nvPr/>
        </p:nvSpPr>
        <p:spPr>
          <a:xfrm>
            <a:off x="9006840" y="1463040"/>
            <a:ext cx="2679192" cy="4114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53144" y="1645920"/>
            <a:ext cx="2386584" cy="365760"/>
          </a:xfrm>
          <a:prstGeom prst="rect">
            <a:avLst/>
          </a:prstGeom>
          <a:noFill/>
        </p:spPr>
        <p:txBody>
          <a:bodyPr wrap="square" anchor="t" lIns="0" rIns="0" tIns="0" bIns="0">
            <a:spAutoFit/>
          </a:bodyPr>
          <a:lstStyle/>
          <a:p>
            <a:pPr algn="l">
              <a:spcAft>
                <a:spcPts val="400"/>
              </a:spcAft>
            </a:pPr>
            <a:r>
              <a:rPr sz="1600" b="1" i="0">
                <a:solidFill>
                  <a:srgbClr val="C0504D"/>
                </a:solidFill>
                <a:latin typeface="Segoe UI"/>
              </a:rPr>
              <a:t>4 · RETURNS</a:t>
            </a:r>
          </a:p>
        </p:txBody>
      </p:sp>
      <p:sp>
        <p:nvSpPr>
          <p:cNvPr id="19" name="TextBox 18"/>
          <p:cNvSpPr txBox="1"/>
          <p:nvPr/>
        </p:nvSpPr>
        <p:spPr>
          <a:xfrm>
            <a:off x="9153144" y="2084832"/>
            <a:ext cx="2386584" cy="1965960"/>
          </a:xfrm>
          <a:prstGeom prst="rect">
            <a:avLst/>
          </a:prstGeom>
          <a:noFill/>
        </p:spPr>
        <p:txBody>
          <a:bodyPr wrap="square" anchor="t" lIns="0" rIns="0" tIns="0" bIns="0">
            <a:spAutoFit/>
          </a:bodyPr>
          <a:lstStyle/>
          <a:p>
            <a:pPr algn="l">
              <a:spcAft>
                <a:spcPts val="1400"/>
              </a:spcAft>
            </a:pPr>
            <a:r>
              <a:rPr sz="1600" b="0" i="0">
                <a:solidFill>
                  <a:srgbClr val="242424"/>
                </a:solidFill>
                <a:latin typeface="Segoe UI"/>
              </a:rPr>
              <a:t>finished artifacts, ready for your review</a:t>
            </a:r>
          </a:p>
          <a:p>
            <a:pPr algn="l">
              <a:spcAft>
                <a:spcPts val="500"/>
              </a:spcAft>
            </a:pPr>
            <a:r>
              <a:rPr sz="1300" b="0" i="1">
                <a:solidFill>
                  <a:srgbClr val="616161"/>
                </a:solidFill>
                <a:latin typeface="Segoe UI"/>
              </a:rPr>
              <a:t>e.g., a deck, report, or dashboard</a:t>
            </a:r>
          </a:p>
        </p:txBody>
      </p:sp>
      <p:sp>
        <p:nvSpPr>
          <p:cNvPr id="20" name="Rounded Rectangle 19">
            <a:extLst>
              <a:ext uri="{C183D7F6-B498-43B3-948B-1728B52AA6E4}">
                <ns8:decorative xmlns:ns8="http://schemas.microsoft.com/office/drawing/2017/decorative" val="1"/>
              </a:ext>
            </a:extLst>
          </p:cNvPr>
          <p:cNvSpPr/>
          <p:nvPr/>
        </p:nvSpPr>
        <p:spPr>
          <a:xfrm>
            <a:off x="502920" y="4480560"/>
            <a:ext cx="11183112" cy="169164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7240" y="4480560"/>
            <a:ext cx="10634472" cy="1691640"/>
          </a:xfrm>
          <a:prstGeom prst="rect">
            <a:avLst/>
          </a:prstGeom>
          <a:noFill/>
        </p:spPr>
        <p:txBody>
          <a:bodyPr wrap="square" anchor="ctr" lIns="0" rIns="0" tIns="0" bIns="0">
            <a:spAutoFit/>
          </a:bodyPr>
          <a:lstStyle/>
          <a:p>
            <a:pPr algn="l">
              <a:lnSpc>
                <a:spcPct val="105000"/>
              </a:lnSpc>
              <a:spcAft>
                <a:spcPts val="400"/>
              </a:spcAft>
            </a:pPr>
            <a:r>
              <a:rPr sz="1600" b="1" i="0">
                <a:solidFill>
                  <a:srgbClr val="FFFFFF"/>
                </a:solidFill>
                <a:latin typeface="Segoe UI"/>
              </a:rPr>
              <a:t>Why HR cares — the checkpoint model:</a:t>
            </a:r>
            <a:r>
              <a:rPr sz="1600" b="0" i="0">
                <a:solidFill>
                  <a:srgbClr val="FFFFFF"/>
                </a:solidFill>
                <a:latin typeface="Segoe UI"/>
              </a:rPr>
              <a:t> nothing irreversible (like sending an email) happens without your approval. Every output is a draft to review, so HR stays accountable. You’ll approve actions one at a time all day.</a:t>
            </a:r>
          </a:p>
        </p:txBody>
      </p:sp>
    </p:spTree>
    <p:extLst>
      <p:ext uri="{BB962C8B-B14F-4D97-AF65-F5344CB8AC3E}">
        <p14:creationId xmlns:p14="http://schemas.microsoft.com/office/powerpoint/2010/main" val="418314712"/>
      </p:ext>
    </p:extLst>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Cowork UI walkthrough</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Four places in the left navigation you’ll use all day.</a:t>
            </a:r>
          </a:p>
        </p:txBody>
      </p:sp>
      <p:pic>
        <p:nvPicPr>
          <p:cNvPr id="4" name="Picture 3" descr="image.png"/>
          <p:cNvPicPr>
            <a:picLocks noChangeAspect="1"/>
          </p:cNvPicPr>
          <p:nvPr/>
        </p:nvPicPr>
        <p:blipFill>
          <a:blip r:embed="rId2"/>
          <a:stretch>
            <a:fillRect/>
          </a:stretch>
        </p:blipFill>
        <p:spPr>
          <a:xfrm>
            <a:off x="502920" y="1463040"/>
            <a:ext cx="5852160" cy="2700997"/>
          </a:xfrm>
          <a:prstGeom prst="rect">
            <a:avLst/>
          </a:prstGeom>
          <a:ln w="9525">
            <a:solidFill>
              <a:srgbClr val="D1D1D1"/>
            </a:solidFill>
          </a:ln>
        </p:spPr>
      </p:pic>
      <p:sp>
        <p:nvSpPr>
          <p:cNvPr id="5" name="TextBox 4"/>
          <p:cNvSpPr txBox="1"/>
          <p:nvPr/>
        </p:nvSpPr>
        <p:spPr>
          <a:xfrm>
            <a:off x="502920" y="4255476"/>
            <a:ext cx="5852160" cy="548640"/>
          </a:xfrm>
          <a:prstGeom prst="rect">
            <a:avLst/>
          </a:prstGeom>
          <a:noFill/>
        </p:spPr>
        <p:txBody>
          <a:bodyPr wrap="square" anchor="t" lIns="0" rIns="0" tIns="0" bIns="0">
            <a:spAutoFit/>
          </a:bodyPr>
          <a:lstStyle/>
          <a:p>
            <a:pPr algn="l">
              <a:spcAft>
                <a:spcPts val="400"/>
              </a:spcAft>
            </a:pPr>
            <a:r>
              <a:rPr sz="1100" b="1" i="0">
                <a:solidFill>
                  <a:srgbClr val="616161"/>
                </a:solidFill>
                <a:latin typeface="Segoe UI"/>
              </a:rPr>
              <a:t>New task</a:t>
            </a:r>
            <a:r>
              <a:rPr sz="1100" b="0" i="0">
                <a:solidFill>
                  <a:srgbClr val="616161"/>
                </a:solidFill>
                <a:latin typeface="Segoe UI"/>
              </a:rPr>
              <a:t> home: Start a task box, model picker (e.g., Opus 5.5), reasoning effort (e.g., High), attach (+), dictate, and “Try these next” starters.</a:t>
            </a:r>
          </a:p>
        </p:txBody>
      </p:sp>
      <p:sp>
        <p:nvSpPr>
          <p:cNvPr id="6" name="Rounded Rectangle 5">
            <a:extLst>
              <a:ext uri="{C183D7F6-B498-43B3-948B-1728B52AA6E4}">
                <ns0:decorative xmlns:ns0="http://schemas.microsoft.com/office/drawing/2017/decorative" val="1"/>
              </a:ext>
            </a:extLst>
          </p:cNvPr>
          <p:cNvSpPr/>
          <p:nvPr/>
        </p:nvSpPr>
        <p:spPr>
          <a:xfrm>
            <a:off x="502920" y="4892040"/>
            <a:ext cx="5852160" cy="1234440"/>
          </a:xfrm>
          <a:prstGeom prst="roundRect">
            <a:avLst>
              <a:gd name="adj" fmla="val 12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4892040"/>
            <a:ext cx="5303520" cy="1234440"/>
          </a:xfrm>
          <a:prstGeom prst="rect">
            <a:avLst/>
          </a:prstGeom>
          <a:noFill/>
        </p:spPr>
        <p:txBody>
          <a:bodyPr wrap="square" anchor="ctr" lIns="0" rIns="0" tIns="0" bIns="0">
            <a:spAutoFit/>
          </a:bodyPr>
          <a:lstStyle/>
          <a:p>
            <a:pPr algn="l">
              <a:lnSpc>
                <a:spcPct val="105000"/>
              </a:lnSpc>
              <a:spcAft>
                <a:spcPts val="400"/>
              </a:spcAft>
            </a:pPr>
            <a:r>
              <a:rPr sz="1300" b="0" i="0">
                <a:solidFill>
                  <a:srgbClr val="323139"/>
                </a:solidFill>
                <a:latin typeface="Segoe UI"/>
              </a:rPr>
              <a:t>While a task runs, open the </a:t>
            </a:r>
            <a:r>
              <a:rPr sz="1300" b="1" i="0">
                <a:solidFill>
                  <a:srgbClr val="323139"/>
                </a:solidFill>
                <a:latin typeface="Segoe UI"/>
              </a:rPr>
              <a:t>side panel</a:t>
            </a:r>
            <a:r>
              <a:rPr sz="1300" b="0" i="0">
                <a:solidFill>
                  <a:srgbClr val="323139"/>
                </a:solidFill>
                <a:latin typeface="Segoe UI"/>
              </a:rPr>
              <a:t>: progress, skill chips, the </a:t>
            </a:r>
            <a:r>
              <a:rPr sz="1300" b="1" i="0">
                <a:solidFill>
                  <a:srgbClr val="323139"/>
                </a:solidFill>
                <a:latin typeface="Segoe UI"/>
              </a:rPr>
              <a:t>Output folder</a:t>
            </a:r>
            <a:r>
              <a:rPr sz="1300" b="0" i="0">
                <a:solidFill>
                  <a:srgbClr val="323139"/>
                </a:solidFill>
                <a:latin typeface="Segoe UI"/>
              </a:rPr>
              <a:t> of files Cowork created, and schedules update in real time.</a:t>
            </a:r>
          </a:p>
        </p:txBody>
      </p:sp>
      <p:sp>
        <p:nvSpPr>
          <p:cNvPr id="8" name="Rectangle 7">
            <a:extLst>
              <a:ext uri="{C183D7F6-B498-43B3-948B-1728B52AA6E4}">
                <ns1:decorative xmlns:ns1="http://schemas.microsoft.com/office/drawing/2017/decorative" val="1"/>
              </a:ext>
            </a:extLst>
          </p:cNvPr>
          <p:cNvSpPr/>
          <p:nvPr/>
        </p:nvSpPr>
        <p:spPr>
          <a:xfrm>
            <a:off x="6583680" y="1463040"/>
            <a:ext cx="5102352" cy="10972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2:decorative xmlns:ns2="http://schemas.microsoft.com/office/drawing/2017/decorative" val="1"/>
              </a:ext>
            </a:extLst>
          </p:cNvPr>
          <p:cNvSpPr/>
          <p:nvPr/>
        </p:nvSpPr>
        <p:spPr>
          <a:xfrm>
            <a:off x="6583680" y="1463040"/>
            <a:ext cx="54864" cy="109728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84848" y="1572768"/>
            <a:ext cx="4754880" cy="914400"/>
          </a:xfrm>
          <a:prstGeom prst="rect">
            <a:avLst/>
          </a:prstGeom>
          <a:noFill/>
        </p:spPr>
        <p:txBody>
          <a:bodyPr wrap="square" anchor="t" lIns="0" rIns="0" tIns="0" bIns="0">
            <a:spAutoFit/>
          </a:bodyPr>
          <a:lstStyle/>
          <a:p>
            <a:pPr algn="l">
              <a:spcAft>
                <a:spcPts val="300"/>
              </a:spcAft>
            </a:pPr>
            <a:r>
              <a:rPr sz="1400" b="1" i="0">
                <a:solidFill>
                  <a:srgbClr val="0F6CBD"/>
                </a:solidFill>
                <a:latin typeface="Segoe UI"/>
              </a:rPr>
              <a:t>NEW TASK</a:t>
            </a:r>
          </a:p>
          <a:p>
            <a:pPr algn="l">
              <a:spcAft>
                <a:spcPts val="400"/>
              </a:spcAft>
            </a:pPr>
            <a:r>
              <a:rPr sz="1250" b="0" i="0">
                <a:solidFill>
                  <a:srgbClr val="242424"/>
                </a:solidFill>
                <a:latin typeface="Segoe UI"/>
              </a:rPr>
              <a:t>Start a task, pick a model and reasoning effort, attach files, or try a starter.</a:t>
            </a:r>
          </a:p>
        </p:txBody>
      </p:sp>
      <p:sp>
        <p:nvSpPr>
          <p:cNvPr id="11" name="Rectangle 10">
            <a:extLst>
              <a:ext uri="{C183D7F6-B498-43B3-948B-1728B52AA6E4}">
                <ns3:decorative xmlns:ns3="http://schemas.microsoft.com/office/drawing/2017/decorative" val="1"/>
              </a:ext>
            </a:extLst>
          </p:cNvPr>
          <p:cNvSpPr/>
          <p:nvPr/>
        </p:nvSpPr>
        <p:spPr>
          <a:xfrm>
            <a:off x="6583680" y="2651760"/>
            <a:ext cx="5102352" cy="10972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a:extLst>
              <a:ext uri="{C183D7F6-B498-43B3-948B-1728B52AA6E4}">
                <ns4:decorative xmlns:ns4="http://schemas.microsoft.com/office/drawing/2017/decorative" val="1"/>
              </a:ext>
            </a:extLst>
          </p:cNvPr>
          <p:cNvSpPr/>
          <p:nvPr/>
        </p:nvSpPr>
        <p:spPr>
          <a:xfrm>
            <a:off x="6583680" y="2651760"/>
            <a:ext cx="54864" cy="10972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784848" y="2761488"/>
            <a:ext cx="4754880" cy="914400"/>
          </a:xfrm>
          <a:prstGeom prst="rect">
            <a:avLst/>
          </a:prstGeom>
          <a:noFill/>
        </p:spPr>
        <p:txBody>
          <a:bodyPr wrap="square" anchor="t" lIns="0" rIns="0" tIns="0" bIns="0">
            <a:spAutoFit/>
          </a:bodyPr>
          <a:lstStyle/>
          <a:p>
            <a:pPr algn="l">
              <a:spcAft>
                <a:spcPts val="300"/>
              </a:spcAft>
            </a:pPr>
            <a:r>
              <a:rPr sz="1400" b="1" i="0">
                <a:solidFill>
                  <a:srgbClr val="8064A2"/>
                </a:solidFill>
                <a:latin typeface="Segoe UI"/>
              </a:rPr>
              <a:t>MY TASKS</a:t>
            </a:r>
          </a:p>
          <a:p>
            <a:pPr algn="l">
              <a:spcAft>
                <a:spcPts val="400"/>
              </a:spcAft>
            </a:pPr>
            <a:r>
              <a:rPr sz="1250" b="0" i="0">
                <a:solidFill>
                  <a:srgbClr val="242424"/>
                </a:solidFill>
                <a:latin typeface="Segoe UI"/>
              </a:rPr>
              <a:t>Find and resume previous tasks — past work is always a click away.</a:t>
            </a:r>
          </a:p>
        </p:txBody>
      </p:sp>
      <p:sp>
        <p:nvSpPr>
          <p:cNvPr id="14" name="Rectangle 13">
            <a:extLst>
              <a:ext uri="{C183D7F6-B498-43B3-948B-1728B52AA6E4}">
                <ns5:decorative xmlns:ns5="http://schemas.microsoft.com/office/drawing/2017/decorative" val="1"/>
              </a:ext>
            </a:extLst>
          </p:cNvPr>
          <p:cNvSpPr/>
          <p:nvPr/>
        </p:nvSpPr>
        <p:spPr>
          <a:xfrm>
            <a:off x="6583680" y="3840480"/>
            <a:ext cx="5102352" cy="10972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a:extLst>
              <a:ext uri="{C183D7F6-B498-43B3-948B-1728B52AA6E4}">
                <ns6:decorative xmlns:ns6="http://schemas.microsoft.com/office/drawing/2017/decorative" val="1"/>
              </a:ext>
            </a:extLst>
          </p:cNvPr>
          <p:cNvSpPr/>
          <p:nvPr/>
        </p:nvSpPr>
        <p:spPr>
          <a:xfrm>
            <a:off x="6583680" y="3840480"/>
            <a:ext cx="54864" cy="109728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84848" y="3950208"/>
            <a:ext cx="4754880" cy="914400"/>
          </a:xfrm>
          <a:prstGeom prst="rect">
            <a:avLst/>
          </a:prstGeom>
          <a:noFill/>
        </p:spPr>
        <p:txBody>
          <a:bodyPr wrap="square" anchor="t" lIns="0" rIns="0" tIns="0" bIns="0">
            <a:spAutoFit/>
          </a:bodyPr>
          <a:lstStyle/>
          <a:p>
            <a:pPr algn="l">
              <a:spcAft>
                <a:spcPts val="300"/>
              </a:spcAft>
            </a:pPr>
            <a:r>
              <a:rPr sz="1400" b="1" i="0">
                <a:solidFill>
                  <a:srgbClr val="107C10"/>
                </a:solidFill>
                <a:latin typeface="Segoe UI"/>
              </a:rPr>
              <a:t>AUTOMATIONS</a:t>
            </a:r>
          </a:p>
          <a:p>
            <a:pPr algn="l">
              <a:spcAft>
                <a:spcPts val="400"/>
              </a:spcAft>
            </a:pPr>
            <a:r>
              <a:rPr sz="1250" b="0" i="0">
                <a:solidFill>
                  <a:srgbClr val="242424"/>
                </a:solidFill>
                <a:latin typeface="Segoe UI"/>
              </a:rPr>
              <a:t>Run tasks on a schedule or on events. Tabs: Runs and Manage schedules.</a:t>
            </a:r>
          </a:p>
        </p:txBody>
      </p:sp>
      <p:sp>
        <p:nvSpPr>
          <p:cNvPr id="17" name="Rectangle 16">
            <a:extLst>
              <a:ext uri="{C183D7F6-B498-43B3-948B-1728B52AA6E4}">
                <ns7:decorative xmlns:ns7="http://schemas.microsoft.com/office/drawing/2017/decorative" val="1"/>
              </a:ext>
            </a:extLst>
          </p:cNvPr>
          <p:cNvSpPr/>
          <p:nvPr/>
        </p:nvSpPr>
        <p:spPr>
          <a:xfrm>
            <a:off x="6583680" y="5029200"/>
            <a:ext cx="5102352" cy="10972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a:extLst>
              <a:ext uri="{C183D7F6-B498-43B3-948B-1728B52AA6E4}">
                <ns8:decorative xmlns:ns8="http://schemas.microsoft.com/office/drawing/2017/decorative" val="1"/>
              </a:ext>
            </a:extLst>
          </p:cNvPr>
          <p:cNvSpPr/>
          <p:nvPr/>
        </p:nvSpPr>
        <p:spPr>
          <a:xfrm>
            <a:off x="6583680" y="5029200"/>
            <a:ext cx="54864" cy="109728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84848" y="5138928"/>
            <a:ext cx="4754880" cy="914400"/>
          </a:xfrm>
          <a:prstGeom prst="rect">
            <a:avLst/>
          </a:prstGeom>
          <a:noFill/>
        </p:spPr>
        <p:txBody>
          <a:bodyPr wrap="square" anchor="t" lIns="0" rIns="0" tIns="0" bIns="0">
            <a:spAutoFit/>
          </a:bodyPr>
          <a:lstStyle/>
          <a:p>
            <a:pPr algn="l">
              <a:spcAft>
                <a:spcPts val="300"/>
              </a:spcAft>
            </a:pPr>
            <a:r>
              <a:rPr sz="1400" b="1" i="0">
                <a:solidFill>
                  <a:srgbClr val="C0504D"/>
                </a:solidFill>
                <a:latin typeface="Segoe UI"/>
              </a:rPr>
              <a:t>CUSTOMIZE</a:t>
            </a:r>
          </a:p>
          <a:p>
            <a:pPr algn="l">
              <a:spcAft>
                <a:spcPts val="400"/>
              </a:spcAft>
            </a:pPr>
            <a:r>
              <a:rPr sz="1250" b="0" i="0">
                <a:solidFill>
                  <a:srgbClr val="242424"/>
                </a:solidFill>
                <a:latin typeface="Segoe UI"/>
              </a:rPr>
              <a:t>Custom instructions, your personal skills, and plugins.</a:t>
            </a:r>
          </a:p>
        </p:txBody>
      </p:sp>
    </p:spTree>
    <p:extLst>
      <p:ext uri="{BB962C8B-B14F-4D97-AF65-F5344CB8AC3E}">
        <p14:creationId xmlns:p14="http://schemas.microsoft.com/office/powerpoint/2010/main" val="418314712"/>
      </p:ext>
    </p:extLst>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Demo · Copilot and Cowork UI</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Demo</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Video</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3754755"/>
          </a:xfrm>
          <a:prstGeom prst="roundRect">
            <a:avLst>
              <a:gd name="adj" fmla="val 3000"/>
            </a:avLst>
          </a:prstGeom>
          <a:solidFill>
            <a:srgbClr val="FFF9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Demo video</a:t>
            </a:r>
          </a:p>
        </p:txBody>
      </p:sp>
      <p:sp>
        <p:nvSpPr>
          <p:cNvPr id="54" name="TextBox 53"/>
          <p:cNvSpPr txBox="1"/>
          <p:nvPr/>
        </p:nvSpPr>
        <p:spPr>
          <a:xfrm>
            <a:off x="694944" y="4257675"/>
            <a:ext cx="6126480" cy="548640"/>
          </a:xfrm>
          <a:prstGeom prst="rect">
            <a:avLst/>
          </a:prstGeom>
          <a:noFill/>
        </p:spPr>
        <p:txBody>
          <a:bodyPr wrap="square" anchor="b" lIns="0" rIns="0" tIns="0" bIns="0">
            <a:spAutoFit/>
          </a:bodyPr>
          <a:lstStyle/>
          <a:p>
            <a:pPr algn="ctr">
              <a:spcAft>
                <a:spcPts val="400"/>
              </a:spcAft>
            </a:pPr>
            <a:r>
              <a:rPr sz="1300" b="1" i="0">
                <a:solidFill>
                  <a:srgbClr val="8064A2"/>
                </a:solidFill>
                <a:latin typeface="Segoe Sans Display Semibold"/>
              </a:rPr>
              <a:t>Recorded run: the Copilot and Cowork UI walkthrough</a:t>
            </a:r>
          </a:p>
          <a:p>
            <a:pPr algn="ctr">
              <a:spcAft>
                <a:spcPts val="400"/>
              </a:spcAft>
            </a:pPr>
            <a:r>
              <a:rPr sz="1000" b="0" i="0">
                <a:solidFill>
                  <a:srgbClr val="616161"/>
                </a:solidFill>
                <a:latin typeface="Segoe UI"/>
              </a:rPr>
              <a:t>Facilitator: insert your recording here (see notes)</a:t>
            </a:r>
          </a:p>
        </p:txBody>
      </p:sp>
      <p:sp>
        <p:nvSpPr>
          <p:cNvPr id="55" name="Demo Video Placeholder" descr="Demo video: recorded run of the Copilot and Cowork UI walkthrough"/>
          <p:cNvSpPr>
            <a:spLocks noGrp="1"/>
          </p:cNvSpPr>
          <p:nvPr>
            <p:ph type="media" sz="quarter" idx="155"/>
          </p:nvPr>
        </p:nvSpPr>
        <p:spPr>
          <a:xfrm>
            <a:off x="420624" y="1188720"/>
            <a:ext cx="6675120" cy="3754755"/>
          </a:xfrm>
          <a:prstGeom prst="rect">
            <a:avLst/>
          </a:prstGeom>
        </p:spPr>
        <p:txBody>
          <a:bodyPr anchor="ctr"/>
          <a:lstStyle/>
          <a:p>
            <a:pPr algn="ctr"/>
            <a:endParaRPr lang="en-US"/>
          </a:p>
        </p:txBody>
      </p:sp>
      <p:sp>
        <p:nvSpPr>
          <p:cNvPr id="56" name="Rounded Rectangle 55">
            <a:extLst>
              <a:ext uri="{C183D7F6-B498-43B3-948B-1728B52AA6E4}">
                <ns2:decorative xmlns:ns2="http://schemas.microsoft.com/office/drawing/2017/decorative" val="1"/>
              </a:ext>
            </a:extLst>
          </p:cNvPr>
          <p:cNvSpPr/>
          <p:nvPr/>
        </p:nvSpPr>
        <p:spPr>
          <a:xfrm>
            <a:off x="420624" y="5217795"/>
            <a:ext cx="6675120" cy="1228725"/>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5217795"/>
            <a:ext cx="6144768" cy="1228725"/>
          </a:xfrm>
          <a:prstGeom prst="rect">
            <a:avLst/>
          </a:prstGeom>
          <a:noFill/>
        </p:spPr>
        <p:txBody>
          <a:bodyPr wrap="square" anchor="ctr" lIns="0" rIns="0" tIns="0" bIns="0">
            <a:spAutoFit/>
          </a:bodyPr>
          <a:lstStyle/>
          <a:p>
            <a:pPr algn="l">
              <a:lnSpc>
                <a:spcPct val="103000"/>
              </a:lnSpc>
              <a:spcAft>
                <a:spcPts val="400"/>
              </a:spcAft>
            </a:pPr>
            <a:r>
              <a:rPr sz="1300" b="1" i="0">
                <a:solidFill>
                  <a:srgbClr val="FFFFFF"/>
                </a:solidFill>
                <a:latin typeface="Segoe Sans Display Semibold"/>
              </a:rPr>
              <a:t>Watch, don't click yet. </a:t>
            </a:r>
            <a:r>
              <a:rPr sz="1300" b="0" i="0">
                <a:solidFill>
                  <a:srgbClr val="FFFFFF"/>
                </a:solidFill>
                <a:latin typeface="Segoe Sans Display"/>
              </a:rPr>
              <a:t>You'll set up your own account in a few minutes.</a:t>
            </a:r>
          </a:p>
        </p:txBody>
      </p:sp>
      <p:sp>
        <p:nvSpPr>
          <p:cNvPr id="58" name="Rounded Rectangle 57">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Watch for in the demo</a:t>
            </a:r>
          </a:p>
        </p:txBody>
      </p:sp>
      <p:sp>
        <p:nvSpPr>
          <p:cNvPr id="60" name="TextBox 59"/>
          <p:cNvSpPr txBox="1"/>
          <p:nvPr/>
        </p:nvSpPr>
        <p:spPr>
          <a:xfrm>
            <a:off x="7772400" y="1737360"/>
            <a:ext cx="3931920" cy="3108960"/>
          </a:xfrm>
          <a:prstGeom prst="rect">
            <a:avLst/>
          </a:prstGeom>
          <a:noFill/>
        </p:spPr>
        <p:txBody>
          <a:bodyPr wrap="square" anchor="t" lIns="0" rIns="0" tIns="0" bIns="0">
            <a:spAutoFit/>
          </a:bodyPr>
          <a:lstStyle/>
          <a:p>
            <a:pPr algn="l" marL="237744" indent="-237744">
              <a:lnSpc>
                <a:spcPct val="105000"/>
              </a:lnSpc>
              <a:spcAft>
                <a:spcPts val="1000"/>
              </a:spcAft>
              <a:buFont typeface="+mj-lt"/>
              <a:buAutoNum type="arabicPeriod"/>
            </a:pPr>
            <a:r>
              <a:rPr sz="1400" b="1" i="0">
                <a:solidFill>
                  <a:srgbClr val="323139"/>
                </a:solidFill>
                <a:latin typeface="Segoe UI"/>
              </a:rPr>
              <a:t>Copilot Chat</a:t>
            </a:r>
            <a:r>
              <a:rPr sz="1400" b="0" i="0">
                <a:solidFill>
                  <a:srgbClr val="323139"/>
                </a:solidFill>
                <a:latin typeface="Segoe UI"/>
              </a:rPr>
              <a:t> → Ask a quick question; get a one-shot answer</a:t>
            </a:r>
          </a:p>
          <a:p>
            <a:pPr algn="l" marL="237744" indent="-237744">
              <a:lnSpc>
                <a:spcPct val="105000"/>
              </a:lnSpc>
              <a:spcAft>
                <a:spcPts val="1000"/>
              </a:spcAft>
              <a:buFont typeface="+mj-lt"/>
              <a:buAutoNum type="arabicPeriod"/>
            </a:pPr>
            <a:r>
              <a:rPr sz="1400" b="1" i="0">
                <a:solidFill>
                  <a:srgbClr val="323139"/>
                </a:solidFill>
                <a:latin typeface="Segoe UI"/>
              </a:rPr>
              <a:t>Open Cowork</a:t>
            </a:r>
            <a:r>
              <a:rPr sz="1400" b="0" i="0">
                <a:solidFill>
                  <a:srgbClr val="323139"/>
                </a:solidFill>
                <a:latin typeface="Segoe UI"/>
              </a:rPr>
              <a:t> → From the Microsoft 365 Copilot app</a:t>
            </a:r>
          </a:p>
          <a:p>
            <a:pPr algn="l" marL="237744" indent="-237744">
              <a:lnSpc>
                <a:spcPct val="105000"/>
              </a:lnSpc>
              <a:spcAft>
                <a:spcPts val="1000"/>
              </a:spcAft>
              <a:buFont typeface="+mj-lt"/>
              <a:buAutoNum type="arabicPeriod"/>
            </a:pPr>
            <a:r>
              <a:rPr sz="1400" b="1" i="0">
                <a:solidFill>
                  <a:srgbClr val="323139"/>
                </a:solidFill>
                <a:latin typeface="Segoe UI"/>
              </a:rPr>
              <a:t>New task</a:t>
            </a:r>
            <a:r>
              <a:rPr sz="1400" b="0" i="0">
                <a:solidFill>
                  <a:srgbClr val="323139"/>
                </a:solidFill>
                <a:latin typeface="Segoe UI"/>
              </a:rPr>
              <a:t> → Start box, model picker, reasoning effort, attach</a:t>
            </a:r>
          </a:p>
          <a:p>
            <a:pPr algn="l" marL="237744" indent="-237744">
              <a:lnSpc>
                <a:spcPct val="105000"/>
              </a:lnSpc>
              <a:spcAft>
                <a:spcPts val="1000"/>
              </a:spcAft>
              <a:buFont typeface="+mj-lt"/>
              <a:buAutoNum type="arabicPeriod"/>
            </a:pPr>
            <a:r>
              <a:rPr sz="1400" b="1" i="0">
                <a:solidFill>
                  <a:srgbClr val="323139"/>
                </a:solidFill>
                <a:latin typeface="Segoe UI"/>
              </a:rPr>
              <a:t>Left nav</a:t>
            </a:r>
            <a:r>
              <a:rPr sz="1400" b="0" i="0">
                <a:solidFill>
                  <a:srgbClr val="323139"/>
                </a:solidFill>
                <a:latin typeface="Segoe UI"/>
              </a:rPr>
              <a:t> → My tasks · Automations · Customize</a:t>
            </a:r>
          </a:p>
          <a:p>
            <a:pPr algn="l" marL="237744" indent="-237744">
              <a:lnSpc>
                <a:spcPct val="105000"/>
              </a:lnSpc>
              <a:spcAft>
                <a:spcPts val="1000"/>
              </a:spcAft>
              <a:buFont typeface="+mj-lt"/>
              <a:buAutoNum type="arabicPeriod"/>
            </a:pPr>
            <a:r>
              <a:rPr sz="1400" b="1" i="0">
                <a:solidFill>
                  <a:srgbClr val="323139"/>
                </a:solidFill>
                <a:latin typeface="Segoe UI"/>
              </a:rPr>
              <a:t>Side panel</a:t>
            </a:r>
            <a:r>
              <a:rPr sz="1400" b="0" i="0">
                <a:solidFill>
                  <a:srgbClr val="323139"/>
                </a:solidFill>
                <a:latin typeface="Segoe UI"/>
              </a:rPr>
              <a:t> → Progress, skill chips, Output folder</a:t>
            </a:r>
          </a:p>
        </p:txBody>
      </p:sp>
      <p:sp>
        <p:nvSpPr>
          <p:cNvPr id="61" name="Rounded Rectangle 60">
            <a:extLst>
              <a:ext uri="{C183D7F6-B498-43B3-948B-1728B52AA6E4}">
                <ns4:decorative xmlns:ns4="http://schemas.microsoft.com/office/drawing/2017/decorative" val="1"/>
              </a:ext>
            </a:extLst>
          </p:cNvPr>
          <p:cNvSpPr/>
          <p:nvPr/>
        </p:nvSpPr>
        <p:spPr>
          <a:xfrm>
            <a:off x="7726679" y="5166359"/>
            <a:ext cx="4023360" cy="1051560"/>
          </a:xfrm>
          <a:prstGeom prst="roundRect">
            <a:avLst>
              <a:gd name="adj" fmla="val 10000"/>
            </a:avLst>
          </a:prstGeom>
          <a:solidFill>
            <a:srgbClr val="FFFC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909559" y="5166359"/>
            <a:ext cx="3657600" cy="1051560"/>
          </a:xfrm>
          <a:prstGeom prst="rect">
            <a:avLst/>
          </a:prstGeom>
          <a:noFill/>
        </p:spPr>
        <p:txBody>
          <a:bodyPr wrap="square" anchor="ctr" lIns="0" rIns="0" tIns="0" bIns="0">
            <a:spAutoFit/>
          </a:bodyPr>
          <a:lstStyle/>
          <a:p>
            <a:pPr algn="l">
              <a:lnSpc>
                <a:spcPct val="103000"/>
              </a:lnSpc>
              <a:spcAft>
                <a:spcPts val="400"/>
              </a:spcAft>
            </a:pPr>
            <a:r>
              <a:rPr sz="1200" b="1" i="0">
                <a:solidFill>
                  <a:srgbClr val="323139"/>
                </a:solidFill>
                <a:latin typeface="Segoe Sans Display"/>
              </a:rPr>
              <a:t>Next:</a:t>
            </a:r>
            <a:r>
              <a:rPr sz="1200" b="0" i="0">
                <a:solidFill>
                  <a:srgbClr val="323139"/>
                </a:solidFill>
                <a:latin typeface="Segoe Sans Display"/>
              </a:rPr>
              <a:t> setup in your own account.</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Setup — sign in and copy the data</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Do this before Exercise 1. Proctors: triage sign-in issues now.</a:t>
            </a:r>
          </a:p>
        </p:txBody>
      </p:sp>
      <p:sp>
        <p:nvSpPr>
          <p:cNvPr id="4" name="Rectangle 3">
            <a:extLst>
              <a:ext uri="{C183D7F6-B498-43B3-948B-1728B52AA6E4}">
                <ns0:decorative xmlns:ns0="http://schemas.microsoft.com/office/drawing/2017/decorative" val="1"/>
              </a:ext>
            </a:extLst>
          </p:cNvPr>
          <p:cNvSpPr/>
          <p:nvPr/>
        </p:nvSpPr>
        <p:spPr>
          <a:xfrm>
            <a:off x="502920" y="1463040"/>
            <a:ext cx="3611880" cy="30175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3611880"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3319272"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1 · SIGN IN</a:t>
            </a:r>
          </a:p>
        </p:txBody>
      </p:sp>
      <p:sp>
        <p:nvSpPr>
          <p:cNvPr id="7" name="TextBox 6"/>
          <p:cNvSpPr txBox="1"/>
          <p:nvPr/>
        </p:nvSpPr>
        <p:spPr>
          <a:xfrm>
            <a:off x="649224" y="2084832"/>
            <a:ext cx="3319272" cy="2286000"/>
          </a:xfrm>
          <a:prstGeom prst="rect">
            <a:avLst/>
          </a:prstGeom>
          <a:noFill/>
        </p:spPr>
        <p:txBody>
          <a:bodyPr wrap="square" anchor="t" lIns="0" rIns="0" tIns="0" bIns="0">
            <a:spAutoFit/>
          </a:bodyPr>
          <a:lstStyle/>
          <a:p>
            <a:pPr algn="l" marL="182880" indent="-182880">
              <a:spcAft>
                <a:spcPts val="500"/>
              </a:spcAft>
              <a:buFont typeface="Arial"/>
              <a:buChar char="•"/>
            </a:pPr>
            <a:r>
              <a:rPr sz="1400" b="0" i="0">
                <a:solidFill>
                  <a:srgbClr val="242424"/>
                </a:solidFill>
                <a:latin typeface="Segoe UI"/>
              </a:rPr>
              <a:t>Sign in with </a:t>
            </a:r>
            <a:r>
              <a:rPr sz="1400" b="1" i="0">
                <a:solidFill>
                  <a:srgbClr val="242424"/>
                </a:solidFill>
                <a:latin typeface="Segoe UI"/>
              </a:rPr>
              <a:t>your own work account</a:t>
            </a:r>
          </a:p>
          <a:p>
            <a:pPr algn="l" marL="182880" indent="-182880">
              <a:spcAft>
                <a:spcPts val="500"/>
              </a:spcAft>
              <a:buFont typeface="Arial"/>
              <a:buChar char="•"/>
            </a:pPr>
            <a:r>
              <a:rPr sz="1400" b="0" i="0">
                <a:solidFill>
                  <a:srgbClr val="242424"/>
                </a:solidFill>
                <a:latin typeface="Segoe UI"/>
              </a:rPr>
              <a:t>Open copilot.cloud.microsoft in Microsoft Edge</a:t>
            </a:r>
          </a:p>
          <a:p>
            <a:pPr algn="l" marL="182880" indent="-182880">
              <a:spcAft>
                <a:spcPts val="500"/>
              </a:spcAft>
              <a:buFont typeface="Arial"/>
              <a:buChar char="•"/>
            </a:pPr>
            <a:r>
              <a:rPr sz="1400" b="0" i="0">
                <a:solidFill>
                  <a:srgbClr val="242424"/>
                </a:solidFill>
                <a:latin typeface="Segoe UI"/>
              </a:rPr>
              <a:t>Select </a:t>
            </a:r>
            <a:r>
              <a:rPr sz="1400" b="1" i="0">
                <a:solidFill>
                  <a:srgbClr val="242424"/>
                </a:solidFill>
                <a:latin typeface="Segoe UI"/>
              </a:rPr>
              <a:t>Cowork</a:t>
            </a:r>
            <a:r>
              <a:rPr sz="1400" b="0" i="0">
                <a:solidFill>
                  <a:srgbClr val="242424"/>
                </a:solidFill>
                <a:latin typeface="Segoe UI"/>
              </a:rPr>
              <a:t> next to Chat</a:t>
            </a:r>
          </a:p>
          <a:p>
            <a:pPr algn="l" marL="182880" indent="-182880">
              <a:spcAft>
                <a:spcPts val="500"/>
              </a:spcAft>
              <a:buFont typeface="Arial"/>
              <a:buChar char="•"/>
            </a:pPr>
            <a:r>
              <a:rPr sz="1400" b="0" i="0">
                <a:solidFill>
                  <a:srgbClr val="242424"/>
                </a:solidFill>
                <a:latin typeface="Segoe UI"/>
              </a:rPr>
              <a:t>Smoke test: “Give me a one-sentence hello.”</a:t>
            </a:r>
          </a:p>
          <a:p>
            <a:pPr algn="l" marL="182880" indent="-182880">
              <a:spcAft>
                <a:spcPts val="500"/>
              </a:spcAft>
              <a:buFont typeface="Arial"/>
              <a:buChar char="•"/>
            </a:pPr>
            <a:r>
              <a:rPr sz="1400" b="0" i="0">
                <a:solidFill>
                  <a:srgbClr val="242424"/>
                </a:solidFill>
                <a:latin typeface="Segoe UI"/>
              </a:rPr>
              <a:t>Edge profile = </a:t>
            </a:r>
            <a:r>
              <a:rPr sz="1400" b="1" i="0">
                <a:solidFill>
                  <a:srgbClr val="242424"/>
                </a:solidFill>
                <a:latin typeface="Segoe UI"/>
              </a:rPr>
              <a:t>your work account</a:t>
            </a:r>
            <a:r>
              <a:rPr sz="1400" b="0" i="0">
                <a:solidFill>
                  <a:srgbClr val="242424"/>
                </a:solidFill>
                <a:latin typeface="Segoe UI"/>
              </a:rPr>
              <a:t> (for Ex 2)</a:t>
            </a:r>
          </a:p>
        </p:txBody>
      </p:sp>
      <p:sp>
        <p:nvSpPr>
          <p:cNvPr id="8" name="Rectangle 7">
            <a:extLst>
              <a:ext uri="{C183D7F6-B498-43B3-948B-1728B52AA6E4}">
                <ns2:decorative xmlns:ns2="http://schemas.microsoft.com/office/drawing/2017/decorative" val="1"/>
              </a:ext>
            </a:extLst>
          </p:cNvPr>
          <p:cNvSpPr/>
          <p:nvPr/>
        </p:nvSpPr>
        <p:spPr>
          <a:xfrm>
            <a:off x="4288536" y="1463040"/>
            <a:ext cx="3611880" cy="30175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4288536" y="1463040"/>
            <a:ext cx="3611880"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34840" y="1645920"/>
            <a:ext cx="3319272"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UI"/>
              </a:rPr>
              <a:t>2 · COPY THE DATA</a:t>
            </a:r>
          </a:p>
        </p:txBody>
      </p:sp>
      <p:sp>
        <p:nvSpPr>
          <p:cNvPr id="11" name="TextBox 10"/>
          <p:cNvSpPr txBox="1"/>
          <p:nvPr/>
        </p:nvSpPr>
        <p:spPr>
          <a:xfrm>
            <a:off x="4434840" y="2084832"/>
            <a:ext cx="3319272" cy="2286000"/>
          </a:xfrm>
          <a:prstGeom prst="rect">
            <a:avLst/>
          </a:prstGeom>
          <a:noFill/>
        </p:spPr>
        <p:txBody>
          <a:bodyPr wrap="square" anchor="t" lIns="0" rIns="0" tIns="0" bIns="0">
            <a:spAutoFit/>
          </a:bodyPr>
          <a:lstStyle/>
          <a:p>
            <a:pPr algn="l" marL="182880" indent="-182880">
              <a:spcAft>
                <a:spcPts val="500"/>
              </a:spcAft>
              <a:buFont typeface="Arial"/>
              <a:buChar char="•"/>
            </a:pPr>
            <a:r>
              <a:rPr sz="1400" b="0" i="0">
                <a:solidFill>
                  <a:srgbClr val="242424"/>
                </a:solidFill>
                <a:latin typeface="Segoe UI"/>
              </a:rPr>
              <a:t>Download and extract </a:t>
            </a:r>
            <a:r>
              <a:rPr sz="1400" b="1" i="0">
                <a:solidFill>
                  <a:srgbClr val="242424"/>
                </a:solidFill>
                <a:latin typeface="Segoe UI"/>
              </a:rPr>
              <a:t>zava-sample-knowledge.zip</a:t>
            </a:r>
          </a:p>
          <a:p>
            <a:pPr algn="l" marL="182880" indent="-182880">
              <a:spcAft>
                <a:spcPts val="500"/>
              </a:spcAft>
              <a:buFont typeface="Arial"/>
              <a:buChar char="•"/>
            </a:pPr>
            <a:r>
              <a:rPr sz="1400" b="0" i="0">
                <a:solidFill>
                  <a:srgbClr val="242424"/>
                </a:solidFill>
                <a:latin typeface="Segoe UI"/>
              </a:rPr>
              <a:t>In </a:t>
            </a:r>
            <a:r>
              <a:rPr sz="1400" b="1" i="0">
                <a:solidFill>
                  <a:srgbClr val="242424"/>
                </a:solidFill>
                <a:latin typeface="Segoe UI"/>
              </a:rPr>
              <a:t>your</a:t>
            </a:r>
            <a:r>
              <a:rPr sz="1400" b="0" i="0">
                <a:solidFill>
                  <a:srgbClr val="242424"/>
                </a:solidFill>
                <a:latin typeface="Segoe UI"/>
              </a:rPr>
              <a:t> OneDrive → </a:t>
            </a:r>
            <a:r>
              <a:rPr sz="1400" b="1" i="0">
                <a:solidFill>
                  <a:srgbClr val="242424"/>
                </a:solidFill>
                <a:latin typeface="Segoe UI"/>
              </a:rPr>
              <a:t>Documents</a:t>
            </a:r>
            <a:r>
              <a:rPr sz="1400" b="0" i="0">
                <a:solidFill>
                  <a:srgbClr val="242424"/>
                </a:solidFill>
                <a:latin typeface="Segoe UI"/>
              </a:rPr>
              <a:t>, use </a:t>
            </a:r>
            <a:r>
              <a:rPr sz="1400" b="1" i="0">
                <a:solidFill>
                  <a:srgbClr val="242424"/>
                </a:solidFill>
                <a:latin typeface="Segoe UI"/>
              </a:rPr>
              <a:t>Folder upload</a:t>
            </a:r>
            <a:r>
              <a:rPr sz="1400" b="0" i="0">
                <a:solidFill>
                  <a:srgbClr val="242424"/>
                </a:solidFill>
                <a:latin typeface="Segoe UI"/>
              </a:rPr>
              <a:t> to add the </a:t>
            </a:r>
            <a:r>
              <a:rPr sz="1400" b="1" i="0">
                <a:solidFill>
                  <a:srgbClr val="242424"/>
                </a:solidFill>
                <a:latin typeface="Segoe UI"/>
              </a:rPr>
              <a:t>ai_hr_cowork_workshop</a:t>
            </a:r>
            <a:r>
              <a:rPr sz="1400" b="0" i="0">
                <a:solidFill>
                  <a:srgbClr val="242424"/>
                </a:solidFill>
                <a:latin typeface="Segoe UI"/>
              </a:rPr>
              <a:t> folder</a:t>
            </a:r>
          </a:p>
          <a:p>
            <a:pPr algn="l" marL="182880" indent="-182880">
              <a:spcAft>
                <a:spcPts val="500"/>
              </a:spcAft>
              <a:buFont typeface="Arial"/>
              <a:buChar char="•"/>
            </a:pPr>
            <a:r>
              <a:rPr sz="1400" b="0" i="0">
                <a:solidFill>
                  <a:srgbClr val="242424"/>
                </a:solidFill>
                <a:latin typeface="Segoe UI"/>
              </a:rPr>
              <a:t>Attach files with </a:t>
            </a:r>
            <a:r>
              <a:rPr sz="1400" b="1" i="0">
                <a:solidFill>
                  <a:srgbClr val="242424"/>
                </a:solidFill>
                <a:latin typeface="Segoe UI"/>
              </a:rPr>
              <a:t>+ → Attach cloud files</a:t>
            </a:r>
            <a:r>
              <a:rPr sz="1400" b="0" i="0">
                <a:solidFill>
                  <a:srgbClr val="242424"/>
                </a:solidFill>
                <a:latin typeface="Segoe UI"/>
              </a:rPr>
              <a:t>, or type </a:t>
            </a:r>
            <a:r>
              <a:rPr sz="1400" b="1" i="0">
                <a:solidFill>
                  <a:srgbClr val="242424"/>
                </a:solidFill>
                <a:latin typeface="Segoe UI"/>
              </a:rPr>
              <a:t>/</a:t>
            </a:r>
          </a:p>
        </p:txBody>
      </p:sp>
      <p:sp>
        <p:nvSpPr>
          <p:cNvPr id="12" name="Rectangle 11">
            <a:extLst>
              <a:ext uri="{C183D7F6-B498-43B3-948B-1728B52AA6E4}">
                <ns4:decorative xmlns:ns4="http://schemas.microsoft.com/office/drawing/2017/decorative" val="1"/>
              </a:ext>
            </a:extLst>
          </p:cNvPr>
          <p:cNvSpPr/>
          <p:nvPr/>
        </p:nvSpPr>
        <p:spPr>
          <a:xfrm>
            <a:off x="8074152" y="1463040"/>
            <a:ext cx="3611880" cy="30175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8074152" y="1463040"/>
            <a:ext cx="3611880" cy="4114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0456" y="1645920"/>
            <a:ext cx="3319272" cy="365760"/>
          </a:xfrm>
          <a:prstGeom prst="rect">
            <a:avLst/>
          </a:prstGeom>
          <a:noFill/>
        </p:spPr>
        <p:txBody>
          <a:bodyPr wrap="square" anchor="t" lIns="0" rIns="0" tIns="0" bIns="0">
            <a:spAutoFit/>
          </a:bodyPr>
          <a:lstStyle/>
          <a:p>
            <a:pPr algn="l">
              <a:spcAft>
                <a:spcPts val="400"/>
              </a:spcAft>
            </a:pPr>
            <a:r>
              <a:rPr sz="1400" b="1" i="0">
                <a:solidFill>
                  <a:srgbClr val="107C10"/>
                </a:solidFill>
                <a:latin typeface="Segoe UI"/>
              </a:rPr>
              <a:t>3 · ETIQUETTE</a:t>
            </a:r>
          </a:p>
        </p:txBody>
      </p:sp>
      <p:sp>
        <p:nvSpPr>
          <p:cNvPr id="15" name="TextBox 14"/>
          <p:cNvSpPr txBox="1"/>
          <p:nvPr/>
        </p:nvSpPr>
        <p:spPr>
          <a:xfrm>
            <a:off x="8220456" y="2084832"/>
            <a:ext cx="3319272" cy="2286000"/>
          </a:xfrm>
          <a:prstGeom prst="rect">
            <a:avLst/>
          </a:prstGeom>
          <a:noFill/>
        </p:spPr>
        <p:txBody>
          <a:bodyPr wrap="square" anchor="t" lIns="0" rIns="0" tIns="0" bIns="0">
            <a:spAutoFit/>
          </a:bodyPr>
          <a:lstStyle/>
          <a:p>
            <a:pPr algn="l" marL="182880" indent="-182880">
              <a:spcAft>
                <a:spcPts val="500"/>
              </a:spcAft>
              <a:buFont typeface="Arial"/>
              <a:buChar char="•"/>
            </a:pPr>
            <a:r>
              <a:rPr sz="1400" b="0" i="0">
                <a:solidFill>
                  <a:srgbClr val="242424"/>
                </a:solidFill>
                <a:latin typeface="Segoe UI"/>
              </a:rPr>
              <a:t>Your OneDrive, drafts, and skills are your own</a:t>
            </a:r>
          </a:p>
          <a:p>
            <a:pPr algn="l" marL="182880" indent="-182880">
              <a:spcAft>
                <a:spcPts val="500"/>
              </a:spcAft>
              <a:buFont typeface="Arial"/>
              <a:buChar char="•"/>
            </a:pPr>
            <a:r>
              <a:rPr sz="1400" b="0" i="0">
                <a:solidFill>
                  <a:srgbClr val="242424"/>
                </a:solidFill>
                <a:latin typeface="Segoe UI"/>
              </a:rPr>
              <a:t>Keep custom skills </a:t>
            </a:r>
            <a:r>
              <a:rPr sz="1400" b="1" i="0">
                <a:solidFill>
                  <a:srgbClr val="242424"/>
                </a:solidFill>
                <a:latin typeface="Segoe UI"/>
              </a:rPr>
              <a:t>“Only you”</a:t>
            </a:r>
            <a:r>
              <a:rPr sz="1400" b="0" i="0">
                <a:solidFill>
                  <a:srgbClr val="242424"/>
                </a:solidFill>
                <a:latin typeface="Segoe UI"/>
              </a:rPr>
              <a:t> or initialed</a:t>
            </a:r>
          </a:p>
          <a:p>
            <a:pPr algn="l" marL="182880" indent="-182880">
              <a:spcAft>
                <a:spcPts val="500"/>
              </a:spcAft>
              <a:buFont typeface="Arial"/>
              <a:buChar char="•"/>
            </a:pPr>
            <a:r>
              <a:rPr sz="1400" b="0" i="0">
                <a:solidFill>
                  <a:srgbClr val="242424"/>
                </a:solidFill>
                <a:latin typeface="Segoe UI"/>
              </a:rPr>
              <a:t>Ex 8 uses </a:t>
            </a:r>
            <a:r>
              <a:rPr sz="1400" b="1" i="0">
                <a:solidFill>
                  <a:srgbClr val="242424"/>
                </a:solidFill>
                <a:latin typeface="Segoe UI"/>
              </a:rPr>
              <a:t>your own</a:t>
            </a:r>
            <a:r>
              <a:rPr sz="1400" b="0" i="0">
                <a:solidFill>
                  <a:srgbClr val="242424"/>
                </a:solidFill>
                <a:latin typeface="Segoe UI"/>
              </a:rPr>
              <a:t> data: keep it private</a:t>
            </a:r>
          </a:p>
          <a:p>
            <a:pPr algn="l" marL="182880" indent="-182880">
              <a:spcAft>
                <a:spcPts val="500"/>
              </a:spcAft>
              <a:buFont typeface="Arial"/>
              <a:buChar char="•"/>
            </a:pPr>
            <a:r>
              <a:rPr sz="1400" b="0" i="0">
                <a:solidFill>
                  <a:srgbClr val="242424"/>
                </a:solidFill>
                <a:latin typeface="Segoe UI"/>
              </a:rPr>
              <a:t>Other exercises: </a:t>
            </a:r>
            <a:r>
              <a:rPr sz="1400" b="1" i="0">
                <a:solidFill>
                  <a:srgbClr val="242424"/>
                </a:solidFill>
                <a:latin typeface="Segoe UI"/>
              </a:rPr>
              <a:t>Zava files</a:t>
            </a:r>
            <a:r>
              <a:rPr sz="1400" b="0" i="0">
                <a:solidFill>
                  <a:srgbClr val="242424"/>
                </a:solidFill>
                <a:latin typeface="Segoe UI"/>
              </a:rPr>
              <a:t> only</a:t>
            </a:r>
          </a:p>
          <a:p>
            <a:pPr algn="l" marL="182880" indent="-182880">
              <a:spcAft>
                <a:spcPts val="500"/>
              </a:spcAft>
              <a:buFont typeface="Arial"/>
              <a:buChar char="•"/>
            </a:pPr>
            <a:r>
              <a:rPr sz="1400" b="0" i="0">
                <a:solidFill>
                  <a:srgbClr val="242424"/>
                </a:solidFill>
                <a:latin typeface="Segoe UI"/>
              </a:rPr>
              <a:t>Never send to real people; save drafts</a:t>
            </a:r>
          </a:p>
        </p:txBody>
      </p:sp>
      <p:sp>
        <p:nvSpPr>
          <p:cNvPr id="16" name="Rounded Rectangle 15">
            <a:extLst>
              <a:ext uri="{C183D7F6-B498-43B3-948B-1728B52AA6E4}">
                <ns6:decorative xmlns:ns6="http://schemas.microsoft.com/office/drawing/2017/decorative" val="1"/>
              </a:ext>
            </a:extLst>
          </p:cNvPr>
          <p:cNvSpPr/>
          <p:nvPr/>
        </p:nvSpPr>
        <p:spPr>
          <a:xfrm>
            <a:off x="502920" y="4754880"/>
            <a:ext cx="11183112" cy="141732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4754880"/>
            <a:ext cx="10634472" cy="1417320"/>
          </a:xfrm>
          <a:prstGeom prst="rect">
            <a:avLst/>
          </a:prstGeom>
          <a:noFill/>
        </p:spPr>
        <p:txBody>
          <a:bodyPr wrap="square" anchor="ctr" lIns="0" rIns="0" tIns="0" bIns="0">
            <a:spAutoFit/>
          </a:bodyPr>
          <a:lstStyle/>
          <a:p>
            <a:pPr algn="l">
              <a:lnSpc>
                <a:spcPct val="105000"/>
              </a:lnSpc>
              <a:spcAft>
                <a:spcPts val="400"/>
              </a:spcAft>
            </a:pPr>
            <a:r>
              <a:rPr sz="1400" b="0" i="0">
                <a:solidFill>
                  <a:srgbClr val="FFFFFF"/>
                </a:solidFill>
                <a:latin typeface="Segoe UI"/>
              </a:rPr>
              <a:t>You’re in </a:t>
            </a:r>
            <a:r>
              <a:rPr sz="1400" b="1" i="0">
                <a:solidFill>
                  <a:srgbClr val="FFFFFF"/>
                </a:solidFill>
                <a:latin typeface="Segoe UI"/>
              </a:rPr>
              <a:t>your own work account</a:t>
            </a:r>
            <a:r>
              <a:rPr sz="1400" b="0" i="0">
                <a:solidFill>
                  <a:srgbClr val="FFFFFF"/>
                </a:solidFill>
                <a:latin typeface="Segoe UI"/>
              </a:rPr>
              <a:t>, so your screens match each other. The </a:t>
            </a:r>
            <a:r>
              <a:rPr sz="1400" b="1" i="0">
                <a:solidFill>
                  <a:srgbClr val="FFFFFF"/>
                </a:solidFill>
                <a:latin typeface="Segoe UI"/>
              </a:rPr>
              <a:t>facilitator demos from a separate tenant</a:t>
            </a:r>
            <a:r>
              <a:rPr sz="1400" b="0" i="0">
                <a:solidFill>
                  <a:srgbClr val="FFFFFF"/>
                </a:solidFill>
                <a:latin typeface="Segoe UI"/>
              </a:rPr>
              <a:t>, so the instructor’s screen may look a little different.</a:t>
            </a:r>
          </a:p>
        </p:txBody>
      </p:sp>
    </p:spTree>
    <p:extLst>
      <p:ext uri="{BB962C8B-B14F-4D97-AF65-F5344CB8AC3E}">
        <p14:creationId xmlns:p14="http://schemas.microsoft.com/office/powerpoint/2010/main" val="418314712"/>
      </p:ext>
    </p:extLst>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Settings &amp; models</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Shape how Cowork works — you won’t change these every task.</a:t>
            </a:r>
          </a:p>
        </p:txBody>
      </p:sp>
      <p:sp>
        <p:nvSpPr>
          <p:cNvPr id="4" name="Rectangle 3">
            <a:extLst>
              <a:ext uri="{C183D7F6-B498-43B3-948B-1728B52AA6E4}">
                <ns0:decorative xmlns:ns0="http://schemas.microsoft.com/office/drawing/2017/decorative" val="1"/>
              </a:ext>
            </a:extLst>
          </p:cNvPr>
          <p:cNvSpPr/>
          <p:nvPr/>
        </p:nvSpPr>
        <p:spPr>
          <a:xfrm>
            <a:off x="502920" y="146304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3611880"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3319272"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MODEL PICKER</a:t>
            </a:r>
          </a:p>
        </p:txBody>
      </p:sp>
      <p:sp>
        <p:nvSpPr>
          <p:cNvPr id="7" name="TextBox 6"/>
          <p:cNvSpPr txBox="1"/>
          <p:nvPr/>
        </p:nvSpPr>
        <p:spPr>
          <a:xfrm>
            <a:off x="649224" y="208483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Pick a model or let Cowork decide (default).</a:t>
            </a:r>
          </a:p>
        </p:txBody>
      </p:sp>
      <p:sp>
        <p:nvSpPr>
          <p:cNvPr id="8" name="Rectangle 7">
            <a:extLst>
              <a:ext uri="{C183D7F6-B498-43B3-948B-1728B52AA6E4}">
                <ns2:decorative xmlns:ns2="http://schemas.microsoft.com/office/drawing/2017/decorative" val="1"/>
              </a:ext>
            </a:extLst>
          </p:cNvPr>
          <p:cNvSpPr/>
          <p:nvPr/>
        </p:nvSpPr>
        <p:spPr>
          <a:xfrm>
            <a:off x="4288536" y="146304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4288536" y="1463040"/>
            <a:ext cx="3611880"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34840" y="1645920"/>
            <a:ext cx="3319272"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UI"/>
              </a:rPr>
              <a:t>REASONING EFFORT</a:t>
            </a:r>
          </a:p>
        </p:txBody>
      </p:sp>
      <p:sp>
        <p:nvSpPr>
          <p:cNvPr id="11" name="TextBox 10"/>
          <p:cNvSpPr txBox="1"/>
          <p:nvPr/>
        </p:nvSpPr>
        <p:spPr>
          <a:xfrm>
            <a:off x="4434840" y="208483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Balance quality, speed, and cost per task.</a:t>
            </a:r>
          </a:p>
        </p:txBody>
      </p:sp>
      <p:sp>
        <p:nvSpPr>
          <p:cNvPr id="12" name="Rectangle 11">
            <a:extLst>
              <a:ext uri="{C183D7F6-B498-43B3-948B-1728B52AA6E4}">
                <ns4:decorative xmlns:ns4="http://schemas.microsoft.com/office/drawing/2017/decorative" val="1"/>
              </a:ext>
            </a:extLst>
          </p:cNvPr>
          <p:cNvSpPr/>
          <p:nvPr/>
        </p:nvSpPr>
        <p:spPr>
          <a:xfrm>
            <a:off x="8074152" y="146304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8074152" y="1463040"/>
            <a:ext cx="3611880" cy="4114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0456" y="1645920"/>
            <a:ext cx="3319272" cy="365760"/>
          </a:xfrm>
          <a:prstGeom prst="rect">
            <a:avLst/>
          </a:prstGeom>
          <a:noFill/>
        </p:spPr>
        <p:txBody>
          <a:bodyPr wrap="square" anchor="t" lIns="0" rIns="0" tIns="0" bIns="0">
            <a:spAutoFit/>
          </a:bodyPr>
          <a:lstStyle/>
          <a:p>
            <a:pPr algn="l">
              <a:spcAft>
                <a:spcPts val="400"/>
              </a:spcAft>
            </a:pPr>
            <a:r>
              <a:rPr sz="1400" b="1" i="0">
                <a:solidFill>
                  <a:srgbClr val="107C10"/>
                </a:solidFill>
                <a:latin typeface="Segoe UI"/>
              </a:rPr>
              <a:t>CUSTOM INSTRUCTIONS</a:t>
            </a:r>
          </a:p>
        </p:txBody>
      </p:sp>
      <p:sp>
        <p:nvSpPr>
          <p:cNvPr id="15" name="TextBox 14"/>
          <p:cNvSpPr txBox="1"/>
          <p:nvPr/>
        </p:nvSpPr>
        <p:spPr>
          <a:xfrm>
            <a:off x="8220456" y="208483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Preferences Cowork applies to every task.</a:t>
            </a:r>
          </a:p>
        </p:txBody>
      </p:sp>
      <p:sp>
        <p:nvSpPr>
          <p:cNvPr id="16" name="Rectangle 15">
            <a:extLst>
              <a:ext uri="{C183D7F6-B498-43B3-948B-1728B52AA6E4}">
                <ns6:decorative xmlns:ns6="http://schemas.microsoft.com/office/drawing/2017/decorative" val="1"/>
              </a:ext>
            </a:extLst>
          </p:cNvPr>
          <p:cNvSpPr/>
          <p:nvPr/>
        </p:nvSpPr>
        <p:spPr>
          <a:xfrm>
            <a:off x="502920" y="315468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7:decorative xmlns:ns7="http://schemas.microsoft.com/office/drawing/2017/decorative" val="1"/>
              </a:ext>
            </a:extLst>
          </p:cNvPr>
          <p:cNvSpPr/>
          <p:nvPr/>
        </p:nvSpPr>
        <p:spPr>
          <a:xfrm>
            <a:off x="502920" y="3154680"/>
            <a:ext cx="3611880" cy="4114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9224" y="3337560"/>
            <a:ext cx="3319272" cy="365760"/>
          </a:xfrm>
          <a:prstGeom prst="rect">
            <a:avLst/>
          </a:prstGeom>
          <a:noFill/>
        </p:spPr>
        <p:txBody>
          <a:bodyPr wrap="square" anchor="t" lIns="0" rIns="0" tIns="0" bIns="0">
            <a:spAutoFit/>
          </a:bodyPr>
          <a:lstStyle/>
          <a:p>
            <a:pPr algn="l">
              <a:spcAft>
                <a:spcPts val="400"/>
              </a:spcAft>
            </a:pPr>
            <a:r>
              <a:rPr sz="1400" b="1" i="0">
                <a:solidFill>
                  <a:srgbClr val="C0504D"/>
                </a:solidFill>
                <a:latin typeface="Segoe UI"/>
              </a:rPr>
              <a:t>PLUGINS</a:t>
            </a:r>
          </a:p>
        </p:txBody>
      </p:sp>
      <p:sp>
        <p:nvSpPr>
          <p:cNvPr id="19" name="TextBox 18"/>
          <p:cNvSpPr txBox="1"/>
          <p:nvPr/>
        </p:nvSpPr>
        <p:spPr>
          <a:xfrm>
            <a:off x="649224" y="377647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Extend Cowork from the Microsoft 365 App Store.</a:t>
            </a:r>
          </a:p>
        </p:txBody>
      </p:sp>
      <p:sp>
        <p:nvSpPr>
          <p:cNvPr id="20" name="Rectangle 19">
            <a:extLst>
              <a:ext uri="{C183D7F6-B498-43B3-948B-1728B52AA6E4}">
                <ns8:decorative xmlns:ns8="http://schemas.microsoft.com/office/drawing/2017/decorative" val="1"/>
              </a:ext>
            </a:extLst>
          </p:cNvPr>
          <p:cNvSpPr/>
          <p:nvPr/>
        </p:nvSpPr>
        <p:spPr>
          <a:xfrm>
            <a:off x="4288536" y="315468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a:extLst>
              <a:ext uri="{C183D7F6-B498-43B3-948B-1728B52AA6E4}">
                <ns9:decorative xmlns:ns9="http://schemas.microsoft.com/office/drawing/2017/decorative" val="1"/>
              </a:ext>
            </a:extLst>
          </p:cNvPr>
          <p:cNvSpPr/>
          <p:nvPr/>
        </p:nvSpPr>
        <p:spPr>
          <a:xfrm>
            <a:off x="4288536" y="3154680"/>
            <a:ext cx="3611880" cy="41148"/>
          </a:xfrm>
          <a:prstGeom prst="rect">
            <a:avLst/>
          </a:prstGeom>
          <a:solidFill>
            <a:srgbClr val="948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434840" y="3337560"/>
            <a:ext cx="3319272" cy="365760"/>
          </a:xfrm>
          <a:prstGeom prst="rect">
            <a:avLst/>
          </a:prstGeom>
          <a:noFill/>
        </p:spPr>
        <p:txBody>
          <a:bodyPr wrap="square" anchor="t" lIns="0" rIns="0" tIns="0" bIns="0">
            <a:spAutoFit/>
          </a:bodyPr>
          <a:lstStyle/>
          <a:p>
            <a:pPr algn="l">
              <a:spcAft>
                <a:spcPts val="400"/>
              </a:spcAft>
            </a:pPr>
            <a:r>
              <a:rPr sz="1400" b="1" i="0">
                <a:solidFill>
                  <a:srgbClr val="948A54"/>
                </a:solidFill>
                <a:latin typeface="Segoe UI"/>
              </a:rPr>
              <a:t>AUTOMATIONS</a:t>
            </a:r>
          </a:p>
        </p:txBody>
      </p:sp>
      <p:sp>
        <p:nvSpPr>
          <p:cNvPr id="23" name="TextBox 22"/>
          <p:cNvSpPr txBox="1"/>
          <p:nvPr/>
        </p:nvSpPr>
        <p:spPr>
          <a:xfrm>
            <a:off x="4434840" y="377647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Scheduled prompts and event-driven tasks.</a:t>
            </a:r>
          </a:p>
        </p:txBody>
      </p:sp>
      <p:sp>
        <p:nvSpPr>
          <p:cNvPr id="24" name="Rectangle 23">
            <a:extLst>
              <a:ext uri="{C183D7F6-B498-43B3-948B-1728B52AA6E4}">
                <ns10:decorative xmlns:ns10="http://schemas.microsoft.com/office/drawing/2017/decorative" val="1"/>
              </a:ext>
            </a:extLst>
          </p:cNvPr>
          <p:cNvSpPr/>
          <p:nvPr/>
        </p:nvSpPr>
        <p:spPr>
          <a:xfrm>
            <a:off x="8074152" y="3154680"/>
            <a:ext cx="3611880" cy="15544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a:extLst>
              <a:ext uri="{C183D7F6-B498-43B3-948B-1728B52AA6E4}">
                <ns11:decorative xmlns:ns11="http://schemas.microsoft.com/office/drawing/2017/decorative" val="1"/>
              </a:ext>
            </a:extLst>
          </p:cNvPr>
          <p:cNvSpPr/>
          <p:nvPr/>
        </p:nvSpPr>
        <p:spPr>
          <a:xfrm>
            <a:off x="8074152" y="3154680"/>
            <a:ext cx="3611880"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20456" y="3337560"/>
            <a:ext cx="3319272"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IMAGE GENERATION</a:t>
            </a:r>
          </a:p>
        </p:txBody>
      </p:sp>
      <p:sp>
        <p:nvSpPr>
          <p:cNvPr id="27" name="TextBox 26"/>
          <p:cNvSpPr txBox="1"/>
          <p:nvPr/>
        </p:nvSpPr>
        <p:spPr>
          <a:xfrm>
            <a:off x="8220456" y="3776472"/>
            <a:ext cx="3319272" cy="822959"/>
          </a:xfrm>
          <a:prstGeom prst="rect">
            <a:avLst/>
          </a:prstGeom>
          <a:noFill/>
        </p:spPr>
        <p:txBody>
          <a:bodyPr wrap="square" anchor="t" lIns="0" rIns="0" tIns="0" bIns="0">
            <a:spAutoFit/>
          </a:bodyPr>
          <a:lstStyle/>
          <a:p>
            <a:pPr algn="l">
              <a:spcAft>
                <a:spcPts val="500"/>
              </a:spcAft>
            </a:pPr>
            <a:r>
              <a:rPr sz="1400" b="0" i="0">
                <a:solidFill>
                  <a:srgbClr val="242424"/>
                </a:solidFill>
                <a:latin typeface="Segoe UI"/>
              </a:rPr>
              <a:t>Simple visuals for comms and slides.</a:t>
            </a:r>
          </a:p>
        </p:txBody>
      </p:sp>
      <p:sp>
        <p:nvSpPr>
          <p:cNvPr id="28" name="Rounded Rectangle 27">
            <a:extLst>
              <a:ext uri="{C183D7F6-B498-43B3-948B-1728B52AA6E4}">
                <ns12:decorative xmlns:ns12="http://schemas.microsoft.com/office/drawing/2017/decorative" val="1"/>
              </a:ext>
            </a:extLst>
          </p:cNvPr>
          <p:cNvSpPr/>
          <p:nvPr/>
        </p:nvSpPr>
        <p:spPr>
          <a:xfrm>
            <a:off x="502920" y="4983480"/>
            <a:ext cx="11183112" cy="1188720"/>
          </a:xfrm>
          <a:prstGeom prst="roundRect">
            <a:avLst>
              <a:gd name="adj" fmla="val 12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983480"/>
            <a:ext cx="10634472" cy="1188720"/>
          </a:xfrm>
          <a:prstGeom prst="rect">
            <a:avLst/>
          </a:prstGeom>
          <a:noFill/>
        </p:spPr>
        <p:txBody>
          <a:bodyPr wrap="square" anchor="ctr" lIns="0" rIns="0" tIns="0" bIns="0">
            <a:spAutoFit/>
          </a:bodyPr>
          <a:lstStyle/>
          <a:p>
            <a:pPr algn="l">
              <a:lnSpc>
                <a:spcPct val="105000"/>
              </a:lnSpc>
              <a:spcAft>
                <a:spcPts val="400"/>
              </a:spcAft>
            </a:pPr>
            <a:r>
              <a:rPr sz="1300" b="1" i="0">
                <a:solidFill>
                  <a:srgbClr val="323139"/>
                </a:solidFill>
                <a:latin typeface="Segoe UI"/>
              </a:rPr>
              <a:t>Tip:</a:t>
            </a:r>
            <a:r>
              <a:rPr sz="1300" b="0" i="0">
                <a:solidFill>
                  <a:srgbClr val="323139"/>
                </a:solidFill>
                <a:latin typeface="Segoe UI"/>
              </a:rPr>
              <a:t> for sensitive employee writing, use a higher-capability model and higher reasoning effort. For routine drafts, the defaults are fine. Cowork is usage-billed — match effort to the task.</a:t>
            </a:r>
          </a:p>
        </p:txBody>
      </p:sp>
    </p:spTree>
    <p:extLst>
      <p:ext uri="{BB962C8B-B14F-4D97-AF65-F5344CB8AC3E}">
        <p14:creationId xmlns:p14="http://schemas.microsoft.com/office/powerpoint/2010/main" val="418314712"/>
      </p:ext>
    </p:extLst>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Skills — how Cowork gets work done</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Cowork loads skills automatically and shows them as chips in the side panel.</a:t>
            </a:r>
          </a:p>
        </p:txBody>
      </p:sp>
      <p:sp>
        <p:nvSpPr>
          <p:cNvPr id="4" name="Rectangle 3">
            <a:extLst>
              <a:ext uri="{C183D7F6-B498-43B3-948B-1728B52AA6E4}">
                <ns0:decorative xmlns:ns0="http://schemas.microsoft.com/office/drawing/2017/decorative" val="1"/>
              </a:ext>
            </a:extLst>
          </p:cNvPr>
          <p:cNvSpPr/>
          <p:nvPr/>
        </p:nvSpPr>
        <p:spPr>
          <a:xfrm>
            <a:off x="502920" y="146304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5800" y="146304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Word</a:t>
            </a:r>
          </a:p>
        </p:txBody>
      </p:sp>
      <p:sp>
        <p:nvSpPr>
          <p:cNvPr id="7" name="Rectangle 6">
            <a:extLst>
              <a:ext uri="{C183D7F6-B498-43B3-948B-1728B52AA6E4}">
                <ns2:decorative xmlns:ns2="http://schemas.microsoft.com/office/drawing/2017/decorative" val="1"/>
              </a:ext>
            </a:extLst>
          </p:cNvPr>
          <p:cNvSpPr/>
          <p:nvPr/>
        </p:nvSpPr>
        <p:spPr>
          <a:xfrm>
            <a:off x="2761488" y="146304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a:extLst>
              <a:ext uri="{C183D7F6-B498-43B3-948B-1728B52AA6E4}">
                <ns3:decorative xmlns:ns3="http://schemas.microsoft.com/office/drawing/2017/decorative" val="1"/>
              </a:ext>
            </a:extLst>
          </p:cNvPr>
          <p:cNvSpPr/>
          <p:nvPr/>
        </p:nvSpPr>
        <p:spPr>
          <a:xfrm>
            <a:off x="2761488" y="146304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944368" y="146304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Excel</a:t>
            </a:r>
          </a:p>
        </p:txBody>
      </p:sp>
      <p:sp>
        <p:nvSpPr>
          <p:cNvPr id="10" name="Rectangle 9">
            <a:extLst>
              <a:ext uri="{C183D7F6-B498-43B3-948B-1728B52AA6E4}">
                <ns4:decorative xmlns:ns4="http://schemas.microsoft.com/office/drawing/2017/decorative" val="1"/>
              </a:ext>
            </a:extLst>
          </p:cNvPr>
          <p:cNvSpPr/>
          <p:nvPr/>
        </p:nvSpPr>
        <p:spPr>
          <a:xfrm>
            <a:off x="5020056" y="146304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a:extLst>
              <a:ext uri="{C183D7F6-B498-43B3-948B-1728B52AA6E4}">
                <ns5:decorative xmlns:ns5="http://schemas.microsoft.com/office/drawing/2017/decorative" val="1"/>
              </a:ext>
            </a:extLst>
          </p:cNvPr>
          <p:cNvSpPr/>
          <p:nvPr/>
        </p:nvSpPr>
        <p:spPr>
          <a:xfrm>
            <a:off x="5020056" y="146304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02936" y="146304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PowerPoint</a:t>
            </a:r>
          </a:p>
        </p:txBody>
      </p:sp>
      <p:sp>
        <p:nvSpPr>
          <p:cNvPr id="13" name="Rectangle 12">
            <a:extLst>
              <a:ext uri="{C183D7F6-B498-43B3-948B-1728B52AA6E4}">
                <ns6:decorative xmlns:ns6="http://schemas.microsoft.com/office/drawing/2017/decorative" val="1"/>
              </a:ext>
            </a:extLst>
          </p:cNvPr>
          <p:cNvSpPr/>
          <p:nvPr/>
        </p:nvSpPr>
        <p:spPr>
          <a:xfrm>
            <a:off x="7278624" y="146304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a:extLst>
              <a:ext uri="{C183D7F6-B498-43B3-948B-1728B52AA6E4}">
                <ns7:decorative xmlns:ns7="http://schemas.microsoft.com/office/drawing/2017/decorative" val="1"/>
              </a:ext>
            </a:extLst>
          </p:cNvPr>
          <p:cNvSpPr/>
          <p:nvPr/>
        </p:nvSpPr>
        <p:spPr>
          <a:xfrm>
            <a:off x="7278624" y="1463040"/>
            <a:ext cx="54864" cy="64008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461504" y="146304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PDF</a:t>
            </a:r>
          </a:p>
        </p:txBody>
      </p:sp>
      <p:sp>
        <p:nvSpPr>
          <p:cNvPr id="16" name="Rectangle 15">
            <a:extLst>
              <a:ext uri="{C183D7F6-B498-43B3-948B-1728B52AA6E4}">
                <ns8:decorative xmlns:ns8="http://schemas.microsoft.com/office/drawing/2017/decorative" val="1"/>
              </a:ext>
            </a:extLst>
          </p:cNvPr>
          <p:cNvSpPr/>
          <p:nvPr/>
        </p:nvSpPr>
        <p:spPr>
          <a:xfrm>
            <a:off x="9537192" y="146304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9:decorative xmlns:ns9="http://schemas.microsoft.com/office/drawing/2017/decorative" val="1"/>
              </a:ext>
            </a:extLst>
          </p:cNvPr>
          <p:cNvSpPr/>
          <p:nvPr/>
        </p:nvSpPr>
        <p:spPr>
          <a:xfrm>
            <a:off x="9537192" y="146304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20072" y="146304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Email</a:t>
            </a:r>
          </a:p>
        </p:txBody>
      </p:sp>
      <p:sp>
        <p:nvSpPr>
          <p:cNvPr id="19" name="Rectangle 18">
            <a:extLst>
              <a:ext uri="{C183D7F6-B498-43B3-948B-1728B52AA6E4}">
                <ns10:decorative xmlns:ns10="http://schemas.microsoft.com/office/drawing/2017/decorative" val="1"/>
              </a:ext>
            </a:extLst>
          </p:cNvPr>
          <p:cNvSpPr/>
          <p:nvPr/>
        </p:nvSpPr>
        <p:spPr>
          <a:xfrm>
            <a:off x="502920" y="224028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a:extLst>
              <a:ext uri="{C183D7F6-B498-43B3-948B-1728B52AA6E4}">
                <ns11:decorative xmlns:ns11="http://schemas.microsoft.com/office/drawing/2017/decorative" val="1"/>
              </a:ext>
            </a:extLst>
          </p:cNvPr>
          <p:cNvSpPr/>
          <p:nvPr/>
        </p:nvSpPr>
        <p:spPr>
          <a:xfrm>
            <a:off x="502920" y="224028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5800" y="224028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Scheduling</a:t>
            </a:r>
          </a:p>
        </p:txBody>
      </p:sp>
      <p:sp>
        <p:nvSpPr>
          <p:cNvPr id="22" name="Rectangle 21">
            <a:extLst>
              <a:ext uri="{C183D7F6-B498-43B3-948B-1728B52AA6E4}">
                <ns12:decorative xmlns:ns12="http://schemas.microsoft.com/office/drawing/2017/decorative" val="1"/>
              </a:ext>
            </a:extLst>
          </p:cNvPr>
          <p:cNvSpPr/>
          <p:nvPr/>
        </p:nvSpPr>
        <p:spPr>
          <a:xfrm>
            <a:off x="2761488" y="224028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a:extLst>
              <a:ext uri="{C183D7F6-B498-43B3-948B-1728B52AA6E4}">
                <ns13:decorative xmlns:ns13="http://schemas.microsoft.com/office/drawing/2017/decorative" val="1"/>
              </a:ext>
            </a:extLst>
          </p:cNvPr>
          <p:cNvSpPr/>
          <p:nvPr/>
        </p:nvSpPr>
        <p:spPr>
          <a:xfrm>
            <a:off x="2761488" y="224028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944368" y="224028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Calendar</a:t>
            </a:r>
          </a:p>
        </p:txBody>
      </p:sp>
      <p:sp>
        <p:nvSpPr>
          <p:cNvPr id="25" name="Rectangle 24">
            <a:extLst>
              <a:ext uri="{C183D7F6-B498-43B3-948B-1728B52AA6E4}">
                <ns14:decorative xmlns:ns14="http://schemas.microsoft.com/office/drawing/2017/decorative" val="1"/>
              </a:ext>
            </a:extLst>
          </p:cNvPr>
          <p:cNvSpPr/>
          <p:nvPr/>
        </p:nvSpPr>
        <p:spPr>
          <a:xfrm>
            <a:off x="5020056" y="224028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a:extLst>
              <a:ext uri="{C183D7F6-B498-43B3-948B-1728B52AA6E4}">
                <ns15:decorative xmlns:ns15="http://schemas.microsoft.com/office/drawing/2017/decorative" val="1"/>
              </a:ext>
            </a:extLst>
          </p:cNvPr>
          <p:cNvSpPr/>
          <p:nvPr/>
        </p:nvSpPr>
        <p:spPr>
          <a:xfrm>
            <a:off x="5020056" y="2240280"/>
            <a:ext cx="54864" cy="64008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202936" y="224028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Meetings</a:t>
            </a:r>
          </a:p>
        </p:txBody>
      </p:sp>
      <p:sp>
        <p:nvSpPr>
          <p:cNvPr id="28" name="Rectangle 27">
            <a:extLst>
              <a:ext uri="{C183D7F6-B498-43B3-948B-1728B52AA6E4}">
                <ns16:decorative xmlns:ns16="http://schemas.microsoft.com/office/drawing/2017/decorative" val="1"/>
              </a:ext>
            </a:extLst>
          </p:cNvPr>
          <p:cNvSpPr/>
          <p:nvPr/>
        </p:nvSpPr>
        <p:spPr>
          <a:xfrm>
            <a:off x="7278624" y="224028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a:extLst>
              <a:ext uri="{C183D7F6-B498-43B3-948B-1728B52AA6E4}">
                <ns17:decorative xmlns:ns17="http://schemas.microsoft.com/office/drawing/2017/decorative" val="1"/>
              </a:ext>
            </a:extLst>
          </p:cNvPr>
          <p:cNvSpPr/>
          <p:nvPr/>
        </p:nvSpPr>
        <p:spPr>
          <a:xfrm>
            <a:off x="7278624" y="224028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1504" y="224028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Daily Briefing</a:t>
            </a:r>
          </a:p>
        </p:txBody>
      </p:sp>
      <p:sp>
        <p:nvSpPr>
          <p:cNvPr id="31" name="Rectangle 30">
            <a:extLst>
              <a:ext uri="{C183D7F6-B498-43B3-948B-1728B52AA6E4}">
                <ns18:decorative xmlns:ns18="http://schemas.microsoft.com/office/drawing/2017/decorative" val="1"/>
              </a:ext>
            </a:extLst>
          </p:cNvPr>
          <p:cNvSpPr/>
          <p:nvPr/>
        </p:nvSpPr>
        <p:spPr>
          <a:xfrm>
            <a:off x="9537192" y="224028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a:extLst>
              <a:ext uri="{C183D7F6-B498-43B3-948B-1728B52AA6E4}">
                <ns19:decorative xmlns:ns19="http://schemas.microsoft.com/office/drawing/2017/decorative" val="1"/>
              </a:ext>
            </a:extLst>
          </p:cNvPr>
          <p:cNvSpPr/>
          <p:nvPr/>
        </p:nvSpPr>
        <p:spPr>
          <a:xfrm>
            <a:off x="9537192" y="2240280"/>
            <a:ext cx="54864" cy="64008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720072" y="224028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Enterprise Search</a:t>
            </a:r>
          </a:p>
        </p:txBody>
      </p:sp>
      <p:sp>
        <p:nvSpPr>
          <p:cNvPr id="34" name="Rectangle 33">
            <a:extLst>
              <a:ext uri="{C183D7F6-B498-43B3-948B-1728B52AA6E4}">
                <ns20:decorative xmlns:ns20="http://schemas.microsoft.com/office/drawing/2017/decorative" val="1"/>
              </a:ext>
            </a:extLst>
          </p:cNvPr>
          <p:cNvSpPr/>
          <p:nvPr/>
        </p:nvSpPr>
        <p:spPr>
          <a:xfrm>
            <a:off x="502920" y="301752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a:extLst>
              <a:ext uri="{C183D7F6-B498-43B3-948B-1728B52AA6E4}">
                <ns21:decorative xmlns:ns21="http://schemas.microsoft.com/office/drawing/2017/decorative" val="1"/>
              </a:ext>
            </a:extLst>
          </p:cNvPr>
          <p:cNvSpPr/>
          <p:nvPr/>
        </p:nvSpPr>
        <p:spPr>
          <a:xfrm>
            <a:off x="502920" y="301752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5800" y="301752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Deep Research</a:t>
            </a:r>
          </a:p>
        </p:txBody>
      </p:sp>
      <p:sp>
        <p:nvSpPr>
          <p:cNvPr id="37" name="Rectangle 36">
            <a:extLst>
              <a:ext uri="{C183D7F6-B498-43B3-948B-1728B52AA6E4}">
                <ns22:decorative xmlns:ns22="http://schemas.microsoft.com/office/drawing/2017/decorative" val="1"/>
              </a:ext>
            </a:extLst>
          </p:cNvPr>
          <p:cNvSpPr/>
          <p:nvPr/>
        </p:nvSpPr>
        <p:spPr>
          <a:xfrm>
            <a:off x="2761488" y="301752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a:extLst>
              <a:ext uri="{C183D7F6-B498-43B3-948B-1728B52AA6E4}">
                <ns23:decorative xmlns:ns23="http://schemas.microsoft.com/office/drawing/2017/decorative" val="1"/>
              </a:ext>
            </a:extLst>
          </p:cNvPr>
          <p:cNvSpPr/>
          <p:nvPr/>
        </p:nvSpPr>
        <p:spPr>
          <a:xfrm>
            <a:off x="2761488" y="3017520"/>
            <a:ext cx="54864" cy="64008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2944368" y="301752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Communications</a:t>
            </a:r>
          </a:p>
        </p:txBody>
      </p:sp>
      <p:sp>
        <p:nvSpPr>
          <p:cNvPr id="40" name="Rectangle 39">
            <a:extLst>
              <a:ext uri="{C183D7F6-B498-43B3-948B-1728B52AA6E4}">
                <ns24:decorative xmlns:ns24="http://schemas.microsoft.com/office/drawing/2017/decorative" val="1"/>
              </a:ext>
            </a:extLst>
          </p:cNvPr>
          <p:cNvSpPr/>
          <p:nvPr/>
        </p:nvSpPr>
        <p:spPr>
          <a:xfrm>
            <a:off x="5020056" y="301752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a:extLst>
              <a:ext uri="{C183D7F6-B498-43B3-948B-1728B52AA6E4}">
                <ns25:decorative xmlns:ns25="http://schemas.microsoft.com/office/drawing/2017/decorative" val="1"/>
              </a:ext>
            </a:extLst>
          </p:cNvPr>
          <p:cNvSpPr/>
          <p:nvPr/>
        </p:nvSpPr>
        <p:spPr>
          <a:xfrm>
            <a:off x="5020056" y="3017520"/>
            <a:ext cx="54864" cy="64008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202936" y="301752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Adaptive Cards</a:t>
            </a:r>
          </a:p>
        </p:txBody>
      </p:sp>
      <p:sp>
        <p:nvSpPr>
          <p:cNvPr id="43" name="Rectangle 42">
            <a:extLst>
              <a:ext uri="{C183D7F6-B498-43B3-948B-1728B52AA6E4}">
                <ns26:decorative xmlns:ns26="http://schemas.microsoft.com/office/drawing/2017/decorative" val="1"/>
              </a:ext>
            </a:extLst>
          </p:cNvPr>
          <p:cNvSpPr/>
          <p:nvPr/>
        </p:nvSpPr>
        <p:spPr>
          <a:xfrm>
            <a:off x="7278624" y="3017520"/>
            <a:ext cx="2103120" cy="640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a:extLst>
              <a:ext uri="{C183D7F6-B498-43B3-948B-1728B52AA6E4}">
                <ns27:decorative xmlns:ns27="http://schemas.microsoft.com/office/drawing/2017/decorative" val="1"/>
              </a:ext>
            </a:extLst>
          </p:cNvPr>
          <p:cNvSpPr/>
          <p:nvPr/>
        </p:nvSpPr>
        <p:spPr>
          <a:xfrm>
            <a:off x="7278624" y="3017520"/>
            <a:ext cx="54864" cy="640080"/>
          </a:xfrm>
          <a:prstGeom prst="rect">
            <a:avLst/>
          </a:prstGeom>
          <a:solidFill>
            <a:srgbClr val="8A88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461504" y="3017520"/>
            <a:ext cx="1828800" cy="640080"/>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App (Frontier)</a:t>
            </a:r>
          </a:p>
        </p:txBody>
      </p:sp>
      <p:sp>
        <p:nvSpPr>
          <p:cNvPr id="46" name="Rounded Rectangle 45">
            <a:extLst>
              <a:ext uri="{C183D7F6-B498-43B3-948B-1728B52AA6E4}">
                <ns28:decorative xmlns:ns28="http://schemas.microsoft.com/office/drawing/2017/decorative" val="1"/>
              </a:ext>
            </a:extLst>
          </p:cNvPr>
          <p:cNvSpPr/>
          <p:nvPr/>
        </p:nvSpPr>
        <p:spPr>
          <a:xfrm>
            <a:off x="502920" y="3977639"/>
            <a:ext cx="11183112" cy="1051560"/>
          </a:xfrm>
          <a:prstGeom prst="roundRect">
            <a:avLst>
              <a:gd name="adj" fmla="val 12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77240" y="3977639"/>
            <a:ext cx="10634472" cy="1051560"/>
          </a:xfrm>
          <a:prstGeom prst="rect">
            <a:avLst/>
          </a:prstGeom>
          <a:noFill/>
        </p:spPr>
        <p:txBody>
          <a:bodyPr wrap="square" anchor="ctr" lIns="0" rIns="0" tIns="0" bIns="0">
            <a:spAutoFit/>
          </a:bodyPr>
          <a:lstStyle/>
          <a:p>
            <a:pPr algn="l">
              <a:lnSpc>
                <a:spcPct val="105000"/>
              </a:lnSpc>
              <a:spcAft>
                <a:spcPts val="400"/>
              </a:spcAft>
            </a:pPr>
            <a:r>
              <a:rPr sz="1400" b="1" i="0">
                <a:solidFill>
                  <a:srgbClr val="323139"/>
                </a:solidFill>
                <a:latin typeface="Segoe UI"/>
              </a:rPr>
              <a:t>Three kinds of skills:</a:t>
            </a:r>
            <a:r>
              <a:rPr sz="1400" b="0" i="0">
                <a:solidFill>
                  <a:srgbClr val="323139"/>
                </a:solidFill>
                <a:latin typeface="Segoe UI"/>
              </a:rPr>
              <a:t> built-in (above) · </a:t>
            </a:r>
            <a:r>
              <a:rPr sz="1400" b="1" i="0">
                <a:solidFill>
                  <a:srgbClr val="323139"/>
                </a:solidFill>
                <a:latin typeface="Segoe UI"/>
              </a:rPr>
              <a:t>custom</a:t>
            </a:r>
            <a:r>
              <a:rPr sz="1400" b="0" i="0">
                <a:solidFill>
                  <a:srgbClr val="323139"/>
                </a:solidFill>
                <a:latin typeface="Segoe UI"/>
              </a:rPr>
              <a:t> (you build one in Exercise 3) · </a:t>
            </a:r>
            <a:r>
              <a:rPr sz="1400" b="1" i="0">
                <a:solidFill>
                  <a:srgbClr val="323139"/>
                </a:solidFill>
                <a:latin typeface="Segoe UI"/>
              </a:rPr>
              <a:t>plugins</a:t>
            </a:r>
            <a:r>
              <a:rPr sz="1400" b="0" i="0">
                <a:solidFill>
                  <a:srgbClr val="323139"/>
                </a:solidFill>
                <a:latin typeface="Segoe UI"/>
              </a:rPr>
              <a:t> from the Microsoft 365 App Store. Purple = used hands-on today.</a:t>
            </a:r>
          </a:p>
        </p:txBody>
      </p:sp>
      <p:sp>
        <p:nvSpPr>
          <p:cNvPr id="48" name="Rounded Rectangle 47">
            <a:extLst>
              <a:ext uri="{C183D7F6-B498-43B3-948B-1728B52AA6E4}">
                <ns29:decorative xmlns:ns29="http://schemas.microsoft.com/office/drawing/2017/decorative" val="1"/>
              </a:ext>
            </a:extLst>
          </p:cNvPr>
          <p:cNvSpPr/>
          <p:nvPr/>
        </p:nvSpPr>
        <p:spPr>
          <a:xfrm>
            <a:off x="502920" y="5212080"/>
            <a:ext cx="11183112" cy="960120"/>
          </a:xfrm>
          <a:prstGeom prst="roundRect">
            <a:avLst>
              <a:gd name="adj" fmla="val 12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77240" y="5212080"/>
            <a:ext cx="10634472" cy="960120"/>
          </a:xfrm>
          <a:prstGeom prst="rect">
            <a:avLst/>
          </a:prstGeom>
          <a:noFill/>
        </p:spPr>
        <p:txBody>
          <a:bodyPr wrap="square" anchor="ctr" lIns="0" rIns="0" tIns="0" bIns="0">
            <a:spAutoFit/>
          </a:bodyPr>
          <a:lstStyle/>
          <a:p>
            <a:pPr algn="l">
              <a:lnSpc>
                <a:spcPct val="105000"/>
              </a:lnSpc>
              <a:spcAft>
                <a:spcPts val="400"/>
              </a:spcAft>
            </a:pPr>
            <a:r>
              <a:rPr sz="1300" b="0" i="0">
                <a:solidFill>
                  <a:srgbClr val="616161"/>
                </a:solidFill>
                <a:latin typeface="Segoe UI"/>
              </a:rPr>
              <a:t>App (Frontier) requires the Frontier program — awareness only in this workshop.</a:t>
            </a:r>
          </a:p>
        </p:txBody>
      </p:sp>
    </p:spTree>
    <p:extLst>
      <p:ext uri="{BB962C8B-B14F-4D97-AF65-F5344CB8AC3E}">
        <p14:creationId xmlns:p14="http://schemas.microsoft.com/office/powerpoint/2010/main" val="418314712"/>
      </p:ext>
    </p:extLst>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Prompting best practices</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Strong prompts include four elements. No labels needed: just make sure each one is there.</a:t>
            </a:r>
          </a:p>
        </p:txBody>
      </p:sp>
      <p:pic>
        <p:nvPicPr>
          <p:cNvPr id="4" name="Picture 3" descr="Prompt key: Goal (blue) is the outcome, for whom, and why; Source (green) is the files, sites, or data to use; Expectations (orange) describe what good looks like; Constraints (purple) say what Cowork must not do."/>
          <p:cNvPicPr>
            <a:picLocks noChangeAspect="1"/>
          </p:cNvPicPr>
          <p:nvPr/>
        </p:nvPicPr>
        <p:blipFill>
          <a:blip r:embed="rId2"/>
          <a:stretch>
            <a:fillRect/>
          </a:stretch>
        </p:blipFill>
        <p:spPr>
          <a:xfrm>
            <a:off x="457200" y="1389888"/>
            <a:ext cx="11274552" cy="1073766"/>
          </a:xfrm>
          <a:prstGeom prst="rect">
            <a:avLst/>
          </a:prstGeom>
        </p:spPr>
      </p:pic>
      <p:sp>
        <p:nvSpPr>
          <p:cNvPr id="5" name="Rectangle 4">
            <a:extLst>
              <a:ext uri="{C183D7F6-B498-43B3-948B-1728B52AA6E4}">
                <ns0:decorative xmlns:ns0="http://schemas.microsoft.com/office/drawing/2017/decorative" val="1"/>
              </a:ext>
            </a:extLst>
          </p:cNvPr>
          <p:cNvSpPr/>
          <p:nvPr/>
        </p:nvSpPr>
        <p:spPr>
          <a:xfrm>
            <a:off x="502920" y="2651760"/>
            <a:ext cx="11183112" cy="8686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a:extLst>
              <a:ext uri="{C183D7F6-B498-43B3-948B-1728B52AA6E4}">
                <ns1:decorative xmlns:ns1="http://schemas.microsoft.com/office/drawing/2017/decorative" val="1"/>
              </a:ext>
            </a:extLst>
          </p:cNvPr>
          <p:cNvSpPr/>
          <p:nvPr/>
        </p:nvSpPr>
        <p:spPr>
          <a:xfrm>
            <a:off x="502920" y="2651760"/>
            <a:ext cx="64008" cy="86868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651760"/>
            <a:ext cx="1097280" cy="868680"/>
          </a:xfrm>
          <a:prstGeom prst="rect">
            <a:avLst/>
          </a:prstGeom>
          <a:noFill/>
        </p:spPr>
        <p:txBody>
          <a:bodyPr wrap="square" anchor="ctr" lIns="0" rIns="0" tIns="0" bIns="0">
            <a:spAutoFit/>
          </a:bodyPr>
          <a:lstStyle/>
          <a:p>
            <a:pPr algn="l">
              <a:spcAft>
                <a:spcPts val="400"/>
              </a:spcAft>
            </a:pPr>
            <a:r>
              <a:rPr sz="1500" b="1" i="0">
                <a:solidFill>
                  <a:srgbClr val="C0504D"/>
                </a:solidFill>
                <a:latin typeface="Segoe UI"/>
              </a:rPr>
              <a:t>WEAK</a:t>
            </a:r>
          </a:p>
        </p:txBody>
      </p:sp>
      <p:sp>
        <p:nvSpPr>
          <p:cNvPr id="8" name="TextBox 7"/>
          <p:cNvSpPr txBox="1"/>
          <p:nvPr/>
        </p:nvSpPr>
        <p:spPr>
          <a:xfrm>
            <a:off x="1874519" y="2651760"/>
            <a:ext cx="4206240" cy="868680"/>
          </a:xfrm>
          <a:prstGeom prst="rect">
            <a:avLst/>
          </a:prstGeom>
          <a:noFill/>
        </p:spPr>
        <p:txBody>
          <a:bodyPr wrap="square" anchor="ctr" lIns="0" rIns="0" tIns="0" bIns="0">
            <a:spAutoFit/>
          </a:bodyPr>
          <a:lstStyle/>
          <a:p>
            <a:pPr algn="l">
              <a:spcAft>
                <a:spcPts val="400"/>
              </a:spcAft>
            </a:pPr>
            <a:r>
              <a:rPr sz="1600" b="0" i="1">
                <a:solidFill>
                  <a:srgbClr val="242424"/>
                </a:solidFill>
                <a:latin typeface="Segoe UI"/>
              </a:rPr>
              <a:t>“Write an email about open enrollment.”</a:t>
            </a:r>
          </a:p>
        </p:txBody>
      </p:sp>
      <p:sp>
        <p:nvSpPr>
          <p:cNvPr id="9" name="TextBox 8"/>
          <p:cNvSpPr txBox="1"/>
          <p:nvPr/>
        </p:nvSpPr>
        <p:spPr>
          <a:xfrm>
            <a:off x="6263640" y="2651760"/>
            <a:ext cx="5257800" cy="868680"/>
          </a:xfrm>
          <a:prstGeom prst="rect">
            <a:avLst/>
          </a:prstGeom>
          <a:noFill/>
        </p:spPr>
        <p:txBody>
          <a:bodyPr wrap="square" anchor="ctr" lIns="0" rIns="0" tIns="0" bIns="0">
            <a:spAutoFit/>
          </a:bodyPr>
          <a:lstStyle/>
          <a:p>
            <a:pPr algn="l">
              <a:lnSpc>
                <a:spcPct val="100000"/>
              </a:lnSpc>
              <a:spcAft>
                <a:spcPts val="400"/>
              </a:spcAft>
            </a:pPr>
            <a:r>
              <a:rPr sz="1300" b="0" i="0">
                <a:solidFill>
                  <a:srgbClr val="616161"/>
                </a:solidFill>
                <a:latin typeface="Segoe UI"/>
              </a:rPr>
              <a:t>Cowork has to </a:t>
            </a:r>
            <a:r>
              <a:rPr sz="1300" b="1" i="0">
                <a:solidFill>
                  <a:srgbClr val="616161"/>
                </a:solidFill>
                <a:latin typeface="Segoe UI"/>
              </a:rPr>
              <a:t>guess</a:t>
            </a:r>
            <a:r>
              <a:rPr sz="1300" b="0" i="0">
                <a:solidFill>
                  <a:srgbClr val="616161"/>
                </a:solidFill>
                <a:latin typeface="Segoe UI"/>
              </a:rPr>
              <a:t>: who it’s for, which dates apply, how long it should be, and whether to send it.</a:t>
            </a:r>
          </a:p>
        </p:txBody>
      </p:sp>
      <p:sp>
        <p:nvSpPr>
          <p:cNvPr id="10" name="Rectangle 9">
            <a:extLst>
              <a:ext uri="{C183D7F6-B498-43B3-948B-1728B52AA6E4}">
                <ns2:decorative xmlns:ns2="http://schemas.microsoft.com/office/drawing/2017/decorative" val="1"/>
              </a:ext>
            </a:extLst>
          </p:cNvPr>
          <p:cNvSpPr/>
          <p:nvPr/>
        </p:nvSpPr>
        <p:spPr>
          <a:xfrm>
            <a:off x="502920" y="3657600"/>
            <a:ext cx="11183112" cy="2560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a:extLst>
              <a:ext uri="{C183D7F6-B498-43B3-948B-1728B52AA6E4}">
                <ns3:decorative xmlns:ns3="http://schemas.microsoft.com/office/drawing/2017/decorative" val="1"/>
              </a:ext>
            </a:extLst>
          </p:cNvPr>
          <p:cNvSpPr/>
          <p:nvPr/>
        </p:nvSpPr>
        <p:spPr>
          <a:xfrm>
            <a:off x="502920" y="3657600"/>
            <a:ext cx="64008" cy="256032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3822191"/>
            <a:ext cx="1097280" cy="365760"/>
          </a:xfrm>
          <a:prstGeom prst="rect">
            <a:avLst/>
          </a:prstGeom>
          <a:noFill/>
        </p:spPr>
        <p:txBody>
          <a:bodyPr wrap="square" anchor="t" lIns="0" rIns="0" tIns="0" bIns="0">
            <a:spAutoFit/>
          </a:bodyPr>
          <a:lstStyle/>
          <a:p>
            <a:pPr algn="l">
              <a:spcAft>
                <a:spcPts val="400"/>
              </a:spcAft>
            </a:pPr>
            <a:r>
              <a:rPr sz="1500" b="1" i="0">
                <a:solidFill>
                  <a:srgbClr val="107C10"/>
                </a:solidFill>
                <a:latin typeface="Segoe UI"/>
              </a:rPr>
              <a:t>STRONG</a:t>
            </a:r>
          </a:p>
        </p:txBody>
      </p:sp>
      <p:sp>
        <p:nvSpPr>
          <p:cNvPr id="13" name="TextBox 12"/>
          <p:cNvSpPr txBox="1"/>
          <p:nvPr/>
        </p:nvSpPr>
        <p:spPr>
          <a:xfrm>
            <a:off x="1874519" y="3822191"/>
            <a:ext cx="9601200" cy="2286000"/>
          </a:xfrm>
          <a:prstGeom prst="rect">
            <a:avLst/>
          </a:prstGeom>
          <a:noFill/>
        </p:spPr>
        <p:txBody>
          <a:bodyPr wrap="square" anchor="t" lIns="0" rIns="0" tIns="0" bIns="0">
            <a:spAutoFit/>
          </a:bodyPr>
          <a:lstStyle/>
          <a:p>
            <a:pPr algn="l">
              <a:lnSpc>
                <a:spcPct val="112000"/>
              </a:lnSpc>
              <a:spcAft>
                <a:spcPts val="400"/>
              </a:spcAft>
            </a:pPr>
            <a:r>
              <a:rPr sz="950" b="1" i="0">
                <a:solidFill>
                  <a:srgbClr val="1F4E99"/>
                </a:solidFill>
                <a:highlight>
                  <a:srgbClr val="DCEBFF"/>
                </a:highlight>
                <a:latin typeface="Segoe UI"/>
              </a:rPr>
              <a:t>GOAL </a:t>
            </a:r>
            <a:r>
              <a:rPr sz="1500" b="0" i="0">
                <a:solidFill>
                  <a:srgbClr val="242424"/>
                </a:solidFill>
                <a:highlight>
                  <a:srgbClr val="DCEBFF"/>
                </a:highlight>
                <a:latin typeface="Segoe UI"/>
              </a:rPr>
              <a:t>Draft a reminder email to all Zava employees so that anyone who wants to change their benefits does it during November open enrollment.</a:t>
            </a:r>
            <a:r>
              <a:rPr sz="1500" b="0" i="0">
                <a:solidFill>
                  <a:srgbClr val="242424"/>
                </a:solidFill>
                <a:latin typeface="Segoe UI"/>
              </a:rPr>
              <a:t> </a:t>
            </a:r>
            <a:r>
              <a:rPr sz="950" b="1" i="0">
                <a:solidFill>
                  <a:srgbClr val="1E6B32"/>
                </a:solidFill>
                <a:highlight>
                  <a:srgbClr val="DFF5E1"/>
                </a:highlight>
                <a:latin typeface="Segoe UI"/>
              </a:rPr>
              <a:t>SOURCE </a:t>
            </a:r>
            <a:r>
              <a:rPr sz="1500" b="0" i="0">
                <a:solidFill>
                  <a:srgbClr val="242424"/>
                </a:solidFill>
                <a:highlight>
                  <a:srgbClr val="DFF5E1"/>
                </a:highlight>
                <a:latin typeface="Segoe UI"/>
              </a:rPr>
              <a:t>Use the Enrollment Windows section of benefits-summary.docx and the Who to Contact section of employee-handbook-excerpt.docx.</a:t>
            </a:r>
            <a:r>
              <a:rPr sz="1500" b="0" i="0">
                <a:solidFill>
                  <a:srgbClr val="242424"/>
                </a:solidFill>
                <a:latin typeface="Segoe UI"/>
              </a:rPr>
              <a:t> </a:t>
            </a:r>
            <a:r>
              <a:rPr sz="950" b="1" i="0">
                <a:solidFill>
                  <a:srgbClr val="8A4B00"/>
                </a:solidFill>
                <a:highlight>
                  <a:srgbClr val="FFE9CC"/>
                </a:highlight>
                <a:latin typeface="Segoe UI"/>
              </a:rPr>
              <a:t>EXPECTATIONS </a:t>
            </a:r>
            <a:r>
              <a:rPr sz="1500" b="0" i="0">
                <a:solidFill>
                  <a:srgbClr val="242424"/>
                </a:solidFill>
                <a:highlight>
                  <a:srgbClr val="FFE9CC"/>
                </a:highlight>
                <a:latin typeface="Segoe UI"/>
              </a:rPr>
              <a:t>Keep it under 150 words, with a subject line of eight words or fewer, three short bullets on what to do, and who to contact for help. Use a warm, plain-language tone.</a:t>
            </a:r>
            <a:r>
              <a:rPr sz="1500" b="0" i="0">
                <a:solidFill>
                  <a:srgbClr val="242424"/>
                </a:solidFill>
                <a:latin typeface="Segoe UI"/>
              </a:rPr>
              <a:t> </a:t>
            </a:r>
            <a:r>
              <a:rPr sz="950" b="1" i="0">
                <a:solidFill>
                  <a:srgbClr val="5B2C91"/>
                </a:solidFill>
                <a:highlight>
                  <a:srgbClr val="EDE3FA"/>
                </a:highlight>
                <a:latin typeface="Segoe UI"/>
              </a:rPr>
              <a:t>CONSTRAINTS </a:t>
            </a:r>
            <a:r>
              <a:rPr sz="1500" b="0" i="0">
                <a:solidFill>
                  <a:srgbClr val="242424"/>
                </a:solidFill>
                <a:highlight>
                  <a:srgbClr val="EDE3FA"/>
                </a:highlight>
                <a:latin typeface="Segoe UI"/>
              </a:rPr>
              <a:t>Don’t invent dates, deadlines, or plan details that aren’t in the files. Save it as a draft for me to review; don’t send it.</a:t>
            </a:r>
          </a:p>
        </p:txBody>
      </p:sp>
      <p:sp>
        <p:nvSpPr>
          <p:cNvPr id="14" name="TextBox 13"/>
          <p:cNvSpPr txBox="1"/>
          <p:nvPr/>
        </p:nvSpPr>
        <p:spPr>
          <a:xfrm>
            <a:off x="1874519" y="5687568"/>
            <a:ext cx="9601200" cy="365760"/>
          </a:xfrm>
          <a:prstGeom prst="rect">
            <a:avLst/>
          </a:prstGeom>
          <a:noFill/>
        </p:spPr>
        <p:txBody>
          <a:bodyPr wrap="square" anchor="t" lIns="0" rIns="0" tIns="0" bIns="0">
            <a:spAutoFit/>
          </a:bodyPr>
          <a:lstStyle/>
          <a:p>
            <a:pPr algn="l">
              <a:spcAft>
                <a:spcPts val="400"/>
              </a:spcAft>
            </a:pPr>
            <a:r>
              <a:rPr sz="1300" b="1" i="0">
                <a:solidFill>
                  <a:srgbClr val="616161"/>
                </a:solidFill>
                <a:latin typeface="Segoe UI"/>
              </a:rPr>
              <a:t>Same topic.</a:t>
            </a:r>
            <a:r>
              <a:rPr sz="1300" b="0" i="0">
                <a:solidFill>
                  <a:srgbClr val="616161"/>
                </a:solidFill>
                <a:latin typeface="Segoe UI"/>
              </a:rPr>
              <a:t> Now Cowork knows what to do, where to look, what good looks like, and what not to do.</a:t>
            </a:r>
          </a:p>
        </p:txBody>
      </p:sp>
    </p:spTree>
    <p:extLst>
      <p:ext uri="{BB962C8B-B14F-4D97-AF65-F5344CB8AC3E}">
        <p14:creationId xmlns:p14="http://schemas.microsoft.com/office/powerpoint/2010/main" val="418314712"/>
      </p:ext>
    </p:extLst>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Demo · Prompting best practices</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Demo</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Video</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3754755"/>
          </a:xfrm>
          <a:prstGeom prst="roundRect">
            <a:avLst>
              <a:gd name="adj" fmla="val 3000"/>
            </a:avLst>
          </a:prstGeom>
          <a:solidFill>
            <a:srgbClr val="FFF9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Demo video</a:t>
            </a:r>
          </a:p>
        </p:txBody>
      </p:sp>
      <p:sp>
        <p:nvSpPr>
          <p:cNvPr id="54" name="TextBox 53"/>
          <p:cNvSpPr txBox="1"/>
          <p:nvPr/>
        </p:nvSpPr>
        <p:spPr>
          <a:xfrm>
            <a:off x="694944" y="4257675"/>
            <a:ext cx="6126480" cy="548640"/>
          </a:xfrm>
          <a:prstGeom prst="rect">
            <a:avLst/>
          </a:prstGeom>
          <a:noFill/>
        </p:spPr>
        <p:txBody>
          <a:bodyPr wrap="square" anchor="b" lIns="0" rIns="0" tIns="0" bIns="0">
            <a:spAutoFit/>
          </a:bodyPr>
          <a:lstStyle/>
          <a:p>
            <a:pPr algn="ctr">
              <a:spcAft>
                <a:spcPts val="400"/>
              </a:spcAft>
            </a:pPr>
            <a:r>
              <a:rPr sz="1300" b="1" i="0">
                <a:solidFill>
                  <a:srgbClr val="8064A2"/>
                </a:solidFill>
                <a:latin typeface="Segoe Sans Display Semibold"/>
              </a:rPr>
              <a:t>Recorded run: the weak and strong open-enrollment prompts</a:t>
            </a:r>
          </a:p>
          <a:p>
            <a:pPr algn="ctr">
              <a:spcAft>
                <a:spcPts val="400"/>
              </a:spcAft>
            </a:pPr>
            <a:r>
              <a:rPr sz="1000" b="0" i="0">
                <a:solidFill>
                  <a:srgbClr val="616161"/>
                </a:solidFill>
                <a:latin typeface="Segoe UI"/>
              </a:rPr>
              <a:t>Facilitator: insert your recording here (see notes)</a:t>
            </a:r>
          </a:p>
        </p:txBody>
      </p:sp>
      <p:sp>
        <p:nvSpPr>
          <p:cNvPr id="55" name="Demo Video Placeholder" descr="Demo video: recorded run of the weak and strong open-enrollment prompts"/>
          <p:cNvSpPr>
            <a:spLocks noGrp="1"/>
          </p:cNvSpPr>
          <p:nvPr>
            <p:ph type="media" sz="quarter" idx="155"/>
          </p:nvPr>
        </p:nvSpPr>
        <p:spPr>
          <a:xfrm>
            <a:off x="420624" y="1188720"/>
            <a:ext cx="6675120" cy="3754755"/>
          </a:xfrm>
          <a:prstGeom prst="rect">
            <a:avLst/>
          </a:prstGeom>
        </p:spPr>
        <p:txBody>
          <a:bodyPr anchor="ctr"/>
          <a:lstStyle/>
          <a:p>
            <a:pPr algn="ctr"/>
            <a:endParaRPr lang="en-US"/>
          </a:p>
        </p:txBody>
      </p:sp>
      <p:sp>
        <p:nvSpPr>
          <p:cNvPr id="56" name="Rounded Rectangle 55">
            <a:extLst>
              <a:ext uri="{C183D7F6-B498-43B3-948B-1728B52AA6E4}">
                <ns2:decorative xmlns:ns2="http://schemas.microsoft.com/office/drawing/2017/decorative" val="1"/>
              </a:ext>
            </a:extLst>
          </p:cNvPr>
          <p:cNvSpPr/>
          <p:nvPr/>
        </p:nvSpPr>
        <p:spPr>
          <a:xfrm>
            <a:off x="420624" y="5217795"/>
            <a:ext cx="6675120" cy="1228725"/>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5217795"/>
            <a:ext cx="6144768" cy="1228725"/>
          </a:xfrm>
          <a:prstGeom prst="rect">
            <a:avLst/>
          </a:prstGeom>
          <a:noFill/>
        </p:spPr>
        <p:txBody>
          <a:bodyPr wrap="square" anchor="ctr" lIns="0" rIns="0" tIns="0" bIns="0">
            <a:spAutoFit/>
          </a:bodyPr>
          <a:lstStyle/>
          <a:p>
            <a:pPr algn="l">
              <a:lnSpc>
                <a:spcPct val="103000"/>
              </a:lnSpc>
              <a:spcAft>
                <a:spcPts val="400"/>
              </a:spcAft>
            </a:pPr>
            <a:r>
              <a:rPr sz="1300" b="1" i="0">
                <a:solidFill>
                  <a:srgbClr val="FFFFFF"/>
                </a:solidFill>
                <a:latin typeface="Segoe Sans Display Semibold"/>
              </a:rPr>
              <a:t>Same topic, two prompts. </a:t>
            </a:r>
            <a:r>
              <a:rPr sz="1300" b="0" i="0">
                <a:solidFill>
                  <a:srgbClr val="FFFFFF"/>
                </a:solidFill>
                <a:latin typeface="Segoe Sans Display"/>
              </a:rPr>
              <a:t>Watch what Cowork does with each, then spot the four elements.</a:t>
            </a:r>
          </a:p>
        </p:txBody>
      </p:sp>
      <p:sp>
        <p:nvSpPr>
          <p:cNvPr id="58" name="Rounded Rectangle 57">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Watch for in the demo</a:t>
            </a:r>
          </a:p>
        </p:txBody>
      </p:sp>
      <p:sp>
        <p:nvSpPr>
          <p:cNvPr id="60" name="TextBox 59"/>
          <p:cNvSpPr txBox="1"/>
          <p:nvPr/>
        </p:nvSpPr>
        <p:spPr>
          <a:xfrm>
            <a:off x="7772400" y="1737360"/>
            <a:ext cx="3931920" cy="3108960"/>
          </a:xfrm>
          <a:prstGeom prst="rect">
            <a:avLst/>
          </a:prstGeom>
          <a:noFill/>
        </p:spPr>
        <p:txBody>
          <a:bodyPr wrap="square" anchor="t" lIns="0" rIns="0" tIns="0" bIns="0">
            <a:spAutoFit/>
          </a:bodyPr>
          <a:lstStyle/>
          <a:p>
            <a:pPr algn="l" marL="237744" indent="-237744">
              <a:lnSpc>
                <a:spcPct val="105000"/>
              </a:lnSpc>
              <a:spcAft>
                <a:spcPts val="1000"/>
              </a:spcAft>
              <a:buFont typeface="+mj-lt"/>
              <a:buAutoNum type="arabicPeriod"/>
            </a:pPr>
            <a:r>
              <a:rPr sz="1400" b="1" i="0">
                <a:solidFill>
                  <a:srgbClr val="323139"/>
                </a:solidFill>
                <a:latin typeface="Segoe UI"/>
              </a:rPr>
              <a:t>Weak prompt</a:t>
            </a:r>
            <a:r>
              <a:rPr sz="1400" b="0" i="0">
                <a:solidFill>
                  <a:srgbClr val="323139"/>
                </a:solidFill>
                <a:latin typeface="Segoe UI"/>
              </a:rPr>
              <a:t> → Cowork guesses, or asks what you meant</a:t>
            </a:r>
          </a:p>
          <a:p>
            <a:pPr algn="l" marL="237744" indent="-237744">
              <a:lnSpc>
                <a:spcPct val="105000"/>
              </a:lnSpc>
              <a:spcAft>
                <a:spcPts val="1000"/>
              </a:spcAft>
              <a:buFont typeface="+mj-lt"/>
              <a:buAutoNum type="arabicPeriod"/>
            </a:pPr>
            <a:r>
              <a:rPr sz="1400" b="1" i="0">
                <a:solidFill>
                  <a:srgbClr val="323139"/>
                </a:solidFill>
                <a:latin typeface="Segoe UI"/>
              </a:rPr>
              <a:t>Strong prompt</a:t>
            </a:r>
            <a:r>
              <a:rPr sz="1400" b="0" i="0">
                <a:solidFill>
                  <a:srgbClr val="323139"/>
                </a:solidFill>
                <a:latin typeface="Segoe UI"/>
              </a:rPr>
              <a:t> → Goal, Source, Expectations, Constraints</a:t>
            </a:r>
          </a:p>
          <a:p>
            <a:pPr algn="l" marL="237744" indent="-237744">
              <a:lnSpc>
                <a:spcPct val="105000"/>
              </a:lnSpc>
              <a:spcAft>
                <a:spcPts val="1000"/>
              </a:spcAft>
              <a:buFont typeface="+mj-lt"/>
              <a:buAutoNum type="arabicPeriod"/>
            </a:pPr>
            <a:r>
              <a:rPr sz="1400" b="1" i="0">
                <a:solidFill>
                  <a:srgbClr val="323139"/>
                </a:solidFill>
                <a:latin typeface="Segoe UI"/>
              </a:rPr>
              <a:t>Grounding</a:t>
            </a:r>
            <a:r>
              <a:rPr sz="1400" b="0" i="0">
                <a:solidFill>
                  <a:srgbClr val="323139"/>
                </a:solidFill>
                <a:latin typeface="Segoe UI"/>
              </a:rPr>
              <a:t> → Dates come from benefits-summary.docx</a:t>
            </a:r>
          </a:p>
          <a:p>
            <a:pPr algn="l" marL="237744" indent="-237744">
              <a:lnSpc>
                <a:spcPct val="105000"/>
              </a:lnSpc>
              <a:spcAft>
                <a:spcPts val="1000"/>
              </a:spcAft>
              <a:buFont typeface="+mj-lt"/>
              <a:buAutoNum type="arabicPeriod"/>
            </a:pPr>
            <a:r>
              <a:rPr sz="1400" b="1" i="0">
                <a:solidFill>
                  <a:srgbClr val="323139"/>
                </a:solidFill>
                <a:latin typeface="Segoe UI"/>
              </a:rPr>
              <a:t>Compare</a:t>
            </a:r>
            <a:r>
              <a:rPr sz="1400" b="0" i="0">
                <a:solidFill>
                  <a:srgbClr val="323139"/>
                </a:solidFill>
                <a:latin typeface="Segoe UI"/>
              </a:rPr>
              <a:t> → Length, subject line, tone, contacts</a:t>
            </a:r>
          </a:p>
          <a:p>
            <a:pPr algn="l" marL="237744" indent="-237744">
              <a:lnSpc>
                <a:spcPct val="105000"/>
              </a:lnSpc>
              <a:spcAft>
                <a:spcPts val="1000"/>
              </a:spcAft>
              <a:buFont typeface="+mj-lt"/>
              <a:buAutoNum type="arabicPeriod"/>
            </a:pPr>
            <a:r>
              <a:rPr sz="1400" b="1" i="0">
                <a:solidFill>
                  <a:srgbClr val="323139"/>
                </a:solidFill>
                <a:latin typeface="Segoe UI"/>
              </a:rPr>
              <a:t>Constraint held</a:t>
            </a:r>
            <a:r>
              <a:rPr sz="1400" b="0" i="0">
                <a:solidFill>
                  <a:srgbClr val="323139"/>
                </a:solidFill>
                <a:latin typeface="Segoe UI"/>
              </a:rPr>
              <a:t> → Saved as a draft, not sent</a:t>
            </a:r>
          </a:p>
        </p:txBody>
      </p:sp>
      <p:sp>
        <p:nvSpPr>
          <p:cNvPr id="61" name="Rounded Rectangle 60">
            <a:extLst>
              <a:ext uri="{C183D7F6-B498-43B3-948B-1728B52AA6E4}">
                <ns4:decorative xmlns:ns4="http://schemas.microsoft.com/office/drawing/2017/decorative" val="1"/>
              </a:ext>
            </a:extLst>
          </p:cNvPr>
          <p:cNvSpPr/>
          <p:nvPr/>
        </p:nvSpPr>
        <p:spPr>
          <a:xfrm>
            <a:off x="7726679" y="5166359"/>
            <a:ext cx="4023360" cy="1051560"/>
          </a:xfrm>
          <a:prstGeom prst="roundRect">
            <a:avLst>
              <a:gd name="adj" fmla="val 10000"/>
            </a:avLst>
          </a:prstGeom>
          <a:solidFill>
            <a:srgbClr val="FFFC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909559" y="5166359"/>
            <a:ext cx="3657600" cy="1051560"/>
          </a:xfrm>
          <a:prstGeom prst="rect">
            <a:avLst/>
          </a:prstGeom>
          <a:noFill/>
        </p:spPr>
        <p:txBody>
          <a:bodyPr wrap="square" anchor="ctr" lIns="0" rIns="0" tIns="0" bIns="0">
            <a:spAutoFit/>
          </a:bodyPr>
          <a:lstStyle/>
          <a:p>
            <a:pPr algn="l">
              <a:lnSpc>
                <a:spcPct val="103000"/>
              </a:lnSpc>
              <a:spcAft>
                <a:spcPts val="400"/>
              </a:spcAft>
            </a:pPr>
            <a:r>
              <a:rPr sz="1200" b="1" i="0">
                <a:solidFill>
                  <a:srgbClr val="323139"/>
                </a:solidFill>
                <a:latin typeface="Segoe Sans Display"/>
              </a:rPr>
              <a:t>Next:</a:t>
            </a:r>
            <a:r>
              <a:rPr sz="1200" b="0" i="0">
                <a:solidFill>
                  <a:srgbClr val="323139"/>
                </a:solidFill>
                <a:latin typeface="Segoe Sans Display"/>
              </a:rPr>
              <a:t> how to read an exercise card; every prompt today uses these colors.</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68.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How to read an exercise card</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Guide</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What you’ll accomplish — the business outcome in one sentence.</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The finished artifact Cowork hands back: a document, dashboard, email, schedule, or agent.</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Every exercise</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this is a Cowork job — the multi-step, cross-app work it orchestrates, and where it pauses for your approval.</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Gather</a:t>
              </a:r>
              <a:r>
                <a:rPr lang="en-US" sz="1100">
                  <a:solidFill>
                    <a:prstClr val="black"/>
                  </a:solidFill>
                  <a:latin typeface="Segoe Sans Display" pitchFamily="2" charset="0"/>
                  <a:cs typeface="Segoe Sans Display" pitchFamily="2" charset="0"/>
                </a:rPr>
                <a:t> → Cowork pulls context through Work IQ</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Analyze</a:t>
              </a:r>
              <a:r>
                <a:rPr lang="en-US" sz="1100">
                  <a:solidFill>
                    <a:prstClr val="black"/>
                  </a:solidFill>
                  <a:latin typeface="Segoe Sans Display" pitchFamily="2" charset="0"/>
                  <a:cs typeface="Segoe Sans Display" pitchFamily="2" charset="0"/>
                </a:rPr>
                <a:t> → It reasons over what it found</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Build</a:t>
              </a:r>
              <a:r>
                <a:rPr lang="en-US" sz="1100">
                  <a:solidFill>
                    <a:prstClr val="black"/>
                  </a:solidFill>
                  <a:latin typeface="Segoe Sans Display" pitchFamily="2" charset="0"/>
                  <a:cs typeface="Segoe Sans Display" pitchFamily="2" charset="0"/>
                </a:rPr>
                <a:t> → It creates the artifact</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Deliver</a:t>
              </a:r>
              <a:r>
                <a:rPr lang="en-US" sz="1100">
                  <a:solidFill>
                    <a:prstClr val="black"/>
                  </a:solidFill>
                  <a:latin typeface="Segoe Sans Display" pitchFamily="2" charset="0"/>
                  <a:cs typeface="Segoe Sans Display" pitchFamily="2" charset="0"/>
                </a:rPr>
                <a:t> → It pauses for approval, then acts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This panel holds the exact prompt you’ll paste into Cowork.</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Before you run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Colors mark the </a:t>
            </a:r>
            <a:r>
              <a:rPr kumimoji="0" lang="en-US" sz="130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Goal</a:t>
            </a: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30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Source</a:t>
            </a: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30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Expectations</a:t>
            </a: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and </a:t>
            </a:r>
            <a:r>
              <a:rPr kumimoji="0" lang="en-US" sz="130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Constraints</a:t>
            </a: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(see the Prompt key)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Replace any [placeholders], such as [Priority Folder] or [time]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Keep “save as a draft” wording — never send to real people in class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Watch the side panel: skill chips, files, and schedules appear as Cowork works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After it runs: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Review every output as a draft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Approve or decline each checkpoint deliberately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Use the hands-on slide that follows for steps, the checkpoint, and a stretch</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3"/>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M365 Data</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5" name="Group 12">
            <a:extLst>
              <a:ext uri="{FF2B5EF4-FFF2-40B4-BE49-F238E27FC236}">
                <a16:creationId xmlns:a16="http://schemas.microsoft.com/office/drawing/2014/main" id="{6DC82203-C40E-B229-3216-8513934D28BD}"/>
              </a:ext>
            </a:extLst>
          </p:cNvPr>
          <p:cNvGrpSpPr/>
          <p:nvPr/>
        </p:nvGrpSpPr>
        <p:grpSpPr>
          <a:xfrm>
            <a:off x="10035709" y="4421568"/>
            <a:ext cx="1200156" cy="488252"/>
            <a:chOff x="10558227" y="4421568"/>
            <a:chExt cx="1200156" cy="488252"/>
          </a:xfrm>
        </p:grpSpPr>
        <p:pic>
          <p:nvPicPr>
            <p:cNvPr id="916"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7"/>
            <a:stretch>
              <a:fillRect/>
            </a:stretch>
          </p:blipFill>
          <p:spPr>
            <a:xfrm>
              <a:off x="11014657" y="4421568"/>
              <a:ext cx="287296" cy="287296"/>
            </a:xfrm>
            <a:prstGeom prst="rect">
              <a:avLst/>
            </a:prstGeom>
          </p:spPr>
        </p:pic>
        <p:sp>
          <p:nvSpPr>
            <p:cNvPr id="917"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Web</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8" name="Group 12">
            <a:extLst>
              <a:ext uri="{FF2B5EF4-FFF2-40B4-BE49-F238E27FC236}">
                <a16:creationId xmlns:a16="http://schemas.microsoft.com/office/drawing/2014/main" id="{6DC82203-C40E-B229-3216-8513934D28BD}"/>
              </a:ext>
            </a:extLst>
          </p:cNvPr>
          <p:cNvGrpSpPr/>
          <p:nvPr/>
        </p:nvGrpSpPr>
        <p:grpSpPr>
          <a:xfrm>
            <a:off x="10950109" y="4421568"/>
            <a:ext cx="1200156" cy="488252"/>
            <a:chOff x="10558227" y="4421568"/>
            <a:chExt cx="1200156" cy="488252"/>
          </a:xfrm>
        </p:grpSpPr>
        <p:pic>
          <p:nvPicPr>
            <p:cNvPr id="919"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8"/>
            <a:stretch>
              <a:fillRect/>
            </a:stretch>
          </p:blipFill>
          <p:spPr>
            <a:xfrm>
              <a:off x="11014657" y="4421568"/>
              <a:ext cx="287296" cy="287296"/>
            </a:xfrm>
            <a:prstGeom prst="rect">
              <a:avLst/>
            </a:prstGeom>
          </p:spPr>
        </p:pic>
        <p:sp>
          <p:nvSpPr>
            <p:cNvPr id="920"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912" name="Rounded Rectangle 911">
            <a:extLst>
              <a:ext uri="{C183D7F6-B498-43B3-948B-1728B52AA6E4}">
                <ns0:decorative xmlns:ns0="http://schemas.microsoft.com/office/drawing/2017/decorative" val="1"/>
              </a:ext>
            </a:extLst>
          </p:cNvPr>
          <p:cNvSpPr/>
          <p:nvPr/>
        </p:nvSpPr>
        <p:spPr>
          <a:xfrm>
            <a:off x="7754112" y="5230368"/>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3" name="TextBox 912"/>
          <p:cNvSpPr txBox="1"/>
          <p:nvPr/>
        </p:nvSpPr>
        <p:spPr>
          <a:xfrm>
            <a:off x="7754112" y="5230368"/>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Prompt key</a:t>
            </a:r>
          </a:p>
        </p:txBody>
      </p:sp>
      <p:pic>
        <p:nvPicPr>
          <p:cNvPr id="914" name="Picture 913" descr="Prompt key: Goal (blue) is the outcome, for whom, and why; Source (green) is the files, sites, or data to use; Expectations (orange) describe what good looks like; Constraints (purple) say what Cowork must not do."/>
          <p:cNvPicPr>
            <a:picLocks noChangeAspect="1"/>
          </p:cNvPicPr>
          <p:nvPr/>
        </p:nvPicPr>
        <p:blipFill>
          <a:blip r:embed="rId6"/>
          <a:stretch>
            <a:fillRect/>
          </a:stretch>
        </p:blipFill>
        <p:spPr>
          <a:xfrm>
            <a:off x="7726680" y="5577840"/>
            <a:ext cx="4224528" cy="940756"/>
          </a:xfrm>
          <a:prstGeom prst="rect">
            <a:avLst/>
          </a:prstGeom>
        </p:spPr>
      </p:pic>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Sample Cowork prompts to get started</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Open a new task, pick a suggestion, then tailor the outcome and guardrails.</a:t>
            </a:r>
          </a:p>
        </p:txBody>
      </p:sp>
      <p:sp>
        <p:nvSpPr>
          <p:cNvPr id="4" name="TextBox 3"/>
          <p:cNvSpPr txBox="1"/>
          <p:nvPr/>
        </p:nvSpPr>
        <p:spPr>
          <a:xfrm>
            <a:off x="502920" y="1417320"/>
            <a:ext cx="1828800" cy="365760"/>
          </a:xfrm>
          <a:prstGeom prst="rect">
            <a:avLst/>
          </a:prstGeom>
          <a:noFill/>
        </p:spPr>
        <p:txBody>
          <a:bodyPr wrap="square" anchor="t" lIns="0" rIns="0" tIns="0" bIns="0">
            <a:spAutoFit/>
          </a:bodyPr>
          <a:lstStyle/>
          <a:p>
            <a:pPr algn="l">
              <a:spcAft>
                <a:spcPts val="400"/>
              </a:spcAft>
            </a:pPr>
            <a:r>
              <a:rPr sz="1300" b="1" i="0">
                <a:solidFill>
                  <a:srgbClr val="242424"/>
                </a:solidFill>
                <a:latin typeface="Segoe UI"/>
              </a:rPr>
              <a:t>1 · Cowork → New task</a:t>
            </a:r>
          </a:p>
        </p:txBody>
      </p:sp>
      <p:pic>
        <p:nvPicPr>
          <p:cNvPr id="5" name="Picture 4" descr="Copilot navigation with Cowork selected and New task highlighted."/>
          <p:cNvPicPr>
            <a:picLocks noChangeAspect="1"/>
          </p:cNvPicPr>
          <p:nvPr/>
        </p:nvPicPr>
        <p:blipFill>
          <a:blip r:embed="rId2"/>
          <a:stretch>
            <a:fillRect/>
          </a:stretch>
        </p:blipFill>
        <p:spPr>
          <a:xfrm>
            <a:off x="502920" y="1874519"/>
            <a:ext cx="1828800" cy="1593618"/>
          </a:xfrm>
          <a:prstGeom prst="rect">
            <a:avLst/>
          </a:prstGeom>
        </p:spPr>
      </p:pic>
      <p:sp>
        <p:nvSpPr>
          <p:cNvPr id="6" name="TextBox 5"/>
          <p:cNvSpPr txBox="1"/>
          <p:nvPr/>
        </p:nvSpPr>
        <p:spPr>
          <a:xfrm>
            <a:off x="2560320" y="1417320"/>
            <a:ext cx="5440680" cy="365760"/>
          </a:xfrm>
          <a:prstGeom prst="rect">
            <a:avLst/>
          </a:prstGeom>
          <a:noFill/>
        </p:spPr>
        <p:txBody>
          <a:bodyPr wrap="square" anchor="t" lIns="0" rIns="0" tIns="0" bIns="0">
            <a:spAutoFit/>
          </a:bodyPr>
          <a:lstStyle/>
          <a:p>
            <a:pPr algn="l">
              <a:spcAft>
                <a:spcPts val="400"/>
              </a:spcAft>
            </a:pPr>
            <a:r>
              <a:rPr sz="1300" b="1" i="0">
                <a:solidFill>
                  <a:srgbClr val="242424"/>
                </a:solidFill>
                <a:latin typeface="Segoe UI"/>
              </a:rPr>
              <a:t>2 · Try these next</a:t>
            </a:r>
          </a:p>
        </p:txBody>
      </p:sp>
      <p:pic>
        <p:nvPicPr>
          <p:cNvPr id="7" name="Picture 6" descr="Cowork home page with Start a task and suggestions: Organize my inbox, Arrange my week, Prep for a meeting."/>
          <p:cNvPicPr>
            <a:picLocks noChangeAspect="1"/>
          </p:cNvPicPr>
          <p:nvPr/>
        </p:nvPicPr>
        <p:blipFill>
          <a:blip r:embed="rId3"/>
          <a:stretch>
            <a:fillRect/>
          </a:stretch>
        </p:blipFill>
        <p:spPr>
          <a:xfrm>
            <a:off x="2560320" y="1874519"/>
            <a:ext cx="5440680" cy="3167886"/>
          </a:xfrm>
          <a:prstGeom prst="rect">
            <a:avLst/>
          </a:prstGeom>
        </p:spPr>
      </p:pic>
      <p:sp>
        <p:nvSpPr>
          <p:cNvPr id="8" name="TextBox 7"/>
          <p:cNvSpPr txBox="1"/>
          <p:nvPr/>
        </p:nvSpPr>
        <p:spPr>
          <a:xfrm>
            <a:off x="8229600" y="1417320"/>
            <a:ext cx="3456432" cy="365760"/>
          </a:xfrm>
          <a:prstGeom prst="rect">
            <a:avLst/>
          </a:prstGeom>
          <a:noFill/>
        </p:spPr>
        <p:txBody>
          <a:bodyPr wrap="square" anchor="t" lIns="0" rIns="0" tIns="0" bIns="0">
            <a:spAutoFit/>
          </a:bodyPr>
          <a:lstStyle/>
          <a:p>
            <a:pPr algn="l">
              <a:spcAft>
                <a:spcPts val="400"/>
              </a:spcAft>
            </a:pPr>
            <a:r>
              <a:rPr sz="1300" b="1" i="0">
                <a:solidFill>
                  <a:srgbClr val="242424"/>
                </a:solidFill>
                <a:latin typeface="Segoe UI"/>
              </a:rPr>
              <a:t>3 · Browse Task ideas</a:t>
            </a:r>
          </a:p>
        </p:txBody>
      </p:sp>
      <p:pic>
        <p:nvPicPr>
          <p:cNvPr id="9" name="Picture 8" descr="Task ideas categorized by Triage, Research, Create, Meetings, and Automate; examples include Morning briefing and Calendar audit."/>
          <p:cNvPicPr>
            <a:picLocks noChangeAspect="1"/>
          </p:cNvPicPr>
          <p:nvPr/>
        </p:nvPicPr>
        <p:blipFill>
          <a:blip r:embed="rId4"/>
          <a:stretch>
            <a:fillRect/>
          </a:stretch>
        </p:blipFill>
        <p:spPr>
          <a:xfrm>
            <a:off x="8229600" y="1874519"/>
            <a:ext cx="3456432" cy="3398899"/>
          </a:xfrm>
          <a:prstGeom prst="rect">
            <a:avLst/>
          </a:prstGeom>
        </p:spPr>
      </p:pic>
      <p:sp>
        <p:nvSpPr>
          <p:cNvPr id="10" name="Rounded Rectangle 9">
            <a:extLst>
              <a:ext uri="{C183D7F6-B498-43B3-948B-1728B52AA6E4}">
                <ns0:decorative xmlns:ns0="http://schemas.microsoft.com/office/drawing/2017/decorative" val="1"/>
              </a:ext>
            </a:extLst>
          </p:cNvPr>
          <p:cNvSpPr/>
          <p:nvPr/>
        </p:nvSpPr>
        <p:spPr>
          <a:xfrm>
            <a:off x="502920" y="5486400"/>
            <a:ext cx="11183112" cy="868680"/>
          </a:xfrm>
          <a:prstGeom prst="roundRect">
            <a:avLst>
              <a:gd name="adj" fmla="val 12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5486400"/>
            <a:ext cx="10634472" cy="868680"/>
          </a:xfrm>
          <a:prstGeom prst="rect">
            <a:avLst/>
          </a:prstGeom>
          <a:noFill/>
        </p:spPr>
        <p:txBody>
          <a:bodyPr wrap="square" anchor="ctr" lIns="0" rIns="0" tIns="0" bIns="0">
            <a:spAutoFit/>
          </a:bodyPr>
          <a:lstStyle/>
          <a:p>
            <a:pPr algn="l">
              <a:lnSpc>
                <a:spcPct val="105000"/>
              </a:lnSpc>
              <a:spcAft>
                <a:spcPts val="400"/>
              </a:spcAft>
            </a:pPr>
            <a:r>
              <a:rPr sz="1300" b="1" i="0">
                <a:solidFill>
                  <a:srgbClr val="323139"/>
                </a:solidFill>
                <a:latin typeface="Segoe UI"/>
              </a:rPr>
              <a:t>Try:</a:t>
            </a:r>
            <a:r>
              <a:rPr sz="1300" b="0" i="0">
                <a:solidFill>
                  <a:srgbClr val="323139"/>
                </a:solidFill>
                <a:latin typeface="Segoe UI"/>
              </a:rPr>
              <a:t> "Draft a morning briefing from today's calendar and unread emails; cite sources."
</a:t>
            </a:r>
            <a:r>
              <a:rPr sz="1300" b="1" i="0">
                <a:solidFill>
                  <a:srgbClr val="323139"/>
                </a:solidFill>
                <a:latin typeface="Segoe UI"/>
              </a:rPr>
              <a:t>Or:</a:t>
            </a:r>
            <a:r>
              <a:rPr sz="1300" b="0" i="0">
                <a:solidFill>
                  <a:srgbClr val="323139"/>
                </a:solidFill>
                <a:latin typeface="Segoe UI"/>
              </a:rPr>
              <a:t> "Review next week's calendar and suggest focus time; do not change any meetings."</a:t>
            </a:r>
          </a:p>
        </p:txBody>
      </p:sp>
    </p:spTree>
    <p:extLst>
      <p:ext uri="{BB962C8B-B14F-4D97-AF65-F5344CB8AC3E}">
        <p14:creationId xmlns:p14="http://schemas.microsoft.com/office/powerpoint/2010/main" val="418314712"/>
      </p:ext>
    </p:extLst>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 name="TextBox 1"/>
          <p:cNvSpPr txBox="1"/>
          <p:nvPr/>
        </p:nvSpPr>
        <p:spPr>
          <a:xfrm>
            <a:off x="868680" y="1325880"/>
            <a:ext cx="2743200" cy="365760"/>
          </a:xfrm>
          <a:prstGeom prst="rect">
            <a:avLst/>
          </a:prstGeom>
          <a:noFill/>
        </p:spPr>
        <p:txBody>
          <a:bodyPr wrap="square" anchor="t" lIns="0" rIns="0" tIns="0" bIns="0">
            <a:spAutoFit/>
          </a:bodyPr>
          <a:lstStyle/>
          <a:p>
            <a:pPr algn="l">
              <a:spcAft>
                <a:spcPts val="400"/>
              </a:spcAft>
            </a:pPr>
            <a:r>
              <a:rPr sz="1600" b="0" i="0">
                <a:solidFill>
                  <a:srgbClr val="616161"/>
                </a:solidFill>
                <a:latin typeface="Segoe Sans Display Semibold"/>
              </a:rPr>
              <a:t>EXERCISE</a:t>
            </a:r>
          </a:p>
        </p:txBody>
      </p:sp>
      <p:sp>
        <p:nvSpPr>
          <p:cNvPr id="3" name="TextBox 2"/>
          <p:cNvSpPr txBox="1"/>
          <p:nvPr/>
        </p:nvSpPr>
        <p:spPr>
          <a:xfrm>
            <a:off x="777240" y="1645920"/>
            <a:ext cx="2926080" cy="1828800"/>
          </a:xfrm>
          <a:prstGeom prst="rect">
            <a:avLst/>
          </a:prstGeom>
          <a:noFill/>
        </p:spPr>
        <p:txBody>
          <a:bodyPr wrap="square" anchor="t" lIns="0" rIns="0" tIns="0" bIns="0">
            <a:spAutoFit/>
          </a:bodyPr>
          <a:lstStyle/>
          <a:p>
            <a:pPr algn="l">
              <a:spcAft>
                <a:spcPts val="400"/>
              </a:spcAft>
            </a:pPr>
            <a:r>
              <a:rPr sz="12000" b="1" i="0">
                <a:solidFill>
                  <a:srgbClr val="8064A2"/>
                </a:solidFill>
                <a:latin typeface="Segoe Sans Display"/>
              </a:rPr>
              <a:t>01</a:t>
            </a:r>
          </a:p>
        </p:txBody>
      </p:sp>
      <p:sp>
        <p:nvSpPr>
          <p:cNvPr id="4" name="TextBox 3"/>
          <p:cNvSpPr txBox="1"/>
          <p:nvPr/>
        </p:nvSpPr>
        <p:spPr>
          <a:xfrm>
            <a:off x="3749039" y="1417320"/>
            <a:ext cx="5440680" cy="1508760"/>
          </a:xfrm>
          <a:prstGeom prst="rect">
            <a:avLst/>
          </a:prstGeom>
          <a:noFill/>
        </p:spPr>
        <p:txBody>
          <a:bodyPr wrap="square" anchor="b" lIns="0" rIns="0" tIns="0" bIns="0">
            <a:spAutoFit/>
          </a:bodyPr>
          <a:lstStyle/>
          <a:p>
            <a:pPr algn="l">
              <a:lnSpc>
                <a:spcPct val="95000"/>
              </a:lnSpc>
              <a:spcAft>
                <a:spcPts val="400"/>
              </a:spcAft>
            </a:pPr>
            <a:r>
              <a:rPr sz="3200" b="0" i="0">
                <a:solidFill>
                  <a:srgbClr val="323139"/>
                </a:solidFill>
                <a:latin typeface="Segoe Sans Display"/>
              </a:rPr>
              <a:t>Research the Web with Deep Research</a:t>
            </a:r>
          </a:p>
        </p:txBody>
      </p:sp>
      <p:sp>
        <p:nvSpPr>
          <p:cNvPr id="5" name="TextBox 4"/>
          <p:cNvSpPr txBox="1"/>
          <p:nvPr/>
        </p:nvSpPr>
        <p:spPr>
          <a:xfrm>
            <a:off x="3749039" y="3017520"/>
            <a:ext cx="5440680" cy="1005840"/>
          </a:xfrm>
          <a:prstGeom prst="rect">
            <a:avLst/>
          </a:prstGeom>
          <a:noFill/>
        </p:spPr>
        <p:txBody>
          <a:bodyPr wrap="square" anchor="t" lIns="0" rIns="0" tIns="0" bIns="0">
            <a:spAutoFit/>
          </a:bodyPr>
          <a:lstStyle/>
          <a:p>
            <a:pPr algn="l">
              <a:lnSpc>
                <a:spcPct val="105000"/>
              </a:lnSpc>
              <a:spcAft>
                <a:spcPts val="400"/>
              </a:spcAft>
            </a:pPr>
            <a:r>
              <a:rPr sz="1600" b="0" i="0">
                <a:solidFill>
                  <a:srgbClr val="616161"/>
                </a:solidFill>
                <a:latin typeface="Segoe Sans Display"/>
              </a:rPr>
              <a:t>Get an evidence-based view of structured behavioral interviewing and turn it into questions for a real open role.</a:t>
            </a:r>
          </a:p>
        </p:txBody>
      </p:sp>
      <p:sp>
        <p:nvSpPr>
          <p:cNvPr id="6" name="Oval 5">
            <a:extLst>
              <a:ext uri="{C183D7F6-B498-43B3-948B-1728B52AA6E4}">
                <ns0:decorative xmlns:ns0="http://schemas.microsoft.com/office/drawing/2017/decorative" val="1"/>
              </a:ext>
            </a:extLst>
          </p:cNvPr>
          <p:cNvSpPr/>
          <p:nvPr/>
        </p:nvSpPr>
        <p:spPr>
          <a:xfrm>
            <a:off x="9418320" y="1280160"/>
            <a:ext cx="2194560" cy="2194560"/>
          </a:xfrm>
          <a:prstGeom prst="ellipse">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Divider 1" descr="Illustration of a magnifying glass, for Deep Research"/>
          <p:cNvPicPr>
            <a:picLocks noChangeAspect="1"/>
          </p:cNvPicPr>
          <p:nvPr/>
        </p:nvPicPr>
        <p:blipFill>
          <a:blip r:embed="rId7"/>
          <a:stretch>
            <a:fillRect/>
          </a:stretch>
        </p:blipFill>
        <p:spPr>
          <a:xfrm>
            <a:off x="9784080" y="1645920"/>
            <a:ext cx="1463040" cy="1463040"/>
          </a:xfrm>
          <a:prstGeom prst="rect">
            <a:avLst/>
          </a:prstGeom>
        </p:spPr>
      </p:pic>
      <p:sp>
        <p:nvSpPr>
          <p:cNvPr id="8" name="Rounded Rectangle 7">
            <a:extLst>
              <a:ext uri="{C183D7F6-B498-43B3-948B-1728B52AA6E4}">
                <ns1:decorative xmlns:ns1="http://schemas.microsoft.com/office/drawing/2017/decorative" val="1"/>
              </a:ext>
            </a:extLst>
          </p:cNvPr>
          <p:cNvSpPr/>
          <p:nvPr/>
        </p:nvSpPr>
        <p:spPr>
          <a:xfrm>
            <a:off x="3749039" y="4069080"/>
            <a:ext cx="2286000"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49039" y="4069080"/>
            <a:ext cx="2286000"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15 min  ·  0:20–0:35</a:t>
            </a:r>
          </a:p>
        </p:txBody>
      </p:sp>
      <p:sp>
        <p:nvSpPr>
          <p:cNvPr id="10" name="Rounded Rectangle 9">
            <a:extLst>
              <a:ext uri="{C183D7F6-B498-43B3-948B-1728B52AA6E4}">
                <ns2:decorative xmlns:ns2="http://schemas.microsoft.com/office/drawing/2017/decorative" val="1"/>
              </a:ext>
            </a:extLst>
          </p:cNvPr>
          <p:cNvSpPr/>
          <p:nvPr/>
        </p:nvSpPr>
        <p:spPr>
          <a:xfrm>
            <a:off x="6217920" y="4069080"/>
            <a:ext cx="1421892"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17920" y="4069080"/>
            <a:ext cx="1421892"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HR · Talent</a:t>
            </a:r>
          </a:p>
        </p:txBody>
      </p:sp>
      <p:sp>
        <p:nvSpPr>
          <p:cNvPr id="12" name="Oval 11">
            <a:extLst>
              <a:ext uri="{C183D7F6-B498-43B3-948B-1728B52AA6E4}">
                <ns3:decorative xmlns:ns3="http://schemas.microsoft.com/office/drawing/2017/decorative" val="1"/>
              </a:ext>
            </a:extLst>
          </p:cNvPr>
          <p:cNvSpPr/>
          <p:nvPr/>
        </p:nvSpPr>
        <p:spPr>
          <a:xfrm>
            <a:off x="2895447" y="5257800"/>
            <a:ext cx="512064" cy="512064"/>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447" y="5257800"/>
            <a:ext cx="512064" cy="512064"/>
          </a:xfrm>
          <a:prstGeom prst="rect">
            <a:avLst/>
          </a:prstGeom>
          <a:noFill/>
        </p:spPr>
        <p:txBody>
          <a:bodyPr wrap="square" anchor="ctr" lIns="0" rIns="0" tIns="0" bIns="0">
            <a:spAutoFit/>
          </a:bodyPr>
          <a:lstStyle/>
          <a:p>
            <a:pPr algn="ctr">
              <a:spcAft>
                <a:spcPts val="400"/>
              </a:spcAft>
            </a:pPr>
            <a:r>
              <a:rPr sz="1400" b="1" i="0">
                <a:solidFill>
                  <a:srgbClr val="FFFFFF"/>
                </a:solidFill>
                <a:latin typeface="Segoe Sans Display Semibold"/>
              </a:rPr>
              <a:t>1</a:t>
            </a:r>
          </a:p>
        </p:txBody>
      </p:sp>
      <p:sp>
        <p:nvSpPr>
          <p:cNvPr id="14" name="Rectangle 13">
            <a:extLst>
              <a:ext uri="{C183D7F6-B498-43B3-948B-1728B52AA6E4}">
                <ns4:decorative xmlns:ns4="http://schemas.microsoft.com/office/drawing/2017/decorative" val="1"/>
              </a:ext>
            </a:extLst>
          </p:cNvPr>
          <p:cNvSpPr/>
          <p:nvPr/>
        </p:nvSpPr>
        <p:spPr>
          <a:xfrm>
            <a:off x="345323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a:extLst>
              <a:ext uri="{C183D7F6-B498-43B3-948B-1728B52AA6E4}">
                <ns5:decorative xmlns:ns5="http://schemas.microsoft.com/office/drawing/2017/decorative" val="1"/>
              </a:ext>
            </a:extLst>
          </p:cNvPr>
          <p:cNvSpPr/>
          <p:nvPr/>
        </p:nvSpPr>
        <p:spPr>
          <a:xfrm>
            <a:off x="3736695"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736695"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2</a:t>
            </a:r>
          </a:p>
        </p:txBody>
      </p:sp>
      <p:sp>
        <p:nvSpPr>
          <p:cNvPr id="17" name="Rectangle 16">
            <a:extLst>
              <a:ext uri="{C183D7F6-B498-43B3-948B-1728B52AA6E4}">
                <ns6:decorative xmlns:ns6="http://schemas.microsoft.com/office/drawing/2017/decorative" val="1"/>
              </a:ext>
            </a:extLst>
          </p:cNvPr>
          <p:cNvSpPr/>
          <p:nvPr/>
        </p:nvSpPr>
        <p:spPr>
          <a:xfrm>
            <a:off x="429447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a:extLst>
              <a:ext uri="{C183D7F6-B498-43B3-948B-1728B52AA6E4}">
                <ns7:decorative xmlns:ns7="http://schemas.microsoft.com/office/drawing/2017/decorative" val="1"/>
              </a:ext>
            </a:extLst>
          </p:cNvPr>
          <p:cNvSpPr/>
          <p:nvPr/>
        </p:nvSpPr>
        <p:spPr>
          <a:xfrm>
            <a:off x="4577943"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7943"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3</a:t>
            </a:r>
          </a:p>
        </p:txBody>
      </p:sp>
      <p:sp>
        <p:nvSpPr>
          <p:cNvPr id="20" name="Rectangle 19">
            <a:extLst>
              <a:ext uri="{C183D7F6-B498-43B3-948B-1728B52AA6E4}">
                <ns8:decorative xmlns:ns8="http://schemas.microsoft.com/office/drawing/2017/decorative" val="1"/>
              </a:ext>
            </a:extLst>
          </p:cNvPr>
          <p:cNvSpPr/>
          <p:nvPr/>
        </p:nvSpPr>
        <p:spPr>
          <a:xfrm>
            <a:off x="5135727"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a:extLst>
              <a:ext uri="{C183D7F6-B498-43B3-948B-1728B52AA6E4}">
                <ns9:decorative xmlns:ns9="http://schemas.microsoft.com/office/drawing/2017/decorative" val="1"/>
              </a:ext>
            </a:extLst>
          </p:cNvPr>
          <p:cNvSpPr/>
          <p:nvPr/>
        </p:nvSpPr>
        <p:spPr>
          <a:xfrm>
            <a:off x="5419191"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19191"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4</a:t>
            </a:r>
          </a:p>
        </p:txBody>
      </p:sp>
      <p:sp>
        <p:nvSpPr>
          <p:cNvPr id="23" name="Rectangle 22">
            <a:extLst>
              <a:ext uri="{C183D7F6-B498-43B3-948B-1728B52AA6E4}">
                <ns10:decorative xmlns:ns10="http://schemas.microsoft.com/office/drawing/2017/decorative" val="1"/>
              </a:ext>
            </a:extLst>
          </p:cNvPr>
          <p:cNvSpPr/>
          <p:nvPr/>
        </p:nvSpPr>
        <p:spPr>
          <a:xfrm>
            <a:off x="5976975"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a:extLst>
              <a:ext uri="{C183D7F6-B498-43B3-948B-1728B52AA6E4}">
                <ns11:decorative xmlns:ns11="http://schemas.microsoft.com/office/drawing/2017/decorative" val="1"/>
              </a:ext>
            </a:extLst>
          </p:cNvPr>
          <p:cNvSpPr/>
          <p:nvPr/>
        </p:nvSpPr>
        <p:spPr>
          <a:xfrm>
            <a:off x="6260439"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60439"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5</a:t>
            </a:r>
          </a:p>
        </p:txBody>
      </p:sp>
      <p:sp>
        <p:nvSpPr>
          <p:cNvPr id="26" name="Rectangle 25">
            <a:extLst>
              <a:ext uri="{C183D7F6-B498-43B3-948B-1728B52AA6E4}">
                <ns12:decorative xmlns:ns12="http://schemas.microsoft.com/office/drawing/2017/decorative" val="1"/>
              </a:ext>
            </a:extLst>
          </p:cNvPr>
          <p:cNvSpPr/>
          <p:nvPr/>
        </p:nvSpPr>
        <p:spPr>
          <a:xfrm>
            <a:off x="6818223"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a:extLst>
              <a:ext uri="{C183D7F6-B498-43B3-948B-1728B52AA6E4}">
                <ns13:decorative xmlns:ns13="http://schemas.microsoft.com/office/drawing/2017/decorative" val="1"/>
              </a:ext>
            </a:extLst>
          </p:cNvPr>
          <p:cNvSpPr/>
          <p:nvPr/>
        </p:nvSpPr>
        <p:spPr>
          <a:xfrm>
            <a:off x="7101687"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01687"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6</a:t>
            </a:r>
          </a:p>
        </p:txBody>
      </p:sp>
      <p:sp>
        <p:nvSpPr>
          <p:cNvPr id="29" name="Rectangle 28">
            <a:extLst>
              <a:ext uri="{C183D7F6-B498-43B3-948B-1728B52AA6E4}">
                <ns14:decorative xmlns:ns14="http://schemas.microsoft.com/office/drawing/2017/decorative" val="1"/>
              </a:ext>
            </a:extLst>
          </p:cNvPr>
          <p:cNvSpPr/>
          <p:nvPr/>
        </p:nvSpPr>
        <p:spPr>
          <a:xfrm>
            <a:off x="765947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a:extLst>
              <a:ext uri="{C183D7F6-B498-43B3-948B-1728B52AA6E4}">
                <ns15:decorative xmlns:ns15="http://schemas.microsoft.com/office/drawing/2017/decorative" val="1"/>
              </a:ext>
            </a:extLst>
          </p:cNvPr>
          <p:cNvSpPr/>
          <p:nvPr/>
        </p:nvSpPr>
        <p:spPr>
          <a:xfrm>
            <a:off x="7942935"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42935"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7</a:t>
            </a:r>
          </a:p>
        </p:txBody>
      </p:sp>
      <p:sp>
        <p:nvSpPr>
          <p:cNvPr id="32" name="Rectangle 31">
            <a:extLst>
              <a:ext uri="{C183D7F6-B498-43B3-948B-1728B52AA6E4}">
                <ns16:decorative xmlns:ns16="http://schemas.microsoft.com/office/drawing/2017/decorative" val="1"/>
              </a:ext>
            </a:extLst>
          </p:cNvPr>
          <p:cNvSpPr/>
          <p:nvPr/>
        </p:nvSpPr>
        <p:spPr>
          <a:xfrm>
            <a:off x="850071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a:extLst>
              <a:ext uri="{C183D7F6-B498-43B3-948B-1728B52AA6E4}">
                <ns17:decorative xmlns:ns17="http://schemas.microsoft.com/office/drawing/2017/decorative" val="1"/>
              </a:ext>
            </a:extLst>
          </p:cNvPr>
          <p:cNvSpPr/>
          <p:nvPr/>
        </p:nvSpPr>
        <p:spPr>
          <a:xfrm>
            <a:off x="8784183"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784183"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8</a:t>
            </a:r>
          </a:p>
        </p:txBody>
      </p:sp>
      <p:sp>
        <p:nvSpPr>
          <p:cNvPr id="35" name="TextBox 34"/>
          <p:cNvSpPr txBox="1"/>
          <p:nvPr/>
        </p:nvSpPr>
        <p:spPr>
          <a:xfrm>
            <a:off x="457200" y="5897880"/>
            <a:ext cx="11274552" cy="320040"/>
          </a:xfrm>
          <a:prstGeom prst="rect">
            <a:avLst/>
          </a:prstGeom>
          <a:noFill/>
        </p:spPr>
        <p:txBody>
          <a:bodyPr wrap="square" anchor="t" lIns="0" rIns="0" tIns="0" bIns="0">
            <a:spAutoFit/>
          </a:bodyPr>
          <a:lstStyle/>
          <a:p>
            <a:pPr algn="ctr">
              <a:spcAft>
                <a:spcPts val="400"/>
              </a:spcAft>
            </a:pPr>
            <a:r>
              <a:rPr sz="1200" b="0" i="0">
                <a:solidFill>
                  <a:srgbClr val="616161"/>
                </a:solidFill>
                <a:latin typeface="Segoe UI"/>
              </a:rPr>
              <a:t>Exercise 1 of 8</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71.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Research the Web with Deep Research</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01</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Get an evidence-based view of structured behavioral interviewing and turn it into questions for a real open role.</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 cited one-page briefing and five tailored questions for Zava’s HR Coordinator role; if time allows, an interviewer scorecard in Word and Excel with the scoring scales filled in.</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Talent</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Good research means reading and citing many sources. Deep Research does that across the web, applies the findings to your job description, and a follow-up turns them into ready-to-use documents.</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Deep Research</a:t>
              </a:r>
              <a:r>
                <a:rPr lang="en-US" sz="1100">
                  <a:solidFill>
                    <a:prstClr val="black"/>
                  </a:solidFill>
                  <a:latin typeface="Segoe Sans Display" pitchFamily="2" charset="0"/>
                  <a:cs typeface="Segoe Sans Display" pitchFamily="2" charset="0"/>
                </a:rPr>
                <a:t> → Search and read multiple web sources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Synthesize</a:t>
              </a:r>
              <a:r>
                <a:rPr lang="en-US" sz="1100">
                  <a:solidFill>
                    <a:prstClr val="black"/>
                  </a:solidFill>
                  <a:latin typeface="Segoe Sans Display" pitchFamily="2" charset="0"/>
                  <a:cs typeface="Segoe Sans Display" pitchFamily="2" charset="0"/>
                </a:rPr>
                <a:t> → Key practices with citations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Ground</a:t>
              </a:r>
              <a:r>
                <a:rPr lang="en-US" sz="1100">
                  <a:solidFill>
                    <a:prstClr val="black"/>
                  </a:solidFill>
                  <a:latin typeface="Segoe Sans Display" pitchFamily="2" charset="0"/>
                  <a:cs typeface="Segoe Sans Display" pitchFamily="2" charset="0"/>
                </a:rPr>
                <a:t> → Compare to job-description-sample.docx</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Draft</a:t>
              </a:r>
              <a:r>
                <a:rPr lang="en-US" sz="1100">
                  <a:solidFill>
                    <a:prstClr val="black"/>
                  </a:solidFill>
                  <a:latin typeface="Segoe Sans Display" pitchFamily="2" charset="0"/>
                  <a:cs typeface="Segoe Sans Display" pitchFamily="2" charset="0"/>
                </a:rPr>
                <a:t> → Briefing + 5 tailored questions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Build</a:t>
              </a:r>
              <a:r>
                <a:rPr lang="en-US" sz="1100">
                  <a:solidFill>
                    <a:prstClr val="black"/>
                  </a:solidFill>
                  <a:latin typeface="Segoe Sans Display" pitchFamily="2" charset="0"/>
                  <a:cs typeface="Segoe Sans Display" pitchFamily="2" charset="0"/>
                </a:rPr>
                <a:t> → Optional: scorecard in Word + Excel</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Use Deep Research to summarize current best practices for structured behavioral interviews</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from multiple reputable sources</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Produce a 1-page briefing with the key practices and cite your sources.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Then: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Now compare these best practices to our HR Coordinator interview needs</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in job-description-sample.docx</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and suggest 5 interview questions.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Optional follow-up (if you have time):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Turn this into an interviewer scorecard</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in Word AND Excel with the scoring scales filled in.</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7"/>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Web</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5" name="Group 12">
            <a:extLst>
              <a:ext uri="{FF2B5EF4-FFF2-40B4-BE49-F238E27FC236}">
                <a16:creationId xmlns:a16="http://schemas.microsoft.com/office/drawing/2014/main" id="{6DC82203-C40E-B229-3216-8513934D28BD}"/>
              </a:ext>
            </a:extLst>
          </p:cNvPr>
          <p:cNvGrpSpPr/>
          <p:nvPr/>
        </p:nvGrpSpPr>
        <p:grpSpPr>
          <a:xfrm>
            <a:off x="10035709" y="4421568"/>
            <a:ext cx="1200156" cy="488252"/>
            <a:chOff x="10558227" y="4421568"/>
            <a:chExt cx="1200156" cy="488252"/>
          </a:xfrm>
        </p:grpSpPr>
        <p:pic>
          <p:nvPicPr>
            <p:cNvPr id="916"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8"/>
            <a:stretch>
              <a:fillRect/>
            </a:stretch>
          </p:blipFill>
          <p:spPr>
            <a:xfrm>
              <a:off x="11014657" y="4421568"/>
              <a:ext cx="287296" cy="287296"/>
            </a:xfrm>
            <a:prstGeom prst="rect">
              <a:avLst/>
            </a:prstGeom>
          </p:spPr>
        </p:pic>
        <p:sp>
          <p:nvSpPr>
            <p:cNvPr id="917"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912" name="Rounded Rectangle 911">
            <a:extLst>
              <a:ext uri="{C183D7F6-B498-43B3-948B-1728B52AA6E4}">
                <ns0:decorative xmlns:ns0="http://schemas.microsoft.com/office/drawing/2017/decorative" val="1"/>
              </a:ext>
            </a:extLst>
          </p:cNvPr>
          <p:cNvSpPr/>
          <p:nvPr/>
        </p:nvSpPr>
        <p:spPr>
          <a:xfrm>
            <a:off x="7754112" y="5230368"/>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3" name="TextBox 912"/>
          <p:cNvSpPr txBox="1"/>
          <p:nvPr/>
        </p:nvSpPr>
        <p:spPr>
          <a:xfrm>
            <a:off x="7754112" y="5230368"/>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Prompt key</a:t>
            </a:r>
          </a:p>
        </p:txBody>
      </p:sp>
      <p:pic>
        <p:nvPicPr>
          <p:cNvPr id="914" name="Picture 913" descr="Prompt key: Goal (blue) is the outcome, for whom, and why; Source (green) is the files, sites, or data to use; Expectations (orange) describe what good looks like; Constraints (purple) say what Cowork must not do."/>
          <p:cNvPicPr>
            <a:picLocks noChangeAspect="1"/>
          </p:cNvPicPr>
          <p:nvPr/>
        </p:nvPicPr>
        <p:blipFill>
          <a:blip r:embed="rId6"/>
          <a:stretch>
            <a:fillRect/>
          </a:stretch>
        </p:blipFill>
        <p:spPr>
          <a:xfrm>
            <a:off x="7726680" y="5577840"/>
            <a:ext cx="4224528" cy="940756"/>
          </a:xfrm>
          <a:prstGeom prst="rect">
            <a:avLst/>
          </a:prstGeom>
        </p:spPr>
      </p:pic>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72.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Demo · Deep Research</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01</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Video</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3754755"/>
          </a:xfrm>
          <a:prstGeom prst="roundRect">
            <a:avLst>
              <a:gd name="adj" fmla="val 3000"/>
            </a:avLst>
          </a:prstGeom>
          <a:solidFill>
            <a:srgbClr val="FFF9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Demo video</a:t>
            </a:r>
          </a:p>
        </p:txBody>
      </p:sp>
      <p:sp>
        <p:nvSpPr>
          <p:cNvPr id="54" name="TextBox 53"/>
          <p:cNvSpPr txBox="1"/>
          <p:nvPr/>
        </p:nvSpPr>
        <p:spPr>
          <a:xfrm>
            <a:off x="694944" y="4257675"/>
            <a:ext cx="6126480" cy="548640"/>
          </a:xfrm>
          <a:prstGeom prst="rect">
            <a:avLst/>
          </a:prstGeom>
          <a:noFill/>
        </p:spPr>
        <p:txBody>
          <a:bodyPr wrap="square" anchor="b" lIns="0" rIns="0" tIns="0" bIns="0">
            <a:spAutoFit/>
          </a:bodyPr>
          <a:lstStyle/>
          <a:p>
            <a:pPr algn="ctr">
              <a:spcAft>
                <a:spcPts val="400"/>
              </a:spcAft>
            </a:pPr>
            <a:r>
              <a:rPr sz="1300" b="1" i="0">
                <a:solidFill>
                  <a:srgbClr val="8064A2"/>
                </a:solidFill>
                <a:latin typeface="Segoe Sans Display Semibold"/>
              </a:rPr>
              <a:t>Recorded run: Exercise 1, Research the Web with Deep Research</a:t>
            </a:r>
          </a:p>
          <a:p>
            <a:pPr algn="ctr">
              <a:spcAft>
                <a:spcPts val="400"/>
              </a:spcAft>
            </a:pPr>
            <a:r>
              <a:rPr sz="1000" b="0" i="0">
                <a:solidFill>
                  <a:srgbClr val="616161"/>
                </a:solidFill>
                <a:latin typeface="Segoe UI"/>
              </a:rPr>
              <a:t>Facilitator: insert your recording here (see notes)</a:t>
            </a:r>
          </a:p>
        </p:txBody>
      </p:sp>
      <p:sp>
        <p:nvSpPr>
          <p:cNvPr id="55" name="Demo Video Placeholder" descr="Demo video: recorded run of Exercise 1, Research the Web with Deep Research"/>
          <p:cNvSpPr>
            <a:spLocks noGrp="1"/>
          </p:cNvSpPr>
          <p:nvPr>
            <p:ph type="media" sz="quarter" idx="155"/>
          </p:nvPr>
        </p:nvSpPr>
        <p:spPr>
          <a:xfrm>
            <a:off x="420624" y="1188720"/>
            <a:ext cx="6675120" cy="3754755"/>
          </a:xfrm>
          <a:prstGeom prst="rect">
            <a:avLst/>
          </a:prstGeom>
        </p:spPr>
        <p:txBody>
          <a:bodyPr anchor="ctr"/>
          <a:lstStyle/>
          <a:p>
            <a:pPr algn="ctr"/>
            <a:endParaRPr lang="en-US"/>
          </a:p>
        </p:txBody>
      </p:sp>
      <p:sp>
        <p:nvSpPr>
          <p:cNvPr id="56" name="Rounded Rectangle 55">
            <a:extLst>
              <a:ext uri="{C183D7F6-B498-43B3-948B-1728B52AA6E4}">
                <ns2:decorative xmlns:ns2="http://schemas.microsoft.com/office/drawing/2017/decorative" val="1"/>
              </a:ext>
            </a:extLst>
          </p:cNvPr>
          <p:cNvSpPr/>
          <p:nvPr/>
        </p:nvSpPr>
        <p:spPr>
          <a:xfrm>
            <a:off x="420624" y="5217795"/>
            <a:ext cx="6675120" cy="1228725"/>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5217795"/>
            <a:ext cx="6144768" cy="1228725"/>
          </a:xfrm>
          <a:prstGeom prst="rect">
            <a:avLst/>
          </a:prstGeom>
          <a:noFill/>
        </p:spPr>
        <p:txBody>
          <a:bodyPr wrap="square" anchor="ctr" lIns="0" rIns="0" tIns="0" bIns="0">
            <a:spAutoFit/>
          </a:bodyPr>
          <a:lstStyle/>
          <a:p>
            <a:pPr algn="l">
              <a:lnSpc>
                <a:spcPct val="103000"/>
              </a:lnSpc>
              <a:spcAft>
                <a:spcPts val="400"/>
              </a:spcAft>
            </a:pPr>
            <a:r>
              <a:rPr sz="1300" b="1" i="0">
                <a:solidFill>
                  <a:srgbClr val="FFFFFF"/>
                </a:solidFill>
                <a:latin typeface="Segoe Sans Display Semibold"/>
              </a:rPr>
              <a:t>Why a recording? </a:t>
            </a:r>
            <a:r>
              <a:rPr sz="1300" b="0" i="0">
                <a:solidFill>
                  <a:srgbClr val="FFFFFF"/>
                </a:solidFill>
                <a:latin typeface="Segoe Sans Display"/>
              </a:rPr>
              <a:t>Cowork tasks can take several minutes. Watch the run here, then do it yourself.</a:t>
            </a:r>
          </a:p>
        </p:txBody>
      </p:sp>
      <p:sp>
        <p:nvSpPr>
          <p:cNvPr id="58" name="Rounded Rectangle 57">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Watch for in the demo</a:t>
            </a:r>
          </a:p>
        </p:txBody>
      </p:sp>
      <p:sp>
        <p:nvSpPr>
          <p:cNvPr id="60" name="TextBox 59"/>
          <p:cNvSpPr txBox="1"/>
          <p:nvPr/>
        </p:nvSpPr>
        <p:spPr>
          <a:xfrm>
            <a:off x="7772400" y="1737360"/>
            <a:ext cx="3931920" cy="3108960"/>
          </a:xfrm>
          <a:prstGeom prst="rect">
            <a:avLst/>
          </a:prstGeom>
          <a:noFill/>
        </p:spPr>
        <p:txBody>
          <a:bodyPr wrap="square" anchor="t" lIns="0" rIns="0" tIns="0" bIns="0">
            <a:spAutoFit/>
          </a:bodyPr>
          <a:lstStyle/>
          <a:p>
            <a:pPr algn="l" marL="237744" indent="-237744">
              <a:lnSpc>
                <a:spcPct val="105000"/>
              </a:lnSpc>
              <a:spcAft>
                <a:spcPts val="1000"/>
              </a:spcAft>
              <a:buFont typeface="+mj-lt"/>
              <a:buAutoNum type="arabicPeriod"/>
            </a:pPr>
            <a:r>
              <a:rPr sz="1400" b="1" i="0">
                <a:solidFill>
                  <a:srgbClr val="323139"/>
                </a:solidFill>
                <a:latin typeface="Segoe UI"/>
              </a:rPr>
              <a:t>Deep Research</a:t>
            </a:r>
            <a:r>
              <a:rPr sz="1400" b="0" i="0">
                <a:solidFill>
                  <a:srgbClr val="323139"/>
                </a:solidFill>
                <a:latin typeface="Segoe UI"/>
              </a:rPr>
              <a:t> → Search and read multiple web sources</a:t>
            </a:r>
          </a:p>
          <a:p>
            <a:pPr algn="l" marL="237744" indent="-237744">
              <a:lnSpc>
                <a:spcPct val="105000"/>
              </a:lnSpc>
              <a:spcAft>
                <a:spcPts val="1000"/>
              </a:spcAft>
              <a:buFont typeface="+mj-lt"/>
              <a:buAutoNum type="arabicPeriod"/>
            </a:pPr>
            <a:r>
              <a:rPr sz="1400" b="1" i="0">
                <a:solidFill>
                  <a:srgbClr val="323139"/>
                </a:solidFill>
                <a:latin typeface="Segoe UI"/>
              </a:rPr>
              <a:t>Synthesize</a:t>
            </a:r>
            <a:r>
              <a:rPr sz="1400" b="0" i="0">
                <a:solidFill>
                  <a:srgbClr val="323139"/>
                </a:solidFill>
                <a:latin typeface="Segoe UI"/>
              </a:rPr>
              <a:t> → Key practices with citations</a:t>
            </a:r>
          </a:p>
          <a:p>
            <a:pPr algn="l" marL="237744" indent="-237744">
              <a:lnSpc>
                <a:spcPct val="105000"/>
              </a:lnSpc>
              <a:spcAft>
                <a:spcPts val="1000"/>
              </a:spcAft>
              <a:buFont typeface="+mj-lt"/>
              <a:buAutoNum type="arabicPeriod"/>
            </a:pPr>
            <a:r>
              <a:rPr sz="1400" b="1" i="0">
                <a:solidFill>
                  <a:srgbClr val="323139"/>
                </a:solidFill>
                <a:latin typeface="Segoe UI"/>
              </a:rPr>
              <a:t>Ground</a:t>
            </a:r>
            <a:r>
              <a:rPr sz="1400" b="0" i="0">
                <a:solidFill>
                  <a:srgbClr val="323139"/>
                </a:solidFill>
                <a:latin typeface="Segoe UI"/>
              </a:rPr>
              <a:t> → Compare to job-description-sample.docx</a:t>
            </a:r>
          </a:p>
          <a:p>
            <a:pPr algn="l" marL="237744" indent="-237744">
              <a:lnSpc>
                <a:spcPct val="105000"/>
              </a:lnSpc>
              <a:spcAft>
                <a:spcPts val="1000"/>
              </a:spcAft>
              <a:buFont typeface="+mj-lt"/>
              <a:buAutoNum type="arabicPeriod"/>
            </a:pPr>
            <a:r>
              <a:rPr sz="1400" b="1" i="0">
                <a:solidFill>
                  <a:srgbClr val="323139"/>
                </a:solidFill>
                <a:latin typeface="Segoe UI"/>
              </a:rPr>
              <a:t>Draft</a:t>
            </a:r>
            <a:r>
              <a:rPr sz="1400" b="0" i="0">
                <a:solidFill>
                  <a:srgbClr val="323139"/>
                </a:solidFill>
                <a:latin typeface="Segoe UI"/>
              </a:rPr>
              <a:t> → Briefing + 5 tailored questions</a:t>
            </a:r>
          </a:p>
          <a:p>
            <a:pPr algn="l" marL="237744" indent="-237744">
              <a:lnSpc>
                <a:spcPct val="105000"/>
              </a:lnSpc>
              <a:spcAft>
                <a:spcPts val="1000"/>
              </a:spcAft>
              <a:buFont typeface="+mj-lt"/>
              <a:buAutoNum type="arabicPeriod"/>
            </a:pPr>
            <a:r>
              <a:rPr sz="1400" b="1" i="0">
                <a:solidFill>
                  <a:srgbClr val="323139"/>
                </a:solidFill>
                <a:latin typeface="Segoe UI"/>
              </a:rPr>
              <a:t>Build</a:t>
            </a:r>
            <a:r>
              <a:rPr sz="1400" b="0" i="0">
                <a:solidFill>
                  <a:srgbClr val="323139"/>
                </a:solidFill>
                <a:latin typeface="Segoe UI"/>
              </a:rPr>
              <a:t> → Optional: scorecard in Word + Excel</a:t>
            </a:r>
          </a:p>
        </p:txBody>
      </p:sp>
      <p:sp>
        <p:nvSpPr>
          <p:cNvPr id="61" name="Rounded Rectangle 60">
            <a:extLst>
              <a:ext uri="{C183D7F6-B498-43B3-948B-1728B52AA6E4}">
                <ns4:decorative xmlns:ns4="http://schemas.microsoft.com/office/drawing/2017/decorative" val="1"/>
              </a:ext>
            </a:extLst>
          </p:cNvPr>
          <p:cNvSpPr/>
          <p:nvPr/>
        </p:nvSpPr>
        <p:spPr>
          <a:xfrm>
            <a:off x="7726679" y="5166359"/>
            <a:ext cx="4023360" cy="1051560"/>
          </a:xfrm>
          <a:prstGeom prst="roundRect">
            <a:avLst>
              <a:gd name="adj" fmla="val 10000"/>
            </a:avLst>
          </a:prstGeom>
          <a:solidFill>
            <a:srgbClr val="FFFC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909559" y="5166359"/>
            <a:ext cx="3657600" cy="1051560"/>
          </a:xfrm>
          <a:prstGeom prst="rect">
            <a:avLst/>
          </a:prstGeom>
          <a:noFill/>
        </p:spPr>
        <p:txBody>
          <a:bodyPr wrap="square" anchor="ctr" lIns="0" rIns="0" tIns="0" bIns="0">
            <a:spAutoFit/>
          </a:bodyPr>
          <a:lstStyle/>
          <a:p>
            <a:pPr algn="l">
              <a:lnSpc>
                <a:spcPct val="103000"/>
              </a:lnSpc>
              <a:spcAft>
                <a:spcPts val="400"/>
              </a:spcAft>
            </a:pPr>
            <a:r>
              <a:rPr sz="1200" b="1" i="0">
                <a:solidFill>
                  <a:srgbClr val="323139"/>
                </a:solidFill>
                <a:latin typeface="Segoe Sans Display"/>
              </a:rPr>
              <a:t>Next:</a:t>
            </a:r>
            <a:r>
              <a:rPr sz="1200" b="0" i="0">
                <a:solidFill>
                  <a:srgbClr val="323139"/>
                </a:solidFill>
                <a:latin typeface="Segoe Sans Display"/>
              </a:rPr>
              <a:t> your turn on the hands-on slide (15 min).</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Deep Research</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01</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15 min</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New task</a:t>
            </a:r>
            <a:r>
              <a:rPr sz="1500" b="0" i="0">
                <a:solidFill>
                  <a:srgbClr val="323139"/>
                </a:solidFill>
                <a:latin typeface="Segoe UI"/>
              </a:rPr>
              <a:t> → run the Deep Research prompt.</a:t>
            </a:r>
          </a:p>
          <a:p>
            <a:pPr algn="l" marL="237744" indent="-237744">
              <a:lnSpc>
                <a:spcPct val="105000"/>
              </a:lnSpc>
              <a:spcAft>
                <a:spcPts val="900"/>
              </a:spcAft>
              <a:buFont typeface="+mj-lt"/>
              <a:buAutoNum type="arabicPeriod"/>
            </a:pPr>
            <a:r>
              <a:rPr sz="1500" b="1" i="0">
                <a:solidFill>
                  <a:srgbClr val="323139"/>
                </a:solidFill>
                <a:latin typeface="Segoe UI"/>
              </a:rPr>
              <a:t>Watch</a:t>
            </a:r>
            <a:r>
              <a:rPr sz="1500" b="0" i="0">
                <a:solidFill>
                  <a:srgbClr val="323139"/>
                </a:solidFill>
                <a:latin typeface="Segoe UI"/>
              </a:rPr>
              <a:t> it search and read multiple sources, citing each. Open two citations.</a:t>
            </a:r>
          </a:p>
          <a:p>
            <a:pPr algn="l" marL="237744" indent="-237744">
              <a:lnSpc>
                <a:spcPct val="105000"/>
              </a:lnSpc>
              <a:spcAft>
                <a:spcPts val="900"/>
              </a:spcAft>
              <a:buFont typeface="+mj-lt"/>
              <a:buAutoNum type="arabicPeriod"/>
            </a:pPr>
            <a:r>
              <a:rPr sz="1500" b="1" i="0">
                <a:solidFill>
                  <a:srgbClr val="323139"/>
                </a:solidFill>
                <a:latin typeface="Segoe UI"/>
              </a:rPr>
              <a:t>Ground it:</a:t>
            </a:r>
            <a:r>
              <a:rPr sz="1500" b="0" i="0">
                <a:solidFill>
                  <a:srgbClr val="323139"/>
                </a:solidFill>
                <a:latin typeface="Segoe UI"/>
              </a:rPr>
              <a:t> attach job-description-sample.docx and compare the findings to it.</a:t>
            </a:r>
          </a:p>
          <a:p>
            <a:pPr algn="l" marL="237744" indent="-237744">
              <a:lnSpc>
                <a:spcPct val="105000"/>
              </a:lnSpc>
              <a:spcAft>
                <a:spcPts val="900"/>
              </a:spcAft>
              <a:buFont typeface="+mj-lt"/>
              <a:buAutoNum type="arabicPeriod"/>
            </a:pPr>
            <a:r>
              <a:rPr sz="1500" b="1" i="0">
                <a:solidFill>
                  <a:srgbClr val="323139"/>
                </a:solidFill>
                <a:latin typeface="Segoe UI"/>
              </a:rPr>
              <a:t>Ask for</a:t>
            </a:r>
            <a:r>
              <a:rPr sz="1500" b="0" i="0">
                <a:solidFill>
                  <a:srgbClr val="323139"/>
                </a:solidFill>
                <a:latin typeface="Segoe UI"/>
              </a:rPr>
              <a:t> five tailored interview questions.</a:t>
            </a:r>
          </a:p>
          <a:p>
            <a:pPr algn="l" marL="237744" indent="-237744">
              <a:lnSpc>
                <a:spcPct val="105000"/>
              </a:lnSpc>
              <a:spcAft>
                <a:spcPts val="900"/>
              </a:spcAft>
              <a:buFont typeface="+mj-lt"/>
              <a:buAutoNum type="arabicPeriod"/>
            </a:pPr>
            <a:r>
              <a:rPr sz="1500" b="1" i="0">
                <a:solidFill>
                  <a:srgbClr val="323139"/>
                </a:solidFill>
                <a:latin typeface="Segoe UI"/>
              </a:rPr>
              <a:t>Optional:</a:t>
            </a:r>
            <a:r>
              <a:rPr sz="1500" b="0" i="0">
                <a:solidFill>
                  <a:srgbClr val="323139"/>
                </a:solidFill>
                <a:latin typeface="Segoe UI"/>
              </a:rPr>
              <a:t> scorecard in </a:t>
            </a:r>
            <a:r>
              <a:rPr sz="1500" b="1" i="0">
                <a:solidFill>
                  <a:srgbClr val="323139"/>
                </a:solidFill>
                <a:latin typeface="Segoe UI"/>
              </a:rPr>
              <a:t>Word AND Excel</a:t>
            </a:r>
            <a:r>
              <a:rPr sz="1500" b="0" i="0">
                <a:solidFill>
                  <a:srgbClr val="323139"/>
                </a:solidFill>
                <a:latin typeface="Segoe UI"/>
              </a:rPr>
              <a:t>, scales filled in; open both from the </a:t>
            </a:r>
            <a:r>
              <a:rPr sz="1500" b="1" i="0">
                <a:solidFill>
                  <a:srgbClr val="323139"/>
                </a:solidFill>
                <a:latin typeface="Segoe UI"/>
              </a:rPr>
              <a:t>Output folder</a:t>
            </a:r>
            <a:r>
              <a:rPr sz="1500" b="0" i="0">
                <a:solidFill>
                  <a:srgbClr val="323139"/>
                </a:solidFill>
                <a:latin typeface="Segoe UI"/>
              </a:rPr>
              <a:t>.</a:t>
            </a:r>
          </a:p>
          <a:p>
            <a:pPr algn="l" marL="237744" indent="-237744">
              <a:lnSpc>
                <a:spcPct val="105000"/>
              </a:lnSpc>
              <a:spcAft>
                <a:spcPts val="900"/>
              </a:spcAft>
              <a:buFont typeface="+mj-lt"/>
              <a:buAutoNum type="arabicPeriod"/>
            </a:pPr>
            <a:r>
              <a:rPr sz="1500" b="1" i="0">
                <a:solidFill>
                  <a:srgbClr val="323139"/>
                </a:solidFill>
                <a:latin typeface="Segoe UI"/>
              </a:rPr>
              <a:t>Optional:</a:t>
            </a:r>
            <a:r>
              <a:rPr sz="1500" b="0" i="0">
                <a:solidFill>
                  <a:srgbClr val="323139"/>
                </a:solidFill>
                <a:latin typeface="Segoe UI"/>
              </a:rPr>
              <a:t> type </a:t>
            </a:r>
            <a:r>
              <a:rPr sz="1500" b="1" i="0">
                <a:solidFill>
                  <a:srgbClr val="323139"/>
                </a:solidFill>
                <a:latin typeface="Segoe UI"/>
              </a:rPr>
              <a:t>/cost</a:t>
            </a:r>
            <a:r>
              <a:rPr sz="1500" b="0" i="0">
                <a:solidFill>
                  <a:srgbClr val="323139"/>
                </a:solidFill>
                <a:latin typeface="Segoe UI"/>
              </a:rPr>
              <a:t> in this task to check approximate credits used (next slide).</a:t>
            </a:r>
          </a:p>
        </p:txBody>
      </p:sp>
      <p:sp>
        <p:nvSpPr>
          <p:cNvPr id="55" name="Rounded Rectangle 54">
            <a:extLst>
              <a:ext uri="{C183D7F6-B498-43B3-948B-1728B52AA6E4}">
                <ns2:decorative xmlns:ns2="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3:decorative xmlns:ns3="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When is web research better than searching your own organization’s content — and when is it riskier?</a:t>
            </a:r>
          </a:p>
        </p:txBody>
      </p:sp>
      <p:sp>
        <p:nvSpPr>
          <p:cNvPr id="59" name="Rounded Rectangle 58">
            <a:extLst>
              <a:ext uri="{C183D7F6-B498-43B3-948B-1728B52AA6E4}">
                <ns4:decorative xmlns:ns4="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5:decorative xmlns:ns5="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The </a:t>
            </a:r>
            <a:r>
              <a:rPr sz="1150" b="1" i="0">
                <a:solidFill>
                  <a:srgbClr val="323139"/>
                </a:solidFill>
                <a:latin typeface="Segoe UI"/>
              </a:rPr>
              <a:t>Deep Research</a:t>
            </a:r>
            <a:r>
              <a:rPr sz="1150" b="0" i="0">
                <a:solidFill>
                  <a:srgbClr val="323139"/>
                </a:solidFill>
                <a:latin typeface="Segoe UI"/>
              </a:rPr>
              <a:t> skill chip and progress</a:t>
            </a:r>
          </a:p>
          <a:p>
            <a:pPr algn="l" marL="182880" indent="-182880">
              <a:spcAft>
                <a:spcPts val="400"/>
              </a:spcAft>
              <a:buFont typeface="Arial"/>
              <a:buChar char="•"/>
            </a:pPr>
            <a:r>
              <a:rPr sz="1150" b="0" i="0">
                <a:solidFill>
                  <a:srgbClr val="323139"/>
                </a:solidFill>
                <a:latin typeface="Segoe UI"/>
              </a:rPr>
              <a:t>Citations you can open and check</a:t>
            </a:r>
          </a:p>
          <a:p>
            <a:pPr algn="l" marL="182880" indent="-182880">
              <a:spcAft>
                <a:spcPts val="400"/>
              </a:spcAft>
              <a:buFont typeface="Arial"/>
              <a:buChar char="•"/>
            </a:pPr>
            <a:r>
              <a:rPr sz="1150" b="0" i="0">
                <a:solidFill>
                  <a:srgbClr val="323139"/>
                </a:solidFill>
                <a:latin typeface="Segoe UI"/>
              </a:rPr>
              <a:t>Optional scorecard: </a:t>
            </a:r>
            <a:r>
              <a:rPr sz="1150" b="1" i="0">
                <a:solidFill>
                  <a:srgbClr val="323139"/>
                </a:solidFill>
                <a:latin typeface="Segoe UI"/>
              </a:rPr>
              <a:t>Word</a:t>
            </a:r>
            <a:r>
              <a:rPr sz="1150" b="0" i="0">
                <a:solidFill>
                  <a:srgbClr val="323139"/>
                </a:solidFill>
                <a:latin typeface="Segoe UI"/>
              </a:rPr>
              <a:t> + </a:t>
            </a:r>
            <a:r>
              <a:rPr sz="1150" b="1" i="0">
                <a:solidFill>
                  <a:srgbClr val="323139"/>
                </a:solidFill>
                <a:latin typeface="Segoe UI"/>
              </a:rPr>
              <a:t>Excel</a:t>
            </a:r>
            <a:r>
              <a:rPr sz="1150" b="0" i="0">
                <a:solidFill>
                  <a:srgbClr val="323139"/>
                </a:solidFill>
                <a:latin typeface="Segoe UI"/>
              </a:rPr>
              <a:t> chips</a:t>
            </a:r>
          </a:p>
          <a:p>
            <a:pPr algn="l" marL="182880" indent="-182880">
              <a:spcAft>
                <a:spcPts val="400"/>
              </a:spcAft>
              <a:buFont typeface="Arial"/>
              <a:buChar char="•"/>
            </a:pPr>
            <a:r>
              <a:rPr sz="1150" b="0" i="0">
                <a:solidFill>
                  <a:srgbClr val="323139"/>
                </a:solidFill>
                <a:latin typeface="Segoe UI"/>
              </a:rPr>
              <a:t>Scales filled in — no “TBD” anchors</a:t>
            </a:r>
          </a:p>
        </p:txBody>
      </p:sp>
      <p:sp>
        <p:nvSpPr>
          <p:cNvPr id="63" name="Rounded Rectangle 62">
            <a:extLst>
              <a:ext uri="{C183D7F6-B498-43B3-948B-1728B52AA6E4}">
                <ns6:decorative xmlns:ns6="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7:decorative xmlns:ns7="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 cited briefing and five interview questions tied to the HR Coordinator role (plus the optional Word + Excel scorecard, every scale filled in).</a:t>
            </a:r>
          </a:p>
        </p:txBody>
      </p:sp>
      <p:sp>
        <p:nvSpPr>
          <p:cNvPr id="67" name="Rounded Rectangle 66">
            <a:extLst>
              <a:ext uri="{C183D7F6-B498-43B3-948B-1728B52AA6E4}">
                <ns8:decorative xmlns:ns8="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200"/>
              </a:spcAft>
            </a:pPr>
            <a:r>
              <a:rPr sz="1100" b="1" i="0">
                <a:solidFill>
                  <a:srgbClr val="323139"/>
                </a:solidFill>
                <a:latin typeface="Segoe Sans Display Semibold"/>
              </a:rPr>
              <a:t>Stretch: </a:t>
            </a:r>
            <a:r>
              <a:rPr sz="1100" b="0" i="0">
                <a:solidFill>
                  <a:srgbClr val="323139"/>
                </a:solidFill>
                <a:latin typeface="Segoe Sans Display"/>
              </a:rPr>
              <a:t>Benchmark PTO / annual-leave norms for mid-size tech firms against the Zava handbook.</a:t>
            </a:r>
          </a:p>
          <a:p>
            <a:pPr algn="l">
              <a:lnSpc>
                <a:spcPct val="103000"/>
              </a:lnSpc>
              <a:spcAft>
                <a:spcPts val="400"/>
              </a:spcAft>
            </a:pPr>
            <a:r>
              <a:rPr sz="1000" b="0" i="0">
                <a:solidFill>
                  <a:srgbClr val="616161"/>
                </a:solidFill>
                <a:latin typeface="Segoe Sans Display"/>
              </a:rPr>
              <a:t>Full prompt: </a:t>
            </a:r>
            <a:r>
              <a:rPr sz="1000" b="1" i="0">
                <a:solidFill>
                  <a:srgbClr val="0F6CBD"/>
                </a:solidFill>
                <a:latin typeface="Segoe Sans Display"/>
                <a:hlinkClick r:id="rId7">
                  <a:extLst>
                    <a:ext uri="{A12FA001-AC4F-418D-AE19-62706E023703}">
                      <ahyp:hlinkClr xmlns:ahyp="http://schemas.microsoft.com/office/drawing/2018/hyperlinkcolor" val="tx"/>
                    </a:ext>
                  </a:extLst>
                </a:hlinkClick>
              </a:rPr>
              <a:t>participant workbook, Exercise 1</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Find your outputs · the Output folder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01</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3 min</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5257800"/>
          </a:xfrm>
          <a:prstGeom prst="roundRect">
            <a:avLst>
              <a:gd name="adj" fmla="val 4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Show the room</a:t>
            </a:r>
          </a:p>
        </p:txBody>
      </p:sp>
      <p:sp>
        <p:nvSpPr>
          <p:cNvPr id="54" name="TextBox 53"/>
          <p:cNvSpPr txBox="1"/>
          <p:nvPr/>
        </p:nvSpPr>
        <p:spPr>
          <a:xfrm>
            <a:off x="777240" y="1572768"/>
            <a:ext cx="6035040" cy="3749039"/>
          </a:xfrm>
          <a:prstGeom prst="rect">
            <a:avLst/>
          </a:prstGeom>
          <a:noFill/>
        </p:spPr>
        <p:txBody>
          <a:bodyPr wrap="square" anchor="t" lIns="0" rIns="0" tIns="0" bIns="0">
            <a:spAutoFit/>
          </a:bodyPr>
          <a:lstStyle/>
          <a:p>
            <a:pPr algn="l" marL="237744" indent="-237744">
              <a:lnSpc>
                <a:spcPct val="105000"/>
              </a:lnSpc>
              <a:spcAft>
                <a:spcPts val="800"/>
              </a:spcAft>
              <a:buFont typeface="+mj-lt"/>
              <a:buAutoNum type="arabicPeriod"/>
            </a:pPr>
            <a:r>
              <a:rPr sz="1400" b="1" i="0">
                <a:solidFill>
                  <a:srgbClr val="323139"/>
                </a:solidFill>
                <a:latin typeface="Segoe UI"/>
              </a:rPr>
              <a:t>Open the side panel</a:t>
            </a:r>
            <a:r>
              <a:rPr sz="1400" b="0" i="0">
                <a:solidFill>
                  <a:srgbClr val="323139"/>
                </a:solidFill>
                <a:latin typeface="Segoe UI"/>
              </a:rPr>
              <a:t> — select the side panel toggle at the right of the session.</a:t>
            </a:r>
          </a:p>
          <a:p>
            <a:pPr algn="l" marL="237744" indent="-237744">
              <a:lnSpc>
                <a:spcPct val="105000"/>
              </a:lnSpc>
              <a:spcAft>
                <a:spcPts val="800"/>
              </a:spcAft>
              <a:buFont typeface="+mj-lt"/>
              <a:buAutoNum type="arabicPeriod"/>
            </a:pPr>
            <a:r>
              <a:rPr sz="1400" b="1" i="0">
                <a:solidFill>
                  <a:srgbClr val="323139"/>
                </a:solidFill>
                <a:latin typeface="Segoe UI"/>
              </a:rPr>
              <a:t>Input folder</a:t>
            </a:r>
            <a:r>
              <a:rPr sz="1400" b="0" i="0">
                <a:solidFill>
                  <a:srgbClr val="323139"/>
                </a:solidFill>
                <a:latin typeface="Segoe UI"/>
              </a:rPr>
              <a:t> = files you attached. </a:t>
            </a:r>
            <a:r>
              <a:rPr sz="1400" b="1" i="0">
                <a:solidFill>
                  <a:srgbClr val="323139"/>
                </a:solidFill>
                <a:latin typeface="Segoe UI"/>
              </a:rPr>
              <a:t>Output folder</a:t>
            </a:r>
            <a:r>
              <a:rPr sz="1400" b="0" i="0">
                <a:solidFill>
                  <a:srgbClr val="323139"/>
                </a:solidFill>
                <a:latin typeface="Segoe UI"/>
              </a:rPr>
              <a:t> = files Cowork created.</a:t>
            </a:r>
          </a:p>
          <a:p>
            <a:pPr algn="l" marL="237744" indent="-237744">
              <a:lnSpc>
                <a:spcPct val="105000"/>
              </a:lnSpc>
              <a:spcAft>
                <a:spcPts val="800"/>
              </a:spcAft>
              <a:buFont typeface="+mj-lt"/>
              <a:buAutoNum type="arabicPeriod"/>
            </a:pPr>
            <a:r>
              <a:rPr sz="1400" b="0" i="0">
                <a:solidFill>
                  <a:srgbClr val="323139"/>
                </a:solidFill>
                <a:latin typeface="Segoe UI"/>
              </a:rPr>
              <a:t>Select </a:t>
            </a:r>
            <a:r>
              <a:rPr sz="1400" b="1" i="0">
                <a:solidFill>
                  <a:srgbClr val="323139"/>
                </a:solidFill>
                <a:latin typeface="Segoe UI"/>
              </a:rPr>
              <a:t>Preview</a:t>
            </a:r>
            <a:r>
              <a:rPr sz="1400" b="0" i="0">
                <a:solidFill>
                  <a:srgbClr val="323139"/>
                </a:solidFill>
                <a:latin typeface="Segoe UI"/>
              </a:rPr>
              <a:t> on the optional Word or Excel scorecard: it opens in a </a:t>
            </a:r>
            <a:r>
              <a:rPr sz="1400" b="1" i="0">
                <a:solidFill>
                  <a:srgbClr val="323139"/>
                </a:solidFill>
                <a:latin typeface="Segoe UI"/>
              </a:rPr>
              <a:t>split view</a:t>
            </a:r>
            <a:r>
              <a:rPr sz="1400" b="0" i="0">
                <a:solidFill>
                  <a:srgbClr val="323139"/>
                </a:solidFill>
                <a:latin typeface="Segoe UI"/>
              </a:rPr>
              <a:t>. Try the </a:t>
            </a:r>
            <a:r>
              <a:rPr sz="1400" b="1" i="0">
                <a:solidFill>
                  <a:srgbClr val="323139"/>
                </a:solidFill>
                <a:latin typeface="Segoe UI"/>
              </a:rPr>
              <a:t>full-screen toggle</a:t>
            </a:r>
            <a:r>
              <a:rPr sz="1400" b="0" i="0">
                <a:solidFill>
                  <a:srgbClr val="323139"/>
                </a:solidFill>
                <a:latin typeface="Segoe UI"/>
              </a:rPr>
              <a:t> and </a:t>
            </a:r>
            <a:r>
              <a:rPr sz="1400" b="1" i="0">
                <a:solidFill>
                  <a:srgbClr val="323139"/>
                </a:solidFill>
                <a:latin typeface="Segoe UI"/>
              </a:rPr>
              <a:t>Open in native app</a:t>
            </a:r>
            <a:r>
              <a:rPr sz="1400" b="0" i="0">
                <a:solidFill>
                  <a:srgbClr val="323139"/>
                </a:solidFill>
                <a:latin typeface="Segoe UI"/>
              </a:rPr>
              <a:t>.</a:t>
            </a:r>
          </a:p>
          <a:p>
            <a:pPr algn="l" marL="237744" indent="-237744">
              <a:lnSpc>
                <a:spcPct val="105000"/>
              </a:lnSpc>
              <a:spcAft>
                <a:spcPts val="800"/>
              </a:spcAft>
              <a:buFont typeface="+mj-lt"/>
              <a:buAutoNum type="arabicPeriod"/>
            </a:pPr>
            <a:r>
              <a:rPr sz="1400" b="1" i="0">
                <a:solidFill>
                  <a:srgbClr val="323139"/>
                </a:solidFill>
                <a:latin typeface="Segoe UI"/>
              </a:rPr>
              <a:t>Download</a:t>
            </a:r>
            <a:r>
              <a:rPr sz="1400" b="0" i="0">
                <a:solidFill>
                  <a:srgbClr val="323139"/>
                </a:solidFill>
                <a:latin typeface="Segoe UI"/>
              </a:rPr>
              <a:t> saves one file; </a:t>
            </a:r>
            <a:r>
              <a:rPr sz="1400" b="1" i="0">
                <a:solidFill>
                  <a:srgbClr val="323139"/>
                </a:solidFill>
                <a:latin typeface="Segoe UI"/>
              </a:rPr>
              <a:t>Download All</a:t>
            </a:r>
            <a:r>
              <a:rPr sz="1400" b="0" i="0">
                <a:solidFill>
                  <a:srgbClr val="323139"/>
                </a:solidFill>
                <a:latin typeface="Segoe UI"/>
              </a:rPr>
              <a:t> saves every output as a zip.</a:t>
            </a:r>
          </a:p>
          <a:p>
            <a:pPr algn="l" marL="237744" indent="-237744">
              <a:lnSpc>
                <a:spcPct val="105000"/>
              </a:lnSpc>
              <a:spcAft>
                <a:spcPts val="800"/>
              </a:spcAft>
              <a:buFont typeface="+mj-lt"/>
              <a:buAutoNum type="arabicPeriod"/>
            </a:pPr>
            <a:r>
              <a:rPr sz="1400" b="0" i="0">
                <a:solidFill>
                  <a:srgbClr val="323139"/>
                </a:solidFill>
                <a:latin typeface="Segoe UI"/>
              </a:rPr>
              <a:t>Open </a:t>
            </a:r>
            <a:r>
              <a:rPr sz="1400" b="1" i="0">
                <a:solidFill>
                  <a:srgbClr val="323139"/>
                </a:solidFill>
                <a:latin typeface="Segoe UI"/>
              </a:rPr>
              <a:t>OneDrive → Cowork</a:t>
            </a:r>
            <a:r>
              <a:rPr sz="1400" b="0" i="0">
                <a:solidFill>
                  <a:srgbClr val="323139"/>
                </a:solidFill>
                <a:latin typeface="Segoe UI"/>
              </a:rPr>
              <a:t> in a new tab: every output is saved there too.</a:t>
            </a:r>
          </a:p>
          <a:p>
            <a:pPr algn="l" marL="237744" indent="-237744">
              <a:lnSpc>
                <a:spcPct val="105000"/>
              </a:lnSpc>
              <a:spcAft>
                <a:spcPts val="800"/>
              </a:spcAft>
              <a:buFont typeface="+mj-lt"/>
              <a:buAutoNum type="arabicPeriod"/>
            </a:pPr>
            <a:r>
              <a:rPr sz="1400" b="0" i="0">
                <a:solidFill>
                  <a:srgbClr val="323139"/>
                </a:solidFill>
                <a:latin typeface="Segoe UI"/>
              </a:rPr>
              <a:t>Follow the demo; if you built the optional scorecard, open your own files too.</a:t>
            </a:r>
          </a:p>
        </p:txBody>
      </p:sp>
      <p:sp>
        <p:nvSpPr>
          <p:cNvPr id="55" name="Rounded Rectangle 54">
            <a:extLst>
              <a:ext uri="{C183D7F6-B498-43B3-948B-1728B52AA6E4}">
                <ns2:decorative xmlns:ns2="http://schemas.microsoft.com/office/drawing/2017/decorative" val="1"/>
              </a:ext>
            </a:extLst>
          </p:cNvPr>
          <p:cNvSpPr/>
          <p:nvPr/>
        </p:nvSpPr>
        <p:spPr>
          <a:xfrm>
            <a:off x="685800" y="5440680"/>
            <a:ext cx="6144768" cy="82296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914400" y="5440680"/>
            <a:ext cx="5760720" cy="822960"/>
          </a:xfrm>
          <a:prstGeom prst="rect">
            <a:avLst/>
          </a:prstGeom>
          <a:noFill/>
        </p:spPr>
        <p:txBody>
          <a:bodyPr wrap="square" anchor="ctr" lIns="0" rIns="0" tIns="0" bIns="0">
            <a:spAutoFit/>
          </a:bodyPr>
          <a:lstStyle/>
          <a:p>
            <a:pPr algn="l">
              <a:lnSpc>
                <a:spcPct val="103000"/>
              </a:lnSpc>
              <a:spcAft>
                <a:spcPts val="400"/>
              </a:spcAft>
            </a:pPr>
            <a:r>
              <a:rPr sz="1250" b="1" i="0">
                <a:solidFill>
                  <a:srgbClr val="FFFFFF"/>
                </a:solidFill>
                <a:latin typeface="Segoe Sans Display Semibold"/>
              </a:rPr>
              <a:t>Every exercise that creates a file ends here. </a:t>
            </a:r>
            <a:r>
              <a:rPr sz="1250" b="0" i="0">
                <a:solidFill>
                  <a:srgbClr val="FFFFFF"/>
                </a:solidFill>
                <a:latin typeface="Segoe Sans Display"/>
              </a:rPr>
              <a:t>Can’t find it? Side panel toggle → Output folder, or OneDrive → Cowork.</a:t>
            </a:r>
          </a:p>
        </p:txBody>
      </p:sp>
      <p:sp>
        <p:nvSpPr>
          <p:cNvPr id="57" name="Rounded Rectangle 56">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Side panel</a:t>
            </a:r>
          </a:p>
        </p:txBody>
      </p:sp>
      <p:sp>
        <p:nvSpPr>
          <p:cNvPr id="59" name="TextBox 58"/>
          <p:cNvSpPr txBox="1"/>
          <p:nvPr/>
        </p:nvSpPr>
        <p:spPr>
          <a:xfrm>
            <a:off x="7772400" y="1746504"/>
            <a:ext cx="3931920" cy="274320"/>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Progress</a:t>
            </a:r>
          </a:p>
        </p:txBody>
      </p:sp>
      <p:sp>
        <p:nvSpPr>
          <p:cNvPr id="60" name="TextBox 59"/>
          <p:cNvSpPr txBox="1"/>
          <p:nvPr/>
        </p:nvSpPr>
        <p:spPr>
          <a:xfrm>
            <a:off x="7772400" y="2002536"/>
            <a:ext cx="3931920" cy="256032"/>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Progress bar and step-by-step log</a:t>
            </a:r>
          </a:p>
        </p:txBody>
      </p:sp>
      <p:sp>
        <p:nvSpPr>
          <p:cNvPr id="61" name="TextBox 60"/>
          <p:cNvSpPr txBox="1"/>
          <p:nvPr/>
        </p:nvSpPr>
        <p:spPr>
          <a:xfrm>
            <a:off x="7772400" y="2441448"/>
            <a:ext cx="3931920" cy="274320"/>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Input folder</a:t>
            </a:r>
          </a:p>
        </p:txBody>
      </p:sp>
      <p:sp>
        <p:nvSpPr>
          <p:cNvPr id="62" name="TextBox 61"/>
          <p:cNvSpPr txBox="1"/>
          <p:nvPr/>
        </p:nvSpPr>
        <p:spPr>
          <a:xfrm>
            <a:off x="7772400" y="2697480"/>
            <a:ext cx="3931920" cy="256032"/>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Files you attached</a:t>
            </a:r>
          </a:p>
        </p:txBody>
      </p:sp>
      <p:sp>
        <p:nvSpPr>
          <p:cNvPr id="63" name="Rounded Rectangle 62">
            <a:extLst>
              <a:ext uri="{C183D7F6-B498-43B3-948B-1728B52AA6E4}">
                <ns4:decorative xmlns:ns4="http://schemas.microsoft.com/office/drawing/2017/decorative" val="1"/>
              </a:ext>
            </a:extLst>
          </p:cNvPr>
          <p:cNvSpPr/>
          <p:nvPr/>
        </p:nvSpPr>
        <p:spPr>
          <a:xfrm>
            <a:off x="7635240" y="3081528"/>
            <a:ext cx="4206240" cy="1051560"/>
          </a:xfrm>
          <a:prstGeom prst="roundRect">
            <a:avLst>
              <a:gd name="adj" fmla="val 8000"/>
            </a:avLst>
          </a:prstGeom>
          <a:solidFill>
            <a:srgbClr val="FBF6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0561319" y="3154680"/>
            <a:ext cx="1097280" cy="256032"/>
          </a:xfrm>
          <a:prstGeom prst="rect">
            <a:avLst/>
          </a:prstGeom>
          <a:noFill/>
        </p:spPr>
        <p:txBody>
          <a:bodyPr wrap="square" anchor="t" lIns="0" rIns="0" tIns="0" bIns="0">
            <a:spAutoFit/>
          </a:bodyPr>
          <a:lstStyle/>
          <a:p>
            <a:pPr algn="r">
              <a:spcAft>
                <a:spcPts val="400"/>
              </a:spcAft>
            </a:pPr>
            <a:r>
              <a:rPr sz="900" b="1" i="0">
                <a:solidFill>
                  <a:srgbClr val="0F6CBD"/>
                </a:solidFill>
                <a:latin typeface="Segoe UI"/>
              </a:rPr>
              <a:t>Download All</a:t>
            </a:r>
          </a:p>
        </p:txBody>
      </p:sp>
      <p:sp>
        <p:nvSpPr>
          <p:cNvPr id="65" name="TextBox 64"/>
          <p:cNvSpPr txBox="1"/>
          <p:nvPr/>
        </p:nvSpPr>
        <p:spPr>
          <a:xfrm>
            <a:off x="7772400" y="3136392"/>
            <a:ext cx="3931920" cy="274320"/>
          </a:xfrm>
          <a:prstGeom prst="rect">
            <a:avLst/>
          </a:prstGeom>
          <a:noFill/>
        </p:spPr>
        <p:txBody>
          <a:bodyPr wrap="square" anchor="t" lIns="0" rIns="0" tIns="0" bIns="0">
            <a:spAutoFit/>
          </a:bodyPr>
          <a:lstStyle/>
          <a:p>
            <a:pPr algn="l">
              <a:spcAft>
                <a:spcPts val="400"/>
              </a:spcAft>
            </a:pPr>
            <a:r>
              <a:rPr sz="1150" b="1" i="0">
                <a:solidFill>
                  <a:srgbClr val="8064A2"/>
                </a:solidFill>
                <a:latin typeface="Segoe UI"/>
              </a:rPr>
              <a:t>Output folder</a:t>
            </a:r>
          </a:p>
        </p:txBody>
      </p:sp>
      <p:sp>
        <p:nvSpPr>
          <p:cNvPr id="66" name="Rectangle 65">
            <a:extLst>
              <a:ext uri="{C183D7F6-B498-43B3-948B-1728B52AA6E4}">
                <ns5:decorative xmlns:ns5="http://schemas.microsoft.com/office/drawing/2017/decorative" val="1"/>
              </a:ext>
            </a:extLst>
          </p:cNvPr>
          <p:cNvSpPr/>
          <p:nvPr/>
        </p:nvSpPr>
        <p:spPr>
          <a:xfrm>
            <a:off x="7772400" y="3502152"/>
            <a:ext cx="3931920" cy="475488"/>
          </a:xfrm>
          <a:prstGeom prst="rect">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7882127" y="3502152"/>
            <a:ext cx="2286000" cy="475488"/>
          </a:xfrm>
          <a:prstGeom prst="rect">
            <a:avLst/>
          </a:prstGeom>
          <a:noFill/>
        </p:spPr>
        <p:txBody>
          <a:bodyPr wrap="square" anchor="ctr" lIns="0" rIns="0" tIns="0" bIns="0">
            <a:spAutoFit/>
          </a:bodyPr>
          <a:lstStyle/>
          <a:p>
            <a:pPr algn="l">
              <a:spcAft>
                <a:spcPts val="400"/>
              </a:spcAft>
            </a:pPr>
            <a:r>
              <a:rPr sz="950" b="0" i="0">
                <a:solidFill>
                  <a:srgbClr val="242424"/>
                </a:solidFill>
                <a:latin typeface="Segoe UI"/>
              </a:rPr>
              <a:t>interviewer-scorecard.docx</a:t>
            </a:r>
          </a:p>
        </p:txBody>
      </p:sp>
      <p:sp>
        <p:nvSpPr>
          <p:cNvPr id="68" name="Rounded Rectangle 67">
            <a:extLst>
              <a:ext uri="{C183D7F6-B498-43B3-948B-1728B52AA6E4}">
                <ns6:decorative xmlns:ns6="http://schemas.microsoft.com/office/drawing/2017/decorative" val="1"/>
              </a:ext>
            </a:extLst>
          </p:cNvPr>
          <p:cNvSpPr/>
          <p:nvPr/>
        </p:nvSpPr>
        <p:spPr>
          <a:xfrm>
            <a:off x="10241280" y="3602736"/>
            <a:ext cx="694944" cy="274320"/>
          </a:xfrm>
          <a:prstGeom prst="roundRect">
            <a:avLst>
              <a:gd name="adj" fmla="val 4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0241280" y="3602736"/>
            <a:ext cx="694944" cy="274320"/>
          </a:xfrm>
          <a:prstGeom prst="rect">
            <a:avLst/>
          </a:prstGeom>
          <a:noFill/>
        </p:spPr>
        <p:txBody>
          <a:bodyPr wrap="square" anchor="ctr" lIns="0" rIns="0" tIns="0" bIns="0">
            <a:spAutoFit/>
          </a:bodyPr>
          <a:lstStyle/>
          <a:p>
            <a:pPr algn="ctr">
              <a:spcAft>
                <a:spcPts val="400"/>
              </a:spcAft>
            </a:pPr>
            <a:r>
              <a:rPr sz="850" b="1" i="0">
                <a:solidFill>
                  <a:srgbClr val="323139"/>
                </a:solidFill>
                <a:latin typeface="Segoe UI"/>
              </a:rPr>
              <a:t>Preview</a:t>
            </a:r>
          </a:p>
        </p:txBody>
      </p:sp>
      <p:sp>
        <p:nvSpPr>
          <p:cNvPr id="70" name="Rounded Rectangle 69">
            <a:extLst>
              <a:ext uri="{C183D7F6-B498-43B3-948B-1728B52AA6E4}">
                <ns7:decorative xmlns:ns7="http://schemas.microsoft.com/office/drawing/2017/decorative" val="1"/>
              </a:ext>
            </a:extLst>
          </p:cNvPr>
          <p:cNvSpPr/>
          <p:nvPr/>
        </p:nvSpPr>
        <p:spPr>
          <a:xfrm>
            <a:off x="10991088" y="3602736"/>
            <a:ext cx="694944" cy="274320"/>
          </a:xfrm>
          <a:prstGeom prst="roundRect">
            <a:avLst>
              <a:gd name="adj" fmla="val 4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0991088" y="3602736"/>
            <a:ext cx="694944" cy="274320"/>
          </a:xfrm>
          <a:prstGeom prst="rect">
            <a:avLst/>
          </a:prstGeom>
          <a:noFill/>
        </p:spPr>
        <p:txBody>
          <a:bodyPr wrap="square" anchor="ctr" lIns="0" rIns="0" tIns="0" bIns="0">
            <a:spAutoFit/>
          </a:bodyPr>
          <a:lstStyle/>
          <a:p>
            <a:pPr algn="ctr">
              <a:spcAft>
                <a:spcPts val="400"/>
              </a:spcAft>
            </a:pPr>
            <a:r>
              <a:rPr sz="850" b="1" i="0">
                <a:solidFill>
                  <a:srgbClr val="323139"/>
                </a:solidFill>
                <a:latin typeface="Segoe UI"/>
              </a:rPr>
              <a:t>Download</a:t>
            </a:r>
          </a:p>
        </p:txBody>
      </p:sp>
      <p:sp>
        <p:nvSpPr>
          <p:cNvPr id="72" name="TextBox 71"/>
          <p:cNvSpPr txBox="1"/>
          <p:nvPr/>
        </p:nvSpPr>
        <p:spPr>
          <a:xfrm>
            <a:off x="7772400" y="4279392"/>
            <a:ext cx="3931920" cy="274320"/>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Skills</a:t>
            </a:r>
          </a:p>
        </p:txBody>
      </p:sp>
      <p:sp>
        <p:nvSpPr>
          <p:cNvPr id="73" name="TextBox 72"/>
          <p:cNvSpPr txBox="1"/>
          <p:nvPr/>
        </p:nvSpPr>
        <p:spPr>
          <a:xfrm>
            <a:off x="7772400" y="4535424"/>
            <a:ext cx="3931920" cy="256032"/>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Chips for the skills Cowork loaded</a:t>
            </a:r>
          </a:p>
        </p:txBody>
      </p:sp>
      <p:sp>
        <p:nvSpPr>
          <p:cNvPr id="74" name="TextBox 73"/>
          <p:cNvSpPr txBox="1"/>
          <p:nvPr/>
        </p:nvSpPr>
        <p:spPr>
          <a:xfrm>
            <a:off x="7772400" y="4974336"/>
            <a:ext cx="3931920" cy="274320"/>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Schedule</a:t>
            </a:r>
          </a:p>
        </p:txBody>
      </p:sp>
      <p:sp>
        <p:nvSpPr>
          <p:cNvPr id="75" name="TextBox 74"/>
          <p:cNvSpPr txBox="1"/>
          <p:nvPr/>
        </p:nvSpPr>
        <p:spPr>
          <a:xfrm>
            <a:off x="7772400" y="5230368"/>
            <a:ext cx="3931920" cy="256032"/>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Scheduled runs (used later in the training)</a:t>
            </a:r>
          </a:p>
        </p:txBody>
      </p:sp>
      <p:sp>
        <p:nvSpPr>
          <p:cNvPr id="76" name="TextBox 75"/>
          <p:cNvSpPr txBox="1"/>
          <p:nvPr/>
        </p:nvSpPr>
        <p:spPr>
          <a:xfrm>
            <a:off x="7772400" y="5669279"/>
            <a:ext cx="3931920" cy="274320"/>
          </a:xfrm>
          <a:prstGeom prst="rect">
            <a:avLst/>
          </a:prstGeom>
          <a:noFill/>
        </p:spPr>
        <p:txBody>
          <a:bodyPr wrap="square" anchor="t" lIns="0" rIns="0" tIns="0" bIns="0">
            <a:spAutoFit/>
          </a:bodyPr>
          <a:lstStyle/>
          <a:p>
            <a:pPr algn="l">
              <a:spcAft>
                <a:spcPts val="400"/>
              </a:spcAft>
            </a:pPr>
            <a:r>
              <a:rPr sz="1150" b="1" i="0">
                <a:solidFill>
                  <a:srgbClr val="242424"/>
                </a:solidFill>
                <a:latin typeface="Segoe UI"/>
              </a:rPr>
              <a:t>Permissions</a:t>
            </a:r>
          </a:p>
        </p:txBody>
      </p:sp>
      <p:sp>
        <p:nvSpPr>
          <p:cNvPr id="77" name="TextBox 76"/>
          <p:cNvSpPr txBox="1"/>
          <p:nvPr/>
        </p:nvSpPr>
        <p:spPr>
          <a:xfrm>
            <a:off x="7772400" y="5925312"/>
            <a:ext cx="3931920" cy="256032"/>
          </a:xfrm>
          <a:prstGeom prst="rect">
            <a:avLst/>
          </a:prstGeom>
          <a:noFill/>
        </p:spPr>
        <p:txBody>
          <a:bodyPr wrap="square" anchor="t" lIns="0" rIns="0" tIns="0" bIns="0">
            <a:spAutoFit/>
          </a:bodyPr>
          <a:lstStyle/>
          <a:p>
            <a:pPr algn="l">
              <a:spcAft>
                <a:spcPts val="400"/>
              </a:spcAft>
            </a:pPr>
            <a:r>
              <a:rPr sz="950" b="0" i="0">
                <a:solidFill>
                  <a:srgbClr val="616161"/>
                </a:solidFill>
                <a:latin typeface="Segoe UI"/>
              </a:rPr>
              <a:t>“Don’t ask again” approvals — revoke here</a:t>
            </a:r>
          </a:p>
        </p:txBody>
      </p:sp>
      <p:sp>
        <p:nvSpPr>
          <p:cNvPr id="78" name="TextBox 77"/>
          <p:cNvSpPr txBox="1"/>
          <p:nvPr/>
        </p:nvSpPr>
        <p:spPr>
          <a:xfrm>
            <a:off x="7726679" y="6126480"/>
            <a:ext cx="4023360" cy="274320"/>
          </a:xfrm>
          <a:prstGeom prst="rect">
            <a:avLst/>
          </a:prstGeom>
          <a:noFill/>
        </p:spPr>
        <p:txBody>
          <a:bodyPr wrap="square" anchor="t" lIns="0" rIns="0" tIns="0" bIns="0">
            <a:spAutoFit/>
          </a:bodyPr>
          <a:lstStyle/>
          <a:p>
            <a:pPr algn="l">
              <a:spcAft>
                <a:spcPts val="400"/>
              </a:spcAft>
            </a:pPr>
            <a:r>
              <a:rPr sz="850" b="0" i="1">
                <a:solidFill>
                  <a:srgbClr val="616161"/>
                </a:solidFill>
                <a:latin typeface="Segoe UI"/>
              </a:rPr>
              <a:t>Illustration of the side panel’s sections, not a screenshot</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75.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Optional · Check what the task cost</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01</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2 min</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5257800"/>
          </a:xfrm>
          <a:prstGeom prst="roundRect">
            <a:avLst>
              <a:gd name="adj" fmla="val 4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If time allows</a:t>
            </a:r>
          </a:p>
        </p:txBody>
      </p:sp>
      <p:sp>
        <p:nvSpPr>
          <p:cNvPr id="54" name="TextBox 53"/>
          <p:cNvSpPr txBox="1"/>
          <p:nvPr/>
        </p:nvSpPr>
        <p:spPr>
          <a:xfrm>
            <a:off x="777240" y="1508760"/>
            <a:ext cx="6035040" cy="1280160"/>
          </a:xfrm>
          <a:prstGeom prst="rect">
            <a:avLst/>
          </a:prstGeom>
          <a:noFill/>
        </p:spPr>
        <p:txBody>
          <a:bodyPr wrap="square" anchor="t" lIns="0" rIns="0" tIns="0" bIns="0">
            <a:spAutoFit/>
          </a:bodyPr>
          <a:lstStyle/>
          <a:p>
            <a:pPr algn="l" marL="237744" indent="-237744">
              <a:lnSpc>
                <a:spcPct val="105000"/>
              </a:lnSpc>
              <a:spcAft>
                <a:spcPts val="700"/>
              </a:spcAft>
              <a:buFont typeface="+mj-lt"/>
              <a:buAutoNum type="arabicPeriod"/>
            </a:pPr>
            <a:r>
              <a:rPr sz="1400" b="0" i="0">
                <a:solidFill>
                  <a:srgbClr val="323139"/>
                </a:solidFill>
                <a:latin typeface="Segoe UI"/>
              </a:rPr>
              <a:t>Stay in your </a:t>
            </a:r>
            <a:r>
              <a:rPr sz="1400" b="1" i="0">
                <a:solidFill>
                  <a:srgbClr val="323139"/>
                </a:solidFill>
                <a:latin typeface="Segoe UI"/>
              </a:rPr>
              <a:t>Deep Research</a:t>
            </a:r>
            <a:r>
              <a:rPr sz="1400" b="0" i="0">
                <a:solidFill>
                  <a:srgbClr val="323139"/>
                </a:solidFill>
                <a:latin typeface="Segoe UI"/>
              </a:rPr>
              <a:t> task.</a:t>
            </a:r>
          </a:p>
          <a:p>
            <a:pPr algn="l" marL="237744" indent="-237744">
              <a:lnSpc>
                <a:spcPct val="105000"/>
              </a:lnSpc>
              <a:spcAft>
                <a:spcPts val="700"/>
              </a:spcAft>
              <a:buFont typeface="+mj-lt"/>
              <a:buAutoNum type="arabicPeriod"/>
            </a:pPr>
            <a:r>
              <a:rPr sz="1400" b="0" i="0">
                <a:solidFill>
                  <a:srgbClr val="323139"/>
                </a:solidFill>
                <a:latin typeface="Segoe UI"/>
              </a:rPr>
              <a:t>Type </a:t>
            </a:r>
            <a:r>
              <a:rPr sz="1400" b="1" i="0">
                <a:solidFill>
                  <a:srgbClr val="323139"/>
                </a:solidFill>
                <a:latin typeface="Segoe UI"/>
              </a:rPr>
              <a:t>/cost</a:t>
            </a:r>
            <a:r>
              <a:rPr sz="1400" b="0" i="0">
                <a:solidFill>
                  <a:srgbClr val="323139"/>
                </a:solidFill>
                <a:latin typeface="Segoe UI"/>
              </a:rPr>
              <a:t>, select the skill below, and send it.</a:t>
            </a:r>
          </a:p>
          <a:p>
            <a:pPr algn="l" marL="237744" indent="-237744">
              <a:lnSpc>
                <a:spcPct val="105000"/>
              </a:lnSpc>
              <a:spcAft>
                <a:spcPts val="700"/>
              </a:spcAft>
              <a:buFont typeface="+mj-lt"/>
              <a:buAutoNum type="arabicPeriod"/>
            </a:pPr>
            <a:r>
              <a:rPr sz="1400" b="0" i="0">
                <a:solidFill>
                  <a:srgbClr val="323139"/>
                </a:solidFill>
                <a:latin typeface="Segoe UI"/>
              </a:rPr>
              <a:t>Read the approximate </a:t>
            </a:r>
            <a:r>
              <a:rPr sz="1400" b="1" i="0">
                <a:solidFill>
                  <a:srgbClr val="323139"/>
                </a:solidFill>
                <a:latin typeface="Segoe UI"/>
              </a:rPr>
              <a:t>credits used by this task so far</a:t>
            </a:r>
            <a:r>
              <a:rPr sz="1400" b="0" i="0">
                <a:solidFill>
                  <a:srgbClr val="323139"/>
                </a:solidFill>
                <a:latin typeface="Segoe UI"/>
              </a:rPr>
              <a:t>.</a:t>
            </a:r>
          </a:p>
        </p:txBody>
      </p:sp>
      <p:pic>
        <p:nvPicPr>
          <p:cNvPr id="55" name="Picture 54" descr="Cowork skill picker: /cost shows credits used so far and does not cost credits to use."/>
          <p:cNvPicPr>
            <a:picLocks noChangeAspect="1"/>
          </p:cNvPicPr>
          <p:nvPr/>
        </p:nvPicPr>
        <p:blipFill>
          <a:blip r:embed="rId7"/>
          <a:stretch>
            <a:fillRect/>
          </a:stretch>
        </p:blipFill>
        <p:spPr>
          <a:xfrm>
            <a:off x="685800" y="2926080"/>
            <a:ext cx="6144768" cy="935590"/>
          </a:xfrm>
          <a:prstGeom prst="rect">
            <a:avLst/>
          </a:prstGeom>
        </p:spPr>
      </p:pic>
      <p:sp>
        <p:nvSpPr>
          <p:cNvPr id="56" name="TextBox 55"/>
          <p:cNvSpPr txBox="1"/>
          <p:nvPr/>
        </p:nvSpPr>
        <p:spPr>
          <a:xfrm>
            <a:off x="777240" y="4041648"/>
            <a:ext cx="5852160" cy="1051560"/>
          </a:xfrm>
          <a:prstGeom prst="rect">
            <a:avLst/>
          </a:prstGeom>
          <a:noFill/>
        </p:spPr>
        <p:txBody>
          <a:bodyPr wrap="square" anchor="t" lIns="0" rIns="0" tIns="0" bIns="0">
            <a:spAutoFit/>
          </a:bodyPr>
          <a:lstStyle/>
          <a:p>
            <a:pPr algn="l" marL="182880" indent="-182880">
              <a:spcAft>
                <a:spcPts val="600"/>
              </a:spcAft>
              <a:buFont typeface="Arial"/>
              <a:buChar char="•"/>
            </a:pPr>
            <a:r>
              <a:rPr sz="1200" b="1" i="0">
                <a:solidFill>
                  <a:srgbClr val="323139"/>
                </a:solidFill>
                <a:latin typeface="Segoe UI"/>
              </a:rPr>
              <a:t>/cost is free</a:t>
            </a:r>
            <a:r>
              <a:rPr sz="1200" b="0" i="0">
                <a:solidFill>
                  <a:srgbClr val="323139"/>
                </a:solidFill>
                <a:latin typeface="Segoe UI"/>
              </a:rPr>
              <a:t>; the result is an estimate, not a bill.</a:t>
            </a:r>
          </a:p>
          <a:p>
            <a:pPr algn="l" marL="182880" indent="-182880">
              <a:spcAft>
                <a:spcPts val="600"/>
              </a:spcAft>
              <a:buFont typeface="Arial"/>
              <a:buChar char="•"/>
            </a:pPr>
            <a:r>
              <a:rPr sz="1200" b="0" i="0">
                <a:solidFill>
                  <a:srgbClr val="323139"/>
                </a:solidFill>
                <a:latin typeface="Segoe UI"/>
              </a:rPr>
              <a:t>Usage totals may be delayed. Reopen any earlier task to check it.</a:t>
            </a:r>
          </a:p>
          <a:p>
            <a:pPr algn="l" marL="182880" indent="-182880">
              <a:spcAft>
                <a:spcPts val="600"/>
              </a:spcAft>
              <a:buFont typeface="Arial"/>
              <a:buChar char="•"/>
            </a:pPr>
            <a:r>
              <a:rPr sz="1200" b="0" i="0">
                <a:solidFill>
                  <a:srgbClr val="323139"/>
                </a:solidFill>
                <a:latin typeface="Segoe UI"/>
              </a:rPr>
              <a:t>The Usage panel shows </a:t>
            </a:r>
            <a:r>
              <a:rPr sz="1200" b="1" i="0">
                <a:solidFill>
                  <a:srgbClr val="323139"/>
                </a:solidFill>
                <a:latin typeface="Segoe UI"/>
              </a:rPr>
              <a:t>monthly consumption</a:t>
            </a:r>
            <a:r>
              <a:rPr sz="1200" b="0" i="0">
                <a:solidFill>
                  <a:srgbClr val="323139"/>
                </a:solidFill>
                <a:latin typeface="Segoe UI"/>
              </a:rPr>
              <a:t>, not this task alone.</a:t>
            </a:r>
          </a:p>
        </p:txBody>
      </p:sp>
      <p:sp>
        <p:nvSpPr>
          <p:cNvPr id="57" name="Rounded Rectangle 56">
            <a:extLst>
              <a:ext uri="{C183D7F6-B498-43B3-948B-1728B52AA6E4}">
                <ns2:decorative xmlns:ns2="http://schemas.microsoft.com/office/drawing/2017/decorative" val="1"/>
              </a:ext>
            </a:extLst>
          </p:cNvPr>
          <p:cNvSpPr/>
          <p:nvPr/>
        </p:nvSpPr>
        <p:spPr>
          <a:xfrm>
            <a:off x="685800" y="5349240"/>
            <a:ext cx="6144768" cy="91440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914400" y="5349240"/>
            <a:ext cx="5760720" cy="914400"/>
          </a:xfrm>
          <a:prstGeom prst="rect">
            <a:avLst/>
          </a:prstGeom>
          <a:noFill/>
        </p:spPr>
        <p:txBody>
          <a:bodyPr wrap="square" anchor="ctr" lIns="0" rIns="0" tIns="0" bIns="0">
            <a:spAutoFit/>
          </a:bodyPr>
          <a:lstStyle/>
          <a:p>
            <a:pPr algn="l">
              <a:lnSpc>
                <a:spcPct val="103000"/>
              </a:lnSpc>
              <a:spcAft>
                <a:spcPts val="400"/>
              </a:spcAft>
            </a:pPr>
            <a:r>
              <a:rPr sz="1250" b="1" i="0">
                <a:solidFill>
                  <a:srgbClr val="FFFFFF"/>
                </a:solidFill>
                <a:latin typeface="Segoe Sans Display Semibold"/>
              </a:rPr>
              <a:t>Scheduled tasks use credits on every run. </a:t>
            </a:r>
            <a:r>
              <a:rPr sz="1250" b="0" i="0">
                <a:solidFill>
                  <a:srgbClr val="FFFFFF"/>
                </a:solidFill>
                <a:latin typeface="Segoe Sans Display"/>
              </a:rPr>
              <a:t>Pause it after class: Automations → Manage schedules.</a:t>
            </a:r>
          </a:p>
        </p:txBody>
      </p:sp>
      <p:sp>
        <p:nvSpPr>
          <p:cNvPr id="59" name="Rounded Rectangle 58">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Usage · monthly consumption</a:t>
            </a:r>
          </a:p>
        </p:txBody>
      </p:sp>
      <p:pic>
        <p:nvPicPr>
          <p:cNvPr id="61" name="Picture 60" descr="Example Usage panel: 732 credits used this month, unlimited credit limit, daily usage chart for October 3 to 9, and a notice that totals may be delayed."/>
          <p:cNvPicPr>
            <a:picLocks noChangeAspect="1"/>
          </p:cNvPicPr>
          <p:nvPr/>
        </p:nvPicPr>
        <p:blipFill>
          <a:blip r:embed="rId8"/>
          <a:stretch>
            <a:fillRect/>
          </a:stretch>
        </p:blipFill>
        <p:spPr>
          <a:xfrm>
            <a:off x="7635240" y="1691640"/>
            <a:ext cx="4206240" cy="4217194"/>
          </a:xfrm>
          <a:prstGeom prst="rect">
            <a:avLst/>
          </a:prstGeom>
        </p:spPr>
      </p:pic>
      <p:sp>
        <p:nvSpPr>
          <p:cNvPr id="62" name="TextBox 61"/>
          <p:cNvSpPr txBox="1"/>
          <p:nvPr/>
        </p:nvSpPr>
        <p:spPr>
          <a:xfrm>
            <a:off x="7726679" y="6080760"/>
            <a:ext cx="4023360" cy="274320"/>
          </a:xfrm>
          <a:prstGeom prst="rect">
            <a:avLst/>
          </a:prstGeom>
          <a:noFill/>
        </p:spPr>
        <p:txBody>
          <a:bodyPr wrap="square" anchor="t" lIns="0" rIns="0" tIns="0" bIns="0">
            <a:spAutoFit/>
          </a:bodyPr>
          <a:lstStyle/>
          <a:p>
            <a:pPr algn="l">
              <a:spcAft>
                <a:spcPts val="400"/>
              </a:spcAft>
            </a:pPr>
            <a:r>
              <a:rPr sz="900" b="0" i="0">
                <a:solidFill>
                  <a:srgbClr val="616161"/>
                </a:solidFill>
                <a:latin typeface="Segoe UI"/>
              </a:rPr>
              <a:t>Example account; your limits and totals may differ.</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 name="TextBox 1"/>
          <p:cNvSpPr txBox="1"/>
          <p:nvPr/>
        </p:nvSpPr>
        <p:spPr>
          <a:xfrm>
            <a:off x="868680" y="1325880"/>
            <a:ext cx="2743200" cy="365760"/>
          </a:xfrm>
          <a:prstGeom prst="rect">
            <a:avLst/>
          </a:prstGeom>
          <a:noFill/>
        </p:spPr>
        <p:txBody>
          <a:bodyPr wrap="square" anchor="t" lIns="0" rIns="0" tIns="0" bIns="0">
            <a:spAutoFit/>
          </a:bodyPr>
          <a:lstStyle/>
          <a:p>
            <a:pPr algn="l">
              <a:spcAft>
                <a:spcPts val="400"/>
              </a:spcAft>
            </a:pPr>
            <a:r>
              <a:rPr sz="1600" b="0" i="0">
                <a:solidFill>
                  <a:srgbClr val="616161"/>
                </a:solidFill>
                <a:latin typeface="Segoe Sans Display Semibold"/>
              </a:rPr>
              <a:t>EXERCISE</a:t>
            </a:r>
          </a:p>
        </p:txBody>
      </p:sp>
      <p:sp>
        <p:nvSpPr>
          <p:cNvPr id="3" name="TextBox 2"/>
          <p:cNvSpPr txBox="1"/>
          <p:nvPr/>
        </p:nvSpPr>
        <p:spPr>
          <a:xfrm>
            <a:off x="777240" y="1645920"/>
            <a:ext cx="2926080" cy="1828800"/>
          </a:xfrm>
          <a:prstGeom prst="rect">
            <a:avLst/>
          </a:prstGeom>
          <a:noFill/>
        </p:spPr>
        <p:txBody>
          <a:bodyPr wrap="square" anchor="t" lIns="0" rIns="0" tIns="0" bIns="0">
            <a:spAutoFit/>
          </a:bodyPr>
          <a:lstStyle/>
          <a:p>
            <a:pPr algn="l">
              <a:spcAft>
                <a:spcPts val="400"/>
              </a:spcAft>
            </a:pPr>
            <a:r>
              <a:rPr sz="12000" b="1" i="0">
                <a:solidFill>
                  <a:srgbClr val="8064A2"/>
                </a:solidFill>
                <a:latin typeface="Segoe Sans Display"/>
              </a:rPr>
              <a:t>02</a:t>
            </a:r>
          </a:p>
        </p:txBody>
      </p:sp>
      <p:sp>
        <p:nvSpPr>
          <p:cNvPr id="4" name="TextBox 3"/>
          <p:cNvSpPr txBox="1"/>
          <p:nvPr/>
        </p:nvSpPr>
        <p:spPr>
          <a:xfrm>
            <a:off x="3749039" y="1417320"/>
            <a:ext cx="5440680" cy="1508760"/>
          </a:xfrm>
          <a:prstGeom prst="rect">
            <a:avLst/>
          </a:prstGeom>
          <a:noFill/>
        </p:spPr>
        <p:txBody>
          <a:bodyPr wrap="square" anchor="b" lIns="0" rIns="0" tIns="0" bIns="0">
            <a:spAutoFit/>
          </a:bodyPr>
          <a:lstStyle/>
          <a:p>
            <a:pPr algn="l">
              <a:lnSpc>
                <a:spcPct val="95000"/>
              </a:lnSpc>
              <a:spcAft>
                <a:spcPts val="400"/>
              </a:spcAft>
            </a:pPr>
            <a:r>
              <a:rPr sz="3200" b="0" i="0">
                <a:solidFill>
                  <a:srgbClr val="323139"/>
                </a:solidFill>
                <a:latin typeface="Segoe Sans Display"/>
              </a:rPr>
              <a:t>Navigate Websites with Cowork’s Browser</a:t>
            </a:r>
          </a:p>
        </p:txBody>
      </p:sp>
      <p:sp>
        <p:nvSpPr>
          <p:cNvPr id="5" name="TextBox 4"/>
          <p:cNvSpPr txBox="1"/>
          <p:nvPr/>
        </p:nvSpPr>
        <p:spPr>
          <a:xfrm>
            <a:off x="3749039" y="3017520"/>
            <a:ext cx="5440680" cy="1005840"/>
          </a:xfrm>
          <a:prstGeom prst="rect">
            <a:avLst/>
          </a:prstGeom>
          <a:noFill/>
        </p:spPr>
        <p:txBody>
          <a:bodyPr wrap="square" anchor="t" lIns="0" rIns="0" tIns="0" bIns="0">
            <a:spAutoFit/>
          </a:bodyPr>
          <a:lstStyle/>
          <a:p>
            <a:pPr algn="l">
              <a:lnSpc>
                <a:spcPct val="105000"/>
              </a:lnSpc>
              <a:spcAft>
                <a:spcPts val="400"/>
              </a:spcAft>
            </a:pPr>
            <a:r>
              <a:rPr sz="1600" b="0" i="0">
                <a:solidFill>
                  <a:srgbClr val="616161"/>
                </a:solidFill>
                <a:latin typeface="Segoe Sans Display"/>
              </a:rPr>
              <a:t>Have Cowork drive a real web browser for you — search a site, click through, move to a second site — and bring back a sourced comparison.</a:t>
            </a:r>
          </a:p>
        </p:txBody>
      </p:sp>
      <p:sp>
        <p:nvSpPr>
          <p:cNvPr id="6" name="Oval 5">
            <a:extLst>
              <a:ext uri="{C183D7F6-B498-43B3-948B-1728B52AA6E4}">
                <ns0:decorative xmlns:ns0="http://schemas.microsoft.com/office/drawing/2017/decorative" val="1"/>
              </a:ext>
            </a:extLst>
          </p:cNvPr>
          <p:cNvSpPr/>
          <p:nvPr/>
        </p:nvSpPr>
        <p:spPr>
          <a:xfrm>
            <a:off x="9418320" y="1280160"/>
            <a:ext cx="2194560" cy="2194560"/>
          </a:xfrm>
          <a:prstGeom prst="ellipse">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Divider 2" descr="Illustration of a globe, for navigating websites with Cowork's browser"/>
          <p:cNvPicPr>
            <a:picLocks noChangeAspect="1"/>
          </p:cNvPicPr>
          <p:nvPr/>
        </p:nvPicPr>
        <p:blipFill>
          <a:blip r:embed="rId7"/>
          <a:stretch>
            <a:fillRect/>
          </a:stretch>
        </p:blipFill>
        <p:spPr>
          <a:xfrm>
            <a:off x="9784080" y="1645920"/>
            <a:ext cx="1463040" cy="1463040"/>
          </a:xfrm>
          <a:prstGeom prst="rect">
            <a:avLst/>
          </a:prstGeom>
        </p:spPr>
      </p:pic>
      <p:sp>
        <p:nvSpPr>
          <p:cNvPr id="8" name="Rounded Rectangle 7">
            <a:extLst>
              <a:ext uri="{C183D7F6-B498-43B3-948B-1728B52AA6E4}">
                <ns1:decorative xmlns:ns1="http://schemas.microsoft.com/office/drawing/2017/decorative" val="1"/>
              </a:ext>
            </a:extLst>
          </p:cNvPr>
          <p:cNvSpPr/>
          <p:nvPr/>
        </p:nvSpPr>
        <p:spPr>
          <a:xfrm>
            <a:off x="3749039" y="4069080"/>
            <a:ext cx="2286000"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49039" y="4069080"/>
            <a:ext cx="2286000"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15 min  ·  0:35–0:50</a:t>
            </a:r>
          </a:p>
        </p:txBody>
      </p:sp>
      <p:sp>
        <p:nvSpPr>
          <p:cNvPr id="10" name="Rounded Rectangle 9">
            <a:extLst>
              <a:ext uri="{C183D7F6-B498-43B3-948B-1728B52AA6E4}">
                <ns2:decorative xmlns:ns2="http://schemas.microsoft.com/office/drawing/2017/decorative" val="1"/>
              </a:ext>
            </a:extLst>
          </p:cNvPr>
          <p:cNvSpPr/>
          <p:nvPr/>
        </p:nvSpPr>
        <p:spPr>
          <a:xfrm>
            <a:off x="6217920" y="4069080"/>
            <a:ext cx="1805940"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17920" y="4069080"/>
            <a:ext cx="1805940"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HR · Compliance</a:t>
            </a:r>
          </a:p>
        </p:txBody>
      </p:sp>
      <p:sp>
        <p:nvSpPr>
          <p:cNvPr id="12" name="Oval 11">
            <a:extLst>
              <a:ext uri="{C183D7F6-B498-43B3-948B-1728B52AA6E4}">
                <ns3:decorative xmlns:ns3="http://schemas.microsoft.com/office/drawing/2017/decorative" val="1"/>
              </a:ext>
            </a:extLst>
          </p:cNvPr>
          <p:cNvSpPr/>
          <p:nvPr/>
        </p:nvSpPr>
        <p:spPr>
          <a:xfrm>
            <a:off x="2895447"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447"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a:t>
            </a:r>
          </a:p>
        </p:txBody>
      </p:sp>
      <p:sp>
        <p:nvSpPr>
          <p:cNvPr id="14" name="Rectangle 13">
            <a:extLst>
              <a:ext uri="{C183D7F6-B498-43B3-948B-1728B52AA6E4}">
                <ns4:decorative xmlns:ns4="http://schemas.microsoft.com/office/drawing/2017/decorative" val="1"/>
              </a:ext>
            </a:extLst>
          </p:cNvPr>
          <p:cNvSpPr/>
          <p:nvPr/>
        </p:nvSpPr>
        <p:spPr>
          <a:xfrm>
            <a:off x="345323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a:extLst>
              <a:ext uri="{C183D7F6-B498-43B3-948B-1728B52AA6E4}">
                <ns5:decorative xmlns:ns5="http://schemas.microsoft.com/office/drawing/2017/decorative" val="1"/>
              </a:ext>
            </a:extLst>
          </p:cNvPr>
          <p:cNvSpPr/>
          <p:nvPr/>
        </p:nvSpPr>
        <p:spPr>
          <a:xfrm>
            <a:off x="3736695" y="5257800"/>
            <a:ext cx="512064" cy="512064"/>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736695" y="5257800"/>
            <a:ext cx="512064" cy="512064"/>
          </a:xfrm>
          <a:prstGeom prst="rect">
            <a:avLst/>
          </a:prstGeom>
          <a:noFill/>
        </p:spPr>
        <p:txBody>
          <a:bodyPr wrap="square" anchor="ctr" lIns="0" rIns="0" tIns="0" bIns="0">
            <a:spAutoFit/>
          </a:bodyPr>
          <a:lstStyle/>
          <a:p>
            <a:pPr algn="ctr">
              <a:spcAft>
                <a:spcPts val="400"/>
              </a:spcAft>
            </a:pPr>
            <a:r>
              <a:rPr sz="1400" b="1" i="0">
                <a:solidFill>
                  <a:srgbClr val="FFFFFF"/>
                </a:solidFill>
                <a:latin typeface="Segoe Sans Display Semibold"/>
              </a:rPr>
              <a:t>2</a:t>
            </a:r>
          </a:p>
        </p:txBody>
      </p:sp>
      <p:sp>
        <p:nvSpPr>
          <p:cNvPr id="17" name="Rectangle 16">
            <a:extLst>
              <a:ext uri="{C183D7F6-B498-43B3-948B-1728B52AA6E4}">
                <ns6:decorative xmlns:ns6="http://schemas.microsoft.com/office/drawing/2017/decorative" val="1"/>
              </a:ext>
            </a:extLst>
          </p:cNvPr>
          <p:cNvSpPr/>
          <p:nvPr/>
        </p:nvSpPr>
        <p:spPr>
          <a:xfrm>
            <a:off x="429447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a:extLst>
              <a:ext uri="{C183D7F6-B498-43B3-948B-1728B52AA6E4}">
                <ns7:decorative xmlns:ns7="http://schemas.microsoft.com/office/drawing/2017/decorative" val="1"/>
              </a:ext>
            </a:extLst>
          </p:cNvPr>
          <p:cNvSpPr/>
          <p:nvPr/>
        </p:nvSpPr>
        <p:spPr>
          <a:xfrm>
            <a:off x="4577943"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7943"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3</a:t>
            </a:r>
          </a:p>
        </p:txBody>
      </p:sp>
      <p:sp>
        <p:nvSpPr>
          <p:cNvPr id="20" name="Rectangle 19">
            <a:extLst>
              <a:ext uri="{C183D7F6-B498-43B3-948B-1728B52AA6E4}">
                <ns8:decorative xmlns:ns8="http://schemas.microsoft.com/office/drawing/2017/decorative" val="1"/>
              </a:ext>
            </a:extLst>
          </p:cNvPr>
          <p:cNvSpPr/>
          <p:nvPr/>
        </p:nvSpPr>
        <p:spPr>
          <a:xfrm>
            <a:off x="5135727"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a:extLst>
              <a:ext uri="{C183D7F6-B498-43B3-948B-1728B52AA6E4}">
                <ns9:decorative xmlns:ns9="http://schemas.microsoft.com/office/drawing/2017/decorative" val="1"/>
              </a:ext>
            </a:extLst>
          </p:cNvPr>
          <p:cNvSpPr/>
          <p:nvPr/>
        </p:nvSpPr>
        <p:spPr>
          <a:xfrm>
            <a:off x="5419191"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19191"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4</a:t>
            </a:r>
          </a:p>
        </p:txBody>
      </p:sp>
      <p:sp>
        <p:nvSpPr>
          <p:cNvPr id="23" name="Rectangle 22">
            <a:extLst>
              <a:ext uri="{C183D7F6-B498-43B3-948B-1728B52AA6E4}">
                <ns10:decorative xmlns:ns10="http://schemas.microsoft.com/office/drawing/2017/decorative" val="1"/>
              </a:ext>
            </a:extLst>
          </p:cNvPr>
          <p:cNvSpPr/>
          <p:nvPr/>
        </p:nvSpPr>
        <p:spPr>
          <a:xfrm>
            <a:off x="5976975"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a:extLst>
              <a:ext uri="{C183D7F6-B498-43B3-948B-1728B52AA6E4}">
                <ns11:decorative xmlns:ns11="http://schemas.microsoft.com/office/drawing/2017/decorative" val="1"/>
              </a:ext>
            </a:extLst>
          </p:cNvPr>
          <p:cNvSpPr/>
          <p:nvPr/>
        </p:nvSpPr>
        <p:spPr>
          <a:xfrm>
            <a:off x="6260439"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60439"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5</a:t>
            </a:r>
          </a:p>
        </p:txBody>
      </p:sp>
      <p:sp>
        <p:nvSpPr>
          <p:cNvPr id="26" name="Rectangle 25">
            <a:extLst>
              <a:ext uri="{C183D7F6-B498-43B3-948B-1728B52AA6E4}">
                <ns12:decorative xmlns:ns12="http://schemas.microsoft.com/office/drawing/2017/decorative" val="1"/>
              </a:ext>
            </a:extLst>
          </p:cNvPr>
          <p:cNvSpPr/>
          <p:nvPr/>
        </p:nvSpPr>
        <p:spPr>
          <a:xfrm>
            <a:off x="6818223"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a:extLst>
              <a:ext uri="{C183D7F6-B498-43B3-948B-1728B52AA6E4}">
                <ns13:decorative xmlns:ns13="http://schemas.microsoft.com/office/drawing/2017/decorative" val="1"/>
              </a:ext>
            </a:extLst>
          </p:cNvPr>
          <p:cNvSpPr/>
          <p:nvPr/>
        </p:nvSpPr>
        <p:spPr>
          <a:xfrm>
            <a:off x="7101687"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01687"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6</a:t>
            </a:r>
          </a:p>
        </p:txBody>
      </p:sp>
      <p:sp>
        <p:nvSpPr>
          <p:cNvPr id="29" name="Rectangle 28">
            <a:extLst>
              <a:ext uri="{C183D7F6-B498-43B3-948B-1728B52AA6E4}">
                <ns14:decorative xmlns:ns14="http://schemas.microsoft.com/office/drawing/2017/decorative" val="1"/>
              </a:ext>
            </a:extLst>
          </p:cNvPr>
          <p:cNvSpPr/>
          <p:nvPr/>
        </p:nvSpPr>
        <p:spPr>
          <a:xfrm>
            <a:off x="765947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a:extLst>
              <a:ext uri="{C183D7F6-B498-43B3-948B-1728B52AA6E4}">
                <ns15:decorative xmlns:ns15="http://schemas.microsoft.com/office/drawing/2017/decorative" val="1"/>
              </a:ext>
            </a:extLst>
          </p:cNvPr>
          <p:cNvSpPr/>
          <p:nvPr/>
        </p:nvSpPr>
        <p:spPr>
          <a:xfrm>
            <a:off x="7942935"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42935"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7</a:t>
            </a:r>
          </a:p>
        </p:txBody>
      </p:sp>
      <p:sp>
        <p:nvSpPr>
          <p:cNvPr id="32" name="Rectangle 31">
            <a:extLst>
              <a:ext uri="{C183D7F6-B498-43B3-948B-1728B52AA6E4}">
                <ns16:decorative xmlns:ns16="http://schemas.microsoft.com/office/drawing/2017/decorative" val="1"/>
              </a:ext>
            </a:extLst>
          </p:cNvPr>
          <p:cNvSpPr/>
          <p:nvPr/>
        </p:nvSpPr>
        <p:spPr>
          <a:xfrm>
            <a:off x="850071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a:extLst>
              <a:ext uri="{C183D7F6-B498-43B3-948B-1728B52AA6E4}">
                <ns17:decorative xmlns:ns17="http://schemas.microsoft.com/office/drawing/2017/decorative" val="1"/>
              </a:ext>
            </a:extLst>
          </p:cNvPr>
          <p:cNvSpPr/>
          <p:nvPr/>
        </p:nvSpPr>
        <p:spPr>
          <a:xfrm>
            <a:off x="8784183"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784183"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8</a:t>
            </a:r>
          </a:p>
        </p:txBody>
      </p:sp>
      <p:sp>
        <p:nvSpPr>
          <p:cNvPr id="35" name="TextBox 34"/>
          <p:cNvSpPr txBox="1"/>
          <p:nvPr/>
        </p:nvSpPr>
        <p:spPr>
          <a:xfrm>
            <a:off x="457200" y="5897880"/>
            <a:ext cx="11274552" cy="320040"/>
          </a:xfrm>
          <a:prstGeom prst="rect">
            <a:avLst/>
          </a:prstGeom>
          <a:noFill/>
        </p:spPr>
        <p:txBody>
          <a:bodyPr wrap="square" anchor="t" lIns="0" rIns="0" tIns="0" bIns="0">
            <a:spAutoFit/>
          </a:bodyPr>
          <a:lstStyle/>
          <a:p>
            <a:pPr algn="ctr">
              <a:spcAft>
                <a:spcPts val="400"/>
              </a:spcAft>
            </a:pPr>
            <a:r>
              <a:rPr sz="1200" b="0" i="0">
                <a:solidFill>
                  <a:srgbClr val="616161"/>
                </a:solidFill>
                <a:latin typeface="Segoe UI"/>
              </a:rPr>
              <a:t>Exercise 2 of 8</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77.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Navigate Websites with Cowork’s Browser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02</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Have Cowork drive a real web browser for you — search a site, click through, move to a second site — and bring back a sourced comparison.</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An overtime comparison (U.S. DOL vs. Washington L&amp;I vs. Zava handbook) with a link to every page visited; if time allows, a one-page Word brief for payroll about T-2008.</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Compliance</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Checking policy against official sites means searching, clicking, and copying. Cowork does the clicks in a hidden tab in your own Edge, with your sign-ins and policies, and asks before anything consequential.</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Navigate</a:t>
              </a:r>
              <a:r>
                <a:rPr lang="en-US" sz="1100">
                  <a:solidFill>
                    <a:prstClr val="black"/>
                  </a:solidFill>
                  <a:latin typeface="Segoe Sans Display" pitchFamily="2" charset="0"/>
                  <a:cs typeface="Segoe Sans Display" pitchFamily="2" charset="0"/>
                </a:rPr>
                <a:t> → dol.gov: site search → Fact Sheet #23</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Navigate</a:t>
              </a:r>
              <a:r>
                <a:rPr lang="en-US" sz="1100">
                  <a:solidFill>
                    <a:prstClr val="black"/>
                  </a:solidFill>
                  <a:latin typeface="Segoe Sans Display" pitchFamily="2" charset="0"/>
                  <a:cs typeface="Segoe Sans Display" pitchFamily="2" charset="0"/>
                </a:rPr>
                <a:t> → lni.wa.gov: menu → overtime page</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Ground</a:t>
              </a:r>
              <a:r>
                <a:rPr lang="en-US" sz="1100">
                  <a:solidFill>
                    <a:prstClr val="black"/>
                  </a:solidFill>
                  <a:latin typeface="Segoe Sans Display" pitchFamily="2" charset="0"/>
                  <a:cs typeface="Segoe Sans Display" pitchFamily="2" charset="0"/>
                </a:rPr>
                <a:t> → Compare with the Zava handbook</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Build</a:t>
              </a:r>
              <a:r>
                <a:rPr lang="en-US" sz="1100">
                  <a:solidFill>
                    <a:prstClr val="black"/>
                  </a:solidFill>
                  <a:latin typeface="Segoe Sans Display" pitchFamily="2" charset="0"/>
                  <a:cs typeface="Segoe Sans Display" pitchFamily="2" charset="0"/>
                </a:rPr>
                <a:t> → Table with links (+ optional brief)</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Task 2a — Attach the handbook, then: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Use my browser to do this step by step, and tell me which page you’re on at each step: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1. </a:t>
            </a:r>
            <a:r>
              <a:rPr kumimoji="0" lang="en-US" sz="120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Go to https://www.dol.gov and use the site’s search box to find the Wage and Hour Division’s overtime pay fact sheet (Fact Sheet #23).</a:t>
            </a: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0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Open it and note the overtime rules and when overtime must be paid.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2. </a:t>
            </a:r>
            <a:r>
              <a:rPr kumimoji="0" lang="en-US" sz="120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Go to https://lni.wa.gov and use the site’s menu or search to find Washington State’s overtime page.</a:t>
            </a: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0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Open it and note anything Washington adds to the federal rules.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3. </a:t>
            </a:r>
            <a:r>
              <a:rPr kumimoji="0" lang="en-US" sz="120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Compare both with the overtime rule</a:t>
            </a: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0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in employee-handbook-excerpt.docx</a:t>
            </a: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0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Give me a table with the columns Rule, Federal (DOL), Washington (L&amp;I), and Zava handbook, plus a link to every page you used.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Only read: don’t sign in, and don’t fill in or submit any form except a site search box.</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Task 2b — Optional follow-up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Turn this into a one-page Word brief for our payroll team about ticket T-2008</a:t>
            </a: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0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what the rules say, what our handbook says, and the recommended next step.</a:t>
            </a:r>
            <a:r>
              <a:rPr kumimoji="0" lang="en-US" sz="12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0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Don’t send it.</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7"/>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Web</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5" name="Group 12">
            <a:extLst>
              <a:ext uri="{FF2B5EF4-FFF2-40B4-BE49-F238E27FC236}">
                <a16:creationId xmlns:a16="http://schemas.microsoft.com/office/drawing/2014/main" id="{6DC82203-C40E-B229-3216-8513934D28BD}"/>
              </a:ext>
            </a:extLst>
          </p:cNvPr>
          <p:cNvGrpSpPr/>
          <p:nvPr/>
        </p:nvGrpSpPr>
        <p:grpSpPr>
          <a:xfrm>
            <a:off x="10035709" y="4421568"/>
            <a:ext cx="1200156" cy="488252"/>
            <a:chOff x="10558227" y="4421568"/>
            <a:chExt cx="1200156" cy="488252"/>
          </a:xfrm>
        </p:grpSpPr>
        <p:pic>
          <p:nvPicPr>
            <p:cNvPr id="916"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8"/>
            <a:stretch>
              <a:fillRect/>
            </a:stretch>
          </p:blipFill>
          <p:spPr>
            <a:xfrm>
              <a:off x="11014657" y="4421568"/>
              <a:ext cx="287296" cy="287296"/>
            </a:xfrm>
            <a:prstGeom prst="rect">
              <a:avLst/>
            </a:prstGeom>
          </p:spPr>
        </p:pic>
        <p:sp>
          <p:nvSpPr>
            <p:cNvPr id="917"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912" name="Rounded Rectangle 911">
            <a:extLst>
              <a:ext uri="{C183D7F6-B498-43B3-948B-1728B52AA6E4}">
                <ns0:decorative xmlns:ns0="http://schemas.microsoft.com/office/drawing/2017/decorative" val="1"/>
              </a:ext>
            </a:extLst>
          </p:cNvPr>
          <p:cNvSpPr/>
          <p:nvPr/>
        </p:nvSpPr>
        <p:spPr>
          <a:xfrm>
            <a:off x="7754112" y="5230368"/>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3" name="TextBox 912"/>
          <p:cNvSpPr txBox="1"/>
          <p:nvPr/>
        </p:nvSpPr>
        <p:spPr>
          <a:xfrm>
            <a:off x="7754112" y="5230368"/>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Prompt key</a:t>
            </a:r>
          </a:p>
        </p:txBody>
      </p:sp>
      <p:pic>
        <p:nvPicPr>
          <p:cNvPr id="914" name="Picture 913" descr="Prompt key: Goal (blue) is the outcome, for whom, and why; Source (green) is the files, sites, or data to use; Expectations (orange) describe what good looks like; Constraints (purple) say what Cowork must not do."/>
          <p:cNvPicPr>
            <a:picLocks noChangeAspect="1"/>
          </p:cNvPicPr>
          <p:nvPr/>
        </p:nvPicPr>
        <p:blipFill>
          <a:blip r:embed="rId6"/>
          <a:stretch>
            <a:fillRect/>
          </a:stretch>
        </p:blipFill>
        <p:spPr>
          <a:xfrm>
            <a:off x="7726680" y="5577840"/>
            <a:ext cx="4224528" cy="940756"/>
          </a:xfrm>
          <a:prstGeom prst="rect">
            <a:avLst/>
          </a:prstGeom>
        </p:spPr>
      </p:pic>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Demo · Browser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02</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Video</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3754755"/>
          </a:xfrm>
          <a:prstGeom prst="roundRect">
            <a:avLst>
              <a:gd name="adj" fmla="val 3000"/>
            </a:avLst>
          </a:prstGeom>
          <a:solidFill>
            <a:srgbClr val="FFF9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Demo video</a:t>
            </a:r>
          </a:p>
        </p:txBody>
      </p:sp>
      <p:sp>
        <p:nvSpPr>
          <p:cNvPr id="54" name="TextBox 53"/>
          <p:cNvSpPr txBox="1"/>
          <p:nvPr/>
        </p:nvSpPr>
        <p:spPr>
          <a:xfrm>
            <a:off x="694944" y="4257675"/>
            <a:ext cx="6126480" cy="548640"/>
          </a:xfrm>
          <a:prstGeom prst="rect">
            <a:avLst/>
          </a:prstGeom>
          <a:noFill/>
        </p:spPr>
        <p:txBody>
          <a:bodyPr wrap="square" anchor="b" lIns="0" rIns="0" tIns="0" bIns="0">
            <a:spAutoFit/>
          </a:bodyPr>
          <a:lstStyle/>
          <a:p>
            <a:pPr algn="ctr">
              <a:spcAft>
                <a:spcPts val="400"/>
              </a:spcAft>
            </a:pPr>
            <a:r>
              <a:rPr sz="1300" b="1" i="0">
                <a:solidFill>
                  <a:srgbClr val="8064A2"/>
                </a:solidFill>
                <a:latin typeface="Segoe Sans Display Semibold"/>
              </a:rPr>
              <a:t>Recorded run: Exercise 2, Navigate Websites with Cowork’s Browser</a:t>
            </a:r>
          </a:p>
          <a:p>
            <a:pPr algn="ctr">
              <a:spcAft>
                <a:spcPts val="400"/>
              </a:spcAft>
            </a:pPr>
            <a:r>
              <a:rPr sz="1000" b="0" i="0">
                <a:solidFill>
                  <a:srgbClr val="616161"/>
                </a:solidFill>
                <a:latin typeface="Segoe UI"/>
              </a:rPr>
              <a:t>Facilitator: insert your recording here (see notes)</a:t>
            </a:r>
          </a:p>
        </p:txBody>
      </p:sp>
      <p:sp>
        <p:nvSpPr>
          <p:cNvPr id="55" name="Demo Video Placeholder" descr="Demo video: recorded run of Exercise 2, Navigate Websites with Cowork’s Browser"/>
          <p:cNvSpPr>
            <a:spLocks noGrp="1"/>
          </p:cNvSpPr>
          <p:nvPr>
            <p:ph type="media" sz="quarter" idx="155"/>
          </p:nvPr>
        </p:nvSpPr>
        <p:spPr>
          <a:xfrm>
            <a:off x="420624" y="1188720"/>
            <a:ext cx="6675120" cy="3754755"/>
          </a:xfrm>
          <a:prstGeom prst="rect">
            <a:avLst/>
          </a:prstGeom>
        </p:spPr>
        <p:txBody>
          <a:bodyPr anchor="ctr"/>
          <a:lstStyle/>
          <a:p>
            <a:pPr algn="ctr"/>
            <a:endParaRPr lang="en-US"/>
          </a:p>
        </p:txBody>
      </p:sp>
      <p:sp>
        <p:nvSpPr>
          <p:cNvPr id="56" name="Rounded Rectangle 55">
            <a:extLst>
              <a:ext uri="{C183D7F6-B498-43B3-948B-1728B52AA6E4}">
                <ns2:decorative xmlns:ns2="http://schemas.microsoft.com/office/drawing/2017/decorative" val="1"/>
              </a:ext>
            </a:extLst>
          </p:cNvPr>
          <p:cNvSpPr/>
          <p:nvPr/>
        </p:nvSpPr>
        <p:spPr>
          <a:xfrm>
            <a:off x="420624" y="5217795"/>
            <a:ext cx="6675120" cy="1228725"/>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5217795"/>
            <a:ext cx="6144768" cy="1228725"/>
          </a:xfrm>
          <a:prstGeom prst="rect">
            <a:avLst/>
          </a:prstGeom>
          <a:noFill/>
        </p:spPr>
        <p:txBody>
          <a:bodyPr wrap="square" anchor="ctr" lIns="0" rIns="0" tIns="0" bIns="0">
            <a:spAutoFit/>
          </a:bodyPr>
          <a:lstStyle/>
          <a:p>
            <a:pPr algn="l">
              <a:lnSpc>
                <a:spcPct val="103000"/>
              </a:lnSpc>
              <a:spcAft>
                <a:spcPts val="400"/>
              </a:spcAft>
            </a:pPr>
            <a:r>
              <a:rPr sz="1300" b="1" i="0">
                <a:solidFill>
                  <a:srgbClr val="FFFFFF"/>
                </a:solidFill>
                <a:latin typeface="Segoe Sans Display Semibold"/>
              </a:rPr>
              <a:t>Why a recording? </a:t>
            </a:r>
            <a:r>
              <a:rPr sz="1300" b="0" i="0">
                <a:solidFill>
                  <a:srgbClr val="FFFFFF"/>
                </a:solidFill>
                <a:latin typeface="Segoe Sans Display"/>
              </a:rPr>
              <a:t>Cowork tasks can take several minutes. Watch the run here, then do it yourself.</a:t>
            </a:r>
          </a:p>
        </p:txBody>
      </p:sp>
      <p:sp>
        <p:nvSpPr>
          <p:cNvPr id="58" name="Rounded Rectangle 57">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Watch for in the demo</a:t>
            </a:r>
          </a:p>
        </p:txBody>
      </p:sp>
      <p:sp>
        <p:nvSpPr>
          <p:cNvPr id="60" name="TextBox 59"/>
          <p:cNvSpPr txBox="1"/>
          <p:nvPr/>
        </p:nvSpPr>
        <p:spPr>
          <a:xfrm>
            <a:off x="7772400" y="1737360"/>
            <a:ext cx="3931920" cy="3108960"/>
          </a:xfrm>
          <a:prstGeom prst="rect">
            <a:avLst/>
          </a:prstGeom>
          <a:noFill/>
        </p:spPr>
        <p:txBody>
          <a:bodyPr wrap="square" anchor="t" lIns="0" rIns="0" tIns="0" bIns="0">
            <a:spAutoFit/>
          </a:bodyPr>
          <a:lstStyle/>
          <a:p>
            <a:pPr algn="l" marL="237744" indent="-237744">
              <a:lnSpc>
                <a:spcPct val="105000"/>
              </a:lnSpc>
              <a:spcAft>
                <a:spcPts val="1000"/>
              </a:spcAft>
              <a:buFont typeface="+mj-lt"/>
              <a:buAutoNum type="arabicPeriod"/>
            </a:pPr>
            <a:r>
              <a:rPr sz="1400" b="1" i="0">
                <a:solidFill>
                  <a:srgbClr val="323139"/>
                </a:solidFill>
                <a:latin typeface="Segoe UI"/>
              </a:rPr>
              <a:t>Navigate</a:t>
            </a:r>
            <a:r>
              <a:rPr sz="1400" b="0" i="0">
                <a:solidFill>
                  <a:srgbClr val="323139"/>
                </a:solidFill>
                <a:latin typeface="Segoe UI"/>
              </a:rPr>
              <a:t> → dol.gov: site search → Fact Sheet #23</a:t>
            </a:r>
          </a:p>
          <a:p>
            <a:pPr algn="l" marL="237744" indent="-237744">
              <a:lnSpc>
                <a:spcPct val="105000"/>
              </a:lnSpc>
              <a:spcAft>
                <a:spcPts val="1000"/>
              </a:spcAft>
              <a:buFont typeface="+mj-lt"/>
              <a:buAutoNum type="arabicPeriod"/>
            </a:pPr>
            <a:r>
              <a:rPr sz="1400" b="1" i="0">
                <a:solidFill>
                  <a:srgbClr val="323139"/>
                </a:solidFill>
                <a:latin typeface="Segoe UI"/>
              </a:rPr>
              <a:t>Navigate</a:t>
            </a:r>
            <a:r>
              <a:rPr sz="1400" b="0" i="0">
                <a:solidFill>
                  <a:srgbClr val="323139"/>
                </a:solidFill>
                <a:latin typeface="Segoe UI"/>
              </a:rPr>
              <a:t> → lni.wa.gov: menu → overtime page</a:t>
            </a:r>
          </a:p>
          <a:p>
            <a:pPr algn="l" marL="237744" indent="-237744">
              <a:lnSpc>
                <a:spcPct val="105000"/>
              </a:lnSpc>
              <a:spcAft>
                <a:spcPts val="1000"/>
              </a:spcAft>
              <a:buFont typeface="+mj-lt"/>
              <a:buAutoNum type="arabicPeriod"/>
            </a:pPr>
            <a:r>
              <a:rPr sz="1400" b="1" i="0">
                <a:solidFill>
                  <a:srgbClr val="323139"/>
                </a:solidFill>
                <a:latin typeface="Segoe UI"/>
              </a:rPr>
              <a:t>Ground</a:t>
            </a:r>
            <a:r>
              <a:rPr sz="1400" b="0" i="0">
                <a:solidFill>
                  <a:srgbClr val="323139"/>
                </a:solidFill>
                <a:latin typeface="Segoe UI"/>
              </a:rPr>
              <a:t> → Compare with the Zava handbook</a:t>
            </a:r>
          </a:p>
          <a:p>
            <a:pPr algn="l" marL="237744" indent="-237744">
              <a:lnSpc>
                <a:spcPct val="105000"/>
              </a:lnSpc>
              <a:spcAft>
                <a:spcPts val="1000"/>
              </a:spcAft>
              <a:buFont typeface="+mj-lt"/>
              <a:buAutoNum type="arabicPeriod"/>
            </a:pPr>
            <a:r>
              <a:rPr sz="1400" b="1" i="0">
                <a:solidFill>
                  <a:srgbClr val="323139"/>
                </a:solidFill>
                <a:latin typeface="Segoe UI"/>
              </a:rPr>
              <a:t>Build</a:t>
            </a:r>
            <a:r>
              <a:rPr sz="1400" b="0" i="0">
                <a:solidFill>
                  <a:srgbClr val="323139"/>
                </a:solidFill>
                <a:latin typeface="Segoe UI"/>
              </a:rPr>
              <a:t> → Table with links (+ optional brief)</a:t>
            </a:r>
          </a:p>
        </p:txBody>
      </p:sp>
      <p:sp>
        <p:nvSpPr>
          <p:cNvPr id="61" name="Rounded Rectangle 60">
            <a:extLst>
              <a:ext uri="{C183D7F6-B498-43B3-948B-1728B52AA6E4}">
                <ns4:decorative xmlns:ns4="http://schemas.microsoft.com/office/drawing/2017/decorative" val="1"/>
              </a:ext>
            </a:extLst>
          </p:cNvPr>
          <p:cNvSpPr/>
          <p:nvPr/>
        </p:nvSpPr>
        <p:spPr>
          <a:xfrm>
            <a:off x="7726679" y="5166359"/>
            <a:ext cx="4023360" cy="1051560"/>
          </a:xfrm>
          <a:prstGeom prst="roundRect">
            <a:avLst>
              <a:gd name="adj" fmla="val 10000"/>
            </a:avLst>
          </a:prstGeom>
          <a:solidFill>
            <a:srgbClr val="FFFC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909559" y="5166359"/>
            <a:ext cx="3657600" cy="1051560"/>
          </a:xfrm>
          <a:prstGeom prst="rect">
            <a:avLst/>
          </a:prstGeom>
          <a:noFill/>
        </p:spPr>
        <p:txBody>
          <a:bodyPr wrap="square" anchor="ctr" lIns="0" rIns="0" tIns="0" bIns="0">
            <a:spAutoFit/>
          </a:bodyPr>
          <a:lstStyle/>
          <a:p>
            <a:pPr algn="l">
              <a:lnSpc>
                <a:spcPct val="103000"/>
              </a:lnSpc>
              <a:spcAft>
                <a:spcPts val="400"/>
              </a:spcAft>
            </a:pPr>
            <a:r>
              <a:rPr sz="1200" b="1" i="0">
                <a:solidFill>
                  <a:srgbClr val="323139"/>
                </a:solidFill>
                <a:latin typeface="Segoe Sans Display"/>
              </a:rPr>
              <a:t>Next:</a:t>
            </a:r>
            <a:r>
              <a:rPr sz="1200" b="0" i="0">
                <a:solidFill>
                  <a:srgbClr val="323139"/>
                </a:solidFill>
                <a:latin typeface="Segoe Sans Display"/>
              </a:rPr>
              <a:t> your turn on the hands-on slide (15 min).</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79.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Browser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02</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15 min</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Check:</a:t>
            </a:r>
            <a:r>
              <a:rPr sz="1500" b="0" i="0">
                <a:solidFill>
                  <a:srgbClr val="323139"/>
                </a:solidFill>
                <a:latin typeface="Segoe UI"/>
              </a:rPr>
              <a:t> Cowork open </a:t>
            </a:r>
            <a:r>
              <a:rPr sz="1500" b="1" i="0">
                <a:solidFill>
                  <a:srgbClr val="323139"/>
                </a:solidFill>
                <a:latin typeface="Segoe UI"/>
              </a:rPr>
              <a:t>in Edge</a:t>
            </a:r>
            <a:r>
              <a:rPr sz="1500" b="0" i="0">
                <a:solidFill>
                  <a:srgbClr val="323139"/>
                </a:solidFill>
                <a:latin typeface="Segoe UI"/>
              </a:rPr>
              <a:t>; Edge profile = </a:t>
            </a:r>
            <a:r>
              <a:rPr sz="1500" b="1" i="0">
                <a:solidFill>
                  <a:srgbClr val="323139"/>
                </a:solidFill>
                <a:latin typeface="Segoe UI"/>
              </a:rPr>
              <a:t>your work account</a:t>
            </a:r>
            <a:r>
              <a:rPr sz="1500" b="0" i="0">
                <a:solidFill>
                  <a:srgbClr val="323139"/>
                </a:solidFill>
                <a:latin typeface="Segoe UI"/>
              </a:rPr>
              <a:t>; Edge setting </a:t>
            </a:r>
            <a:r>
              <a:rPr sz="1500" b="1" i="0">
                <a:solidFill>
                  <a:srgbClr val="323139"/>
                </a:solidFill>
                <a:latin typeface="Segoe UI"/>
              </a:rPr>
              <a:t>Allow Cowork to take actions</a:t>
            </a:r>
            <a:r>
              <a:rPr sz="1500" b="0" i="0">
                <a:solidFill>
                  <a:srgbClr val="323139"/>
                </a:solidFill>
                <a:latin typeface="Segoe UI"/>
              </a:rPr>
              <a:t> on.</a:t>
            </a:r>
          </a:p>
          <a:p>
            <a:pPr algn="l" marL="237744" indent="-237744">
              <a:lnSpc>
                <a:spcPct val="105000"/>
              </a:lnSpc>
              <a:spcAft>
                <a:spcPts val="900"/>
              </a:spcAft>
              <a:buFont typeface="+mj-lt"/>
              <a:buAutoNum type="arabicPeriod"/>
            </a:pPr>
            <a:r>
              <a:rPr sz="1500" b="1" i="0">
                <a:solidFill>
                  <a:srgbClr val="323139"/>
                </a:solidFill>
                <a:latin typeface="Segoe UI"/>
              </a:rPr>
              <a:t>New task:</a:t>
            </a:r>
            <a:r>
              <a:rPr sz="1500" b="0" i="0">
                <a:solidFill>
                  <a:srgbClr val="323139"/>
                </a:solidFill>
                <a:latin typeface="Segoe UI"/>
              </a:rPr>
              <a:t> attach the handbook; paste the two-site prompt.</a:t>
            </a:r>
          </a:p>
          <a:p>
            <a:pPr algn="l" marL="237744" indent="-237744">
              <a:lnSpc>
                <a:spcPct val="105000"/>
              </a:lnSpc>
              <a:spcAft>
                <a:spcPts val="900"/>
              </a:spcAft>
              <a:buFont typeface="+mj-lt"/>
              <a:buAutoNum type="arabicPeriod"/>
            </a:pPr>
            <a:r>
              <a:rPr sz="1500" b="1" i="0">
                <a:solidFill>
                  <a:srgbClr val="323139"/>
                </a:solidFill>
                <a:latin typeface="Segoe UI"/>
              </a:rPr>
              <a:t>Consent:</a:t>
            </a:r>
            <a:r>
              <a:rPr sz="1500" b="0" i="0">
                <a:solidFill>
                  <a:srgbClr val="323139"/>
                </a:solidFill>
                <a:latin typeface="Segoe UI"/>
              </a:rPr>
              <a:t> select </a:t>
            </a:r>
            <a:r>
              <a:rPr sz="1500" b="1" i="0">
                <a:solidFill>
                  <a:srgbClr val="323139"/>
                </a:solidFill>
                <a:latin typeface="Segoe UI"/>
              </a:rPr>
              <a:t>I understand</a:t>
            </a:r>
            <a:r>
              <a:rPr sz="1500" b="0" i="0">
                <a:solidFill>
                  <a:srgbClr val="323139"/>
                </a:solidFill>
                <a:latin typeface="Segoe UI"/>
              </a:rPr>
              <a:t> at the browser notice.</a:t>
            </a:r>
          </a:p>
          <a:p>
            <a:pPr algn="l" marL="237744" indent="-237744">
              <a:lnSpc>
                <a:spcPct val="105000"/>
              </a:lnSpc>
              <a:spcAft>
                <a:spcPts val="900"/>
              </a:spcAft>
              <a:buFont typeface="+mj-lt"/>
              <a:buAutoNum type="arabicPeriod"/>
            </a:pPr>
            <a:r>
              <a:rPr sz="1500" b="1" i="0">
                <a:solidFill>
                  <a:srgbClr val="323139"/>
                </a:solidFill>
                <a:latin typeface="Segoe UI"/>
              </a:rPr>
              <a:t>Switch to tab</a:t>
            </a:r>
            <a:r>
              <a:rPr sz="1500" b="0" i="0">
                <a:solidFill>
                  <a:srgbClr val="323139"/>
                </a:solidFill>
                <a:latin typeface="Segoe UI"/>
              </a:rPr>
              <a:t> to watch it search dol.gov and click through; open two links yourself.</a:t>
            </a:r>
          </a:p>
          <a:p>
            <a:pPr algn="l" marL="237744" indent="-237744">
              <a:lnSpc>
                <a:spcPct val="105000"/>
              </a:lnSpc>
              <a:spcAft>
                <a:spcPts val="900"/>
              </a:spcAft>
              <a:buFont typeface="+mj-lt"/>
              <a:buAutoNum type="arabicPeriod"/>
            </a:pPr>
            <a:r>
              <a:rPr sz="1500" b="1" i="0">
                <a:solidFill>
                  <a:srgbClr val="323139"/>
                </a:solidFill>
                <a:latin typeface="Segoe UI"/>
              </a:rPr>
              <a:t>Optional:</a:t>
            </a:r>
            <a:r>
              <a:rPr sz="1500" b="0" i="0">
                <a:solidFill>
                  <a:srgbClr val="323139"/>
                </a:solidFill>
                <a:latin typeface="Segoe UI"/>
              </a:rPr>
              <a:t> the Word brief for payroll; open it from the </a:t>
            </a:r>
            <a:r>
              <a:rPr sz="1500" b="1" i="0">
                <a:solidFill>
                  <a:srgbClr val="323139"/>
                </a:solidFill>
                <a:latin typeface="Segoe UI"/>
              </a:rPr>
              <a:t>Output folder</a:t>
            </a:r>
            <a:r>
              <a:rPr sz="1500" b="0" i="0">
                <a:solidFill>
                  <a:srgbClr val="323139"/>
                </a:solidFill>
                <a:latin typeface="Segoe UI"/>
              </a:rPr>
              <a:t>.</a:t>
            </a:r>
          </a:p>
        </p:txBody>
      </p:sp>
      <p:sp>
        <p:nvSpPr>
          <p:cNvPr id="55" name="Rounded Rectangle 54">
            <a:extLst>
              <a:ext uri="{C183D7F6-B498-43B3-948B-1728B52AA6E4}">
                <ns2:decorative xmlns:ns2="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3:decorative xmlns:ns3="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When would you use browser use instead of Deep Research? What would you never let it do unwatched?</a:t>
            </a:r>
          </a:p>
        </p:txBody>
      </p:sp>
      <p:sp>
        <p:nvSpPr>
          <p:cNvPr id="59" name="Rounded Rectangle 58">
            <a:extLst>
              <a:ext uri="{C183D7F6-B498-43B3-948B-1728B52AA6E4}">
                <ns4:decorative xmlns:ns4="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5:decorative xmlns:ns5="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No “browser” skill chip — watch the </a:t>
            </a:r>
            <a:r>
              <a:rPr sz="1150" b="1" i="0">
                <a:solidFill>
                  <a:srgbClr val="323139"/>
                </a:solidFill>
                <a:latin typeface="Segoe UI"/>
              </a:rPr>
              <a:t>progress chips</a:t>
            </a:r>
          </a:p>
          <a:p>
            <a:pPr algn="l" marL="182880" indent="-182880">
              <a:spcAft>
                <a:spcPts val="400"/>
              </a:spcAft>
              <a:buFont typeface="Arial"/>
              <a:buChar char="•"/>
            </a:pPr>
            <a:r>
              <a:rPr sz="1150" b="0" i="0">
                <a:solidFill>
                  <a:srgbClr val="323139"/>
                </a:solidFill>
                <a:latin typeface="Segoe UI"/>
              </a:rPr>
              <a:t>It types in the </a:t>
            </a:r>
            <a:r>
              <a:rPr sz="1150" b="1" i="0">
                <a:solidFill>
                  <a:srgbClr val="323139"/>
                </a:solidFill>
                <a:latin typeface="Segoe UI"/>
              </a:rPr>
              <a:t>site search</a:t>
            </a:r>
            <a:r>
              <a:rPr sz="1150" b="0" i="0">
                <a:solidFill>
                  <a:srgbClr val="323139"/>
                </a:solidFill>
                <a:latin typeface="Segoe UI"/>
              </a:rPr>
              <a:t> and clicks menus (not guessed URLs)</a:t>
            </a:r>
          </a:p>
          <a:p>
            <a:pPr algn="l" marL="182880" indent="-182880">
              <a:spcAft>
                <a:spcPts val="400"/>
              </a:spcAft>
              <a:buFont typeface="Arial"/>
              <a:buChar char="•"/>
            </a:pPr>
            <a:r>
              <a:rPr sz="1150" b="0" i="0">
                <a:solidFill>
                  <a:srgbClr val="323139"/>
                </a:solidFill>
                <a:latin typeface="Segoe UI"/>
              </a:rPr>
              <a:t>Sign-in or CAPTCHA? It hands back — don’t enter anything</a:t>
            </a:r>
          </a:p>
          <a:p>
            <a:pPr algn="l" marL="182880" indent="-182880">
              <a:spcAft>
                <a:spcPts val="400"/>
              </a:spcAft>
              <a:buFont typeface="Arial"/>
              <a:buChar char="•"/>
            </a:pPr>
            <a:r>
              <a:rPr sz="1150" b="0" i="0">
                <a:solidFill>
                  <a:srgbClr val="323139"/>
                </a:solidFill>
                <a:latin typeface="Segoe UI"/>
              </a:rPr>
              <a:t>Nothing submitted beyond a search box</a:t>
            </a:r>
          </a:p>
        </p:txBody>
      </p:sp>
      <p:sp>
        <p:nvSpPr>
          <p:cNvPr id="63" name="Rounded Rectangle 62">
            <a:extLst>
              <a:ext uri="{C183D7F6-B498-43B3-948B-1728B52AA6E4}">
                <ns6:decorative xmlns:ns6="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7:decorative xmlns:ns7="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Two sites navigated by search and menus, and a comparison table linking the DOL fact sheet and the Washington L&amp;I overtime page (plus the optional Word brief about T-2008).</a:t>
            </a:r>
          </a:p>
        </p:txBody>
      </p:sp>
      <p:sp>
        <p:nvSpPr>
          <p:cNvPr id="67" name="Rounded Rectangle 66">
            <a:extLst>
              <a:ext uri="{C183D7F6-B498-43B3-948B-1728B52AA6E4}">
                <ns8:decorative xmlns:ns8="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200"/>
              </a:spcAft>
            </a:pPr>
            <a:r>
              <a:rPr sz="1100" b="1" i="0">
                <a:solidFill>
                  <a:srgbClr val="323139"/>
                </a:solidFill>
                <a:latin typeface="Segoe Sans Display Semibold"/>
              </a:rPr>
              <a:t>Stretch: </a:t>
            </a:r>
            <a:r>
              <a:rPr sz="1100" b="0" i="0">
                <a:solidFill>
                  <a:srgbClr val="323139"/>
                </a:solidFill>
                <a:latin typeface="Segoe Sans Display"/>
              </a:rPr>
              <a:t>Read only: DOL Fact Sheet #17A and Washington’s exempt salary minimum. Is a salaried HR Coordinator likely exempt?</a:t>
            </a:r>
          </a:p>
          <a:p>
            <a:pPr algn="l">
              <a:lnSpc>
                <a:spcPct val="103000"/>
              </a:lnSpc>
              <a:spcAft>
                <a:spcPts val="400"/>
              </a:spcAft>
            </a:pPr>
            <a:r>
              <a:rPr sz="1000" b="0" i="0">
                <a:solidFill>
                  <a:srgbClr val="616161"/>
                </a:solidFill>
                <a:latin typeface="Segoe Sans Display"/>
              </a:rPr>
              <a:t>Full prompt: </a:t>
            </a:r>
            <a:r>
              <a:rPr sz="1000" b="1" i="0">
                <a:solidFill>
                  <a:srgbClr val="0F6CBD"/>
                </a:solidFill>
                <a:latin typeface="Segoe Sans Display"/>
                <a:hlinkClick r:id="rId7">
                  <a:extLst>
                    <a:ext uri="{A12FA001-AC4F-418D-AE19-62706E023703}">
                      <ahyp:hlinkClr xmlns:ahyp="http://schemas.microsoft.com/office/drawing/2018/hyperlinkcolor" val="tx"/>
                    </a:ext>
                  </a:extLst>
                </a:hlinkClick>
              </a:rPr>
              <a:t>participant workbook, Exercise 2</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80.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 name="TextBox 1"/>
          <p:cNvSpPr txBox="1"/>
          <p:nvPr/>
        </p:nvSpPr>
        <p:spPr>
          <a:xfrm>
            <a:off x="868680" y="1325880"/>
            <a:ext cx="2743200" cy="365760"/>
          </a:xfrm>
          <a:prstGeom prst="rect">
            <a:avLst/>
          </a:prstGeom>
          <a:noFill/>
        </p:spPr>
        <p:txBody>
          <a:bodyPr wrap="square" anchor="t" lIns="0" rIns="0" tIns="0" bIns="0">
            <a:spAutoFit/>
          </a:bodyPr>
          <a:lstStyle/>
          <a:p>
            <a:pPr algn="l">
              <a:spcAft>
                <a:spcPts val="400"/>
              </a:spcAft>
            </a:pPr>
            <a:r>
              <a:rPr sz="1600" b="0" i="0">
                <a:solidFill>
                  <a:srgbClr val="616161"/>
                </a:solidFill>
                <a:latin typeface="Segoe Sans Display Semibold"/>
              </a:rPr>
              <a:t>EXERCISE</a:t>
            </a:r>
          </a:p>
        </p:txBody>
      </p:sp>
      <p:sp>
        <p:nvSpPr>
          <p:cNvPr id="3" name="TextBox 2"/>
          <p:cNvSpPr txBox="1"/>
          <p:nvPr/>
        </p:nvSpPr>
        <p:spPr>
          <a:xfrm>
            <a:off x="777240" y="1645920"/>
            <a:ext cx="2926080" cy="1828800"/>
          </a:xfrm>
          <a:prstGeom prst="rect">
            <a:avLst/>
          </a:prstGeom>
          <a:noFill/>
        </p:spPr>
        <p:txBody>
          <a:bodyPr wrap="square" anchor="t" lIns="0" rIns="0" tIns="0" bIns="0">
            <a:spAutoFit/>
          </a:bodyPr>
          <a:lstStyle/>
          <a:p>
            <a:pPr algn="l">
              <a:spcAft>
                <a:spcPts val="400"/>
              </a:spcAft>
            </a:pPr>
            <a:r>
              <a:rPr sz="12000" b="1" i="0">
                <a:solidFill>
                  <a:srgbClr val="8064A2"/>
                </a:solidFill>
                <a:latin typeface="Segoe Sans Display"/>
              </a:rPr>
              <a:t>03</a:t>
            </a:r>
          </a:p>
        </p:txBody>
      </p:sp>
      <p:sp>
        <p:nvSpPr>
          <p:cNvPr id="4" name="TextBox 3"/>
          <p:cNvSpPr txBox="1"/>
          <p:nvPr/>
        </p:nvSpPr>
        <p:spPr>
          <a:xfrm>
            <a:off x="3749039" y="1417320"/>
            <a:ext cx="5440680" cy="1508760"/>
          </a:xfrm>
          <a:prstGeom prst="rect">
            <a:avLst/>
          </a:prstGeom>
          <a:noFill/>
        </p:spPr>
        <p:txBody>
          <a:bodyPr wrap="square" anchor="b" lIns="0" rIns="0" tIns="0" bIns="0">
            <a:spAutoFit/>
          </a:bodyPr>
          <a:lstStyle/>
          <a:p>
            <a:pPr algn="l">
              <a:lnSpc>
                <a:spcPct val="95000"/>
              </a:lnSpc>
              <a:spcAft>
                <a:spcPts val="400"/>
              </a:spcAft>
            </a:pPr>
            <a:r>
              <a:rPr sz="3200" b="0" i="0">
                <a:solidFill>
                  <a:srgbClr val="323139"/>
                </a:solidFill>
                <a:latin typeface="Segoe Sans Display"/>
              </a:rPr>
              <a:t>Build a Custom Skill: HR Policy Answer</a:t>
            </a:r>
          </a:p>
        </p:txBody>
      </p:sp>
      <p:sp>
        <p:nvSpPr>
          <p:cNvPr id="5" name="TextBox 4"/>
          <p:cNvSpPr txBox="1"/>
          <p:nvPr/>
        </p:nvSpPr>
        <p:spPr>
          <a:xfrm>
            <a:off x="3749039" y="3017520"/>
            <a:ext cx="5440680" cy="1005840"/>
          </a:xfrm>
          <a:prstGeom prst="rect">
            <a:avLst/>
          </a:prstGeom>
          <a:noFill/>
        </p:spPr>
        <p:txBody>
          <a:bodyPr wrap="square" anchor="t" lIns="0" rIns="0" tIns="0" bIns="0">
            <a:spAutoFit/>
          </a:bodyPr>
          <a:lstStyle/>
          <a:p>
            <a:pPr algn="l">
              <a:lnSpc>
                <a:spcPct val="105000"/>
              </a:lnSpc>
              <a:spcAft>
                <a:spcPts val="400"/>
              </a:spcAft>
            </a:pPr>
            <a:r>
              <a:rPr sz="1600" b="0" i="0">
                <a:solidFill>
                  <a:srgbClr val="616161"/>
                </a:solidFill>
                <a:latin typeface="Segoe Sans Display"/>
              </a:rPr>
              <a:t>Teach Cowork to answer policy and benefits questions the same clear, sourced way — every time.</a:t>
            </a:r>
          </a:p>
        </p:txBody>
      </p:sp>
      <p:sp>
        <p:nvSpPr>
          <p:cNvPr id="6" name="Oval 5">
            <a:extLst>
              <a:ext uri="{C183D7F6-B498-43B3-948B-1728B52AA6E4}">
                <ns0:decorative xmlns:ns0="http://schemas.microsoft.com/office/drawing/2017/decorative" val="1"/>
              </a:ext>
            </a:extLst>
          </p:cNvPr>
          <p:cNvSpPr/>
          <p:nvPr/>
        </p:nvSpPr>
        <p:spPr>
          <a:xfrm>
            <a:off x="9418320" y="1280160"/>
            <a:ext cx="2194560" cy="2194560"/>
          </a:xfrm>
          <a:prstGeom prst="ellipse">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Divider 3" descr="Illustration of a hammer and wrench, for building a custom skill"/>
          <p:cNvPicPr>
            <a:picLocks noChangeAspect="1"/>
          </p:cNvPicPr>
          <p:nvPr/>
        </p:nvPicPr>
        <p:blipFill>
          <a:blip r:embed="rId7"/>
          <a:stretch>
            <a:fillRect/>
          </a:stretch>
        </p:blipFill>
        <p:spPr>
          <a:xfrm>
            <a:off x="9784080" y="1645920"/>
            <a:ext cx="1463040" cy="1463040"/>
          </a:xfrm>
          <a:prstGeom prst="rect">
            <a:avLst/>
          </a:prstGeom>
        </p:spPr>
      </p:pic>
      <p:sp>
        <p:nvSpPr>
          <p:cNvPr id="8" name="Rounded Rectangle 7">
            <a:extLst>
              <a:ext uri="{C183D7F6-B498-43B3-948B-1728B52AA6E4}">
                <ns1:decorative xmlns:ns1="http://schemas.microsoft.com/office/drawing/2017/decorative" val="1"/>
              </a:ext>
            </a:extLst>
          </p:cNvPr>
          <p:cNvSpPr/>
          <p:nvPr/>
        </p:nvSpPr>
        <p:spPr>
          <a:xfrm>
            <a:off x="3749039" y="4069080"/>
            <a:ext cx="2286000"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49039" y="4069080"/>
            <a:ext cx="2286000"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15 min  ·  0:50–1:05</a:t>
            </a:r>
          </a:p>
        </p:txBody>
      </p:sp>
      <p:sp>
        <p:nvSpPr>
          <p:cNvPr id="10" name="Rounded Rectangle 9">
            <a:extLst>
              <a:ext uri="{C183D7F6-B498-43B3-948B-1728B52AA6E4}">
                <ns2:decorative xmlns:ns2="http://schemas.microsoft.com/office/drawing/2017/decorative" val="1"/>
              </a:ext>
            </a:extLst>
          </p:cNvPr>
          <p:cNvSpPr/>
          <p:nvPr/>
        </p:nvSpPr>
        <p:spPr>
          <a:xfrm>
            <a:off x="6217920" y="4069080"/>
            <a:ext cx="1421892"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17920" y="4069080"/>
            <a:ext cx="1421892"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HR · Policy</a:t>
            </a:r>
          </a:p>
        </p:txBody>
      </p:sp>
      <p:sp>
        <p:nvSpPr>
          <p:cNvPr id="12" name="Oval 11">
            <a:extLst>
              <a:ext uri="{C183D7F6-B498-43B3-948B-1728B52AA6E4}">
                <ns3:decorative xmlns:ns3="http://schemas.microsoft.com/office/drawing/2017/decorative" val="1"/>
              </a:ext>
            </a:extLst>
          </p:cNvPr>
          <p:cNvSpPr/>
          <p:nvPr/>
        </p:nvSpPr>
        <p:spPr>
          <a:xfrm>
            <a:off x="2895447"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447"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a:t>
            </a:r>
          </a:p>
        </p:txBody>
      </p:sp>
      <p:sp>
        <p:nvSpPr>
          <p:cNvPr id="14" name="Rectangle 13">
            <a:extLst>
              <a:ext uri="{C183D7F6-B498-43B3-948B-1728B52AA6E4}">
                <ns4:decorative xmlns:ns4="http://schemas.microsoft.com/office/drawing/2017/decorative" val="1"/>
              </a:ext>
            </a:extLst>
          </p:cNvPr>
          <p:cNvSpPr/>
          <p:nvPr/>
        </p:nvSpPr>
        <p:spPr>
          <a:xfrm>
            <a:off x="345323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a:extLst>
              <a:ext uri="{C183D7F6-B498-43B3-948B-1728B52AA6E4}">
                <ns5:decorative xmlns:ns5="http://schemas.microsoft.com/office/drawing/2017/decorative" val="1"/>
              </a:ext>
            </a:extLst>
          </p:cNvPr>
          <p:cNvSpPr/>
          <p:nvPr/>
        </p:nvSpPr>
        <p:spPr>
          <a:xfrm>
            <a:off x="3736695"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736695"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2</a:t>
            </a:r>
          </a:p>
        </p:txBody>
      </p:sp>
      <p:sp>
        <p:nvSpPr>
          <p:cNvPr id="17" name="Rectangle 16">
            <a:extLst>
              <a:ext uri="{C183D7F6-B498-43B3-948B-1728B52AA6E4}">
                <ns6:decorative xmlns:ns6="http://schemas.microsoft.com/office/drawing/2017/decorative" val="1"/>
              </a:ext>
            </a:extLst>
          </p:cNvPr>
          <p:cNvSpPr/>
          <p:nvPr/>
        </p:nvSpPr>
        <p:spPr>
          <a:xfrm>
            <a:off x="429447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a:extLst>
              <a:ext uri="{C183D7F6-B498-43B3-948B-1728B52AA6E4}">
                <ns7:decorative xmlns:ns7="http://schemas.microsoft.com/office/drawing/2017/decorative" val="1"/>
              </a:ext>
            </a:extLst>
          </p:cNvPr>
          <p:cNvSpPr/>
          <p:nvPr/>
        </p:nvSpPr>
        <p:spPr>
          <a:xfrm>
            <a:off x="4577943" y="5257800"/>
            <a:ext cx="512064" cy="512064"/>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7943" y="5257800"/>
            <a:ext cx="512064" cy="512064"/>
          </a:xfrm>
          <a:prstGeom prst="rect">
            <a:avLst/>
          </a:prstGeom>
          <a:noFill/>
        </p:spPr>
        <p:txBody>
          <a:bodyPr wrap="square" anchor="ctr" lIns="0" rIns="0" tIns="0" bIns="0">
            <a:spAutoFit/>
          </a:bodyPr>
          <a:lstStyle/>
          <a:p>
            <a:pPr algn="ctr">
              <a:spcAft>
                <a:spcPts val="400"/>
              </a:spcAft>
            </a:pPr>
            <a:r>
              <a:rPr sz="1400" b="1" i="0">
                <a:solidFill>
                  <a:srgbClr val="FFFFFF"/>
                </a:solidFill>
                <a:latin typeface="Segoe Sans Display Semibold"/>
              </a:rPr>
              <a:t>3</a:t>
            </a:r>
          </a:p>
        </p:txBody>
      </p:sp>
      <p:sp>
        <p:nvSpPr>
          <p:cNvPr id="20" name="Rectangle 19">
            <a:extLst>
              <a:ext uri="{C183D7F6-B498-43B3-948B-1728B52AA6E4}">
                <ns8:decorative xmlns:ns8="http://schemas.microsoft.com/office/drawing/2017/decorative" val="1"/>
              </a:ext>
            </a:extLst>
          </p:cNvPr>
          <p:cNvSpPr/>
          <p:nvPr/>
        </p:nvSpPr>
        <p:spPr>
          <a:xfrm>
            <a:off x="5135727"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a:extLst>
              <a:ext uri="{C183D7F6-B498-43B3-948B-1728B52AA6E4}">
                <ns9:decorative xmlns:ns9="http://schemas.microsoft.com/office/drawing/2017/decorative" val="1"/>
              </a:ext>
            </a:extLst>
          </p:cNvPr>
          <p:cNvSpPr/>
          <p:nvPr/>
        </p:nvSpPr>
        <p:spPr>
          <a:xfrm>
            <a:off x="5419191"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19191"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4</a:t>
            </a:r>
          </a:p>
        </p:txBody>
      </p:sp>
      <p:sp>
        <p:nvSpPr>
          <p:cNvPr id="23" name="Rectangle 22">
            <a:extLst>
              <a:ext uri="{C183D7F6-B498-43B3-948B-1728B52AA6E4}">
                <ns10:decorative xmlns:ns10="http://schemas.microsoft.com/office/drawing/2017/decorative" val="1"/>
              </a:ext>
            </a:extLst>
          </p:cNvPr>
          <p:cNvSpPr/>
          <p:nvPr/>
        </p:nvSpPr>
        <p:spPr>
          <a:xfrm>
            <a:off x="5976975"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a:extLst>
              <a:ext uri="{C183D7F6-B498-43B3-948B-1728B52AA6E4}">
                <ns11:decorative xmlns:ns11="http://schemas.microsoft.com/office/drawing/2017/decorative" val="1"/>
              </a:ext>
            </a:extLst>
          </p:cNvPr>
          <p:cNvSpPr/>
          <p:nvPr/>
        </p:nvSpPr>
        <p:spPr>
          <a:xfrm>
            <a:off x="6260439"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60439"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5</a:t>
            </a:r>
          </a:p>
        </p:txBody>
      </p:sp>
      <p:sp>
        <p:nvSpPr>
          <p:cNvPr id="26" name="Rectangle 25">
            <a:extLst>
              <a:ext uri="{C183D7F6-B498-43B3-948B-1728B52AA6E4}">
                <ns12:decorative xmlns:ns12="http://schemas.microsoft.com/office/drawing/2017/decorative" val="1"/>
              </a:ext>
            </a:extLst>
          </p:cNvPr>
          <p:cNvSpPr/>
          <p:nvPr/>
        </p:nvSpPr>
        <p:spPr>
          <a:xfrm>
            <a:off x="6818223"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a:extLst>
              <a:ext uri="{C183D7F6-B498-43B3-948B-1728B52AA6E4}">
                <ns13:decorative xmlns:ns13="http://schemas.microsoft.com/office/drawing/2017/decorative" val="1"/>
              </a:ext>
            </a:extLst>
          </p:cNvPr>
          <p:cNvSpPr/>
          <p:nvPr/>
        </p:nvSpPr>
        <p:spPr>
          <a:xfrm>
            <a:off x="7101687"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01687"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6</a:t>
            </a:r>
          </a:p>
        </p:txBody>
      </p:sp>
      <p:sp>
        <p:nvSpPr>
          <p:cNvPr id="29" name="Rectangle 28">
            <a:extLst>
              <a:ext uri="{C183D7F6-B498-43B3-948B-1728B52AA6E4}">
                <ns14:decorative xmlns:ns14="http://schemas.microsoft.com/office/drawing/2017/decorative" val="1"/>
              </a:ext>
            </a:extLst>
          </p:cNvPr>
          <p:cNvSpPr/>
          <p:nvPr/>
        </p:nvSpPr>
        <p:spPr>
          <a:xfrm>
            <a:off x="765947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a:extLst>
              <a:ext uri="{C183D7F6-B498-43B3-948B-1728B52AA6E4}">
                <ns15:decorative xmlns:ns15="http://schemas.microsoft.com/office/drawing/2017/decorative" val="1"/>
              </a:ext>
            </a:extLst>
          </p:cNvPr>
          <p:cNvSpPr/>
          <p:nvPr/>
        </p:nvSpPr>
        <p:spPr>
          <a:xfrm>
            <a:off x="7942935"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42935"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7</a:t>
            </a:r>
          </a:p>
        </p:txBody>
      </p:sp>
      <p:sp>
        <p:nvSpPr>
          <p:cNvPr id="32" name="Rectangle 31">
            <a:extLst>
              <a:ext uri="{C183D7F6-B498-43B3-948B-1728B52AA6E4}">
                <ns16:decorative xmlns:ns16="http://schemas.microsoft.com/office/drawing/2017/decorative" val="1"/>
              </a:ext>
            </a:extLst>
          </p:cNvPr>
          <p:cNvSpPr/>
          <p:nvPr/>
        </p:nvSpPr>
        <p:spPr>
          <a:xfrm>
            <a:off x="850071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a:extLst>
              <a:ext uri="{C183D7F6-B498-43B3-948B-1728B52AA6E4}">
                <ns17:decorative xmlns:ns17="http://schemas.microsoft.com/office/drawing/2017/decorative" val="1"/>
              </a:ext>
            </a:extLst>
          </p:cNvPr>
          <p:cNvSpPr/>
          <p:nvPr/>
        </p:nvSpPr>
        <p:spPr>
          <a:xfrm>
            <a:off x="8784183"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784183"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8</a:t>
            </a:r>
          </a:p>
        </p:txBody>
      </p:sp>
      <p:sp>
        <p:nvSpPr>
          <p:cNvPr id="35" name="TextBox 34"/>
          <p:cNvSpPr txBox="1"/>
          <p:nvPr/>
        </p:nvSpPr>
        <p:spPr>
          <a:xfrm>
            <a:off x="457200" y="5897880"/>
            <a:ext cx="11274552" cy="320040"/>
          </a:xfrm>
          <a:prstGeom prst="rect">
            <a:avLst/>
          </a:prstGeom>
          <a:noFill/>
        </p:spPr>
        <p:txBody>
          <a:bodyPr wrap="square" anchor="t" lIns="0" rIns="0" tIns="0" bIns="0">
            <a:spAutoFit/>
          </a:bodyPr>
          <a:lstStyle/>
          <a:p>
            <a:pPr algn="ctr">
              <a:spcAft>
                <a:spcPts val="400"/>
              </a:spcAft>
            </a:pPr>
            <a:r>
              <a:rPr sz="1200" b="0" i="0">
                <a:solidFill>
                  <a:srgbClr val="616161"/>
                </a:solidFill>
                <a:latin typeface="Segoe UI"/>
              </a:rPr>
              <a:t>Exercise 3 of 8</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81.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Build a Custom Skill: HR Policy Answer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03</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Teach Cowork to answer policy and benefits questions the same clear, sourced way — every time.</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 saved custom skill, “HR Policy Answer,” with a quality score, that triggers on policy questions and answers Answer → Details → Source → “confirm with HR.”</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Policy</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Repeating the same instructions in every prompt is error-prone. A custom skill packages tone, format, sources, and guardrails once; Cowork auto-evaluates it (0–100) and applies it when it’s needed.</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Customize</a:t>
              </a:r>
              <a:r>
                <a:rPr lang="en-US" sz="1100">
                  <a:solidFill>
                    <a:prstClr val="black"/>
                  </a:solidFill>
                  <a:latin typeface="Segoe Sans Display" pitchFamily="2" charset="0"/>
                  <a:cs typeface="Segoe Sans Display" pitchFamily="2" charset="0"/>
                </a:rPr>
                <a:t> → Skills → Add → Create new</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Define</a:t>
              </a:r>
              <a:r>
                <a:rPr lang="en-US" sz="1100">
                  <a:solidFill>
                    <a:prstClr val="black"/>
                  </a:solidFill>
                  <a:latin typeface="Segoe Sans Display" pitchFamily="2" charset="0"/>
                  <a:cs typeface="Segoe Sans Display" pitchFamily="2" charset="0"/>
                </a:rPr>
                <a:t> → Name, description, category, instructions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Evaluate</a:t>
              </a:r>
              <a:r>
                <a:rPr lang="en-US" sz="1100">
                  <a:solidFill>
                    <a:prstClr val="black"/>
                  </a:solidFill>
                  <a:latin typeface="Segoe Sans Display" pitchFamily="2" charset="0"/>
                  <a:cs typeface="Segoe Sans Display" pitchFamily="2" charset="0"/>
                </a:rPr>
                <a:t> → Auto-score on four dimensions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Test</a:t>
              </a:r>
              <a:r>
                <a:rPr lang="en-US" sz="1100">
                  <a:solidFill>
                    <a:prstClr val="black"/>
                  </a:solidFill>
                  <a:latin typeface="Segoe Sans Display" pitchFamily="2" charset="0"/>
                  <a:cs typeface="Segoe Sans Display" pitchFamily="2" charset="0"/>
                </a:rPr>
                <a:t> → In-scope triggers; out-of-scope declines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In Customize → Skills → Add → Create new, give Cowork these details: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Name: HR Policy Answer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Category: Human Resources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Description: Answers Zava employee policy and benefits questions in a consistent, sourced format, grounded only in Zava’s handbook and benefits documents.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Instructions: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Use this skill when someone asks about Zava’s HR policy or benefits (PTO, remote/hybrid work, benefits enrollment, overtime, code of conduct, learning budget).</a:t>
            </a: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0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Ground answers only in employee-handbook-excerpt.docx and benefits-summary.docx in my OneDrive folder Documents/ai_hr_cowork_workshop.</a:t>
            </a: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0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Don’t use web results or any other documents in my Microsoft 365, and if the answer isn’t in these two files, say so instead of guessing.</a:t>
            </a: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0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Answer in this format: a direct plain-language answer, then a short Details section, then a Source line naming the document, then the note “Policies can change — please confirm with HR.” Keep a warm, professional tone.</a:t>
            </a:r>
            <a:r>
              <a:rPr kumimoji="0" lang="en-US" sz="110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0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Do not handle individual pay, performance, disciplinary, legal, or medical questions — politely redirect those. Produce a draft for HR to review; never send automatically.</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7"/>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912" name="Rounded Rectangle 911">
            <a:extLst>
              <a:ext uri="{C183D7F6-B498-43B3-948B-1728B52AA6E4}">
                <ns0:decorative xmlns:ns0="http://schemas.microsoft.com/office/drawing/2017/decorative" val="1"/>
              </a:ext>
            </a:extLst>
          </p:cNvPr>
          <p:cNvSpPr/>
          <p:nvPr/>
        </p:nvSpPr>
        <p:spPr>
          <a:xfrm>
            <a:off x="7754112" y="5230368"/>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3" name="TextBox 912"/>
          <p:cNvSpPr txBox="1"/>
          <p:nvPr/>
        </p:nvSpPr>
        <p:spPr>
          <a:xfrm>
            <a:off x="7754112" y="5230368"/>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Prompt key</a:t>
            </a:r>
          </a:p>
        </p:txBody>
      </p:sp>
      <p:pic>
        <p:nvPicPr>
          <p:cNvPr id="914" name="Picture 913" descr="Prompt key: Goal (blue) is the outcome, for whom, and why; Source (green) is the files, sites, or data to use; Expectations (orange) describe what good looks like; Constraints (purple) say what Cowork must not do."/>
          <p:cNvPicPr>
            <a:picLocks noChangeAspect="1"/>
          </p:cNvPicPr>
          <p:nvPr/>
        </p:nvPicPr>
        <p:blipFill>
          <a:blip r:embed="rId6"/>
          <a:stretch>
            <a:fillRect/>
          </a:stretch>
        </p:blipFill>
        <p:spPr>
          <a:xfrm>
            <a:off x="7726680" y="5577840"/>
            <a:ext cx="4224528" cy="940756"/>
          </a:xfrm>
          <a:prstGeom prst="rect">
            <a:avLst/>
          </a:prstGeom>
        </p:spPr>
      </p:pic>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82.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Demo · Custom Skill</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03</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Video</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3754755"/>
          </a:xfrm>
          <a:prstGeom prst="roundRect">
            <a:avLst>
              <a:gd name="adj" fmla="val 3000"/>
            </a:avLst>
          </a:prstGeom>
          <a:solidFill>
            <a:srgbClr val="FFF9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Demo video</a:t>
            </a:r>
          </a:p>
        </p:txBody>
      </p:sp>
      <p:sp>
        <p:nvSpPr>
          <p:cNvPr id="54" name="TextBox 53"/>
          <p:cNvSpPr txBox="1"/>
          <p:nvPr/>
        </p:nvSpPr>
        <p:spPr>
          <a:xfrm>
            <a:off x="694944" y="4257675"/>
            <a:ext cx="6126480" cy="548640"/>
          </a:xfrm>
          <a:prstGeom prst="rect">
            <a:avLst/>
          </a:prstGeom>
          <a:noFill/>
        </p:spPr>
        <p:txBody>
          <a:bodyPr wrap="square" anchor="b" lIns="0" rIns="0" tIns="0" bIns="0">
            <a:spAutoFit/>
          </a:bodyPr>
          <a:lstStyle/>
          <a:p>
            <a:pPr algn="ctr">
              <a:spcAft>
                <a:spcPts val="400"/>
              </a:spcAft>
            </a:pPr>
            <a:r>
              <a:rPr sz="1300" b="1" i="0">
                <a:solidFill>
                  <a:srgbClr val="8064A2"/>
                </a:solidFill>
                <a:latin typeface="Segoe Sans Display Semibold"/>
              </a:rPr>
              <a:t>Recorded run: Exercise 3, Build a Custom Skill: HR Policy Answer</a:t>
            </a:r>
          </a:p>
          <a:p>
            <a:pPr algn="ctr">
              <a:spcAft>
                <a:spcPts val="400"/>
              </a:spcAft>
            </a:pPr>
            <a:r>
              <a:rPr sz="1000" b="0" i="0">
                <a:solidFill>
                  <a:srgbClr val="616161"/>
                </a:solidFill>
                <a:latin typeface="Segoe UI"/>
              </a:rPr>
              <a:t>Facilitator: insert your recording here (see notes)</a:t>
            </a:r>
          </a:p>
        </p:txBody>
      </p:sp>
      <p:sp>
        <p:nvSpPr>
          <p:cNvPr id="55" name="Demo Video Placeholder" descr="Demo video: recorded run of Exercise 3, Build a Custom Skill: HR Policy Answer"/>
          <p:cNvSpPr>
            <a:spLocks noGrp="1"/>
          </p:cNvSpPr>
          <p:nvPr>
            <p:ph type="media" sz="quarter" idx="155"/>
          </p:nvPr>
        </p:nvSpPr>
        <p:spPr>
          <a:xfrm>
            <a:off x="420624" y="1188720"/>
            <a:ext cx="6675120" cy="3754755"/>
          </a:xfrm>
          <a:prstGeom prst="rect">
            <a:avLst/>
          </a:prstGeom>
        </p:spPr>
        <p:txBody>
          <a:bodyPr anchor="ctr"/>
          <a:lstStyle/>
          <a:p>
            <a:pPr algn="ctr"/>
            <a:endParaRPr lang="en-US"/>
          </a:p>
        </p:txBody>
      </p:sp>
      <p:sp>
        <p:nvSpPr>
          <p:cNvPr id="56" name="Rounded Rectangle 55">
            <a:extLst>
              <a:ext uri="{C183D7F6-B498-43B3-948B-1728B52AA6E4}">
                <ns2:decorative xmlns:ns2="http://schemas.microsoft.com/office/drawing/2017/decorative" val="1"/>
              </a:ext>
            </a:extLst>
          </p:cNvPr>
          <p:cNvSpPr/>
          <p:nvPr/>
        </p:nvSpPr>
        <p:spPr>
          <a:xfrm>
            <a:off x="420624" y="5217795"/>
            <a:ext cx="6675120" cy="1228725"/>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5217795"/>
            <a:ext cx="6144768" cy="1228725"/>
          </a:xfrm>
          <a:prstGeom prst="rect">
            <a:avLst/>
          </a:prstGeom>
          <a:noFill/>
        </p:spPr>
        <p:txBody>
          <a:bodyPr wrap="square" anchor="ctr" lIns="0" rIns="0" tIns="0" bIns="0">
            <a:spAutoFit/>
          </a:bodyPr>
          <a:lstStyle/>
          <a:p>
            <a:pPr algn="l">
              <a:lnSpc>
                <a:spcPct val="103000"/>
              </a:lnSpc>
              <a:spcAft>
                <a:spcPts val="400"/>
              </a:spcAft>
            </a:pPr>
            <a:r>
              <a:rPr sz="1300" b="1" i="0">
                <a:solidFill>
                  <a:srgbClr val="FFFFFF"/>
                </a:solidFill>
                <a:latin typeface="Segoe Sans Display Semibold"/>
              </a:rPr>
              <a:t>Why a recording? </a:t>
            </a:r>
            <a:r>
              <a:rPr sz="1300" b="0" i="0">
                <a:solidFill>
                  <a:srgbClr val="FFFFFF"/>
                </a:solidFill>
                <a:latin typeface="Segoe Sans Display"/>
              </a:rPr>
              <a:t>Cowork tasks can take several minutes. Watch the run here, then do it yourself.</a:t>
            </a:r>
          </a:p>
        </p:txBody>
      </p:sp>
      <p:sp>
        <p:nvSpPr>
          <p:cNvPr id="58" name="Rounded Rectangle 57">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Watch for in the demo</a:t>
            </a:r>
          </a:p>
        </p:txBody>
      </p:sp>
      <p:sp>
        <p:nvSpPr>
          <p:cNvPr id="60" name="TextBox 59"/>
          <p:cNvSpPr txBox="1"/>
          <p:nvPr/>
        </p:nvSpPr>
        <p:spPr>
          <a:xfrm>
            <a:off x="7772400" y="1737360"/>
            <a:ext cx="3931920" cy="3108960"/>
          </a:xfrm>
          <a:prstGeom prst="rect">
            <a:avLst/>
          </a:prstGeom>
          <a:noFill/>
        </p:spPr>
        <p:txBody>
          <a:bodyPr wrap="square" anchor="t" lIns="0" rIns="0" tIns="0" bIns="0">
            <a:spAutoFit/>
          </a:bodyPr>
          <a:lstStyle/>
          <a:p>
            <a:pPr algn="l" marL="237744" indent="-237744">
              <a:lnSpc>
                <a:spcPct val="105000"/>
              </a:lnSpc>
              <a:spcAft>
                <a:spcPts val="1000"/>
              </a:spcAft>
              <a:buFont typeface="+mj-lt"/>
              <a:buAutoNum type="arabicPeriod"/>
            </a:pPr>
            <a:r>
              <a:rPr sz="1400" b="1" i="0">
                <a:solidFill>
                  <a:srgbClr val="323139"/>
                </a:solidFill>
                <a:latin typeface="Segoe UI"/>
              </a:rPr>
              <a:t>Customize</a:t>
            </a:r>
            <a:r>
              <a:rPr sz="1400" b="0" i="0">
                <a:solidFill>
                  <a:srgbClr val="323139"/>
                </a:solidFill>
                <a:latin typeface="Segoe UI"/>
              </a:rPr>
              <a:t> → Skills → Add → Create new</a:t>
            </a:r>
          </a:p>
          <a:p>
            <a:pPr algn="l" marL="237744" indent="-237744">
              <a:lnSpc>
                <a:spcPct val="105000"/>
              </a:lnSpc>
              <a:spcAft>
                <a:spcPts val="1000"/>
              </a:spcAft>
              <a:buFont typeface="+mj-lt"/>
              <a:buAutoNum type="arabicPeriod"/>
            </a:pPr>
            <a:r>
              <a:rPr sz="1400" b="1" i="0">
                <a:solidFill>
                  <a:srgbClr val="323139"/>
                </a:solidFill>
                <a:latin typeface="Segoe UI"/>
              </a:rPr>
              <a:t>Define</a:t>
            </a:r>
            <a:r>
              <a:rPr sz="1400" b="0" i="0">
                <a:solidFill>
                  <a:srgbClr val="323139"/>
                </a:solidFill>
                <a:latin typeface="Segoe UI"/>
              </a:rPr>
              <a:t> → Name, description, category, instructions</a:t>
            </a:r>
          </a:p>
          <a:p>
            <a:pPr algn="l" marL="237744" indent="-237744">
              <a:lnSpc>
                <a:spcPct val="105000"/>
              </a:lnSpc>
              <a:spcAft>
                <a:spcPts val="1000"/>
              </a:spcAft>
              <a:buFont typeface="+mj-lt"/>
              <a:buAutoNum type="arabicPeriod"/>
            </a:pPr>
            <a:r>
              <a:rPr sz="1400" b="1" i="0">
                <a:solidFill>
                  <a:srgbClr val="323139"/>
                </a:solidFill>
                <a:latin typeface="Segoe UI"/>
              </a:rPr>
              <a:t>Evaluate</a:t>
            </a:r>
            <a:r>
              <a:rPr sz="1400" b="0" i="0">
                <a:solidFill>
                  <a:srgbClr val="323139"/>
                </a:solidFill>
                <a:latin typeface="Segoe UI"/>
              </a:rPr>
              <a:t> → Auto-score on four dimensions</a:t>
            </a:r>
          </a:p>
          <a:p>
            <a:pPr algn="l" marL="237744" indent="-237744">
              <a:lnSpc>
                <a:spcPct val="105000"/>
              </a:lnSpc>
              <a:spcAft>
                <a:spcPts val="1000"/>
              </a:spcAft>
              <a:buFont typeface="+mj-lt"/>
              <a:buAutoNum type="arabicPeriod"/>
            </a:pPr>
            <a:r>
              <a:rPr sz="1400" b="1" i="0">
                <a:solidFill>
                  <a:srgbClr val="323139"/>
                </a:solidFill>
                <a:latin typeface="Segoe UI"/>
              </a:rPr>
              <a:t>Test</a:t>
            </a:r>
            <a:r>
              <a:rPr sz="1400" b="0" i="0">
                <a:solidFill>
                  <a:srgbClr val="323139"/>
                </a:solidFill>
                <a:latin typeface="Segoe UI"/>
              </a:rPr>
              <a:t> → In-scope triggers; out-of-scope declines</a:t>
            </a:r>
          </a:p>
        </p:txBody>
      </p:sp>
      <p:sp>
        <p:nvSpPr>
          <p:cNvPr id="61" name="Rounded Rectangle 60">
            <a:extLst>
              <a:ext uri="{C183D7F6-B498-43B3-948B-1728B52AA6E4}">
                <ns4:decorative xmlns:ns4="http://schemas.microsoft.com/office/drawing/2017/decorative" val="1"/>
              </a:ext>
            </a:extLst>
          </p:cNvPr>
          <p:cNvSpPr/>
          <p:nvPr/>
        </p:nvSpPr>
        <p:spPr>
          <a:xfrm>
            <a:off x="7726679" y="5166359"/>
            <a:ext cx="4023360" cy="1051560"/>
          </a:xfrm>
          <a:prstGeom prst="roundRect">
            <a:avLst>
              <a:gd name="adj" fmla="val 10000"/>
            </a:avLst>
          </a:prstGeom>
          <a:solidFill>
            <a:srgbClr val="FFFC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909559" y="5166359"/>
            <a:ext cx="3657600" cy="1051560"/>
          </a:xfrm>
          <a:prstGeom prst="rect">
            <a:avLst/>
          </a:prstGeom>
          <a:noFill/>
        </p:spPr>
        <p:txBody>
          <a:bodyPr wrap="square" anchor="ctr" lIns="0" rIns="0" tIns="0" bIns="0">
            <a:spAutoFit/>
          </a:bodyPr>
          <a:lstStyle/>
          <a:p>
            <a:pPr algn="l">
              <a:lnSpc>
                <a:spcPct val="103000"/>
              </a:lnSpc>
              <a:spcAft>
                <a:spcPts val="400"/>
              </a:spcAft>
            </a:pPr>
            <a:r>
              <a:rPr sz="1200" b="1" i="0">
                <a:solidFill>
                  <a:srgbClr val="323139"/>
                </a:solidFill>
                <a:latin typeface="Segoe Sans Display"/>
              </a:rPr>
              <a:t>Next:</a:t>
            </a:r>
            <a:r>
              <a:rPr sz="1200" b="0" i="0">
                <a:solidFill>
                  <a:srgbClr val="323139"/>
                </a:solidFill>
                <a:latin typeface="Segoe Sans Display"/>
              </a:rPr>
              <a:t> your turn on the hands-on slide (15 min).</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83.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Custom Skill</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03</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15 min</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Customize → Skills → Add → Create new.</a:t>
            </a:r>
          </a:p>
          <a:p>
            <a:pPr algn="l" marL="237744" indent="-237744">
              <a:lnSpc>
                <a:spcPct val="105000"/>
              </a:lnSpc>
              <a:spcAft>
                <a:spcPts val="900"/>
              </a:spcAft>
              <a:buFont typeface="+mj-lt"/>
              <a:buAutoNum type="arabicPeriod"/>
            </a:pPr>
            <a:r>
              <a:rPr sz="1500" b="0" i="0">
                <a:solidFill>
                  <a:srgbClr val="323139"/>
                </a:solidFill>
                <a:latin typeface="Segoe UI"/>
              </a:rPr>
              <a:t>Name </a:t>
            </a:r>
            <a:r>
              <a:rPr sz="1500" b="1" i="0">
                <a:solidFill>
                  <a:srgbClr val="323139"/>
                </a:solidFill>
                <a:latin typeface="Segoe UI"/>
              </a:rPr>
              <a:t>HR Policy Answer</a:t>
            </a:r>
            <a:r>
              <a:rPr sz="1500" b="0" i="0">
                <a:solidFill>
                  <a:srgbClr val="323139"/>
                </a:solidFill>
                <a:latin typeface="Segoe UI"/>
              </a:rPr>
              <a:t>, category </a:t>
            </a:r>
            <a:r>
              <a:rPr sz="1500" b="1" i="0">
                <a:solidFill>
                  <a:srgbClr val="323139"/>
                </a:solidFill>
                <a:latin typeface="Segoe UI"/>
              </a:rPr>
              <a:t>Human Resources</a:t>
            </a:r>
            <a:r>
              <a:rPr sz="1500" b="0" i="0">
                <a:solidFill>
                  <a:srgbClr val="323139"/>
                </a:solidFill>
                <a:latin typeface="Segoe UI"/>
              </a:rPr>
              <a:t>, and paste the instructions.</a:t>
            </a:r>
          </a:p>
          <a:p>
            <a:pPr algn="l" marL="237744" indent="-237744">
              <a:lnSpc>
                <a:spcPct val="105000"/>
              </a:lnSpc>
              <a:spcAft>
                <a:spcPts val="900"/>
              </a:spcAft>
              <a:buFont typeface="+mj-lt"/>
              <a:buAutoNum type="arabicPeriod"/>
            </a:pPr>
            <a:r>
              <a:rPr sz="1500" b="1" i="0">
                <a:solidFill>
                  <a:srgbClr val="323139"/>
                </a:solidFill>
                <a:latin typeface="Segoe UI"/>
              </a:rPr>
              <a:t>Confirm</a:t>
            </a:r>
            <a:r>
              <a:rPr sz="1500" b="0" i="0">
                <a:solidFill>
                  <a:srgbClr val="323139"/>
                </a:solidFill>
                <a:latin typeface="Segoe UI"/>
              </a:rPr>
              <a:t> — Cowork saves it to your OneDrive skills folder.</a:t>
            </a:r>
          </a:p>
          <a:p>
            <a:pPr algn="l" marL="237744" indent="-237744">
              <a:lnSpc>
                <a:spcPct val="105000"/>
              </a:lnSpc>
              <a:spcAft>
                <a:spcPts val="900"/>
              </a:spcAft>
              <a:buFont typeface="+mj-lt"/>
              <a:buAutoNum type="arabicPeriod"/>
            </a:pPr>
            <a:r>
              <a:rPr sz="1500" b="1" i="0">
                <a:solidFill>
                  <a:srgbClr val="323139"/>
                </a:solidFill>
                <a:latin typeface="Segoe UI"/>
              </a:rPr>
              <a:t>Read the score</a:t>
            </a:r>
            <a:r>
              <a:rPr sz="1500" b="0" i="0">
                <a:solidFill>
                  <a:srgbClr val="323139"/>
                </a:solidFill>
                <a:latin typeface="Segoe UI"/>
              </a:rPr>
              <a:t> (aim for Good 70+ or Excellent 85+); tighten trigger or scope if needed.</a:t>
            </a:r>
          </a:p>
          <a:p>
            <a:pPr algn="l" marL="237744" indent="-237744">
              <a:lnSpc>
                <a:spcPct val="105000"/>
              </a:lnSpc>
              <a:spcAft>
                <a:spcPts val="900"/>
              </a:spcAft>
              <a:buFont typeface="+mj-lt"/>
              <a:buAutoNum type="arabicPeriod"/>
            </a:pPr>
            <a:r>
              <a:rPr sz="1500" b="1" i="0">
                <a:solidFill>
                  <a:srgbClr val="323139"/>
                </a:solidFill>
                <a:latin typeface="Segoe UI"/>
              </a:rPr>
              <a:t>Test</a:t>
            </a:r>
            <a:r>
              <a:rPr sz="1500" b="0" i="0">
                <a:solidFill>
                  <a:srgbClr val="323139"/>
                </a:solidFill>
                <a:latin typeface="Segoe UI"/>
              </a:rPr>
              <a:t> in a </a:t>
            </a:r>
            <a:r>
              <a:rPr sz="1500" b="1" i="0">
                <a:solidFill>
                  <a:srgbClr val="323139"/>
                </a:solidFill>
                <a:latin typeface="Segoe UI"/>
              </a:rPr>
              <a:t>new task:</a:t>
            </a:r>
            <a:r>
              <a:rPr sz="1500" b="0" i="0">
                <a:solidFill>
                  <a:srgbClr val="323139"/>
                </a:solidFill>
                <a:latin typeface="Segoe UI"/>
              </a:rPr>
              <a:t> “At Zava, when is open enrollment…?” should trigger it; a salary question should be declined.</a:t>
            </a:r>
          </a:p>
        </p:txBody>
      </p:sp>
      <p:sp>
        <p:nvSpPr>
          <p:cNvPr id="55" name="Rounded Rectangle 54">
            <a:extLst>
              <a:ext uri="{C183D7F6-B498-43B3-948B-1728B52AA6E4}">
                <ns2:decorative xmlns:ns2="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3:decorative xmlns:ns3="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Which recurring HR question would you turn into a skill next, and what must it </a:t>
            </a:r>
            <a:r>
              <a:rPr sz="1400" b="1" i="0">
                <a:solidFill>
                  <a:srgbClr val="323139"/>
                </a:solidFill>
                <a:latin typeface="Segoe Sans Display"/>
              </a:rPr>
              <a:t>never</a:t>
            </a:r>
            <a:r>
              <a:rPr sz="1400" b="0" i="0">
                <a:solidFill>
                  <a:srgbClr val="323139"/>
                </a:solidFill>
                <a:latin typeface="Segoe Sans Display"/>
              </a:rPr>
              <a:t> answer?</a:t>
            </a:r>
          </a:p>
        </p:txBody>
      </p:sp>
      <p:sp>
        <p:nvSpPr>
          <p:cNvPr id="59" name="Rounded Rectangle 58">
            <a:extLst>
              <a:ext uri="{C183D7F6-B498-43B3-948B-1728B52AA6E4}">
                <ns4:decorative xmlns:ns4="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5:decorative xmlns:ns5="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Scores: trigger clarity, instruction specificity, scope boundaries, robustness</a:t>
            </a:r>
          </a:p>
          <a:p>
            <a:pPr algn="l" marL="182880" indent="-182880">
              <a:spcAft>
                <a:spcPts val="400"/>
              </a:spcAft>
              <a:buFont typeface="Arial"/>
              <a:buChar char="•"/>
            </a:pPr>
            <a:r>
              <a:rPr sz="1150" b="0" i="0">
                <a:solidFill>
                  <a:srgbClr val="323139"/>
                </a:solidFill>
                <a:latin typeface="Segoe UI"/>
              </a:rPr>
              <a:t>Answer → Details → Source → “confirm with HR”</a:t>
            </a:r>
          </a:p>
          <a:p>
            <a:pPr algn="l" marL="182880" indent="-182880">
              <a:spcAft>
                <a:spcPts val="400"/>
              </a:spcAft>
              <a:buFont typeface="Arial"/>
              <a:buChar char="•"/>
            </a:pPr>
            <a:r>
              <a:rPr sz="1150" b="0" i="0">
                <a:solidFill>
                  <a:srgbClr val="323139"/>
                </a:solidFill>
                <a:latin typeface="Segoe UI"/>
              </a:rPr>
              <a:t>Name </a:t>
            </a:r>
            <a:r>
              <a:rPr sz="1150" b="1" i="0">
                <a:solidFill>
                  <a:srgbClr val="323139"/>
                </a:solidFill>
                <a:latin typeface="Segoe UI"/>
              </a:rPr>
              <a:t>Zava</a:t>
            </a:r>
            <a:r>
              <a:rPr sz="1150" b="0" i="0">
                <a:solidFill>
                  <a:srgbClr val="323139"/>
                </a:solidFill>
                <a:latin typeface="Segoe UI"/>
              </a:rPr>
              <a:t> in the test, or it may answer from your own company’s content</a:t>
            </a:r>
          </a:p>
          <a:p>
            <a:pPr algn="l" marL="182880" indent="-182880">
              <a:spcAft>
                <a:spcPts val="400"/>
              </a:spcAft>
              <a:buFont typeface="Arial"/>
              <a:buChar char="•"/>
            </a:pPr>
            <a:r>
              <a:rPr sz="1150" b="0" i="0">
                <a:solidFill>
                  <a:srgbClr val="323139"/>
                </a:solidFill>
                <a:latin typeface="Segoe UI"/>
              </a:rPr>
              <a:t>Keep the skill </a:t>
            </a:r>
            <a:r>
              <a:rPr sz="1150" b="1" i="0">
                <a:solidFill>
                  <a:srgbClr val="323139"/>
                </a:solidFill>
                <a:latin typeface="Segoe UI"/>
              </a:rPr>
              <a:t>“Only you”</a:t>
            </a:r>
            <a:r>
              <a:rPr sz="1150" b="0" i="0">
                <a:solidFill>
                  <a:srgbClr val="323139"/>
                </a:solidFill>
                <a:latin typeface="Segoe UI"/>
              </a:rPr>
              <a:t> in the shared tenant</a:t>
            </a:r>
          </a:p>
        </p:txBody>
      </p:sp>
      <p:sp>
        <p:nvSpPr>
          <p:cNvPr id="63" name="Rounded Rectangle 62">
            <a:extLst>
              <a:ext uri="{C183D7F6-B498-43B3-948B-1728B52AA6E4}">
                <ns6:decorative xmlns:ns6="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7:decorative xmlns:ns7="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Your skill scores Good or better, triggers on its own, follows the format, and declines out-of-scope questions.</a:t>
            </a:r>
          </a:p>
        </p:txBody>
      </p:sp>
      <p:sp>
        <p:nvSpPr>
          <p:cNvPr id="67" name="Rounded Rectangle 66">
            <a:extLst>
              <a:ext uri="{C183D7F6-B498-43B3-948B-1728B52AA6E4}">
                <ns8:decorative xmlns:ns8="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200"/>
              </a:spcAft>
            </a:pPr>
            <a:r>
              <a:rPr sz="1100" b="1" i="0">
                <a:solidFill>
                  <a:srgbClr val="323139"/>
                </a:solidFill>
                <a:latin typeface="Segoe Sans Display Semibold"/>
              </a:rPr>
              <a:t>Stretch: </a:t>
            </a:r>
            <a:r>
              <a:rPr sz="1100" b="0" i="0">
                <a:solidFill>
                  <a:srgbClr val="323139"/>
                </a:solidFill>
                <a:latin typeface="Segoe Sans Display"/>
              </a:rPr>
              <a:t>Add a rule to link to the HR portal whenever a change requires a form.</a:t>
            </a:r>
          </a:p>
          <a:p>
            <a:pPr algn="l">
              <a:lnSpc>
                <a:spcPct val="103000"/>
              </a:lnSpc>
              <a:spcAft>
                <a:spcPts val="400"/>
              </a:spcAft>
            </a:pPr>
            <a:r>
              <a:rPr sz="1000" b="0" i="0">
                <a:solidFill>
                  <a:srgbClr val="616161"/>
                </a:solidFill>
                <a:latin typeface="Segoe Sans Display"/>
              </a:rPr>
              <a:t>Full prompt: </a:t>
            </a:r>
            <a:r>
              <a:rPr sz="1000" b="1" i="0">
                <a:solidFill>
                  <a:srgbClr val="0F6CBD"/>
                </a:solidFill>
                <a:latin typeface="Segoe Sans Display"/>
                <a:hlinkClick r:id="rId7">
                  <a:extLst>
                    <a:ext uri="{A12FA001-AC4F-418D-AE19-62706E023703}">
                      <ahyp:hlinkClr xmlns:ahyp="http://schemas.microsoft.com/office/drawing/2018/hyperlinkcolor" val="tx"/>
                    </a:ext>
                  </a:extLst>
                </a:hlinkClick>
              </a:rPr>
              <a:t>participant workbook, Exercise 3</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84.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 name="TextBox 1"/>
          <p:cNvSpPr txBox="1"/>
          <p:nvPr/>
        </p:nvSpPr>
        <p:spPr>
          <a:xfrm>
            <a:off x="868680" y="1325880"/>
            <a:ext cx="2743200" cy="365760"/>
          </a:xfrm>
          <a:prstGeom prst="rect">
            <a:avLst/>
          </a:prstGeom>
          <a:noFill/>
        </p:spPr>
        <p:txBody>
          <a:bodyPr wrap="square" anchor="t" lIns="0" rIns="0" tIns="0" bIns="0">
            <a:spAutoFit/>
          </a:bodyPr>
          <a:lstStyle/>
          <a:p>
            <a:pPr algn="l">
              <a:spcAft>
                <a:spcPts val="400"/>
              </a:spcAft>
            </a:pPr>
            <a:r>
              <a:rPr sz="1600" b="0" i="0">
                <a:solidFill>
                  <a:srgbClr val="616161"/>
                </a:solidFill>
                <a:latin typeface="Segoe Sans Display Semibold"/>
              </a:rPr>
              <a:t>EXERCISE</a:t>
            </a:r>
          </a:p>
        </p:txBody>
      </p:sp>
      <p:sp>
        <p:nvSpPr>
          <p:cNvPr id="3" name="TextBox 2"/>
          <p:cNvSpPr txBox="1"/>
          <p:nvPr/>
        </p:nvSpPr>
        <p:spPr>
          <a:xfrm>
            <a:off x="777240" y="1645920"/>
            <a:ext cx="2926080" cy="1828800"/>
          </a:xfrm>
          <a:prstGeom prst="rect">
            <a:avLst/>
          </a:prstGeom>
          <a:noFill/>
        </p:spPr>
        <p:txBody>
          <a:bodyPr wrap="square" anchor="t" lIns="0" rIns="0" tIns="0" bIns="0">
            <a:spAutoFit/>
          </a:bodyPr>
          <a:lstStyle/>
          <a:p>
            <a:pPr algn="l">
              <a:spcAft>
                <a:spcPts val="400"/>
              </a:spcAft>
            </a:pPr>
            <a:r>
              <a:rPr sz="12000" b="1" i="0">
                <a:solidFill>
                  <a:srgbClr val="8064A2"/>
                </a:solidFill>
                <a:latin typeface="Segoe Sans Display"/>
              </a:rPr>
              <a:t>04</a:t>
            </a:r>
          </a:p>
        </p:txBody>
      </p:sp>
      <p:sp>
        <p:nvSpPr>
          <p:cNvPr id="4" name="TextBox 3"/>
          <p:cNvSpPr txBox="1"/>
          <p:nvPr/>
        </p:nvSpPr>
        <p:spPr>
          <a:xfrm>
            <a:off x="3749039" y="1417320"/>
            <a:ext cx="5440680" cy="1508760"/>
          </a:xfrm>
          <a:prstGeom prst="rect">
            <a:avLst/>
          </a:prstGeom>
          <a:noFill/>
        </p:spPr>
        <p:txBody>
          <a:bodyPr wrap="square" anchor="b" lIns="0" rIns="0" tIns="0" bIns="0">
            <a:spAutoFit/>
          </a:bodyPr>
          <a:lstStyle/>
          <a:p>
            <a:pPr algn="l">
              <a:lnSpc>
                <a:spcPct val="95000"/>
              </a:lnSpc>
              <a:spcAft>
                <a:spcPts val="400"/>
              </a:spcAft>
            </a:pPr>
            <a:r>
              <a:rPr sz="3800" b="0" i="0">
                <a:solidFill>
                  <a:srgbClr val="323139"/>
                </a:solidFill>
                <a:latin typeface="Segoe Sans Display"/>
              </a:rPr>
              <a:t>Recruiting + Reporting</a:t>
            </a:r>
          </a:p>
        </p:txBody>
      </p:sp>
      <p:sp>
        <p:nvSpPr>
          <p:cNvPr id="5" name="TextBox 4"/>
          <p:cNvSpPr txBox="1"/>
          <p:nvPr/>
        </p:nvSpPr>
        <p:spPr>
          <a:xfrm>
            <a:off x="3749039" y="3017520"/>
            <a:ext cx="5440680" cy="1005840"/>
          </a:xfrm>
          <a:prstGeom prst="rect">
            <a:avLst/>
          </a:prstGeom>
          <a:noFill/>
        </p:spPr>
        <p:txBody>
          <a:bodyPr wrap="square" anchor="t" lIns="0" rIns="0" tIns="0" bIns="0">
            <a:spAutoFit/>
          </a:bodyPr>
          <a:lstStyle/>
          <a:p>
            <a:pPr algn="l">
              <a:lnSpc>
                <a:spcPct val="105000"/>
              </a:lnSpc>
              <a:spcAft>
                <a:spcPts val="400"/>
              </a:spcAft>
            </a:pPr>
            <a:r>
              <a:rPr sz="1600" b="0" i="0">
                <a:solidFill>
                  <a:srgbClr val="616161"/>
                </a:solidFill>
                <a:latin typeface="Segoe Sans Display"/>
              </a:rPr>
              <a:t>Attract the right candidates for an open role and get on top of the HR service queue in minutes.</a:t>
            </a:r>
          </a:p>
        </p:txBody>
      </p:sp>
      <p:sp>
        <p:nvSpPr>
          <p:cNvPr id="6" name="Oval 5">
            <a:extLst>
              <a:ext uri="{C183D7F6-B498-43B3-948B-1728B52AA6E4}">
                <ns0:decorative xmlns:ns0="http://schemas.microsoft.com/office/drawing/2017/decorative" val="1"/>
              </a:ext>
            </a:extLst>
          </p:cNvPr>
          <p:cNvSpPr/>
          <p:nvPr/>
        </p:nvSpPr>
        <p:spPr>
          <a:xfrm>
            <a:off x="9418320" y="1280160"/>
            <a:ext cx="2194560" cy="2194560"/>
          </a:xfrm>
          <a:prstGeom prst="ellipse">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Divider 4" descr="Illustration of a clipboard, for recruiting and reporting"/>
          <p:cNvPicPr>
            <a:picLocks noChangeAspect="1"/>
          </p:cNvPicPr>
          <p:nvPr/>
        </p:nvPicPr>
        <p:blipFill>
          <a:blip r:embed="rId7"/>
          <a:stretch>
            <a:fillRect/>
          </a:stretch>
        </p:blipFill>
        <p:spPr>
          <a:xfrm>
            <a:off x="9784080" y="1645920"/>
            <a:ext cx="1463040" cy="1463040"/>
          </a:xfrm>
          <a:prstGeom prst="rect">
            <a:avLst/>
          </a:prstGeom>
        </p:spPr>
      </p:pic>
      <p:sp>
        <p:nvSpPr>
          <p:cNvPr id="8" name="Rounded Rectangle 7">
            <a:extLst>
              <a:ext uri="{C183D7F6-B498-43B3-948B-1728B52AA6E4}">
                <ns1:decorative xmlns:ns1="http://schemas.microsoft.com/office/drawing/2017/decorative" val="1"/>
              </a:ext>
            </a:extLst>
          </p:cNvPr>
          <p:cNvSpPr/>
          <p:nvPr/>
        </p:nvSpPr>
        <p:spPr>
          <a:xfrm>
            <a:off x="3749039" y="4069080"/>
            <a:ext cx="2286000"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49039" y="4069080"/>
            <a:ext cx="2286000"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15 min  ·  1:05–1:20</a:t>
            </a:r>
          </a:p>
        </p:txBody>
      </p:sp>
      <p:sp>
        <p:nvSpPr>
          <p:cNvPr id="10" name="Rounded Rectangle 9">
            <a:extLst>
              <a:ext uri="{C183D7F6-B498-43B3-948B-1728B52AA6E4}">
                <ns2:decorative xmlns:ns2="http://schemas.microsoft.com/office/drawing/2017/decorative" val="1"/>
              </a:ext>
            </a:extLst>
          </p:cNvPr>
          <p:cNvSpPr/>
          <p:nvPr/>
        </p:nvSpPr>
        <p:spPr>
          <a:xfrm>
            <a:off x="6217920" y="4069080"/>
            <a:ext cx="1997964"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17920" y="4069080"/>
            <a:ext cx="1997964"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HR · Talent &amp; Ops</a:t>
            </a:r>
          </a:p>
        </p:txBody>
      </p:sp>
      <p:sp>
        <p:nvSpPr>
          <p:cNvPr id="12" name="Oval 11">
            <a:extLst>
              <a:ext uri="{C183D7F6-B498-43B3-948B-1728B52AA6E4}">
                <ns3:decorative xmlns:ns3="http://schemas.microsoft.com/office/drawing/2017/decorative" val="1"/>
              </a:ext>
            </a:extLst>
          </p:cNvPr>
          <p:cNvSpPr/>
          <p:nvPr/>
        </p:nvSpPr>
        <p:spPr>
          <a:xfrm>
            <a:off x="2895447"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447"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a:t>
            </a:r>
          </a:p>
        </p:txBody>
      </p:sp>
      <p:sp>
        <p:nvSpPr>
          <p:cNvPr id="14" name="Rectangle 13">
            <a:extLst>
              <a:ext uri="{C183D7F6-B498-43B3-948B-1728B52AA6E4}">
                <ns4:decorative xmlns:ns4="http://schemas.microsoft.com/office/drawing/2017/decorative" val="1"/>
              </a:ext>
            </a:extLst>
          </p:cNvPr>
          <p:cNvSpPr/>
          <p:nvPr/>
        </p:nvSpPr>
        <p:spPr>
          <a:xfrm>
            <a:off x="345323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a:extLst>
              <a:ext uri="{C183D7F6-B498-43B3-948B-1728B52AA6E4}">
                <ns5:decorative xmlns:ns5="http://schemas.microsoft.com/office/drawing/2017/decorative" val="1"/>
              </a:ext>
            </a:extLst>
          </p:cNvPr>
          <p:cNvSpPr/>
          <p:nvPr/>
        </p:nvSpPr>
        <p:spPr>
          <a:xfrm>
            <a:off x="3736695"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736695"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2</a:t>
            </a:r>
          </a:p>
        </p:txBody>
      </p:sp>
      <p:sp>
        <p:nvSpPr>
          <p:cNvPr id="17" name="Rectangle 16">
            <a:extLst>
              <a:ext uri="{C183D7F6-B498-43B3-948B-1728B52AA6E4}">
                <ns6:decorative xmlns:ns6="http://schemas.microsoft.com/office/drawing/2017/decorative" val="1"/>
              </a:ext>
            </a:extLst>
          </p:cNvPr>
          <p:cNvSpPr/>
          <p:nvPr/>
        </p:nvSpPr>
        <p:spPr>
          <a:xfrm>
            <a:off x="429447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a:extLst>
              <a:ext uri="{C183D7F6-B498-43B3-948B-1728B52AA6E4}">
                <ns7:decorative xmlns:ns7="http://schemas.microsoft.com/office/drawing/2017/decorative" val="1"/>
              </a:ext>
            </a:extLst>
          </p:cNvPr>
          <p:cNvSpPr/>
          <p:nvPr/>
        </p:nvSpPr>
        <p:spPr>
          <a:xfrm>
            <a:off x="4577943"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7943"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3</a:t>
            </a:r>
          </a:p>
        </p:txBody>
      </p:sp>
      <p:sp>
        <p:nvSpPr>
          <p:cNvPr id="20" name="Rectangle 19">
            <a:extLst>
              <a:ext uri="{C183D7F6-B498-43B3-948B-1728B52AA6E4}">
                <ns8:decorative xmlns:ns8="http://schemas.microsoft.com/office/drawing/2017/decorative" val="1"/>
              </a:ext>
            </a:extLst>
          </p:cNvPr>
          <p:cNvSpPr/>
          <p:nvPr/>
        </p:nvSpPr>
        <p:spPr>
          <a:xfrm>
            <a:off x="5135727"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a:extLst>
              <a:ext uri="{C183D7F6-B498-43B3-948B-1728B52AA6E4}">
                <ns9:decorative xmlns:ns9="http://schemas.microsoft.com/office/drawing/2017/decorative" val="1"/>
              </a:ext>
            </a:extLst>
          </p:cNvPr>
          <p:cNvSpPr/>
          <p:nvPr/>
        </p:nvSpPr>
        <p:spPr>
          <a:xfrm>
            <a:off x="5419191" y="5257800"/>
            <a:ext cx="512064" cy="512064"/>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19191" y="5257800"/>
            <a:ext cx="512064" cy="512064"/>
          </a:xfrm>
          <a:prstGeom prst="rect">
            <a:avLst/>
          </a:prstGeom>
          <a:noFill/>
        </p:spPr>
        <p:txBody>
          <a:bodyPr wrap="square" anchor="ctr" lIns="0" rIns="0" tIns="0" bIns="0">
            <a:spAutoFit/>
          </a:bodyPr>
          <a:lstStyle/>
          <a:p>
            <a:pPr algn="ctr">
              <a:spcAft>
                <a:spcPts val="400"/>
              </a:spcAft>
            </a:pPr>
            <a:r>
              <a:rPr sz="1400" b="1" i="0">
                <a:solidFill>
                  <a:srgbClr val="FFFFFF"/>
                </a:solidFill>
                <a:latin typeface="Segoe Sans Display Semibold"/>
              </a:rPr>
              <a:t>4</a:t>
            </a:r>
          </a:p>
        </p:txBody>
      </p:sp>
      <p:sp>
        <p:nvSpPr>
          <p:cNvPr id="23" name="Rectangle 22">
            <a:extLst>
              <a:ext uri="{C183D7F6-B498-43B3-948B-1728B52AA6E4}">
                <ns10:decorative xmlns:ns10="http://schemas.microsoft.com/office/drawing/2017/decorative" val="1"/>
              </a:ext>
            </a:extLst>
          </p:cNvPr>
          <p:cNvSpPr/>
          <p:nvPr/>
        </p:nvSpPr>
        <p:spPr>
          <a:xfrm>
            <a:off x="5976975"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a:extLst>
              <a:ext uri="{C183D7F6-B498-43B3-948B-1728B52AA6E4}">
                <ns11:decorative xmlns:ns11="http://schemas.microsoft.com/office/drawing/2017/decorative" val="1"/>
              </a:ext>
            </a:extLst>
          </p:cNvPr>
          <p:cNvSpPr/>
          <p:nvPr/>
        </p:nvSpPr>
        <p:spPr>
          <a:xfrm>
            <a:off x="6260439"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60439"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5</a:t>
            </a:r>
          </a:p>
        </p:txBody>
      </p:sp>
      <p:sp>
        <p:nvSpPr>
          <p:cNvPr id="26" name="Rectangle 25">
            <a:extLst>
              <a:ext uri="{C183D7F6-B498-43B3-948B-1728B52AA6E4}">
                <ns12:decorative xmlns:ns12="http://schemas.microsoft.com/office/drawing/2017/decorative" val="1"/>
              </a:ext>
            </a:extLst>
          </p:cNvPr>
          <p:cNvSpPr/>
          <p:nvPr/>
        </p:nvSpPr>
        <p:spPr>
          <a:xfrm>
            <a:off x="6818223"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a:extLst>
              <a:ext uri="{C183D7F6-B498-43B3-948B-1728B52AA6E4}">
                <ns13:decorative xmlns:ns13="http://schemas.microsoft.com/office/drawing/2017/decorative" val="1"/>
              </a:ext>
            </a:extLst>
          </p:cNvPr>
          <p:cNvSpPr/>
          <p:nvPr/>
        </p:nvSpPr>
        <p:spPr>
          <a:xfrm>
            <a:off x="7101687"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01687"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6</a:t>
            </a:r>
          </a:p>
        </p:txBody>
      </p:sp>
      <p:sp>
        <p:nvSpPr>
          <p:cNvPr id="29" name="Rectangle 28">
            <a:extLst>
              <a:ext uri="{C183D7F6-B498-43B3-948B-1728B52AA6E4}">
                <ns14:decorative xmlns:ns14="http://schemas.microsoft.com/office/drawing/2017/decorative" val="1"/>
              </a:ext>
            </a:extLst>
          </p:cNvPr>
          <p:cNvSpPr/>
          <p:nvPr/>
        </p:nvSpPr>
        <p:spPr>
          <a:xfrm>
            <a:off x="765947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a:extLst>
              <a:ext uri="{C183D7F6-B498-43B3-948B-1728B52AA6E4}">
                <ns15:decorative xmlns:ns15="http://schemas.microsoft.com/office/drawing/2017/decorative" val="1"/>
              </a:ext>
            </a:extLst>
          </p:cNvPr>
          <p:cNvSpPr/>
          <p:nvPr/>
        </p:nvSpPr>
        <p:spPr>
          <a:xfrm>
            <a:off x="7942935"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42935"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7</a:t>
            </a:r>
          </a:p>
        </p:txBody>
      </p:sp>
      <p:sp>
        <p:nvSpPr>
          <p:cNvPr id="32" name="Rectangle 31">
            <a:extLst>
              <a:ext uri="{C183D7F6-B498-43B3-948B-1728B52AA6E4}">
                <ns16:decorative xmlns:ns16="http://schemas.microsoft.com/office/drawing/2017/decorative" val="1"/>
              </a:ext>
            </a:extLst>
          </p:cNvPr>
          <p:cNvSpPr/>
          <p:nvPr/>
        </p:nvSpPr>
        <p:spPr>
          <a:xfrm>
            <a:off x="850071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a:extLst>
              <a:ext uri="{C183D7F6-B498-43B3-948B-1728B52AA6E4}">
                <ns17:decorative xmlns:ns17="http://schemas.microsoft.com/office/drawing/2017/decorative" val="1"/>
              </a:ext>
            </a:extLst>
          </p:cNvPr>
          <p:cNvSpPr/>
          <p:nvPr/>
        </p:nvSpPr>
        <p:spPr>
          <a:xfrm>
            <a:off x="8784183"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784183"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8</a:t>
            </a:r>
          </a:p>
        </p:txBody>
      </p:sp>
      <p:sp>
        <p:nvSpPr>
          <p:cNvPr id="35" name="TextBox 34"/>
          <p:cNvSpPr txBox="1"/>
          <p:nvPr/>
        </p:nvSpPr>
        <p:spPr>
          <a:xfrm>
            <a:off x="457200" y="5897880"/>
            <a:ext cx="11274552" cy="320040"/>
          </a:xfrm>
          <a:prstGeom prst="rect">
            <a:avLst/>
          </a:prstGeom>
          <a:noFill/>
        </p:spPr>
        <p:txBody>
          <a:bodyPr wrap="square" anchor="t" lIns="0" rIns="0" tIns="0" bIns="0">
            <a:spAutoFit/>
          </a:bodyPr>
          <a:lstStyle/>
          <a:p>
            <a:pPr algn="ctr">
              <a:spcAft>
                <a:spcPts val="400"/>
              </a:spcAft>
            </a:pPr>
            <a:r>
              <a:rPr sz="1200" b="0" i="0">
                <a:solidFill>
                  <a:srgbClr val="616161"/>
                </a:solidFill>
                <a:latin typeface="Segoe UI"/>
              </a:rPr>
              <a:t>Exercise 4 of 8</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85.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Recruiting + Reporting</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04</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Attract the right candidates for an open role and get on top of the HR service queue in minutes.</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An inclusive HR Coordinator job posting in Word, with off-putting wording flagged, and a ticket summary highlighting today’s high-priority open items.</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Talent &amp; Ops</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One task reads a job description and writes a structured document; the other analyzes a spreadsheet and reports on it. Cowork picks the right skills (Word, Excel) for each and grounds both in your files.</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Ground</a:t>
              </a:r>
              <a:r>
                <a:rPr lang="en-US" sz="1100">
                  <a:solidFill>
                    <a:prstClr val="black"/>
                  </a:solidFill>
                  <a:latin typeface="Segoe Sans Display" pitchFamily="2" charset="0"/>
                  <a:cs typeface="Segoe Sans Display" pitchFamily="2" charset="0"/>
                </a:rPr>
                <a:t> → Read the job description and ticket spreadsheet</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Draft</a:t>
              </a:r>
              <a:r>
                <a:rPr lang="en-US" sz="1100">
                  <a:solidFill>
                    <a:prstClr val="black"/>
                  </a:solidFill>
                  <a:latin typeface="Segoe Sans Display" pitchFamily="2" charset="0"/>
                  <a:cs typeface="Segoe Sans Display" pitchFamily="2" charset="0"/>
                </a:rPr>
                <a:t> → Inclusive job posting (Word)</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Analyze</a:t>
              </a:r>
              <a:r>
                <a:rPr lang="en-US" sz="1100">
                  <a:solidFill>
                    <a:prstClr val="black"/>
                  </a:solidFill>
                  <a:latin typeface="Segoe Sans Display" pitchFamily="2" charset="0"/>
                  <a:cs typeface="Segoe Sans Display" pitchFamily="2" charset="0"/>
                </a:rPr>
                <a:t> → Open vs. closed by category &amp; priority</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Report</a:t>
              </a:r>
              <a:r>
                <a:rPr lang="en-US" sz="1100">
                  <a:solidFill>
                    <a:prstClr val="black"/>
                  </a:solidFill>
                  <a:latin typeface="Segoe Sans Display" pitchFamily="2" charset="0"/>
                  <a:cs typeface="Segoe Sans Display" pitchFamily="2" charset="0"/>
                </a:rPr>
                <a:t> → Today’s high-priority follow-ups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Task 4a — Inclusive job posting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Using job-description-sample.docx</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write an inclusive, engaging job posting for the HR Coordinator role for our careers page.</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Keep it under 350 words, with short What you’ll do, What you’ll bring, and What we offer sections, and mention the hybrid schedule. Then add a separate table that flags any wording in the original description that could discourage qualified applicants, with a suggested alternative for each. Save it as a Word doc.</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Don’t add pay figures, perks, or requirements that aren’t in the description.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Task 4b — Ticket summary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Using hr-tickets-sample.xlsx</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summarize open vs. closed tickets by category and priority, and list the high-priority open items I should follow up on today.</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Put it in a short report.</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7"/>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912" name="Rounded Rectangle 911">
            <a:extLst>
              <a:ext uri="{C183D7F6-B498-43B3-948B-1728B52AA6E4}">
                <ns0:decorative xmlns:ns0="http://schemas.microsoft.com/office/drawing/2017/decorative" val="1"/>
              </a:ext>
            </a:extLst>
          </p:cNvPr>
          <p:cNvSpPr/>
          <p:nvPr/>
        </p:nvSpPr>
        <p:spPr>
          <a:xfrm>
            <a:off x="7754112" y="5230368"/>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3" name="TextBox 912"/>
          <p:cNvSpPr txBox="1"/>
          <p:nvPr/>
        </p:nvSpPr>
        <p:spPr>
          <a:xfrm>
            <a:off x="7754112" y="5230368"/>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Prompt key</a:t>
            </a:r>
          </a:p>
        </p:txBody>
      </p:sp>
      <p:pic>
        <p:nvPicPr>
          <p:cNvPr id="914" name="Picture 913" descr="Prompt key: Goal (blue) is the outcome, for whom, and why; Source (green) is the files, sites, or data to use; Expectations (orange) describe what good looks like; Constraints (purple) say what Cowork must not do."/>
          <p:cNvPicPr>
            <a:picLocks noChangeAspect="1"/>
          </p:cNvPicPr>
          <p:nvPr/>
        </p:nvPicPr>
        <p:blipFill>
          <a:blip r:embed="rId6"/>
          <a:stretch>
            <a:fillRect/>
          </a:stretch>
        </p:blipFill>
        <p:spPr>
          <a:xfrm>
            <a:off x="7726680" y="5577840"/>
            <a:ext cx="4224528" cy="940756"/>
          </a:xfrm>
          <a:prstGeom prst="rect">
            <a:avLst/>
          </a:prstGeom>
        </p:spPr>
      </p:pic>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86.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Demo · Recruiting + Reporting</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04</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Video</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3754755"/>
          </a:xfrm>
          <a:prstGeom prst="roundRect">
            <a:avLst>
              <a:gd name="adj" fmla="val 3000"/>
            </a:avLst>
          </a:prstGeom>
          <a:solidFill>
            <a:srgbClr val="FFF9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Demo video</a:t>
            </a:r>
          </a:p>
        </p:txBody>
      </p:sp>
      <p:sp>
        <p:nvSpPr>
          <p:cNvPr id="54" name="TextBox 53"/>
          <p:cNvSpPr txBox="1"/>
          <p:nvPr/>
        </p:nvSpPr>
        <p:spPr>
          <a:xfrm>
            <a:off x="694944" y="4257675"/>
            <a:ext cx="6126480" cy="548640"/>
          </a:xfrm>
          <a:prstGeom prst="rect">
            <a:avLst/>
          </a:prstGeom>
          <a:noFill/>
        </p:spPr>
        <p:txBody>
          <a:bodyPr wrap="square" anchor="b" lIns="0" rIns="0" tIns="0" bIns="0">
            <a:spAutoFit/>
          </a:bodyPr>
          <a:lstStyle/>
          <a:p>
            <a:pPr algn="ctr">
              <a:spcAft>
                <a:spcPts val="400"/>
              </a:spcAft>
            </a:pPr>
            <a:r>
              <a:rPr sz="1300" b="1" i="0">
                <a:solidFill>
                  <a:srgbClr val="8064A2"/>
                </a:solidFill>
                <a:latin typeface="Segoe Sans Display Semibold"/>
              </a:rPr>
              <a:t>Recorded run: Exercise 4, Recruiting + Reporting</a:t>
            </a:r>
          </a:p>
          <a:p>
            <a:pPr algn="ctr">
              <a:spcAft>
                <a:spcPts val="400"/>
              </a:spcAft>
            </a:pPr>
            <a:r>
              <a:rPr sz="1000" b="0" i="0">
                <a:solidFill>
                  <a:srgbClr val="616161"/>
                </a:solidFill>
                <a:latin typeface="Segoe UI"/>
              </a:rPr>
              <a:t>Facilitator: insert your recording here (see notes)</a:t>
            </a:r>
          </a:p>
        </p:txBody>
      </p:sp>
      <p:sp>
        <p:nvSpPr>
          <p:cNvPr id="55" name="Demo Video Placeholder" descr="Demo video: recorded run of Exercise 4, Recruiting + Reporting"/>
          <p:cNvSpPr>
            <a:spLocks noGrp="1"/>
          </p:cNvSpPr>
          <p:nvPr>
            <p:ph type="media" sz="quarter" idx="155"/>
          </p:nvPr>
        </p:nvSpPr>
        <p:spPr>
          <a:xfrm>
            <a:off x="420624" y="1188720"/>
            <a:ext cx="6675120" cy="3754755"/>
          </a:xfrm>
          <a:prstGeom prst="rect">
            <a:avLst/>
          </a:prstGeom>
        </p:spPr>
        <p:txBody>
          <a:bodyPr anchor="ctr"/>
          <a:lstStyle/>
          <a:p>
            <a:pPr algn="ctr"/>
            <a:endParaRPr lang="en-US"/>
          </a:p>
        </p:txBody>
      </p:sp>
      <p:sp>
        <p:nvSpPr>
          <p:cNvPr id="56" name="Rounded Rectangle 55">
            <a:extLst>
              <a:ext uri="{C183D7F6-B498-43B3-948B-1728B52AA6E4}">
                <ns2:decorative xmlns:ns2="http://schemas.microsoft.com/office/drawing/2017/decorative" val="1"/>
              </a:ext>
            </a:extLst>
          </p:cNvPr>
          <p:cNvSpPr/>
          <p:nvPr/>
        </p:nvSpPr>
        <p:spPr>
          <a:xfrm>
            <a:off x="420624" y="5217795"/>
            <a:ext cx="6675120" cy="1228725"/>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5217795"/>
            <a:ext cx="6144768" cy="1228725"/>
          </a:xfrm>
          <a:prstGeom prst="rect">
            <a:avLst/>
          </a:prstGeom>
          <a:noFill/>
        </p:spPr>
        <p:txBody>
          <a:bodyPr wrap="square" anchor="ctr" lIns="0" rIns="0" tIns="0" bIns="0">
            <a:spAutoFit/>
          </a:bodyPr>
          <a:lstStyle/>
          <a:p>
            <a:pPr algn="l">
              <a:lnSpc>
                <a:spcPct val="103000"/>
              </a:lnSpc>
              <a:spcAft>
                <a:spcPts val="400"/>
              </a:spcAft>
            </a:pPr>
            <a:r>
              <a:rPr sz="1300" b="1" i="0">
                <a:solidFill>
                  <a:srgbClr val="FFFFFF"/>
                </a:solidFill>
                <a:latin typeface="Segoe Sans Display Semibold"/>
              </a:rPr>
              <a:t>Why a recording? </a:t>
            </a:r>
            <a:r>
              <a:rPr sz="1300" b="0" i="0">
                <a:solidFill>
                  <a:srgbClr val="FFFFFF"/>
                </a:solidFill>
                <a:latin typeface="Segoe Sans Display"/>
              </a:rPr>
              <a:t>Cowork tasks can take several minutes. Watch the run here, then do it yourself.</a:t>
            </a:r>
          </a:p>
        </p:txBody>
      </p:sp>
      <p:sp>
        <p:nvSpPr>
          <p:cNvPr id="58" name="Rounded Rectangle 57">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Watch for in the demo</a:t>
            </a:r>
          </a:p>
        </p:txBody>
      </p:sp>
      <p:sp>
        <p:nvSpPr>
          <p:cNvPr id="60" name="TextBox 59"/>
          <p:cNvSpPr txBox="1"/>
          <p:nvPr/>
        </p:nvSpPr>
        <p:spPr>
          <a:xfrm>
            <a:off x="7772400" y="1737360"/>
            <a:ext cx="3931920" cy="3108960"/>
          </a:xfrm>
          <a:prstGeom prst="rect">
            <a:avLst/>
          </a:prstGeom>
          <a:noFill/>
        </p:spPr>
        <p:txBody>
          <a:bodyPr wrap="square" anchor="t" lIns="0" rIns="0" tIns="0" bIns="0">
            <a:spAutoFit/>
          </a:bodyPr>
          <a:lstStyle/>
          <a:p>
            <a:pPr algn="l" marL="237744" indent="-237744">
              <a:lnSpc>
                <a:spcPct val="105000"/>
              </a:lnSpc>
              <a:spcAft>
                <a:spcPts val="1000"/>
              </a:spcAft>
              <a:buFont typeface="+mj-lt"/>
              <a:buAutoNum type="arabicPeriod"/>
            </a:pPr>
            <a:r>
              <a:rPr sz="1400" b="1" i="0">
                <a:solidFill>
                  <a:srgbClr val="323139"/>
                </a:solidFill>
                <a:latin typeface="Segoe UI"/>
              </a:rPr>
              <a:t>Ground</a:t>
            </a:r>
            <a:r>
              <a:rPr sz="1400" b="0" i="0">
                <a:solidFill>
                  <a:srgbClr val="323139"/>
                </a:solidFill>
                <a:latin typeface="Segoe UI"/>
              </a:rPr>
              <a:t> → Read the job description and ticket spreadsheet</a:t>
            </a:r>
          </a:p>
          <a:p>
            <a:pPr algn="l" marL="237744" indent="-237744">
              <a:lnSpc>
                <a:spcPct val="105000"/>
              </a:lnSpc>
              <a:spcAft>
                <a:spcPts val="1000"/>
              </a:spcAft>
              <a:buFont typeface="+mj-lt"/>
              <a:buAutoNum type="arabicPeriod"/>
            </a:pPr>
            <a:r>
              <a:rPr sz="1400" b="1" i="0">
                <a:solidFill>
                  <a:srgbClr val="323139"/>
                </a:solidFill>
                <a:latin typeface="Segoe UI"/>
              </a:rPr>
              <a:t>Draft</a:t>
            </a:r>
            <a:r>
              <a:rPr sz="1400" b="0" i="0">
                <a:solidFill>
                  <a:srgbClr val="323139"/>
                </a:solidFill>
                <a:latin typeface="Segoe UI"/>
              </a:rPr>
              <a:t> → Inclusive job posting (Word)</a:t>
            </a:r>
          </a:p>
          <a:p>
            <a:pPr algn="l" marL="237744" indent="-237744">
              <a:lnSpc>
                <a:spcPct val="105000"/>
              </a:lnSpc>
              <a:spcAft>
                <a:spcPts val="1000"/>
              </a:spcAft>
              <a:buFont typeface="+mj-lt"/>
              <a:buAutoNum type="arabicPeriod"/>
            </a:pPr>
            <a:r>
              <a:rPr sz="1400" b="1" i="0">
                <a:solidFill>
                  <a:srgbClr val="323139"/>
                </a:solidFill>
                <a:latin typeface="Segoe UI"/>
              </a:rPr>
              <a:t>Analyze</a:t>
            </a:r>
            <a:r>
              <a:rPr sz="1400" b="0" i="0">
                <a:solidFill>
                  <a:srgbClr val="323139"/>
                </a:solidFill>
                <a:latin typeface="Segoe UI"/>
              </a:rPr>
              <a:t> → Open vs. closed by category &amp; priority</a:t>
            </a:r>
          </a:p>
          <a:p>
            <a:pPr algn="l" marL="237744" indent="-237744">
              <a:lnSpc>
                <a:spcPct val="105000"/>
              </a:lnSpc>
              <a:spcAft>
                <a:spcPts val="1000"/>
              </a:spcAft>
              <a:buFont typeface="+mj-lt"/>
              <a:buAutoNum type="arabicPeriod"/>
            </a:pPr>
            <a:r>
              <a:rPr sz="1400" b="1" i="0">
                <a:solidFill>
                  <a:srgbClr val="323139"/>
                </a:solidFill>
                <a:latin typeface="Segoe UI"/>
              </a:rPr>
              <a:t>Report</a:t>
            </a:r>
            <a:r>
              <a:rPr sz="1400" b="0" i="0">
                <a:solidFill>
                  <a:srgbClr val="323139"/>
                </a:solidFill>
                <a:latin typeface="Segoe UI"/>
              </a:rPr>
              <a:t> → Today’s high-priority follow-ups</a:t>
            </a:r>
          </a:p>
        </p:txBody>
      </p:sp>
      <p:sp>
        <p:nvSpPr>
          <p:cNvPr id="61" name="Rounded Rectangle 60">
            <a:extLst>
              <a:ext uri="{C183D7F6-B498-43B3-948B-1728B52AA6E4}">
                <ns4:decorative xmlns:ns4="http://schemas.microsoft.com/office/drawing/2017/decorative" val="1"/>
              </a:ext>
            </a:extLst>
          </p:cNvPr>
          <p:cNvSpPr/>
          <p:nvPr/>
        </p:nvSpPr>
        <p:spPr>
          <a:xfrm>
            <a:off x="7726679" y="5166359"/>
            <a:ext cx="4023360" cy="1051560"/>
          </a:xfrm>
          <a:prstGeom prst="roundRect">
            <a:avLst>
              <a:gd name="adj" fmla="val 10000"/>
            </a:avLst>
          </a:prstGeom>
          <a:solidFill>
            <a:srgbClr val="FFFC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909559" y="5166359"/>
            <a:ext cx="3657600" cy="1051560"/>
          </a:xfrm>
          <a:prstGeom prst="rect">
            <a:avLst/>
          </a:prstGeom>
          <a:noFill/>
        </p:spPr>
        <p:txBody>
          <a:bodyPr wrap="square" anchor="ctr" lIns="0" rIns="0" tIns="0" bIns="0">
            <a:spAutoFit/>
          </a:bodyPr>
          <a:lstStyle/>
          <a:p>
            <a:pPr algn="l">
              <a:lnSpc>
                <a:spcPct val="103000"/>
              </a:lnSpc>
              <a:spcAft>
                <a:spcPts val="400"/>
              </a:spcAft>
            </a:pPr>
            <a:r>
              <a:rPr sz="1200" b="1" i="0">
                <a:solidFill>
                  <a:srgbClr val="323139"/>
                </a:solidFill>
                <a:latin typeface="Segoe Sans Display"/>
              </a:rPr>
              <a:t>Next:</a:t>
            </a:r>
            <a:r>
              <a:rPr sz="1200" b="0" i="0">
                <a:solidFill>
                  <a:srgbClr val="323139"/>
                </a:solidFill>
                <a:latin typeface="Segoe Sans Display"/>
              </a:rPr>
              <a:t> your turn on the hands-on slide (15 min).</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Recruiting + Reporting</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04</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15 min</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Task 4a:</a:t>
            </a:r>
            <a:r>
              <a:rPr sz="1500" b="0" i="0">
                <a:solidFill>
                  <a:srgbClr val="323139"/>
                </a:solidFill>
                <a:latin typeface="Segoe UI"/>
              </a:rPr>
              <a:t> attach job-description-sample.docx; write the inclusive job posting and save it as Word.</a:t>
            </a:r>
          </a:p>
          <a:p>
            <a:pPr algn="l" marL="237744" indent="-237744">
              <a:lnSpc>
                <a:spcPct val="105000"/>
              </a:lnSpc>
              <a:spcAft>
                <a:spcPts val="900"/>
              </a:spcAft>
              <a:buFont typeface="+mj-lt"/>
              <a:buAutoNum type="arabicPeriod"/>
            </a:pPr>
            <a:r>
              <a:rPr sz="1500" b="1" i="0">
                <a:solidFill>
                  <a:srgbClr val="323139"/>
                </a:solidFill>
                <a:latin typeface="Segoe UI"/>
              </a:rPr>
              <a:t>Check</a:t>
            </a:r>
            <a:r>
              <a:rPr sz="1500" b="0" i="0">
                <a:solidFill>
                  <a:srgbClr val="323139"/>
                </a:solidFill>
                <a:latin typeface="Segoe UI"/>
              </a:rPr>
              <a:t> the wording-review table: do you agree with every flag?</a:t>
            </a:r>
          </a:p>
          <a:p>
            <a:pPr algn="l" marL="237744" indent="-237744">
              <a:lnSpc>
                <a:spcPct val="105000"/>
              </a:lnSpc>
              <a:spcAft>
                <a:spcPts val="900"/>
              </a:spcAft>
              <a:buFont typeface="+mj-lt"/>
              <a:buAutoNum type="arabicPeriod"/>
            </a:pPr>
            <a:r>
              <a:rPr sz="1500" b="1" i="0">
                <a:solidFill>
                  <a:srgbClr val="323139"/>
                </a:solidFill>
                <a:latin typeface="Segoe UI"/>
              </a:rPr>
              <a:t>Task 4b:</a:t>
            </a:r>
            <a:r>
              <a:rPr sz="1500" b="0" i="0">
                <a:solidFill>
                  <a:srgbClr val="323139"/>
                </a:solidFill>
                <a:latin typeface="Segoe UI"/>
              </a:rPr>
              <a:t> attach hr-tickets-sample.xlsx; summarize open vs. closed by category and priority.</a:t>
            </a:r>
          </a:p>
          <a:p>
            <a:pPr algn="l" marL="237744" indent="-237744">
              <a:lnSpc>
                <a:spcPct val="105000"/>
              </a:lnSpc>
              <a:spcAft>
                <a:spcPts val="900"/>
              </a:spcAft>
              <a:buFont typeface="+mj-lt"/>
              <a:buAutoNum type="arabicPeriod"/>
            </a:pPr>
            <a:r>
              <a:rPr sz="1500" b="1" i="0">
                <a:solidFill>
                  <a:srgbClr val="323139"/>
                </a:solidFill>
                <a:latin typeface="Segoe UI"/>
              </a:rPr>
              <a:t>List</a:t>
            </a:r>
            <a:r>
              <a:rPr sz="1500" b="0" i="0">
                <a:solidFill>
                  <a:srgbClr val="323139"/>
                </a:solidFill>
                <a:latin typeface="Segoe UI"/>
              </a:rPr>
              <a:t> today’s high-priority open items to follow up.</a:t>
            </a:r>
          </a:p>
        </p:txBody>
      </p:sp>
      <p:sp>
        <p:nvSpPr>
          <p:cNvPr id="55" name="Rounded Rectangle 54">
            <a:extLst>
              <a:ext uri="{C183D7F6-B498-43B3-948B-1728B52AA6E4}">
                <ns2:decorative xmlns:ns2="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3:decorative xmlns:ns3="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Which recruiting or reporting task eats most of your week today?</a:t>
            </a:r>
          </a:p>
        </p:txBody>
      </p:sp>
      <p:sp>
        <p:nvSpPr>
          <p:cNvPr id="59" name="Rounded Rectangle 58">
            <a:extLst>
              <a:ext uri="{C183D7F6-B498-43B3-948B-1728B52AA6E4}">
                <ns4:decorative xmlns:ns4="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5:decorative xmlns:ns5="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1" i="0">
                <a:solidFill>
                  <a:srgbClr val="323139"/>
                </a:solidFill>
                <a:latin typeface="Segoe UI"/>
              </a:rPr>
              <a:t>Word</a:t>
            </a:r>
            <a:r>
              <a:rPr sz="1150" b="0" i="0">
                <a:solidFill>
                  <a:srgbClr val="323139"/>
                </a:solidFill>
                <a:latin typeface="Segoe UI"/>
              </a:rPr>
              <a:t> for the posting; </a:t>
            </a:r>
            <a:r>
              <a:rPr sz="1150" b="1" i="0">
                <a:solidFill>
                  <a:srgbClr val="323139"/>
                </a:solidFill>
                <a:latin typeface="Segoe UI"/>
              </a:rPr>
              <a:t>Excel</a:t>
            </a:r>
            <a:r>
              <a:rPr sz="1150" b="0" i="0">
                <a:solidFill>
                  <a:srgbClr val="323139"/>
                </a:solidFill>
                <a:latin typeface="Segoe UI"/>
              </a:rPr>
              <a:t> for the analysis</a:t>
            </a:r>
          </a:p>
          <a:p>
            <a:pPr algn="l" marL="182880" indent="-182880">
              <a:spcAft>
                <a:spcPts val="400"/>
              </a:spcAft>
              <a:buFont typeface="Arial"/>
              <a:buChar char="•"/>
            </a:pPr>
            <a:r>
              <a:rPr sz="1150" b="0" i="0">
                <a:solidFill>
                  <a:srgbClr val="323139"/>
                </a:solidFill>
                <a:latin typeface="Segoe UI"/>
              </a:rPr>
              <a:t>The High/Open overtime ticket (T-2008)</a:t>
            </a:r>
          </a:p>
          <a:p>
            <a:pPr algn="l" marL="182880" indent="-182880">
              <a:spcAft>
                <a:spcPts val="400"/>
              </a:spcAft>
              <a:buFont typeface="Arial"/>
              <a:buChar char="•"/>
            </a:pPr>
            <a:r>
              <a:rPr sz="1150" b="0" i="0">
                <a:solidFill>
                  <a:srgbClr val="323139"/>
                </a:solidFill>
                <a:latin typeface="Segoe UI"/>
              </a:rPr>
              <a:t>You’ll automate this report in Exercise 6</a:t>
            </a:r>
          </a:p>
        </p:txBody>
      </p:sp>
      <p:sp>
        <p:nvSpPr>
          <p:cNvPr id="63" name="Rounded Rectangle 62">
            <a:extLst>
              <a:ext uri="{C183D7F6-B498-43B3-948B-1728B52AA6E4}">
                <ns6:decorative xmlns:ns6="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7:decorative xmlns:ns7="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 Word job posting with a wording-review table, and a ticket summary: 6 open / 14 closed, with T-2008 as the only high-priority open ticket.</a:t>
            </a:r>
          </a:p>
        </p:txBody>
      </p:sp>
      <p:sp>
        <p:nvSpPr>
          <p:cNvPr id="67" name="Rounded Rectangle 66">
            <a:extLst>
              <a:ext uri="{C183D7F6-B498-43B3-948B-1728B52AA6E4}">
                <ns8:decorative xmlns:ns8="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200"/>
              </a:spcAft>
            </a:pPr>
            <a:r>
              <a:rPr sz="1100" b="1" i="0">
                <a:solidFill>
                  <a:srgbClr val="323139"/>
                </a:solidFill>
                <a:latin typeface="Segoe Sans Display Semibold"/>
              </a:rPr>
              <a:t>Stretch: </a:t>
            </a:r>
            <a:r>
              <a:rPr sz="1100" b="0" i="0">
                <a:solidFill>
                  <a:srgbClr val="323139"/>
                </a:solidFill>
                <a:latin typeface="Segoe Sans Display"/>
              </a:rPr>
              <a:t>Summarize employee-roster-sample.xlsx: headcount by department, remote vs. on-site, average PTO used.</a:t>
            </a:r>
          </a:p>
          <a:p>
            <a:pPr algn="l">
              <a:lnSpc>
                <a:spcPct val="103000"/>
              </a:lnSpc>
              <a:spcAft>
                <a:spcPts val="400"/>
              </a:spcAft>
            </a:pPr>
            <a:r>
              <a:rPr sz="1000" b="0" i="0">
                <a:solidFill>
                  <a:srgbClr val="616161"/>
                </a:solidFill>
                <a:latin typeface="Segoe Sans Display"/>
              </a:rPr>
              <a:t>Full prompt: </a:t>
            </a:r>
            <a:r>
              <a:rPr sz="1000" b="1" i="0">
                <a:solidFill>
                  <a:srgbClr val="0F6CBD"/>
                </a:solidFill>
                <a:latin typeface="Segoe Sans Display"/>
                <a:hlinkClick r:id="rId7">
                  <a:extLst>
                    <a:ext uri="{A12FA001-AC4F-418D-AE19-62706E023703}">
                      <ahyp:hlinkClr xmlns:ahyp="http://schemas.microsoft.com/office/drawing/2018/hyperlinkcolor" val="tx"/>
                    </a:ext>
                  </a:extLst>
                </a:hlinkClick>
              </a:rPr>
              <a:t>participant workbook, Exercise 4</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88.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 name="TextBox 1"/>
          <p:cNvSpPr txBox="1"/>
          <p:nvPr/>
        </p:nvSpPr>
        <p:spPr>
          <a:xfrm>
            <a:off x="914400" y="2148840"/>
            <a:ext cx="10332720" cy="1188720"/>
          </a:xfrm>
          <a:prstGeom prst="rect">
            <a:avLst/>
          </a:prstGeom>
          <a:noFill/>
        </p:spPr>
        <p:txBody>
          <a:bodyPr wrap="square" anchor="ctr" lIns="0" rIns="0" tIns="0" bIns="0">
            <a:spAutoFit/>
          </a:bodyPr>
          <a:lstStyle/>
          <a:p>
            <a:pPr algn="ctr">
              <a:spcAft>
                <a:spcPts val="400"/>
              </a:spcAft>
            </a:pPr>
            <a:r>
              <a:rPr sz="5400" b="0" i="0">
                <a:solidFill>
                  <a:srgbClr val="323139"/>
                </a:solidFill>
                <a:latin typeface="Segoe Sans Display"/>
              </a:rPr>
              <a:t>☕  Break · 15 minutes</a:t>
            </a:r>
          </a:p>
        </p:txBody>
      </p:sp>
      <p:sp>
        <p:nvSpPr>
          <p:cNvPr id="3" name="TextBox 2"/>
          <p:cNvSpPr txBox="1"/>
          <p:nvPr/>
        </p:nvSpPr>
        <p:spPr>
          <a:xfrm>
            <a:off x="1371600" y="3429000"/>
            <a:ext cx="9418320" cy="548640"/>
          </a:xfrm>
          <a:prstGeom prst="rect">
            <a:avLst/>
          </a:prstGeom>
          <a:noFill/>
        </p:spPr>
        <p:txBody>
          <a:bodyPr wrap="square" anchor="t" lIns="0" rIns="0" tIns="0" bIns="0">
            <a:spAutoFit/>
          </a:bodyPr>
          <a:lstStyle/>
          <a:p>
            <a:pPr algn="ctr">
              <a:spcAft>
                <a:spcPts val="400"/>
              </a:spcAft>
            </a:pPr>
            <a:r>
              <a:rPr sz="1800" b="0" i="0">
                <a:solidFill>
                  <a:srgbClr val="323139"/>
                </a:solidFill>
                <a:latin typeface="Segoe Sans Display"/>
              </a:rPr>
              <a:t>Stretch, refill, and note one task you'd hand to Cowork tomorrow.</a:t>
            </a:r>
          </a:p>
        </p:txBody>
      </p:sp>
      <p:sp>
        <p:nvSpPr>
          <p:cNvPr id="4" name="Rounded Rectangle 3">
            <a:extLst>
              <a:ext uri="{C183D7F6-B498-43B3-948B-1728B52AA6E4}">
                <ns0:decorative xmlns:ns0="http://schemas.microsoft.com/office/drawing/2017/decorative" val="1"/>
              </a:ext>
            </a:extLst>
          </p:cNvPr>
          <p:cNvSpPr/>
          <p:nvPr/>
        </p:nvSpPr>
        <p:spPr>
          <a:xfrm>
            <a:off x="3566160" y="4343400"/>
            <a:ext cx="5056632" cy="5029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3566160" y="4343400"/>
            <a:ext cx="5056632" cy="502920"/>
          </a:xfrm>
          <a:prstGeom prst="rect">
            <a:avLst/>
          </a:prstGeom>
          <a:noFill/>
        </p:spPr>
        <p:txBody>
          <a:bodyPr wrap="square" anchor="ctr" lIns="0" rIns="0" tIns="0" bIns="0">
            <a:spAutoFit/>
          </a:bodyPr>
          <a:lstStyle/>
          <a:p>
            <a:pPr algn="ctr">
              <a:spcAft>
                <a:spcPts val="400"/>
              </a:spcAft>
            </a:pPr>
            <a:r>
              <a:rPr sz="1500" b="0" i="0">
                <a:solidFill>
                  <a:srgbClr val="323139"/>
                </a:solidFill>
                <a:latin typeface="Segoe Sans Display Semibold"/>
              </a:rPr>
              <a:t>Next up: Ex 5 · Onboarding pack</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89.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 name="TextBox 1"/>
          <p:cNvSpPr txBox="1"/>
          <p:nvPr/>
        </p:nvSpPr>
        <p:spPr>
          <a:xfrm>
            <a:off x="868680" y="1325880"/>
            <a:ext cx="2743200" cy="365760"/>
          </a:xfrm>
          <a:prstGeom prst="rect">
            <a:avLst/>
          </a:prstGeom>
          <a:noFill/>
        </p:spPr>
        <p:txBody>
          <a:bodyPr wrap="square" anchor="t" lIns="0" rIns="0" tIns="0" bIns="0">
            <a:spAutoFit/>
          </a:bodyPr>
          <a:lstStyle/>
          <a:p>
            <a:pPr algn="l">
              <a:spcAft>
                <a:spcPts val="400"/>
              </a:spcAft>
            </a:pPr>
            <a:r>
              <a:rPr sz="1600" b="0" i="0">
                <a:solidFill>
                  <a:srgbClr val="616161"/>
                </a:solidFill>
                <a:latin typeface="Segoe Sans Display Semibold"/>
              </a:rPr>
              <a:t>EXERCISE</a:t>
            </a:r>
          </a:p>
        </p:txBody>
      </p:sp>
      <p:sp>
        <p:nvSpPr>
          <p:cNvPr id="3" name="TextBox 2"/>
          <p:cNvSpPr txBox="1"/>
          <p:nvPr/>
        </p:nvSpPr>
        <p:spPr>
          <a:xfrm>
            <a:off x="777240" y="1645920"/>
            <a:ext cx="2926080" cy="1828800"/>
          </a:xfrm>
          <a:prstGeom prst="rect">
            <a:avLst/>
          </a:prstGeom>
          <a:noFill/>
        </p:spPr>
        <p:txBody>
          <a:bodyPr wrap="square" anchor="t" lIns="0" rIns="0" tIns="0" bIns="0">
            <a:spAutoFit/>
          </a:bodyPr>
          <a:lstStyle/>
          <a:p>
            <a:pPr algn="l">
              <a:spcAft>
                <a:spcPts val="400"/>
              </a:spcAft>
            </a:pPr>
            <a:r>
              <a:rPr sz="12000" b="1" i="0">
                <a:solidFill>
                  <a:srgbClr val="8064A2"/>
                </a:solidFill>
                <a:latin typeface="Segoe Sans Display"/>
              </a:rPr>
              <a:t>05</a:t>
            </a:r>
          </a:p>
        </p:txBody>
      </p:sp>
      <p:sp>
        <p:nvSpPr>
          <p:cNvPr id="4" name="TextBox 3"/>
          <p:cNvSpPr txBox="1"/>
          <p:nvPr/>
        </p:nvSpPr>
        <p:spPr>
          <a:xfrm>
            <a:off x="3749039" y="1417320"/>
            <a:ext cx="5440680" cy="1508760"/>
          </a:xfrm>
          <a:prstGeom prst="rect">
            <a:avLst/>
          </a:prstGeom>
          <a:noFill/>
        </p:spPr>
        <p:txBody>
          <a:bodyPr wrap="square" anchor="b" lIns="0" rIns="0" tIns="0" bIns="0">
            <a:spAutoFit/>
          </a:bodyPr>
          <a:lstStyle/>
          <a:p>
            <a:pPr algn="l">
              <a:lnSpc>
                <a:spcPct val="95000"/>
              </a:lnSpc>
              <a:spcAft>
                <a:spcPts val="400"/>
              </a:spcAft>
            </a:pPr>
            <a:r>
              <a:rPr sz="3200" b="0" i="0">
                <a:solidFill>
                  <a:srgbClr val="323139"/>
                </a:solidFill>
                <a:latin typeface="Segoe Sans Display"/>
              </a:rPr>
              <a:t>Onboarding Orientation Pack</a:t>
            </a:r>
          </a:p>
        </p:txBody>
      </p:sp>
      <p:sp>
        <p:nvSpPr>
          <p:cNvPr id="5" name="TextBox 4"/>
          <p:cNvSpPr txBox="1"/>
          <p:nvPr/>
        </p:nvSpPr>
        <p:spPr>
          <a:xfrm>
            <a:off x="3749039" y="3017520"/>
            <a:ext cx="5440680" cy="1005840"/>
          </a:xfrm>
          <a:prstGeom prst="rect">
            <a:avLst/>
          </a:prstGeom>
          <a:noFill/>
        </p:spPr>
        <p:txBody>
          <a:bodyPr wrap="square" anchor="t" lIns="0" rIns="0" tIns="0" bIns="0">
            <a:spAutoFit/>
          </a:bodyPr>
          <a:lstStyle/>
          <a:p>
            <a:pPr algn="l">
              <a:lnSpc>
                <a:spcPct val="105000"/>
              </a:lnSpc>
              <a:spcAft>
                <a:spcPts val="400"/>
              </a:spcAft>
            </a:pPr>
            <a:r>
              <a:rPr sz="1600" b="0" i="0">
                <a:solidFill>
                  <a:srgbClr val="616161"/>
                </a:solidFill>
                <a:latin typeface="Segoe Sans Display"/>
              </a:rPr>
              <a:t>Give a new hire a polished first-day experience without assembling it by hand.</a:t>
            </a:r>
          </a:p>
        </p:txBody>
      </p:sp>
      <p:sp>
        <p:nvSpPr>
          <p:cNvPr id="6" name="Oval 5">
            <a:extLst>
              <a:ext uri="{C183D7F6-B498-43B3-948B-1728B52AA6E4}">
                <ns0:decorative xmlns:ns0="http://schemas.microsoft.com/office/drawing/2017/decorative" val="1"/>
              </a:ext>
            </a:extLst>
          </p:cNvPr>
          <p:cNvSpPr/>
          <p:nvPr/>
        </p:nvSpPr>
        <p:spPr>
          <a:xfrm>
            <a:off x="9418320" y="1280160"/>
            <a:ext cx="2194560" cy="2194560"/>
          </a:xfrm>
          <a:prstGeom prst="ellipse">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Divider 5" descr="Illustration of a party popper, for welcoming a new hire"/>
          <p:cNvPicPr>
            <a:picLocks noChangeAspect="1"/>
          </p:cNvPicPr>
          <p:nvPr/>
        </p:nvPicPr>
        <p:blipFill>
          <a:blip r:embed="rId7"/>
          <a:stretch>
            <a:fillRect/>
          </a:stretch>
        </p:blipFill>
        <p:spPr>
          <a:xfrm>
            <a:off x="9784080" y="1645920"/>
            <a:ext cx="1463040" cy="1463040"/>
          </a:xfrm>
          <a:prstGeom prst="rect">
            <a:avLst/>
          </a:prstGeom>
        </p:spPr>
      </p:pic>
      <p:sp>
        <p:nvSpPr>
          <p:cNvPr id="8" name="Rounded Rectangle 7">
            <a:extLst>
              <a:ext uri="{C183D7F6-B498-43B3-948B-1728B52AA6E4}">
                <ns1:decorative xmlns:ns1="http://schemas.microsoft.com/office/drawing/2017/decorative" val="1"/>
              </a:ext>
            </a:extLst>
          </p:cNvPr>
          <p:cNvSpPr/>
          <p:nvPr/>
        </p:nvSpPr>
        <p:spPr>
          <a:xfrm>
            <a:off x="3749039" y="4069080"/>
            <a:ext cx="2286000"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49039" y="4069080"/>
            <a:ext cx="2286000"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10 min  ·  1:35–1:45</a:t>
            </a:r>
          </a:p>
        </p:txBody>
      </p:sp>
      <p:sp>
        <p:nvSpPr>
          <p:cNvPr id="10" name="Rounded Rectangle 9">
            <a:extLst>
              <a:ext uri="{C183D7F6-B498-43B3-948B-1728B52AA6E4}">
                <ns2:decorative xmlns:ns2="http://schemas.microsoft.com/office/drawing/2017/decorative" val="1"/>
              </a:ext>
            </a:extLst>
          </p:cNvPr>
          <p:cNvSpPr/>
          <p:nvPr/>
        </p:nvSpPr>
        <p:spPr>
          <a:xfrm>
            <a:off x="6217920" y="4069080"/>
            <a:ext cx="1805940"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17920" y="4069080"/>
            <a:ext cx="1805940"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HR · Onboarding</a:t>
            </a:r>
          </a:p>
        </p:txBody>
      </p:sp>
      <p:sp>
        <p:nvSpPr>
          <p:cNvPr id="12" name="Oval 11">
            <a:extLst>
              <a:ext uri="{C183D7F6-B498-43B3-948B-1728B52AA6E4}">
                <ns3:decorative xmlns:ns3="http://schemas.microsoft.com/office/drawing/2017/decorative" val="1"/>
              </a:ext>
            </a:extLst>
          </p:cNvPr>
          <p:cNvSpPr/>
          <p:nvPr/>
        </p:nvSpPr>
        <p:spPr>
          <a:xfrm>
            <a:off x="2895447"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447"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a:t>
            </a:r>
          </a:p>
        </p:txBody>
      </p:sp>
      <p:sp>
        <p:nvSpPr>
          <p:cNvPr id="14" name="Rectangle 13">
            <a:extLst>
              <a:ext uri="{C183D7F6-B498-43B3-948B-1728B52AA6E4}">
                <ns4:decorative xmlns:ns4="http://schemas.microsoft.com/office/drawing/2017/decorative" val="1"/>
              </a:ext>
            </a:extLst>
          </p:cNvPr>
          <p:cNvSpPr/>
          <p:nvPr/>
        </p:nvSpPr>
        <p:spPr>
          <a:xfrm>
            <a:off x="345323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a:extLst>
              <a:ext uri="{C183D7F6-B498-43B3-948B-1728B52AA6E4}">
                <ns5:decorative xmlns:ns5="http://schemas.microsoft.com/office/drawing/2017/decorative" val="1"/>
              </a:ext>
            </a:extLst>
          </p:cNvPr>
          <p:cNvSpPr/>
          <p:nvPr/>
        </p:nvSpPr>
        <p:spPr>
          <a:xfrm>
            <a:off x="3736695"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736695"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2</a:t>
            </a:r>
          </a:p>
        </p:txBody>
      </p:sp>
      <p:sp>
        <p:nvSpPr>
          <p:cNvPr id="17" name="Rectangle 16">
            <a:extLst>
              <a:ext uri="{C183D7F6-B498-43B3-948B-1728B52AA6E4}">
                <ns6:decorative xmlns:ns6="http://schemas.microsoft.com/office/drawing/2017/decorative" val="1"/>
              </a:ext>
            </a:extLst>
          </p:cNvPr>
          <p:cNvSpPr/>
          <p:nvPr/>
        </p:nvSpPr>
        <p:spPr>
          <a:xfrm>
            <a:off x="429447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a:extLst>
              <a:ext uri="{C183D7F6-B498-43B3-948B-1728B52AA6E4}">
                <ns7:decorative xmlns:ns7="http://schemas.microsoft.com/office/drawing/2017/decorative" val="1"/>
              </a:ext>
            </a:extLst>
          </p:cNvPr>
          <p:cNvSpPr/>
          <p:nvPr/>
        </p:nvSpPr>
        <p:spPr>
          <a:xfrm>
            <a:off x="4577943"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7943"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3</a:t>
            </a:r>
          </a:p>
        </p:txBody>
      </p:sp>
      <p:sp>
        <p:nvSpPr>
          <p:cNvPr id="20" name="Rectangle 19">
            <a:extLst>
              <a:ext uri="{C183D7F6-B498-43B3-948B-1728B52AA6E4}">
                <ns8:decorative xmlns:ns8="http://schemas.microsoft.com/office/drawing/2017/decorative" val="1"/>
              </a:ext>
            </a:extLst>
          </p:cNvPr>
          <p:cNvSpPr/>
          <p:nvPr/>
        </p:nvSpPr>
        <p:spPr>
          <a:xfrm>
            <a:off x="5135727"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a:extLst>
              <a:ext uri="{C183D7F6-B498-43B3-948B-1728B52AA6E4}">
                <ns9:decorative xmlns:ns9="http://schemas.microsoft.com/office/drawing/2017/decorative" val="1"/>
              </a:ext>
            </a:extLst>
          </p:cNvPr>
          <p:cNvSpPr/>
          <p:nvPr/>
        </p:nvSpPr>
        <p:spPr>
          <a:xfrm>
            <a:off x="5419191"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19191"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4</a:t>
            </a:r>
          </a:p>
        </p:txBody>
      </p:sp>
      <p:sp>
        <p:nvSpPr>
          <p:cNvPr id="23" name="Rectangle 22">
            <a:extLst>
              <a:ext uri="{C183D7F6-B498-43B3-948B-1728B52AA6E4}">
                <ns10:decorative xmlns:ns10="http://schemas.microsoft.com/office/drawing/2017/decorative" val="1"/>
              </a:ext>
            </a:extLst>
          </p:cNvPr>
          <p:cNvSpPr/>
          <p:nvPr/>
        </p:nvSpPr>
        <p:spPr>
          <a:xfrm>
            <a:off x="5976975"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a:extLst>
              <a:ext uri="{C183D7F6-B498-43B3-948B-1728B52AA6E4}">
                <ns11:decorative xmlns:ns11="http://schemas.microsoft.com/office/drawing/2017/decorative" val="1"/>
              </a:ext>
            </a:extLst>
          </p:cNvPr>
          <p:cNvSpPr/>
          <p:nvPr/>
        </p:nvSpPr>
        <p:spPr>
          <a:xfrm>
            <a:off x="6260439" y="5257800"/>
            <a:ext cx="512064" cy="512064"/>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60439" y="5257800"/>
            <a:ext cx="512064" cy="512064"/>
          </a:xfrm>
          <a:prstGeom prst="rect">
            <a:avLst/>
          </a:prstGeom>
          <a:noFill/>
        </p:spPr>
        <p:txBody>
          <a:bodyPr wrap="square" anchor="ctr" lIns="0" rIns="0" tIns="0" bIns="0">
            <a:spAutoFit/>
          </a:bodyPr>
          <a:lstStyle/>
          <a:p>
            <a:pPr algn="ctr">
              <a:spcAft>
                <a:spcPts val="400"/>
              </a:spcAft>
            </a:pPr>
            <a:r>
              <a:rPr sz="1400" b="1" i="0">
                <a:solidFill>
                  <a:srgbClr val="FFFFFF"/>
                </a:solidFill>
                <a:latin typeface="Segoe Sans Display Semibold"/>
              </a:rPr>
              <a:t>5</a:t>
            </a:r>
          </a:p>
        </p:txBody>
      </p:sp>
      <p:sp>
        <p:nvSpPr>
          <p:cNvPr id="26" name="Rectangle 25">
            <a:extLst>
              <a:ext uri="{C183D7F6-B498-43B3-948B-1728B52AA6E4}">
                <ns12:decorative xmlns:ns12="http://schemas.microsoft.com/office/drawing/2017/decorative" val="1"/>
              </a:ext>
            </a:extLst>
          </p:cNvPr>
          <p:cNvSpPr/>
          <p:nvPr/>
        </p:nvSpPr>
        <p:spPr>
          <a:xfrm>
            <a:off x="6818223"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a:extLst>
              <a:ext uri="{C183D7F6-B498-43B3-948B-1728B52AA6E4}">
                <ns13:decorative xmlns:ns13="http://schemas.microsoft.com/office/drawing/2017/decorative" val="1"/>
              </a:ext>
            </a:extLst>
          </p:cNvPr>
          <p:cNvSpPr/>
          <p:nvPr/>
        </p:nvSpPr>
        <p:spPr>
          <a:xfrm>
            <a:off x="7101687"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01687"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6</a:t>
            </a:r>
          </a:p>
        </p:txBody>
      </p:sp>
      <p:sp>
        <p:nvSpPr>
          <p:cNvPr id="29" name="Rectangle 28">
            <a:extLst>
              <a:ext uri="{C183D7F6-B498-43B3-948B-1728B52AA6E4}">
                <ns14:decorative xmlns:ns14="http://schemas.microsoft.com/office/drawing/2017/decorative" val="1"/>
              </a:ext>
            </a:extLst>
          </p:cNvPr>
          <p:cNvSpPr/>
          <p:nvPr/>
        </p:nvSpPr>
        <p:spPr>
          <a:xfrm>
            <a:off x="765947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a:extLst>
              <a:ext uri="{C183D7F6-B498-43B3-948B-1728B52AA6E4}">
                <ns15:decorative xmlns:ns15="http://schemas.microsoft.com/office/drawing/2017/decorative" val="1"/>
              </a:ext>
            </a:extLst>
          </p:cNvPr>
          <p:cNvSpPr/>
          <p:nvPr/>
        </p:nvSpPr>
        <p:spPr>
          <a:xfrm>
            <a:off x="7942935"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42935"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7</a:t>
            </a:r>
          </a:p>
        </p:txBody>
      </p:sp>
      <p:sp>
        <p:nvSpPr>
          <p:cNvPr id="32" name="Rectangle 31">
            <a:extLst>
              <a:ext uri="{C183D7F6-B498-43B3-948B-1728B52AA6E4}">
                <ns16:decorative xmlns:ns16="http://schemas.microsoft.com/office/drawing/2017/decorative" val="1"/>
              </a:ext>
            </a:extLst>
          </p:cNvPr>
          <p:cNvSpPr/>
          <p:nvPr/>
        </p:nvSpPr>
        <p:spPr>
          <a:xfrm>
            <a:off x="850071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a:extLst>
              <a:ext uri="{C183D7F6-B498-43B3-948B-1728B52AA6E4}">
                <ns17:decorative xmlns:ns17="http://schemas.microsoft.com/office/drawing/2017/decorative" val="1"/>
              </a:ext>
            </a:extLst>
          </p:cNvPr>
          <p:cNvSpPr/>
          <p:nvPr/>
        </p:nvSpPr>
        <p:spPr>
          <a:xfrm>
            <a:off x="8784183"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784183"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8</a:t>
            </a:r>
          </a:p>
        </p:txBody>
      </p:sp>
      <p:sp>
        <p:nvSpPr>
          <p:cNvPr id="35" name="TextBox 34"/>
          <p:cNvSpPr txBox="1"/>
          <p:nvPr/>
        </p:nvSpPr>
        <p:spPr>
          <a:xfrm>
            <a:off x="457200" y="5897880"/>
            <a:ext cx="11274552" cy="320040"/>
          </a:xfrm>
          <a:prstGeom prst="rect">
            <a:avLst/>
          </a:prstGeom>
          <a:noFill/>
        </p:spPr>
        <p:txBody>
          <a:bodyPr wrap="square" anchor="t" lIns="0" rIns="0" tIns="0" bIns="0">
            <a:spAutoFit/>
          </a:bodyPr>
          <a:lstStyle/>
          <a:p>
            <a:pPr algn="ctr">
              <a:spcAft>
                <a:spcPts val="400"/>
              </a:spcAft>
            </a:pPr>
            <a:r>
              <a:rPr sz="1200" b="0" i="0">
                <a:solidFill>
                  <a:srgbClr val="616161"/>
                </a:solidFill>
                <a:latin typeface="Segoe UI"/>
              </a:rPr>
              <a:t>Exercise 5 of 8</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90.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Onboarding Orientation Pack</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05</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Give a new hire a polished first-day experience without assembling it by hand.</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 6–8 slide orientation deck for Sofia Alvarez, Zava’s new HR Coordinator; if time allows, a scheduled kickoff with a Teams link and a team announcement draft.</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Onboarding</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Onboarding spans documents, calendars, and communications. Cowork chains PowerPoint, Scheduling, and Communications skills in one flow, grounded in your checklist, handbook, and benefits.</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Ground</a:t>
              </a:r>
              <a:r>
                <a:rPr lang="en-US" sz="1100">
                  <a:solidFill>
                    <a:prstClr val="black"/>
                  </a:solidFill>
                  <a:latin typeface="Segoe Sans Display" pitchFamily="2" charset="0"/>
                  <a:cs typeface="Segoe Sans Display" pitchFamily="2" charset="0"/>
                </a:rPr>
                <a:t> → Checklist, handbook, benefits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Build</a:t>
              </a:r>
              <a:r>
                <a:rPr lang="en-US" sz="1100">
                  <a:solidFill>
                    <a:prstClr val="black"/>
                  </a:solidFill>
                  <a:latin typeface="Segoe Sans Display" pitchFamily="2" charset="0"/>
                  <a:cs typeface="Segoe Sans Display" pitchFamily="2" charset="0"/>
                </a:rPr>
                <a:t> → Orientation deck (PowerPoint)</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Schedule</a:t>
              </a:r>
              <a:r>
                <a:rPr lang="en-US" sz="1100">
                  <a:solidFill>
                    <a:prstClr val="black"/>
                  </a:solidFill>
                  <a:latin typeface="Segoe Sans Display" pitchFamily="2" charset="0"/>
                  <a:cs typeface="Segoe Sans Display" pitchFamily="2" charset="0"/>
                </a:rPr>
                <a:t> → Optional: kickoff with a Teams link</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Communicate</a:t>
              </a:r>
              <a:r>
                <a:rPr lang="en-US" sz="1100">
                  <a:solidFill>
                    <a:prstClr val="black"/>
                  </a:solidFill>
                  <a:latin typeface="Segoe Sans Display" pitchFamily="2" charset="0"/>
                  <a:cs typeface="Segoe Sans Display" pitchFamily="2" charset="0"/>
                </a:rPr>
                <a:t> → Optional: announcement draft</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Task 5a — Orientation deck</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Using onboarding-checklist.docx, employee-handbook-excerpt.docx, and benefits-summary.docx</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build a short onboarding orientation PowerPoint</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(6–8 slides)</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covering first-day logistics, PTO, remote/hybrid work, and benefits basics.</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Keep it clean and friendly.</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Use only facts from these files.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Task 5b — Optional: schedule the kickoff</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Schedule a 30-minute onboarding kickoff for Sofia Alvarez’s first day</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next Monday at 9:30 AM, add a Teams meeting link</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and invite only me. Show it to me before you send it.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Task 5c — Optional: team announcement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Draft a warm, inclusive team announcement introducing Sofia Alvarez, our new HR Coordinator starting next Monday, and her first-week plan</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using onboarding-checklist.docx</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Save it as an Outlook email draft addressed to me</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don’t send it.</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7"/>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5" name="Group 12">
            <a:extLst>
              <a:ext uri="{FF2B5EF4-FFF2-40B4-BE49-F238E27FC236}">
                <a16:creationId xmlns:a16="http://schemas.microsoft.com/office/drawing/2014/main" id="{6DC82203-C40E-B229-3216-8513934D28BD}"/>
              </a:ext>
            </a:extLst>
          </p:cNvPr>
          <p:cNvGrpSpPr/>
          <p:nvPr/>
        </p:nvGrpSpPr>
        <p:grpSpPr>
          <a:xfrm>
            <a:off x="10035709" y="4421568"/>
            <a:ext cx="1200156" cy="488252"/>
            <a:chOff x="10558227" y="4421568"/>
            <a:chExt cx="1200156" cy="488252"/>
          </a:xfrm>
        </p:grpSpPr>
        <p:pic>
          <p:nvPicPr>
            <p:cNvPr id="916"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3"/>
            <a:stretch>
              <a:fillRect/>
            </a:stretch>
          </p:blipFill>
          <p:spPr>
            <a:xfrm>
              <a:off x="11014657" y="4421568"/>
              <a:ext cx="287296" cy="287296"/>
            </a:xfrm>
            <a:prstGeom prst="rect">
              <a:avLst/>
            </a:prstGeom>
          </p:spPr>
        </p:pic>
        <p:sp>
          <p:nvSpPr>
            <p:cNvPr id="917"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M365 Data</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912" name="Rounded Rectangle 911">
            <a:extLst>
              <a:ext uri="{C183D7F6-B498-43B3-948B-1728B52AA6E4}">
                <ns0:decorative xmlns:ns0="http://schemas.microsoft.com/office/drawing/2017/decorative" val="1"/>
              </a:ext>
            </a:extLst>
          </p:cNvPr>
          <p:cNvSpPr/>
          <p:nvPr/>
        </p:nvSpPr>
        <p:spPr>
          <a:xfrm>
            <a:off x="7754112" y="5230368"/>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3" name="TextBox 912"/>
          <p:cNvSpPr txBox="1"/>
          <p:nvPr/>
        </p:nvSpPr>
        <p:spPr>
          <a:xfrm>
            <a:off x="7754112" y="5230368"/>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Prompt key</a:t>
            </a:r>
          </a:p>
        </p:txBody>
      </p:sp>
      <p:pic>
        <p:nvPicPr>
          <p:cNvPr id="914" name="Picture 913" descr="Prompt key: Goal (blue) is the outcome, for whom, and why; Source (green) is the files, sites, or data to use; Expectations (orange) describe what good looks like; Constraints (purple) say what Cowork must not do."/>
          <p:cNvPicPr>
            <a:picLocks noChangeAspect="1"/>
          </p:cNvPicPr>
          <p:nvPr/>
        </p:nvPicPr>
        <p:blipFill>
          <a:blip r:embed="rId6"/>
          <a:stretch>
            <a:fillRect/>
          </a:stretch>
        </p:blipFill>
        <p:spPr>
          <a:xfrm>
            <a:off x="7726680" y="5577840"/>
            <a:ext cx="4224528" cy="940756"/>
          </a:xfrm>
          <a:prstGeom prst="rect">
            <a:avLst/>
          </a:prstGeom>
        </p:spPr>
      </p:pic>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91.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Demo · Onboarding Pack</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05</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Video</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3754755"/>
          </a:xfrm>
          <a:prstGeom prst="roundRect">
            <a:avLst>
              <a:gd name="adj" fmla="val 3000"/>
            </a:avLst>
          </a:prstGeom>
          <a:solidFill>
            <a:srgbClr val="FFF9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Demo video</a:t>
            </a:r>
          </a:p>
        </p:txBody>
      </p:sp>
      <p:sp>
        <p:nvSpPr>
          <p:cNvPr id="54" name="TextBox 53"/>
          <p:cNvSpPr txBox="1"/>
          <p:nvPr/>
        </p:nvSpPr>
        <p:spPr>
          <a:xfrm>
            <a:off x="694944" y="4257675"/>
            <a:ext cx="6126480" cy="548640"/>
          </a:xfrm>
          <a:prstGeom prst="rect">
            <a:avLst/>
          </a:prstGeom>
          <a:noFill/>
        </p:spPr>
        <p:txBody>
          <a:bodyPr wrap="square" anchor="b" lIns="0" rIns="0" tIns="0" bIns="0">
            <a:spAutoFit/>
          </a:bodyPr>
          <a:lstStyle/>
          <a:p>
            <a:pPr algn="ctr">
              <a:spcAft>
                <a:spcPts val="400"/>
              </a:spcAft>
            </a:pPr>
            <a:r>
              <a:rPr sz="1300" b="1" i="0">
                <a:solidFill>
                  <a:srgbClr val="8064A2"/>
                </a:solidFill>
                <a:latin typeface="Segoe Sans Display Semibold"/>
              </a:rPr>
              <a:t>Recorded run: Exercise 5, Onboarding Orientation Pack</a:t>
            </a:r>
          </a:p>
          <a:p>
            <a:pPr algn="ctr">
              <a:spcAft>
                <a:spcPts val="400"/>
              </a:spcAft>
            </a:pPr>
            <a:r>
              <a:rPr sz="1000" b="0" i="0">
                <a:solidFill>
                  <a:srgbClr val="616161"/>
                </a:solidFill>
                <a:latin typeface="Segoe UI"/>
              </a:rPr>
              <a:t>Facilitator: insert your recording here (see notes)</a:t>
            </a:r>
          </a:p>
        </p:txBody>
      </p:sp>
      <p:sp>
        <p:nvSpPr>
          <p:cNvPr id="55" name="Demo Video Placeholder" descr="Demo video: recorded run of Exercise 5, Onboarding Orientation Pack"/>
          <p:cNvSpPr>
            <a:spLocks noGrp="1"/>
          </p:cNvSpPr>
          <p:nvPr>
            <p:ph type="media" sz="quarter" idx="155"/>
          </p:nvPr>
        </p:nvSpPr>
        <p:spPr>
          <a:xfrm>
            <a:off x="420624" y="1188720"/>
            <a:ext cx="6675120" cy="3754755"/>
          </a:xfrm>
          <a:prstGeom prst="rect">
            <a:avLst/>
          </a:prstGeom>
        </p:spPr>
        <p:txBody>
          <a:bodyPr anchor="ctr"/>
          <a:lstStyle/>
          <a:p>
            <a:pPr algn="ctr"/>
            <a:endParaRPr lang="en-US"/>
          </a:p>
        </p:txBody>
      </p:sp>
      <p:sp>
        <p:nvSpPr>
          <p:cNvPr id="56" name="Rounded Rectangle 55">
            <a:extLst>
              <a:ext uri="{C183D7F6-B498-43B3-948B-1728B52AA6E4}">
                <ns2:decorative xmlns:ns2="http://schemas.microsoft.com/office/drawing/2017/decorative" val="1"/>
              </a:ext>
            </a:extLst>
          </p:cNvPr>
          <p:cNvSpPr/>
          <p:nvPr/>
        </p:nvSpPr>
        <p:spPr>
          <a:xfrm>
            <a:off x="420624" y="5217795"/>
            <a:ext cx="6675120" cy="1228725"/>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5217795"/>
            <a:ext cx="6144768" cy="1228725"/>
          </a:xfrm>
          <a:prstGeom prst="rect">
            <a:avLst/>
          </a:prstGeom>
          <a:noFill/>
        </p:spPr>
        <p:txBody>
          <a:bodyPr wrap="square" anchor="ctr" lIns="0" rIns="0" tIns="0" bIns="0">
            <a:spAutoFit/>
          </a:bodyPr>
          <a:lstStyle/>
          <a:p>
            <a:pPr algn="l">
              <a:lnSpc>
                <a:spcPct val="103000"/>
              </a:lnSpc>
              <a:spcAft>
                <a:spcPts val="400"/>
              </a:spcAft>
            </a:pPr>
            <a:r>
              <a:rPr sz="1300" b="1" i="0">
                <a:solidFill>
                  <a:srgbClr val="FFFFFF"/>
                </a:solidFill>
                <a:latin typeface="Segoe Sans Display Semibold"/>
              </a:rPr>
              <a:t>Why a recording? </a:t>
            </a:r>
            <a:r>
              <a:rPr sz="1300" b="0" i="0">
                <a:solidFill>
                  <a:srgbClr val="FFFFFF"/>
                </a:solidFill>
                <a:latin typeface="Segoe Sans Display"/>
              </a:rPr>
              <a:t>Cowork tasks can take several minutes. Watch the run here, then do it yourself.</a:t>
            </a:r>
          </a:p>
        </p:txBody>
      </p:sp>
      <p:sp>
        <p:nvSpPr>
          <p:cNvPr id="58" name="Rounded Rectangle 57">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Watch for in the demo</a:t>
            </a:r>
          </a:p>
        </p:txBody>
      </p:sp>
      <p:sp>
        <p:nvSpPr>
          <p:cNvPr id="60" name="TextBox 59"/>
          <p:cNvSpPr txBox="1"/>
          <p:nvPr/>
        </p:nvSpPr>
        <p:spPr>
          <a:xfrm>
            <a:off x="7772400" y="1737360"/>
            <a:ext cx="3931920" cy="3108960"/>
          </a:xfrm>
          <a:prstGeom prst="rect">
            <a:avLst/>
          </a:prstGeom>
          <a:noFill/>
        </p:spPr>
        <p:txBody>
          <a:bodyPr wrap="square" anchor="t" lIns="0" rIns="0" tIns="0" bIns="0">
            <a:spAutoFit/>
          </a:bodyPr>
          <a:lstStyle/>
          <a:p>
            <a:pPr algn="l" marL="237744" indent="-237744">
              <a:lnSpc>
                <a:spcPct val="105000"/>
              </a:lnSpc>
              <a:spcAft>
                <a:spcPts val="1000"/>
              </a:spcAft>
              <a:buFont typeface="+mj-lt"/>
              <a:buAutoNum type="arabicPeriod"/>
            </a:pPr>
            <a:r>
              <a:rPr sz="1400" b="1" i="0">
                <a:solidFill>
                  <a:srgbClr val="323139"/>
                </a:solidFill>
                <a:latin typeface="Segoe UI"/>
              </a:rPr>
              <a:t>Ground</a:t>
            </a:r>
            <a:r>
              <a:rPr sz="1400" b="0" i="0">
                <a:solidFill>
                  <a:srgbClr val="323139"/>
                </a:solidFill>
                <a:latin typeface="Segoe UI"/>
              </a:rPr>
              <a:t> → Checklist, handbook, benefits</a:t>
            </a:r>
          </a:p>
          <a:p>
            <a:pPr algn="l" marL="237744" indent="-237744">
              <a:lnSpc>
                <a:spcPct val="105000"/>
              </a:lnSpc>
              <a:spcAft>
                <a:spcPts val="1000"/>
              </a:spcAft>
              <a:buFont typeface="+mj-lt"/>
              <a:buAutoNum type="arabicPeriod"/>
            </a:pPr>
            <a:r>
              <a:rPr sz="1400" b="1" i="0">
                <a:solidFill>
                  <a:srgbClr val="323139"/>
                </a:solidFill>
                <a:latin typeface="Segoe UI"/>
              </a:rPr>
              <a:t>Build</a:t>
            </a:r>
            <a:r>
              <a:rPr sz="1400" b="0" i="0">
                <a:solidFill>
                  <a:srgbClr val="323139"/>
                </a:solidFill>
                <a:latin typeface="Segoe UI"/>
              </a:rPr>
              <a:t> → Orientation deck (PowerPoint)</a:t>
            </a:r>
          </a:p>
          <a:p>
            <a:pPr algn="l" marL="237744" indent="-237744">
              <a:lnSpc>
                <a:spcPct val="105000"/>
              </a:lnSpc>
              <a:spcAft>
                <a:spcPts val="1000"/>
              </a:spcAft>
              <a:buFont typeface="+mj-lt"/>
              <a:buAutoNum type="arabicPeriod"/>
            </a:pPr>
            <a:r>
              <a:rPr sz="1400" b="1" i="0">
                <a:solidFill>
                  <a:srgbClr val="323139"/>
                </a:solidFill>
                <a:latin typeface="Segoe UI"/>
              </a:rPr>
              <a:t>Schedule</a:t>
            </a:r>
            <a:r>
              <a:rPr sz="1400" b="0" i="0">
                <a:solidFill>
                  <a:srgbClr val="323139"/>
                </a:solidFill>
                <a:latin typeface="Segoe UI"/>
              </a:rPr>
              <a:t> → Optional: kickoff with a Teams link</a:t>
            </a:r>
          </a:p>
          <a:p>
            <a:pPr algn="l" marL="237744" indent="-237744">
              <a:lnSpc>
                <a:spcPct val="105000"/>
              </a:lnSpc>
              <a:spcAft>
                <a:spcPts val="1000"/>
              </a:spcAft>
              <a:buFont typeface="+mj-lt"/>
              <a:buAutoNum type="arabicPeriod"/>
            </a:pPr>
            <a:r>
              <a:rPr sz="1400" b="1" i="0">
                <a:solidFill>
                  <a:srgbClr val="323139"/>
                </a:solidFill>
                <a:latin typeface="Segoe UI"/>
              </a:rPr>
              <a:t>Communicate</a:t>
            </a:r>
            <a:r>
              <a:rPr sz="1400" b="0" i="0">
                <a:solidFill>
                  <a:srgbClr val="323139"/>
                </a:solidFill>
                <a:latin typeface="Segoe UI"/>
              </a:rPr>
              <a:t> → Optional: announcement draft</a:t>
            </a:r>
          </a:p>
        </p:txBody>
      </p:sp>
      <p:sp>
        <p:nvSpPr>
          <p:cNvPr id="61" name="Rounded Rectangle 60">
            <a:extLst>
              <a:ext uri="{C183D7F6-B498-43B3-948B-1728B52AA6E4}">
                <ns4:decorative xmlns:ns4="http://schemas.microsoft.com/office/drawing/2017/decorative" val="1"/>
              </a:ext>
            </a:extLst>
          </p:cNvPr>
          <p:cNvSpPr/>
          <p:nvPr/>
        </p:nvSpPr>
        <p:spPr>
          <a:xfrm>
            <a:off x="7726679" y="5166359"/>
            <a:ext cx="4023360" cy="1051560"/>
          </a:xfrm>
          <a:prstGeom prst="roundRect">
            <a:avLst>
              <a:gd name="adj" fmla="val 10000"/>
            </a:avLst>
          </a:prstGeom>
          <a:solidFill>
            <a:srgbClr val="FFFC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909559" y="5166359"/>
            <a:ext cx="3657600" cy="1051560"/>
          </a:xfrm>
          <a:prstGeom prst="rect">
            <a:avLst/>
          </a:prstGeom>
          <a:noFill/>
        </p:spPr>
        <p:txBody>
          <a:bodyPr wrap="square" anchor="ctr" lIns="0" rIns="0" tIns="0" bIns="0">
            <a:spAutoFit/>
          </a:bodyPr>
          <a:lstStyle/>
          <a:p>
            <a:pPr algn="l">
              <a:lnSpc>
                <a:spcPct val="103000"/>
              </a:lnSpc>
              <a:spcAft>
                <a:spcPts val="400"/>
              </a:spcAft>
            </a:pPr>
            <a:r>
              <a:rPr sz="1200" b="1" i="0">
                <a:solidFill>
                  <a:srgbClr val="323139"/>
                </a:solidFill>
                <a:latin typeface="Segoe Sans Display"/>
              </a:rPr>
              <a:t>Next:</a:t>
            </a:r>
            <a:r>
              <a:rPr sz="1200" b="0" i="0">
                <a:solidFill>
                  <a:srgbClr val="323139"/>
                </a:solidFill>
                <a:latin typeface="Segoe Sans Display"/>
              </a:rPr>
              <a:t> your turn on the hands-on slide (10 min).</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92.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Onboarding Pack</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05</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10 min</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Task 5a:</a:t>
            </a:r>
            <a:r>
              <a:rPr sz="1500" b="0" i="0">
                <a:solidFill>
                  <a:srgbClr val="323139"/>
                </a:solidFill>
                <a:latin typeface="Segoe UI"/>
              </a:rPr>
              <a:t> attach the checklist, handbook, and benefits files; build a 6–8 slide orientation deck.</a:t>
            </a:r>
          </a:p>
          <a:p>
            <a:pPr algn="l" marL="237744" indent="-237744">
              <a:lnSpc>
                <a:spcPct val="105000"/>
              </a:lnSpc>
              <a:spcAft>
                <a:spcPts val="900"/>
              </a:spcAft>
              <a:buFont typeface="+mj-lt"/>
              <a:buAutoNum type="arabicPeriod"/>
            </a:pPr>
            <a:r>
              <a:rPr sz="1500" b="1" i="0">
                <a:solidFill>
                  <a:srgbClr val="323139"/>
                </a:solidFill>
                <a:latin typeface="Segoe UI"/>
              </a:rPr>
              <a:t>Optional 5b:</a:t>
            </a:r>
            <a:r>
              <a:rPr sz="1500" b="0" i="0">
                <a:solidFill>
                  <a:srgbClr val="323139"/>
                </a:solidFill>
                <a:latin typeface="Segoe UI"/>
              </a:rPr>
              <a:t> schedule a 30-minute kickoff with a Teams link — invite </a:t>
            </a:r>
            <a:r>
              <a:rPr sz="1500" b="1" i="0">
                <a:solidFill>
                  <a:srgbClr val="323139"/>
                </a:solidFill>
                <a:latin typeface="Segoe UI"/>
              </a:rPr>
              <a:t>only yourself</a:t>
            </a:r>
            <a:r>
              <a:rPr sz="1500" b="0" i="0">
                <a:solidFill>
                  <a:srgbClr val="323139"/>
                </a:solidFill>
                <a:latin typeface="Segoe UI"/>
              </a:rPr>
              <a:t>.</a:t>
            </a:r>
          </a:p>
          <a:p>
            <a:pPr algn="l" marL="237744" indent="-237744">
              <a:lnSpc>
                <a:spcPct val="105000"/>
              </a:lnSpc>
              <a:spcAft>
                <a:spcPts val="900"/>
              </a:spcAft>
              <a:buFont typeface="+mj-lt"/>
              <a:buAutoNum type="arabicPeriod"/>
            </a:pPr>
            <a:r>
              <a:rPr sz="1500" b="1" i="0">
                <a:solidFill>
                  <a:srgbClr val="323139"/>
                </a:solidFill>
                <a:latin typeface="Segoe UI"/>
              </a:rPr>
              <a:t>Optional 5c:</a:t>
            </a:r>
            <a:r>
              <a:rPr sz="1500" b="0" i="0">
                <a:solidFill>
                  <a:srgbClr val="323139"/>
                </a:solidFill>
                <a:latin typeface="Segoe UI"/>
              </a:rPr>
              <a:t> draft a warm team announcement and save it as an Outlook draft to yourself.</a:t>
            </a:r>
          </a:p>
          <a:p>
            <a:pPr algn="l" marL="237744" indent="-237744">
              <a:lnSpc>
                <a:spcPct val="105000"/>
              </a:lnSpc>
              <a:spcAft>
                <a:spcPts val="900"/>
              </a:spcAft>
              <a:buFont typeface="+mj-lt"/>
              <a:buAutoNum type="arabicPeriod"/>
            </a:pPr>
            <a:r>
              <a:rPr sz="1500" b="1" i="0">
                <a:solidFill>
                  <a:srgbClr val="323139"/>
                </a:solidFill>
                <a:latin typeface="Segoe UI"/>
              </a:rPr>
              <a:t>Review</a:t>
            </a:r>
            <a:r>
              <a:rPr sz="1500" b="0" i="0">
                <a:solidFill>
                  <a:srgbClr val="323139"/>
                </a:solidFill>
                <a:latin typeface="Segoe UI"/>
              </a:rPr>
              <a:t> each artifact at its checkpoint.</a:t>
            </a:r>
          </a:p>
        </p:txBody>
      </p:sp>
      <p:sp>
        <p:nvSpPr>
          <p:cNvPr id="55" name="Rounded Rectangle 54">
            <a:extLst>
              <a:ext uri="{C183D7F6-B498-43B3-948B-1728B52AA6E4}">
                <ns2:decorative xmlns:ns2="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3:decorative xmlns:ns3="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What else belongs in a new-hire pack at your organization — and who should review it?</a:t>
            </a:r>
          </a:p>
        </p:txBody>
      </p:sp>
      <p:sp>
        <p:nvSpPr>
          <p:cNvPr id="59" name="Rounded Rectangle 58">
            <a:extLst>
              <a:ext uri="{C183D7F6-B498-43B3-948B-1728B52AA6E4}">
                <ns4:decorative xmlns:ns4="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5:decorative xmlns:ns5="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1" i="0">
                <a:solidFill>
                  <a:srgbClr val="323139"/>
                </a:solidFill>
                <a:latin typeface="Segoe UI"/>
              </a:rPr>
              <a:t>PowerPoint</a:t>
            </a:r>
            <a:r>
              <a:rPr sz="1150" b="0" i="0">
                <a:solidFill>
                  <a:srgbClr val="323139"/>
                </a:solidFill>
                <a:latin typeface="Segoe UI"/>
              </a:rPr>
              <a:t>, </a:t>
            </a:r>
            <a:r>
              <a:rPr sz="1150" b="1" i="0">
                <a:solidFill>
                  <a:srgbClr val="323139"/>
                </a:solidFill>
                <a:latin typeface="Segoe UI"/>
              </a:rPr>
              <a:t>Scheduling/Calendar</a:t>
            </a:r>
            <a:r>
              <a:rPr sz="1150" b="0" i="0">
                <a:solidFill>
                  <a:srgbClr val="323139"/>
                </a:solidFill>
                <a:latin typeface="Segoe UI"/>
              </a:rPr>
              <a:t>, and </a:t>
            </a:r>
            <a:r>
              <a:rPr sz="1150" b="1" i="0">
                <a:solidFill>
                  <a:srgbClr val="323139"/>
                </a:solidFill>
                <a:latin typeface="Segoe UI"/>
              </a:rPr>
              <a:t>Communications</a:t>
            </a:r>
            <a:r>
              <a:rPr sz="1150" b="0" i="0">
                <a:solidFill>
                  <a:srgbClr val="323139"/>
                </a:solidFill>
                <a:latin typeface="Segoe UI"/>
              </a:rPr>
              <a:t> chips</a:t>
            </a:r>
          </a:p>
          <a:p>
            <a:pPr algn="l" marL="182880" indent="-182880">
              <a:spcAft>
                <a:spcPts val="400"/>
              </a:spcAft>
              <a:buFont typeface="Arial"/>
              <a:buChar char="•"/>
            </a:pPr>
            <a:r>
              <a:rPr sz="1150" b="0" i="0">
                <a:solidFill>
                  <a:srgbClr val="323139"/>
                </a:solidFill>
                <a:latin typeface="Segoe UI"/>
              </a:rPr>
              <a:t>Your real calendar: invite only yourself</a:t>
            </a:r>
          </a:p>
          <a:p>
            <a:pPr algn="l" marL="182880" indent="-182880">
              <a:spcAft>
                <a:spcPts val="400"/>
              </a:spcAft>
              <a:buFont typeface="Arial"/>
              <a:buChar char="•"/>
            </a:pPr>
            <a:r>
              <a:rPr sz="1150" b="0" i="0">
                <a:solidFill>
                  <a:srgbClr val="323139"/>
                </a:solidFill>
                <a:latin typeface="Segoe UI"/>
              </a:rPr>
              <a:t>5a is the must-do; 5b and 5c are optional</a:t>
            </a:r>
          </a:p>
        </p:txBody>
      </p:sp>
      <p:sp>
        <p:nvSpPr>
          <p:cNvPr id="63" name="Rounded Rectangle 62">
            <a:extLst>
              <a:ext uri="{C183D7F6-B498-43B3-948B-1728B52AA6E4}">
                <ns6:decorative xmlns:ns6="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7:decorative xmlns:ns7="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 6–8 slide orientation deck for Sofia Alvarez built only from the Zava files (plus the optional kickoff invite and announcement draft).</a:t>
            </a:r>
          </a:p>
        </p:txBody>
      </p:sp>
      <p:sp>
        <p:nvSpPr>
          <p:cNvPr id="67" name="Rounded Rectangle 66">
            <a:extLst>
              <a:ext uri="{C183D7F6-B498-43B3-948B-1728B52AA6E4}">
                <ns8:decorative xmlns:ns8="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200"/>
              </a:spcAft>
            </a:pPr>
            <a:r>
              <a:rPr sz="1100" b="1" i="0">
                <a:solidFill>
                  <a:srgbClr val="323139"/>
                </a:solidFill>
                <a:latin typeface="Segoe Sans Display Semibold"/>
              </a:rPr>
              <a:t>Stretch: </a:t>
            </a:r>
            <a:r>
              <a:rPr sz="1100" b="0" i="0">
                <a:solidFill>
                  <a:srgbClr val="323139"/>
                </a:solidFill>
                <a:latin typeface="Segoe Sans Display"/>
              </a:rPr>
              <a:t>Turn the orientation deck into a one-page PDF handout.</a:t>
            </a:r>
          </a:p>
          <a:p>
            <a:pPr algn="l">
              <a:lnSpc>
                <a:spcPct val="103000"/>
              </a:lnSpc>
              <a:spcAft>
                <a:spcPts val="400"/>
              </a:spcAft>
            </a:pPr>
            <a:r>
              <a:rPr sz="1000" b="0" i="0">
                <a:solidFill>
                  <a:srgbClr val="616161"/>
                </a:solidFill>
                <a:latin typeface="Segoe Sans Display"/>
              </a:rPr>
              <a:t>Full prompt: </a:t>
            </a:r>
            <a:r>
              <a:rPr sz="1000" b="1" i="0">
                <a:solidFill>
                  <a:srgbClr val="0F6CBD"/>
                </a:solidFill>
                <a:latin typeface="Segoe Sans Display"/>
                <a:hlinkClick r:id="rId7">
                  <a:extLst>
                    <a:ext uri="{A12FA001-AC4F-418D-AE19-62706E023703}">
                      <ahyp:hlinkClr xmlns:ahyp="http://schemas.microsoft.com/office/drawing/2018/hyperlinkcolor" val="tx"/>
                    </a:ext>
                  </a:extLst>
                </a:hlinkClick>
              </a:rPr>
              <a:t>participant workbook, Exercise 5</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93.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 name="TextBox 1"/>
          <p:cNvSpPr txBox="1"/>
          <p:nvPr/>
        </p:nvSpPr>
        <p:spPr>
          <a:xfrm>
            <a:off x="868680" y="1325880"/>
            <a:ext cx="2743200" cy="365760"/>
          </a:xfrm>
          <a:prstGeom prst="rect">
            <a:avLst/>
          </a:prstGeom>
          <a:noFill/>
        </p:spPr>
        <p:txBody>
          <a:bodyPr wrap="square" anchor="t" lIns="0" rIns="0" tIns="0" bIns="0">
            <a:spAutoFit/>
          </a:bodyPr>
          <a:lstStyle/>
          <a:p>
            <a:pPr algn="l">
              <a:spcAft>
                <a:spcPts val="400"/>
              </a:spcAft>
            </a:pPr>
            <a:r>
              <a:rPr sz="1600" b="0" i="0">
                <a:solidFill>
                  <a:srgbClr val="616161"/>
                </a:solidFill>
                <a:latin typeface="Segoe Sans Display Semibold"/>
              </a:rPr>
              <a:t>EXERCISE</a:t>
            </a:r>
          </a:p>
        </p:txBody>
      </p:sp>
      <p:sp>
        <p:nvSpPr>
          <p:cNvPr id="3" name="TextBox 2"/>
          <p:cNvSpPr txBox="1"/>
          <p:nvPr/>
        </p:nvSpPr>
        <p:spPr>
          <a:xfrm>
            <a:off x="777240" y="1645920"/>
            <a:ext cx="2926080" cy="1828800"/>
          </a:xfrm>
          <a:prstGeom prst="rect">
            <a:avLst/>
          </a:prstGeom>
          <a:noFill/>
        </p:spPr>
        <p:txBody>
          <a:bodyPr wrap="square" anchor="t" lIns="0" rIns="0" tIns="0" bIns="0">
            <a:spAutoFit/>
          </a:bodyPr>
          <a:lstStyle/>
          <a:p>
            <a:pPr algn="l">
              <a:spcAft>
                <a:spcPts val="400"/>
              </a:spcAft>
            </a:pPr>
            <a:r>
              <a:rPr sz="12000" b="1" i="0">
                <a:solidFill>
                  <a:srgbClr val="8064A2"/>
                </a:solidFill>
                <a:latin typeface="Segoe Sans Display"/>
              </a:rPr>
              <a:t>06</a:t>
            </a:r>
          </a:p>
        </p:txBody>
      </p:sp>
      <p:sp>
        <p:nvSpPr>
          <p:cNvPr id="4" name="TextBox 3"/>
          <p:cNvSpPr txBox="1"/>
          <p:nvPr/>
        </p:nvSpPr>
        <p:spPr>
          <a:xfrm>
            <a:off x="3749039" y="1417320"/>
            <a:ext cx="5440680" cy="1508760"/>
          </a:xfrm>
          <a:prstGeom prst="rect">
            <a:avLst/>
          </a:prstGeom>
          <a:noFill/>
        </p:spPr>
        <p:txBody>
          <a:bodyPr wrap="square" anchor="b" lIns="0" rIns="0" tIns="0" bIns="0">
            <a:spAutoFit/>
          </a:bodyPr>
          <a:lstStyle/>
          <a:p>
            <a:pPr algn="l">
              <a:lnSpc>
                <a:spcPct val="95000"/>
              </a:lnSpc>
              <a:spcAft>
                <a:spcPts val="400"/>
              </a:spcAft>
            </a:pPr>
            <a:r>
              <a:rPr sz="3800" b="0" i="0">
                <a:solidFill>
                  <a:srgbClr val="323139"/>
                </a:solidFill>
                <a:latin typeface="Segoe Sans Display"/>
              </a:rPr>
              <a:t>Automate &amp; Share</a:t>
            </a:r>
          </a:p>
        </p:txBody>
      </p:sp>
      <p:sp>
        <p:nvSpPr>
          <p:cNvPr id="5" name="TextBox 4"/>
          <p:cNvSpPr txBox="1"/>
          <p:nvPr/>
        </p:nvSpPr>
        <p:spPr>
          <a:xfrm>
            <a:off x="3749039" y="3017520"/>
            <a:ext cx="5440680" cy="1005840"/>
          </a:xfrm>
          <a:prstGeom prst="rect">
            <a:avLst/>
          </a:prstGeom>
          <a:noFill/>
        </p:spPr>
        <p:txBody>
          <a:bodyPr wrap="square" anchor="t" lIns="0" rIns="0" tIns="0" bIns="0">
            <a:spAutoFit/>
          </a:bodyPr>
          <a:lstStyle/>
          <a:p>
            <a:pPr algn="l">
              <a:lnSpc>
                <a:spcPct val="105000"/>
              </a:lnSpc>
              <a:spcAft>
                <a:spcPts val="400"/>
              </a:spcAft>
            </a:pPr>
            <a:r>
              <a:rPr sz="1600" b="0" i="0">
                <a:solidFill>
                  <a:srgbClr val="616161"/>
                </a:solidFill>
                <a:latin typeface="Segoe Sans Display"/>
              </a:rPr>
              <a:t>Stop re-asking for the same work — put it on a schedule and share what you built.</a:t>
            </a:r>
          </a:p>
        </p:txBody>
      </p:sp>
      <p:sp>
        <p:nvSpPr>
          <p:cNvPr id="6" name="Oval 5">
            <a:extLst>
              <a:ext uri="{C183D7F6-B498-43B3-948B-1728B52AA6E4}">
                <ns0:decorative xmlns:ns0="http://schemas.microsoft.com/office/drawing/2017/decorative" val="1"/>
              </a:ext>
            </a:extLst>
          </p:cNvPr>
          <p:cNvSpPr/>
          <p:nvPr/>
        </p:nvSpPr>
        <p:spPr>
          <a:xfrm>
            <a:off x="9418320" y="1280160"/>
            <a:ext cx="2194560" cy="2194560"/>
          </a:xfrm>
          <a:prstGeom prst="ellipse">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Divider 6" descr="Illustration of an alarm clock, for scheduled automations"/>
          <p:cNvPicPr>
            <a:picLocks noChangeAspect="1"/>
          </p:cNvPicPr>
          <p:nvPr/>
        </p:nvPicPr>
        <p:blipFill>
          <a:blip r:embed="rId7"/>
          <a:stretch>
            <a:fillRect/>
          </a:stretch>
        </p:blipFill>
        <p:spPr>
          <a:xfrm>
            <a:off x="9784080" y="1645920"/>
            <a:ext cx="1463040" cy="1463040"/>
          </a:xfrm>
          <a:prstGeom prst="rect">
            <a:avLst/>
          </a:prstGeom>
        </p:spPr>
      </p:pic>
      <p:sp>
        <p:nvSpPr>
          <p:cNvPr id="8" name="Rounded Rectangle 7">
            <a:extLst>
              <a:ext uri="{C183D7F6-B498-43B3-948B-1728B52AA6E4}">
                <ns1:decorative xmlns:ns1="http://schemas.microsoft.com/office/drawing/2017/decorative" val="1"/>
              </a:ext>
            </a:extLst>
          </p:cNvPr>
          <p:cNvSpPr/>
          <p:nvPr/>
        </p:nvSpPr>
        <p:spPr>
          <a:xfrm>
            <a:off x="3749039" y="4069080"/>
            <a:ext cx="2286000"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49039" y="4069080"/>
            <a:ext cx="2286000"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15 min  ·  1:45–2:00</a:t>
            </a:r>
          </a:p>
        </p:txBody>
      </p:sp>
      <p:sp>
        <p:nvSpPr>
          <p:cNvPr id="10" name="Rounded Rectangle 9">
            <a:extLst>
              <a:ext uri="{C183D7F6-B498-43B3-948B-1728B52AA6E4}">
                <ns2:decorative xmlns:ns2="http://schemas.microsoft.com/office/drawing/2017/decorative" val="1"/>
              </a:ext>
            </a:extLst>
          </p:cNvPr>
          <p:cNvSpPr/>
          <p:nvPr/>
        </p:nvSpPr>
        <p:spPr>
          <a:xfrm>
            <a:off x="6217920" y="4069080"/>
            <a:ext cx="1805940"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17920" y="4069080"/>
            <a:ext cx="1805940"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HR · Operations</a:t>
            </a:r>
          </a:p>
        </p:txBody>
      </p:sp>
      <p:sp>
        <p:nvSpPr>
          <p:cNvPr id="12" name="Oval 11">
            <a:extLst>
              <a:ext uri="{C183D7F6-B498-43B3-948B-1728B52AA6E4}">
                <ns3:decorative xmlns:ns3="http://schemas.microsoft.com/office/drawing/2017/decorative" val="1"/>
              </a:ext>
            </a:extLst>
          </p:cNvPr>
          <p:cNvSpPr/>
          <p:nvPr/>
        </p:nvSpPr>
        <p:spPr>
          <a:xfrm>
            <a:off x="2895447"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447"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a:t>
            </a:r>
          </a:p>
        </p:txBody>
      </p:sp>
      <p:sp>
        <p:nvSpPr>
          <p:cNvPr id="14" name="Rectangle 13">
            <a:extLst>
              <a:ext uri="{C183D7F6-B498-43B3-948B-1728B52AA6E4}">
                <ns4:decorative xmlns:ns4="http://schemas.microsoft.com/office/drawing/2017/decorative" val="1"/>
              </a:ext>
            </a:extLst>
          </p:cNvPr>
          <p:cNvSpPr/>
          <p:nvPr/>
        </p:nvSpPr>
        <p:spPr>
          <a:xfrm>
            <a:off x="345323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a:extLst>
              <a:ext uri="{C183D7F6-B498-43B3-948B-1728B52AA6E4}">
                <ns5:decorative xmlns:ns5="http://schemas.microsoft.com/office/drawing/2017/decorative" val="1"/>
              </a:ext>
            </a:extLst>
          </p:cNvPr>
          <p:cNvSpPr/>
          <p:nvPr/>
        </p:nvSpPr>
        <p:spPr>
          <a:xfrm>
            <a:off x="3736695"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736695"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2</a:t>
            </a:r>
          </a:p>
        </p:txBody>
      </p:sp>
      <p:sp>
        <p:nvSpPr>
          <p:cNvPr id="17" name="Rectangle 16">
            <a:extLst>
              <a:ext uri="{C183D7F6-B498-43B3-948B-1728B52AA6E4}">
                <ns6:decorative xmlns:ns6="http://schemas.microsoft.com/office/drawing/2017/decorative" val="1"/>
              </a:ext>
            </a:extLst>
          </p:cNvPr>
          <p:cNvSpPr/>
          <p:nvPr/>
        </p:nvSpPr>
        <p:spPr>
          <a:xfrm>
            <a:off x="429447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a:extLst>
              <a:ext uri="{C183D7F6-B498-43B3-948B-1728B52AA6E4}">
                <ns7:decorative xmlns:ns7="http://schemas.microsoft.com/office/drawing/2017/decorative" val="1"/>
              </a:ext>
            </a:extLst>
          </p:cNvPr>
          <p:cNvSpPr/>
          <p:nvPr/>
        </p:nvSpPr>
        <p:spPr>
          <a:xfrm>
            <a:off x="4577943"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7943"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3</a:t>
            </a:r>
          </a:p>
        </p:txBody>
      </p:sp>
      <p:sp>
        <p:nvSpPr>
          <p:cNvPr id="20" name="Rectangle 19">
            <a:extLst>
              <a:ext uri="{C183D7F6-B498-43B3-948B-1728B52AA6E4}">
                <ns8:decorative xmlns:ns8="http://schemas.microsoft.com/office/drawing/2017/decorative" val="1"/>
              </a:ext>
            </a:extLst>
          </p:cNvPr>
          <p:cNvSpPr/>
          <p:nvPr/>
        </p:nvSpPr>
        <p:spPr>
          <a:xfrm>
            <a:off x="5135727"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a:extLst>
              <a:ext uri="{C183D7F6-B498-43B3-948B-1728B52AA6E4}">
                <ns9:decorative xmlns:ns9="http://schemas.microsoft.com/office/drawing/2017/decorative" val="1"/>
              </a:ext>
            </a:extLst>
          </p:cNvPr>
          <p:cNvSpPr/>
          <p:nvPr/>
        </p:nvSpPr>
        <p:spPr>
          <a:xfrm>
            <a:off x="5419191"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19191"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4</a:t>
            </a:r>
          </a:p>
        </p:txBody>
      </p:sp>
      <p:sp>
        <p:nvSpPr>
          <p:cNvPr id="23" name="Rectangle 22">
            <a:extLst>
              <a:ext uri="{C183D7F6-B498-43B3-948B-1728B52AA6E4}">
                <ns10:decorative xmlns:ns10="http://schemas.microsoft.com/office/drawing/2017/decorative" val="1"/>
              </a:ext>
            </a:extLst>
          </p:cNvPr>
          <p:cNvSpPr/>
          <p:nvPr/>
        </p:nvSpPr>
        <p:spPr>
          <a:xfrm>
            <a:off x="5976975"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a:extLst>
              <a:ext uri="{C183D7F6-B498-43B3-948B-1728B52AA6E4}">
                <ns11:decorative xmlns:ns11="http://schemas.microsoft.com/office/drawing/2017/decorative" val="1"/>
              </a:ext>
            </a:extLst>
          </p:cNvPr>
          <p:cNvSpPr/>
          <p:nvPr/>
        </p:nvSpPr>
        <p:spPr>
          <a:xfrm>
            <a:off x="6260439"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60439"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5</a:t>
            </a:r>
          </a:p>
        </p:txBody>
      </p:sp>
      <p:sp>
        <p:nvSpPr>
          <p:cNvPr id="26" name="Rectangle 25">
            <a:extLst>
              <a:ext uri="{C183D7F6-B498-43B3-948B-1728B52AA6E4}">
                <ns12:decorative xmlns:ns12="http://schemas.microsoft.com/office/drawing/2017/decorative" val="1"/>
              </a:ext>
            </a:extLst>
          </p:cNvPr>
          <p:cNvSpPr/>
          <p:nvPr/>
        </p:nvSpPr>
        <p:spPr>
          <a:xfrm>
            <a:off x="6818223"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a:extLst>
              <a:ext uri="{C183D7F6-B498-43B3-948B-1728B52AA6E4}">
                <ns13:decorative xmlns:ns13="http://schemas.microsoft.com/office/drawing/2017/decorative" val="1"/>
              </a:ext>
            </a:extLst>
          </p:cNvPr>
          <p:cNvSpPr/>
          <p:nvPr/>
        </p:nvSpPr>
        <p:spPr>
          <a:xfrm>
            <a:off x="7101687" y="5257800"/>
            <a:ext cx="512064" cy="512064"/>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01687" y="5257800"/>
            <a:ext cx="512064" cy="512064"/>
          </a:xfrm>
          <a:prstGeom prst="rect">
            <a:avLst/>
          </a:prstGeom>
          <a:noFill/>
        </p:spPr>
        <p:txBody>
          <a:bodyPr wrap="square" anchor="ctr" lIns="0" rIns="0" tIns="0" bIns="0">
            <a:spAutoFit/>
          </a:bodyPr>
          <a:lstStyle/>
          <a:p>
            <a:pPr algn="ctr">
              <a:spcAft>
                <a:spcPts val="400"/>
              </a:spcAft>
            </a:pPr>
            <a:r>
              <a:rPr sz="1400" b="1" i="0">
                <a:solidFill>
                  <a:srgbClr val="FFFFFF"/>
                </a:solidFill>
                <a:latin typeface="Segoe Sans Display Semibold"/>
              </a:rPr>
              <a:t>6</a:t>
            </a:r>
          </a:p>
        </p:txBody>
      </p:sp>
      <p:sp>
        <p:nvSpPr>
          <p:cNvPr id="29" name="Rectangle 28">
            <a:extLst>
              <a:ext uri="{C183D7F6-B498-43B3-948B-1728B52AA6E4}">
                <ns14:decorative xmlns:ns14="http://schemas.microsoft.com/office/drawing/2017/decorative" val="1"/>
              </a:ext>
            </a:extLst>
          </p:cNvPr>
          <p:cNvSpPr/>
          <p:nvPr/>
        </p:nvSpPr>
        <p:spPr>
          <a:xfrm>
            <a:off x="765947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a:extLst>
              <a:ext uri="{C183D7F6-B498-43B3-948B-1728B52AA6E4}">
                <ns15:decorative xmlns:ns15="http://schemas.microsoft.com/office/drawing/2017/decorative" val="1"/>
              </a:ext>
            </a:extLst>
          </p:cNvPr>
          <p:cNvSpPr/>
          <p:nvPr/>
        </p:nvSpPr>
        <p:spPr>
          <a:xfrm>
            <a:off x="7942935"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42935"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7</a:t>
            </a:r>
          </a:p>
        </p:txBody>
      </p:sp>
      <p:sp>
        <p:nvSpPr>
          <p:cNvPr id="32" name="Rectangle 31">
            <a:extLst>
              <a:ext uri="{C183D7F6-B498-43B3-948B-1728B52AA6E4}">
                <ns16:decorative xmlns:ns16="http://schemas.microsoft.com/office/drawing/2017/decorative" val="1"/>
              </a:ext>
            </a:extLst>
          </p:cNvPr>
          <p:cNvSpPr/>
          <p:nvPr/>
        </p:nvSpPr>
        <p:spPr>
          <a:xfrm>
            <a:off x="850071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a:extLst>
              <a:ext uri="{C183D7F6-B498-43B3-948B-1728B52AA6E4}">
                <ns17:decorative xmlns:ns17="http://schemas.microsoft.com/office/drawing/2017/decorative" val="1"/>
              </a:ext>
            </a:extLst>
          </p:cNvPr>
          <p:cNvSpPr/>
          <p:nvPr/>
        </p:nvSpPr>
        <p:spPr>
          <a:xfrm>
            <a:off x="8784183"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784183"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8</a:t>
            </a:r>
          </a:p>
        </p:txBody>
      </p:sp>
      <p:sp>
        <p:nvSpPr>
          <p:cNvPr id="35" name="TextBox 34"/>
          <p:cNvSpPr txBox="1"/>
          <p:nvPr/>
        </p:nvSpPr>
        <p:spPr>
          <a:xfrm>
            <a:off x="457200" y="5897880"/>
            <a:ext cx="11274552" cy="320040"/>
          </a:xfrm>
          <a:prstGeom prst="rect">
            <a:avLst/>
          </a:prstGeom>
          <a:noFill/>
        </p:spPr>
        <p:txBody>
          <a:bodyPr wrap="square" anchor="t" lIns="0" rIns="0" tIns="0" bIns="0">
            <a:spAutoFit/>
          </a:bodyPr>
          <a:lstStyle/>
          <a:p>
            <a:pPr algn="ctr">
              <a:spcAft>
                <a:spcPts val="400"/>
              </a:spcAft>
            </a:pPr>
            <a:r>
              <a:rPr sz="1200" b="0" i="0">
                <a:solidFill>
                  <a:srgbClr val="616161"/>
                </a:solidFill>
                <a:latin typeface="Segoe UI"/>
              </a:rPr>
              <a:t>Exercise 6 of 8</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94.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Automate &amp; Share</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06</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Stop re-asking for the same work — put it on a schedule and share what you built.</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An active weekly automation (Monday HR-ticket digest) and a Daily Briefing; if time allows, your custom skill shared (or kept private) and re-shared after an edit.</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HR · Operations</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Recurring work belongs on autopilot. Automations run prompts on a schedule or on events, Daily Briefing pulls your day together, and sharing turns a personal skill into a team asset.</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Automations</a:t>
              </a:r>
              <a:r>
                <a:rPr lang="en-US" sz="1100">
                  <a:solidFill>
                    <a:prstClr val="black"/>
                  </a:solidFill>
                  <a:latin typeface="Segoe Sans Display" pitchFamily="2" charset="0"/>
                  <a:cs typeface="Segoe Sans Display" pitchFamily="2" charset="0"/>
                </a:rPr>
                <a:t> → Create a weekly schedule</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Monitor</a:t>
              </a:r>
              <a:r>
                <a:rPr lang="en-US" sz="1100">
                  <a:solidFill>
                    <a:prstClr val="black"/>
                  </a:solidFill>
                  <a:latin typeface="Segoe Sans Display" pitchFamily="2" charset="0"/>
                  <a:cs typeface="Segoe Sans Display" pitchFamily="2" charset="0"/>
                </a:rPr>
                <a:t> → Runs and Manage schedules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Brief</a:t>
              </a:r>
              <a:r>
                <a:rPr lang="en-US" sz="1100">
                  <a:solidFill>
                    <a:prstClr val="black"/>
                  </a:solidFill>
                  <a:latin typeface="Segoe Sans Display" pitchFamily="2" charset="0"/>
                  <a:cs typeface="Segoe Sans Display" pitchFamily="2" charset="0"/>
                </a:rPr>
                <a:t> → Daily Briefing for today</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Share</a:t>
              </a:r>
              <a:r>
                <a:rPr lang="en-US" sz="1100">
                  <a:solidFill>
                    <a:prstClr val="black"/>
                  </a:solidFill>
                  <a:latin typeface="Segoe Sans Display" pitchFamily="2" charset="0"/>
                  <a:cs typeface="Segoe Sans Display" pitchFamily="2" charset="0"/>
                </a:rPr>
                <a:t> → Optional: share / re-share your skill</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Task 6a — Automations → Create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Every Monday at 8:00 AM</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read hr-tickets-sample.xlsx in my OneDrive folder Documents/ai_hr_cowork_workshop</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summarize open tickets by category and priority</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list high-priority open tickets first, and put it in a short report.</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Don’t email anyone.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Choose Activate and run now to see the first run in class.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Task 6b — New task</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Give me a Daily Briefing</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focused on my HR tasks and meetings for today</a:t>
            </a: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2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List the most urgent items first.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Task 6c — Optional: share your skill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Open HR Policy Answer on the Customize page → Share. Keep it “Only you” or share to one colleague (add your initials first). Make a small edit, then Re-share.</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3"/>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M365 Data</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grpSp>
        <p:nvGrpSpPr>
          <p:cNvPr id="915" name="Group 12">
            <a:extLst>
              <a:ext uri="{FF2B5EF4-FFF2-40B4-BE49-F238E27FC236}">
                <a16:creationId xmlns:a16="http://schemas.microsoft.com/office/drawing/2014/main" id="{6DC82203-C40E-B229-3216-8513934D28BD}"/>
              </a:ext>
            </a:extLst>
          </p:cNvPr>
          <p:cNvGrpSpPr/>
          <p:nvPr/>
        </p:nvGrpSpPr>
        <p:grpSpPr>
          <a:xfrm>
            <a:off x="10035709" y="4421568"/>
            <a:ext cx="1200156" cy="488252"/>
            <a:chOff x="10558227" y="4421568"/>
            <a:chExt cx="1200156" cy="488252"/>
          </a:xfrm>
        </p:grpSpPr>
        <p:pic>
          <p:nvPicPr>
            <p:cNvPr id="916"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7"/>
            <a:stretch>
              <a:fillRect/>
            </a:stretch>
          </p:blipFill>
          <p:spPr>
            <a:xfrm>
              <a:off x="11014657" y="4421568"/>
              <a:ext cx="287296" cy="287296"/>
            </a:xfrm>
            <a:prstGeom prst="rect">
              <a:avLst/>
            </a:prstGeom>
          </p:spPr>
        </p:pic>
        <p:sp>
          <p:nvSpPr>
            <p:cNvPr id="917"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OneDrive</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912" name="Rounded Rectangle 911">
            <a:extLst>
              <a:ext uri="{C183D7F6-B498-43B3-948B-1728B52AA6E4}">
                <ns0:decorative xmlns:ns0="http://schemas.microsoft.com/office/drawing/2017/decorative" val="1"/>
              </a:ext>
            </a:extLst>
          </p:cNvPr>
          <p:cNvSpPr/>
          <p:nvPr/>
        </p:nvSpPr>
        <p:spPr>
          <a:xfrm>
            <a:off x="7754112" y="5230368"/>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3" name="TextBox 912"/>
          <p:cNvSpPr txBox="1"/>
          <p:nvPr/>
        </p:nvSpPr>
        <p:spPr>
          <a:xfrm>
            <a:off x="7754112" y="5230368"/>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Prompt key</a:t>
            </a:r>
          </a:p>
        </p:txBody>
      </p:sp>
      <p:pic>
        <p:nvPicPr>
          <p:cNvPr id="914" name="Picture 913" descr="Prompt key: Goal (blue) is the outcome, for whom, and why; Source (green) is the files, sites, or data to use; Expectations (orange) describe what good looks like; Constraints (purple) say what Cowork must not do."/>
          <p:cNvPicPr>
            <a:picLocks noChangeAspect="1"/>
          </p:cNvPicPr>
          <p:nvPr/>
        </p:nvPicPr>
        <p:blipFill>
          <a:blip r:embed="rId6"/>
          <a:stretch>
            <a:fillRect/>
          </a:stretch>
        </p:blipFill>
        <p:spPr>
          <a:xfrm>
            <a:off x="7726680" y="5577840"/>
            <a:ext cx="4224528" cy="940756"/>
          </a:xfrm>
          <a:prstGeom prst="rect">
            <a:avLst/>
          </a:prstGeom>
        </p:spPr>
      </p:pic>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95.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Demo · Automate &amp; Share</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06</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Video</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3754755"/>
          </a:xfrm>
          <a:prstGeom prst="roundRect">
            <a:avLst>
              <a:gd name="adj" fmla="val 3000"/>
            </a:avLst>
          </a:prstGeom>
          <a:solidFill>
            <a:srgbClr val="FFF9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Demo video</a:t>
            </a:r>
          </a:p>
        </p:txBody>
      </p:sp>
      <p:sp>
        <p:nvSpPr>
          <p:cNvPr id="54" name="TextBox 53"/>
          <p:cNvSpPr txBox="1"/>
          <p:nvPr/>
        </p:nvSpPr>
        <p:spPr>
          <a:xfrm>
            <a:off x="694944" y="4257675"/>
            <a:ext cx="6126480" cy="548640"/>
          </a:xfrm>
          <a:prstGeom prst="rect">
            <a:avLst/>
          </a:prstGeom>
          <a:noFill/>
        </p:spPr>
        <p:txBody>
          <a:bodyPr wrap="square" anchor="b" lIns="0" rIns="0" tIns="0" bIns="0">
            <a:spAutoFit/>
          </a:bodyPr>
          <a:lstStyle/>
          <a:p>
            <a:pPr algn="ctr">
              <a:spcAft>
                <a:spcPts val="400"/>
              </a:spcAft>
            </a:pPr>
            <a:r>
              <a:rPr sz="1300" b="1" i="0">
                <a:solidFill>
                  <a:srgbClr val="8064A2"/>
                </a:solidFill>
                <a:latin typeface="Segoe Sans Display Semibold"/>
              </a:rPr>
              <a:t>Recorded run: Exercise 6, Automate &amp; Share</a:t>
            </a:r>
          </a:p>
          <a:p>
            <a:pPr algn="ctr">
              <a:spcAft>
                <a:spcPts val="400"/>
              </a:spcAft>
            </a:pPr>
            <a:r>
              <a:rPr sz="1000" b="0" i="0">
                <a:solidFill>
                  <a:srgbClr val="616161"/>
                </a:solidFill>
                <a:latin typeface="Segoe UI"/>
              </a:rPr>
              <a:t>Facilitator: insert your recording here (see notes)</a:t>
            </a:r>
          </a:p>
        </p:txBody>
      </p:sp>
      <p:sp>
        <p:nvSpPr>
          <p:cNvPr id="55" name="Demo Video Placeholder" descr="Demo video: recorded run of Exercise 6, Automate &amp; Share"/>
          <p:cNvSpPr>
            <a:spLocks noGrp="1"/>
          </p:cNvSpPr>
          <p:nvPr>
            <p:ph type="media" sz="quarter" idx="155"/>
          </p:nvPr>
        </p:nvSpPr>
        <p:spPr>
          <a:xfrm>
            <a:off x="420624" y="1188720"/>
            <a:ext cx="6675120" cy="3754755"/>
          </a:xfrm>
          <a:prstGeom prst="rect">
            <a:avLst/>
          </a:prstGeom>
        </p:spPr>
        <p:txBody>
          <a:bodyPr anchor="ctr"/>
          <a:lstStyle/>
          <a:p>
            <a:pPr algn="ctr"/>
            <a:endParaRPr lang="en-US"/>
          </a:p>
        </p:txBody>
      </p:sp>
      <p:sp>
        <p:nvSpPr>
          <p:cNvPr id="56" name="Rounded Rectangle 55">
            <a:extLst>
              <a:ext uri="{C183D7F6-B498-43B3-948B-1728B52AA6E4}">
                <ns2:decorative xmlns:ns2="http://schemas.microsoft.com/office/drawing/2017/decorative" val="1"/>
              </a:ext>
            </a:extLst>
          </p:cNvPr>
          <p:cNvSpPr/>
          <p:nvPr/>
        </p:nvSpPr>
        <p:spPr>
          <a:xfrm>
            <a:off x="420624" y="5217795"/>
            <a:ext cx="6675120" cy="1228725"/>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5217795"/>
            <a:ext cx="6144768" cy="1228725"/>
          </a:xfrm>
          <a:prstGeom prst="rect">
            <a:avLst/>
          </a:prstGeom>
          <a:noFill/>
        </p:spPr>
        <p:txBody>
          <a:bodyPr wrap="square" anchor="ctr" lIns="0" rIns="0" tIns="0" bIns="0">
            <a:spAutoFit/>
          </a:bodyPr>
          <a:lstStyle/>
          <a:p>
            <a:pPr algn="l">
              <a:lnSpc>
                <a:spcPct val="103000"/>
              </a:lnSpc>
              <a:spcAft>
                <a:spcPts val="400"/>
              </a:spcAft>
            </a:pPr>
            <a:r>
              <a:rPr sz="1300" b="1" i="0">
                <a:solidFill>
                  <a:srgbClr val="FFFFFF"/>
                </a:solidFill>
                <a:latin typeface="Segoe Sans Display Semibold"/>
              </a:rPr>
              <a:t>Why a recording? </a:t>
            </a:r>
            <a:r>
              <a:rPr sz="1300" b="0" i="0">
                <a:solidFill>
                  <a:srgbClr val="FFFFFF"/>
                </a:solidFill>
                <a:latin typeface="Segoe Sans Display"/>
              </a:rPr>
              <a:t>Cowork tasks can take several minutes. Watch the run here, then do it yourself.</a:t>
            </a:r>
          </a:p>
        </p:txBody>
      </p:sp>
      <p:sp>
        <p:nvSpPr>
          <p:cNvPr id="58" name="Rounded Rectangle 57">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Watch for in the demo</a:t>
            </a:r>
          </a:p>
        </p:txBody>
      </p:sp>
      <p:sp>
        <p:nvSpPr>
          <p:cNvPr id="60" name="TextBox 59"/>
          <p:cNvSpPr txBox="1"/>
          <p:nvPr/>
        </p:nvSpPr>
        <p:spPr>
          <a:xfrm>
            <a:off x="7772400" y="1737360"/>
            <a:ext cx="3931920" cy="3108960"/>
          </a:xfrm>
          <a:prstGeom prst="rect">
            <a:avLst/>
          </a:prstGeom>
          <a:noFill/>
        </p:spPr>
        <p:txBody>
          <a:bodyPr wrap="square" anchor="t" lIns="0" rIns="0" tIns="0" bIns="0">
            <a:spAutoFit/>
          </a:bodyPr>
          <a:lstStyle/>
          <a:p>
            <a:pPr algn="l" marL="237744" indent="-237744">
              <a:lnSpc>
                <a:spcPct val="105000"/>
              </a:lnSpc>
              <a:spcAft>
                <a:spcPts val="1000"/>
              </a:spcAft>
              <a:buFont typeface="+mj-lt"/>
              <a:buAutoNum type="arabicPeriod"/>
            </a:pPr>
            <a:r>
              <a:rPr sz="1400" b="1" i="0">
                <a:solidFill>
                  <a:srgbClr val="323139"/>
                </a:solidFill>
                <a:latin typeface="Segoe UI"/>
              </a:rPr>
              <a:t>Automations</a:t>
            </a:r>
            <a:r>
              <a:rPr sz="1400" b="0" i="0">
                <a:solidFill>
                  <a:srgbClr val="323139"/>
                </a:solidFill>
                <a:latin typeface="Segoe UI"/>
              </a:rPr>
              <a:t> → Create a weekly schedule</a:t>
            </a:r>
          </a:p>
          <a:p>
            <a:pPr algn="l" marL="237744" indent="-237744">
              <a:lnSpc>
                <a:spcPct val="105000"/>
              </a:lnSpc>
              <a:spcAft>
                <a:spcPts val="1000"/>
              </a:spcAft>
              <a:buFont typeface="+mj-lt"/>
              <a:buAutoNum type="arabicPeriod"/>
            </a:pPr>
            <a:r>
              <a:rPr sz="1400" b="1" i="0">
                <a:solidFill>
                  <a:srgbClr val="323139"/>
                </a:solidFill>
                <a:latin typeface="Segoe UI"/>
              </a:rPr>
              <a:t>Monitor</a:t>
            </a:r>
            <a:r>
              <a:rPr sz="1400" b="0" i="0">
                <a:solidFill>
                  <a:srgbClr val="323139"/>
                </a:solidFill>
                <a:latin typeface="Segoe UI"/>
              </a:rPr>
              <a:t> → Runs and Manage schedules</a:t>
            </a:r>
          </a:p>
          <a:p>
            <a:pPr algn="l" marL="237744" indent="-237744">
              <a:lnSpc>
                <a:spcPct val="105000"/>
              </a:lnSpc>
              <a:spcAft>
                <a:spcPts val="1000"/>
              </a:spcAft>
              <a:buFont typeface="+mj-lt"/>
              <a:buAutoNum type="arabicPeriod"/>
            </a:pPr>
            <a:r>
              <a:rPr sz="1400" b="1" i="0">
                <a:solidFill>
                  <a:srgbClr val="323139"/>
                </a:solidFill>
                <a:latin typeface="Segoe UI"/>
              </a:rPr>
              <a:t>Brief</a:t>
            </a:r>
            <a:r>
              <a:rPr sz="1400" b="0" i="0">
                <a:solidFill>
                  <a:srgbClr val="323139"/>
                </a:solidFill>
                <a:latin typeface="Segoe UI"/>
              </a:rPr>
              <a:t> → Daily Briefing for today</a:t>
            </a:r>
          </a:p>
          <a:p>
            <a:pPr algn="l" marL="237744" indent="-237744">
              <a:lnSpc>
                <a:spcPct val="105000"/>
              </a:lnSpc>
              <a:spcAft>
                <a:spcPts val="1000"/>
              </a:spcAft>
              <a:buFont typeface="+mj-lt"/>
              <a:buAutoNum type="arabicPeriod"/>
            </a:pPr>
            <a:r>
              <a:rPr sz="1400" b="1" i="0">
                <a:solidFill>
                  <a:srgbClr val="323139"/>
                </a:solidFill>
                <a:latin typeface="Segoe UI"/>
              </a:rPr>
              <a:t>Share</a:t>
            </a:r>
            <a:r>
              <a:rPr sz="1400" b="0" i="0">
                <a:solidFill>
                  <a:srgbClr val="323139"/>
                </a:solidFill>
                <a:latin typeface="Segoe UI"/>
              </a:rPr>
              <a:t> → Optional: share / re-share your skill</a:t>
            </a:r>
          </a:p>
        </p:txBody>
      </p:sp>
      <p:sp>
        <p:nvSpPr>
          <p:cNvPr id="61" name="Rounded Rectangle 60">
            <a:extLst>
              <a:ext uri="{C183D7F6-B498-43B3-948B-1728B52AA6E4}">
                <ns4:decorative xmlns:ns4="http://schemas.microsoft.com/office/drawing/2017/decorative" val="1"/>
              </a:ext>
            </a:extLst>
          </p:cNvPr>
          <p:cNvSpPr/>
          <p:nvPr/>
        </p:nvSpPr>
        <p:spPr>
          <a:xfrm>
            <a:off x="7726679" y="5166359"/>
            <a:ext cx="4023360" cy="1051560"/>
          </a:xfrm>
          <a:prstGeom prst="roundRect">
            <a:avLst>
              <a:gd name="adj" fmla="val 10000"/>
            </a:avLst>
          </a:prstGeom>
          <a:solidFill>
            <a:srgbClr val="FFFC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909559" y="5166359"/>
            <a:ext cx="3657600" cy="1051560"/>
          </a:xfrm>
          <a:prstGeom prst="rect">
            <a:avLst/>
          </a:prstGeom>
          <a:noFill/>
        </p:spPr>
        <p:txBody>
          <a:bodyPr wrap="square" anchor="ctr" lIns="0" rIns="0" tIns="0" bIns="0">
            <a:spAutoFit/>
          </a:bodyPr>
          <a:lstStyle/>
          <a:p>
            <a:pPr algn="l">
              <a:lnSpc>
                <a:spcPct val="103000"/>
              </a:lnSpc>
              <a:spcAft>
                <a:spcPts val="400"/>
              </a:spcAft>
            </a:pPr>
            <a:r>
              <a:rPr sz="1200" b="1" i="0">
                <a:solidFill>
                  <a:srgbClr val="323139"/>
                </a:solidFill>
                <a:latin typeface="Segoe Sans Display"/>
              </a:rPr>
              <a:t>Next:</a:t>
            </a:r>
            <a:r>
              <a:rPr sz="1200" b="0" i="0">
                <a:solidFill>
                  <a:srgbClr val="323139"/>
                </a:solidFill>
                <a:latin typeface="Segoe Sans Display"/>
              </a:rPr>
              <a:t> your turn on the hands-on slide (15 min).</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96.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Automate &amp; Share</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06</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15 min</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Automations → Create:</a:t>
            </a:r>
            <a:r>
              <a:rPr sz="1500" b="0" i="0">
                <a:solidFill>
                  <a:srgbClr val="323139"/>
                </a:solidFill>
                <a:latin typeface="Segoe UI"/>
              </a:rPr>
              <a:t> paste the digest prompt — it names the exact file and folder.</a:t>
            </a:r>
          </a:p>
          <a:p>
            <a:pPr algn="l" marL="237744" indent="-237744">
              <a:lnSpc>
                <a:spcPct val="105000"/>
              </a:lnSpc>
              <a:spcAft>
                <a:spcPts val="900"/>
              </a:spcAft>
              <a:buFont typeface="+mj-lt"/>
              <a:buAutoNum type="arabicPeriod"/>
            </a:pPr>
            <a:r>
              <a:rPr sz="1500" b="0" i="0">
                <a:solidFill>
                  <a:srgbClr val="323139"/>
                </a:solidFill>
                <a:latin typeface="Segoe UI"/>
              </a:rPr>
              <a:t>Choose </a:t>
            </a:r>
            <a:r>
              <a:rPr sz="1500" b="1" i="0">
                <a:solidFill>
                  <a:srgbClr val="323139"/>
                </a:solidFill>
                <a:latin typeface="Segoe UI"/>
              </a:rPr>
              <a:t>Activate and run now</a:t>
            </a:r>
            <a:r>
              <a:rPr sz="1500" b="0" i="0">
                <a:solidFill>
                  <a:srgbClr val="323139"/>
                </a:solidFill>
                <a:latin typeface="Segoe UI"/>
              </a:rPr>
              <a:t>, then check the </a:t>
            </a:r>
            <a:r>
              <a:rPr sz="1500" b="1" i="0">
                <a:solidFill>
                  <a:srgbClr val="323139"/>
                </a:solidFill>
                <a:latin typeface="Segoe UI"/>
              </a:rPr>
              <a:t>Runs</a:t>
            </a:r>
            <a:r>
              <a:rPr sz="1500" b="0" i="0">
                <a:solidFill>
                  <a:srgbClr val="323139"/>
                </a:solidFill>
                <a:latin typeface="Segoe UI"/>
              </a:rPr>
              <a:t> tab for today’s run.</a:t>
            </a:r>
          </a:p>
          <a:p>
            <a:pPr algn="l" marL="237744" indent="-237744">
              <a:lnSpc>
                <a:spcPct val="105000"/>
              </a:lnSpc>
              <a:spcAft>
                <a:spcPts val="900"/>
              </a:spcAft>
              <a:buFont typeface="+mj-lt"/>
              <a:buAutoNum type="arabicPeriod"/>
            </a:pPr>
            <a:r>
              <a:rPr sz="1500" b="1" i="0">
                <a:solidFill>
                  <a:srgbClr val="323139"/>
                </a:solidFill>
                <a:latin typeface="Segoe UI"/>
              </a:rPr>
              <a:t>New task:</a:t>
            </a:r>
            <a:r>
              <a:rPr sz="1500" b="0" i="0">
                <a:solidFill>
                  <a:srgbClr val="323139"/>
                </a:solidFill>
                <a:latin typeface="Segoe UI"/>
              </a:rPr>
              <a:t> ask for a Daily Briefing on your HR tasks and meetings.</a:t>
            </a:r>
          </a:p>
          <a:p>
            <a:pPr algn="l" marL="237744" indent="-237744">
              <a:lnSpc>
                <a:spcPct val="105000"/>
              </a:lnSpc>
              <a:spcAft>
                <a:spcPts val="900"/>
              </a:spcAft>
              <a:buFont typeface="+mj-lt"/>
              <a:buAutoNum type="arabicPeriod"/>
            </a:pPr>
            <a:r>
              <a:rPr sz="1500" b="1" i="0">
                <a:solidFill>
                  <a:srgbClr val="323139"/>
                </a:solidFill>
                <a:latin typeface="Segoe UI"/>
              </a:rPr>
              <a:t>Optional:</a:t>
            </a:r>
            <a:r>
              <a:rPr sz="1500" b="0" i="0">
                <a:solidFill>
                  <a:srgbClr val="323139"/>
                </a:solidFill>
                <a:latin typeface="Segoe UI"/>
              </a:rPr>
              <a:t> </a:t>
            </a:r>
            <a:r>
              <a:rPr sz="1500" b="1" i="0">
                <a:solidFill>
                  <a:srgbClr val="323139"/>
                </a:solidFill>
                <a:latin typeface="Segoe UI"/>
              </a:rPr>
              <a:t>Customize → Skills → HR Policy Answer → Share;</a:t>
            </a:r>
            <a:r>
              <a:rPr sz="1500" b="0" i="0">
                <a:solidFill>
                  <a:srgbClr val="323139"/>
                </a:solidFill>
                <a:latin typeface="Segoe UI"/>
              </a:rPr>
              <a:t> make an edit, then Re-share.</a:t>
            </a:r>
          </a:p>
        </p:txBody>
      </p:sp>
      <p:sp>
        <p:nvSpPr>
          <p:cNvPr id="55" name="Rounded Rectangle 54">
            <a:extLst>
              <a:ext uri="{C183D7F6-B498-43B3-948B-1728B52AA6E4}">
                <ns2:decorative xmlns:ns2="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3:decorative xmlns:ns3="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Which report do you rebuild every week that should become an automation?</a:t>
            </a:r>
          </a:p>
        </p:txBody>
      </p:sp>
      <p:sp>
        <p:nvSpPr>
          <p:cNvPr id="59" name="Rounded Rectangle 58">
            <a:extLst>
              <a:ext uri="{C183D7F6-B498-43B3-948B-1728B52AA6E4}">
                <ns4:decorative xmlns:ns4="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5:decorative xmlns:ns5="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Where to pause, edit, or delete a schedule</a:t>
            </a:r>
          </a:p>
          <a:p>
            <a:pPr algn="l" marL="182880" indent="-182880">
              <a:spcAft>
                <a:spcPts val="400"/>
              </a:spcAft>
              <a:buFont typeface="Arial"/>
              <a:buChar char="•"/>
            </a:pPr>
            <a:r>
              <a:rPr sz="1150" b="0" i="0">
                <a:solidFill>
                  <a:srgbClr val="323139"/>
                </a:solidFill>
                <a:latin typeface="Segoe UI"/>
              </a:rPr>
              <a:t>The </a:t>
            </a:r>
            <a:r>
              <a:rPr sz="1150" b="1" i="0">
                <a:solidFill>
                  <a:srgbClr val="323139"/>
                </a:solidFill>
                <a:latin typeface="Segoe UI"/>
              </a:rPr>
              <a:t>Daily Briefing</a:t>
            </a:r>
            <a:r>
              <a:rPr sz="1150" b="0" i="0">
                <a:solidFill>
                  <a:srgbClr val="323139"/>
                </a:solidFill>
                <a:latin typeface="Segoe UI"/>
              </a:rPr>
              <a:t> skill chip</a:t>
            </a:r>
          </a:p>
          <a:p>
            <a:pPr algn="l" marL="182880" indent="-182880">
              <a:spcAft>
                <a:spcPts val="400"/>
              </a:spcAft>
              <a:buFont typeface="Arial"/>
              <a:buChar char="•"/>
            </a:pPr>
            <a:r>
              <a:rPr sz="1150" b="0" i="0">
                <a:solidFill>
                  <a:srgbClr val="323139"/>
                </a:solidFill>
                <a:latin typeface="Segoe UI"/>
              </a:rPr>
              <a:t>Share etiquette: “Only you” or initialed names</a:t>
            </a:r>
          </a:p>
        </p:txBody>
      </p:sp>
      <p:sp>
        <p:nvSpPr>
          <p:cNvPr id="63" name="Rounded Rectangle 62">
            <a:extLst>
              <a:ext uri="{C183D7F6-B498-43B3-948B-1728B52AA6E4}">
                <ns6:decorative xmlns:ns6="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7:decorative xmlns:ns7="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An active weekly schedule with a completed run naming T-2008, and a Daily Briefing (plus the optional share / re-share).</a:t>
            </a:r>
          </a:p>
        </p:txBody>
      </p:sp>
      <p:sp>
        <p:nvSpPr>
          <p:cNvPr id="67" name="Rounded Rectangle 66">
            <a:extLst>
              <a:ext uri="{C183D7F6-B498-43B3-948B-1728B52AA6E4}">
                <ns8:decorative xmlns:ns8="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200"/>
              </a:spcAft>
            </a:pPr>
            <a:r>
              <a:rPr sz="1100" b="1" i="0">
                <a:solidFill>
                  <a:srgbClr val="323139"/>
                </a:solidFill>
                <a:latin typeface="Segoe Sans Display Semibold"/>
              </a:rPr>
              <a:t>Stretch: </a:t>
            </a:r>
            <a:r>
              <a:rPr sz="1100" b="0" i="0">
                <a:solidFill>
                  <a:srgbClr val="323139"/>
                </a:solidFill>
                <a:latin typeface="Segoe Sans Display"/>
              </a:rPr>
              <a:t>Send the Monday digest as an email draft to your manager instead of a report.</a:t>
            </a:r>
          </a:p>
          <a:p>
            <a:pPr algn="l">
              <a:lnSpc>
                <a:spcPct val="103000"/>
              </a:lnSpc>
              <a:spcAft>
                <a:spcPts val="400"/>
              </a:spcAft>
            </a:pPr>
            <a:r>
              <a:rPr sz="1000" b="0" i="0">
                <a:solidFill>
                  <a:srgbClr val="616161"/>
                </a:solidFill>
                <a:latin typeface="Segoe Sans Display"/>
              </a:rPr>
              <a:t>Full prompt: </a:t>
            </a:r>
            <a:r>
              <a:rPr sz="1000" b="1" i="0">
                <a:solidFill>
                  <a:srgbClr val="0F6CBD"/>
                </a:solidFill>
                <a:latin typeface="Segoe Sans Display"/>
                <a:hlinkClick r:id="rId7">
                  <a:extLst>
                    <a:ext uri="{A12FA001-AC4F-418D-AE19-62706E023703}">
                      <ahyp:hlinkClr xmlns:ahyp="http://schemas.microsoft.com/office/drawing/2018/hyperlinkcolor" val="tx"/>
                    </a:ext>
                  </a:extLst>
                </a:hlinkClick>
              </a:rPr>
              <a:t>participant workbook, Exercise 6</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97.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 name="TextBox 1"/>
          <p:cNvSpPr txBox="1"/>
          <p:nvPr/>
        </p:nvSpPr>
        <p:spPr>
          <a:xfrm>
            <a:off x="868680" y="1325880"/>
            <a:ext cx="2743200" cy="365760"/>
          </a:xfrm>
          <a:prstGeom prst="rect">
            <a:avLst/>
          </a:prstGeom>
          <a:noFill/>
        </p:spPr>
        <p:txBody>
          <a:bodyPr wrap="square" anchor="t" lIns="0" rIns="0" tIns="0" bIns="0">
            <a:spAutoFit/>
          </a:bodyPr>
          <a:lstStyle/>
          <a:p>
            <a:pPr algn="l">
              <a:spcAft>
                <a:spcPts val="400"/>
              </a:spcAft>
            </a:pPr>
            <a:r>
              <a:rPr sz="1600" b="0" i="0">
                <a:solidFill>
                  <a:srgbClr val="616161"/>
                </a:solidFill>
                <a:latin typeface="Segoe Sans Display Semibold"/>
              </a:rPr>
              <a:t>EXERCISE</a:t>
            </a:r>
          </a:p>
        </p:txBody>
      </p:sp>
      <p:sp>
        <p:nvSpPr>
          <p:cNvPr id="3" name="TextBox 2"/>
          <p:cNvSpPr txBox="1"/>
          <p:nvPr/>
        </p:nvSpPr>
        <p:spPr>
          <a:xfrm>
            <a:off x="777240" y="1645920"/>
            <a:ext cx="2926080" cy="1828800"/>
          </a:xfrm>
          <a:prstGeom prst="rect">
            <a:avLst/>
          </a:prstGeom>
          <a:noFill/>
        </p:spPr>
        <p:txBody>
          <a:bodyPr wrap="square" anchor="t" lIns="0" rIns="0" tIns="0" bIns="0">
            <a:spAutoFit/>
          </a:bodyPr>
          <a:lstStyle/>
          <a:p>
            <a:pPr algn="l">
              <a:spcAft>
                <a:spcPts val="400"/>
              </a:spcAft>
            </a:pPr>
            <a:r>
              <a:rPr sz="12000" b="1" i="0">
                <a:solidFill>
                  <a:srgbClr val="8064A2"/>
                </a:solidFill>
                <a:latin typeface="Segoe Sans Display"/>
              </a:rPr>
              <a:t>07</a:t>
            </a:r>
          </a:p>
        </p:txBody>
      </p:sp>
      <p:sp>
        <p:nvSpPr>
          <p:cNvPr id="4" name="Rounded Rectangle 3">
            <a:extLst>
              <a:ext uri="{C183D7F6-B498-43B3-948B-1728B52AA6E4}">
                <ns0:decorative xmlns:ns0="http://schemas.microsoft.com/office/drawing/2017/decorative" val="1"/>
              </a:ext>
            </a:extLst>
          </p:cNvPr>
          <p:cNvSpPr/>
          <p:nvPr/>
        </p:nvSpPr>
        <p:spPr>
          <a:xfrm>
            <a:off x="3749039" y="566928"/>
            <a:ext cx="7863840" cy="530352"/>
          </a:xfrm>
          <a:prstGeom prst="roundRect">
            <a:avLst>
              <a:gd name="adj" fmla="val 50000"/>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3749039" y="566928"/>
            <a:ext cx="7863840" cy="530352"/>
          </a:xfrm>
          <a:prstGeom prst="rect">
            <a:avLst/>
          </a:prstGeom>
          <a:noFill/>
        </p:spPr>
        <p:txBody>
          <a:bodyPr wrap="square" anchor="ctr" lIns="0" rIns="0" tIns="0" bIns="0">
            <a:spAutoFit/>
          </a:bodyPr>
          <a:lstStyle/>
          <a:p>
            <a:pPr algn="ctr">
              <a:spcAft>
                <a:spcPts val="400"/>
              </a:spcAft>
            </a:pPr>
            <a:r>
              <a:rPr sz="1300" b="0" i="0">
                <a:solidFill>
                  <a:srgbClr val="FFFFFF"/>
                </a:solidFill>
                <a:latin typeface="Segoe Sans Display Semibold"/>
              </a:rPr>
              <a:t>⚠  Not Cowork · this exercise uses Copilot Agent Builder (Microsoft 365 Copilot → Create agent)</a:t>
            </a:r>
          </a:p>
        </p:txBody>
      </p:sp>
      <p:sp>
        <p:nvSpPr>
          <p:cNvPr id="6" name="TextBox 5"/>
          <p:cNvSpPr txBox="1"/>
          <p:nvPr/>
        </p:nvSpPr>
        <p:spPr>
          <a:xfrm>
            <a:off x="3749039" y="1417320"/>
            <a:ext cx="5440680" cy="1508760"/>
          </a:xfrm>
          <a:prstGeom prst="rect">
            <a:avLst/>
          </a:prstGeom>
          <a:noFill/>
        </p:spPr>
        <p:txBody>
          <a:bodyPr wrap="square" anchor="b" lIns="0" rIns="0" tIns="0" bIns="0">
            <a:spAutoFit/>
          </a:bodyPr>
          <a:lstStyle/>
          <a:p>
            <a:pPr algn="l">
              <a:lnSpc>
                <a:spcPct val="95000"/>
              </a:lnSpc>
              <a:spcAft>
                <a:spcPts val="400"/>
              </a:spcAft>
            </a:pPr>
            <a:r>
              <a:rPr sz="3200" b="0" i="0">
                <a:solidFill>
                  <a:srgbClr val="323139"/>
                </a:solidFill>
                <a:latin typeface="Segoe Sans Display"/>
              </a:rPr>
              <a:t>HR Policy Agent with Agent Builder</a:t>
            </a:r>
          </a:p>
        </p:txBody>
      </p:sp>
      <p:sp>
        <p:nvSpPr>
          <p:cNvPr id="7" name="TextBox 6"/>
          <p:cNvSpPr txBox="1"/>
          <p:nvPr/>
        </p:nvSpPr>
        <p:spPr>
          <a:xfrm>
            <a:off x="3749039" y="3017520"/>
            <a:ext cx="5440680" cy="1005840"/>
          </a:xfrm>
          <a:prstGeom prst="rect">
            <a:avLst/>
          </a:prstGeom>
          <a:noFill/>
        </p:spPr>
        <p:txBody>
          <a:bodyPr wrap="square" anchor="t" lIns="0" rIns="0" tIns="0" bIns="0">
            <a:spAutoFit/>
          </a:bodyPr>
          <a:lstStyle/>
          <a:p>
            <a:pPr algn="l">
              <a:lnSpc>
                <a:spcPct val="105000"/>
              </a:lnSpc>
              <a:spcAft>
                <a:spcPts val="400"/>
              </a:spcAft>
            </a:pPr>
            <a:r>
              <a:rPr sz="1600" b="0" i="0">
                <a:solidFill>
                  <a:srgbClr val="616161"/>
                </a:solidFill>
                <a:latin typeface="Segoe Sans Display"/>
              </a:rPr>
              <a:t>Stand up a reusable Q&amp;A agent employees can chat with to get sourced policy answers.</a:t>
            </a:r>
          </a:p>
        </p:txBody>
      </p:sp>
      <p:sp>
        <p:nvSpPr>
          <p:cNvPr id="8" name="Oval 7">
            <a:extLst>
              <a:ext uri="{C183D7F6-B498-43B3-948B-1728B52AA6E4}">
                <ns1:decorative xmlns:ns1="http://schemas.microsoft.com/office/drawing/2017/decorative" val="1"/>
              </a:ext>
            </a:extLst>
          </p:cNvPr>
          <p:cNvSpPr/>
          <p:nvPr/>
        </p:nvSpPr>
        <p:spPr>
          <a:xfrm>
            <a:off x="9418320" y="1280160"/>
            <a:ext cx="2194560" cy="2194560"/>
          </a:xfrm>
          <a:prstGeom prst="ellipse">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Divider 7" descr="Illustration of a robot, for the HR Policy Agent"/>
          <p:cNvPicPr>
            <a:picLocks noChangeAspect="1"/>
          </p:cNvPicPr>
          <p:nvPr/>
        </p:nvPicPr>
        <p:blipFill>
          <a:blip r:embed="rId7"/>
          <a:stretch>
            <a:fillRect/>
          </a:stretch>
        </p:blipFill>
        <p:spPr>
          <a:xfrm>
            <a:off x="9784080" y="1645920"/>
            <a:ext cx="1463040" cy="1463040"/>
          </a:xfrm>
          <a:prstGeom prst="rect">
            <a:avLst/>
          </a:prstGeom>
        </p:spPr>
      </p:pic>
      <p:sp>
        <p:nvSpPr>
          <p:cNvPr id="10" name="Rounded Rectangle 9">
            <a:extLst>
              <a:ext uri="{C183D7F6-B498-43B3-948B-1728B52AA6E4}">
                <ns2:decorative xmlns:ns2="http://schemas.microsoft.com/office/drawing/2017/decorative" val="1"/>
              </a:ext>
            </a:extLst>
          </p:cNvPr>
          <p:cNvSpPr/>
          <p:nvPr/>
        </p:nvSpPr>
        <p:spPr>
          <a:xfrm>
            <a:off x="3749039" y="4069080"/>
            <a:ext cx="2286000"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749039" y="4069080"/>
            <a:ext cx="2286000"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15 min  ·  2:00–2:15</a:t>
            </a:r>
          </a:p>
        </p:txBody>
      </p:sp>
      <p:sp>
        <p:nvSpPr>
          <p:cNvPr id="12" name="Rounded Rectangle 11">
            <a:extLst>
              <a:ext uri="{C183D7F6-B498-43B3-948B-1728B52AA6E4}">
                <ns3:decorative xmlns:ns3="http://schemas.microsoft.com/office/drawing/2017/decorative" val="1"/>
              </a:ext>
            </a:extLst>
          </p:cNvPr>
          <p:cNvSpPr/>
          <p:nvPr/>
        </p:nvSpPr>
        <p:spPr>
          <a:xfrm>
            <a:off x="6217920" y="4069080"/>
            <a:ext cx="1613916"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17920" y="4069080"/>
            <a:ext cx="1613916"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Agent Builder</a:t>
            </a:r>
          </a:p>
        </p:txBody>
      </p:sp>
      <p:sp>
        <p:nvSpPr>
          <p:cNvPr id="14" name="Oval 13">
            <a:extLst>
              <a:ext uri="{C183D7F6-B498-43B3-948B-1728B52AA6E4}">
                <ns4:decorative xmlns:ns4="http://schemas.microsoft.com/office/drawing/2017/decorative" val="1"/>
              </a:ext>
            </a:extLst>
          </p:cNvPr>
          <p:cNvSpPr/>
          <p:nvPr/>
        </p:nvSpPr>
        <p:spPr>
          <a:xfrm>
            <a:off x="2895447"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895447"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a:t>
            </a:r>
          </a:p>
        </p:txBody>
      </p:sp>
      <p:sp>
        <p:nvSpPr>
          <p:cNvPr id="16" name="Rectangle 15">
            <a:extLst>
              <a:ext uri="{C183D7F6-B498-43B3-948B-1728B52AA6E4}">
                <ns5:decorative xmlns:ns5="http://schemas.microsoft.com/office/drawing/2017/decorative" val="1"/>
              </a:ext>
            </a:extLst>
          </p:cNvPr>
          <p:cNvSpPr/>
          <p:nvPr/>
        </p:nvSpPr>
        <p:spPr>
          <a:xfrm>
            <a:off x="345323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a:extLst>
              <a:ext uri="{C183D7F6-B498-43B3-948B-1728B52AA6E4}">
                <ns6:decorative xmlns:ns6="http://schemas.microsoft.com/office/drawing/2017/decorative" val="1"/>
              </a:ext>
            </a:extLst>
          </p:cNvPr>
          <p:cNvSpPr/>
          <p:nvPr/>
        </p:nvSpPr>
        <p:spPr>
          <a:xfrm>
            <a:off x="3736695"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736695"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2</a:t>
            </a:r>
          </a:p>
        </p:txBody>
      </p:sp>
      <p:sp>
        <p:nvSpPr>
          <p:cNvPr id="19" name="Rectangle 18">
            <a:extLst>
              <a:ext uri="{C183D7F6-B498-43B3-948B-1728B52AA6E4}">
                <ns7:decorative xmlns:ns7="http://schemas.microsoft.com/office/drawing/2017/decorative" val="1"/>
              </a:ext>
            </a:extLst>
          </p:cNvPr>
          <p:cNvSpPr/>
          <p:nvPr/>
        </p:nvSpPr>
        <p:spPr>
          <a:xfrm>
            <a:off x="429447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a:extLst>
              <a:ext uri="{C183D7F6-B498-43B3-948B-1728B52AA6E4}">
                <ns8:decorative xmlns:ns8="http://schemas.microsoft.com/office/drawing/2017/decorative" val="1"/>
              </a:ext>
            </a:extLst>
          </p:cNvPr>
          <p:cNvSpPr/>
          <p:nvPr/>
        </p:nvSpPr>
        <p:spPr>
          <a:xfrm>
            <a:off x="4577943"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77943"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3</a:t>
            </a:r>
          </a:p>
        </p:txBody>
      </p:sp>
      <p:sp>
        <p:nvSpPr>
          <p:cNvPr id="22" name="Rectangle 21">
            <a:extLst>
              <a:ext uri="{C183D7F6-B498-43B3-948B-1728B52AA6E4}">
                <ns9:decorative xmlns:ns9="http://schemas.microsoft.com/office/drawing/2017/decorative" val="1"/>
              </a:ext>
            </a:extLst>
          </p:cNvPr>
          <p:cNvSpPr/>
          <p:nvPr/>
        </p:nvSpPr>
        <p:spPr>
          <a:xfrm>
            <a:off x="5135727"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a:extLst>
              <a:ext uri="{C183D7F6-B498-43B3-948B-1728B52AA6E4}">
                <ns10:decorative xmlns:ns10="http://schemas.microsoft.com/office/drawing/2017/decorative" val="1"/>
              </a:ext>
            </a:extLst>
          </p:cNvPr>
          <p:cNvSpPr/>
          <p:nvPr/>
        </p:nvSpPr>
        <p:spPr>
          <a:xfrm>
            <a:off x="5419191"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19191"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4</a:t>
            </a:r>
          </a:p>
        </p:txBody>
      </p:sp>
      <p:sp>
        <p:nvSpPr>
          <p:cNvPr id="25" name="Rectangle 24">
            <a:extLst>
              <a:ext uri="{C183D7F6-B498-43B3-948B-1728B52AA6E4}">
                <ns11:decorative xmlns:ns11="http://schemas.microsoft.com/office/drawing/2017/decorative" val="1"/>
              </a:ext>
            </a:extLst>
          </p:cNvPr>
          <p:cNvSpPr/>
          <p:nvPr/>
        </p:nvSpPr>
        <p:spPr>
          <a:xfrm>
            <a:off x="5976975"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a:extLst>
              <a:ext uri="{C183D7F6-B498-43B3-948B-1728B52AA6E4}">
                <ns12:decorative xmlns:ns12="http://schemas.microsoft.com/office/drawing/2017/decorative" val="1"/>
              </a:ext>
            </a:extLst>
          </p:cNvPr>
          <p:cNvSpPr/>
          <p:nvPr/>
        </p:nvSpPr>
        <p:spPr>
          <a:xfrm>
            <a:off x="6260439"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60439"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5</a:t>
            </a:r>
          </a:p>
        </p:txBody>
      </p:sp>
      <p:sp>
        <p:nvSpPr>
          <p:cNvPr id="28" name="Rectangle 27">
            <a:extLst>
              <a:ext uri="{C183D7F6-B498-43B3-948B-1728B52AA6E4}">
                <ns13:decorative xmlns:ns13="http://schemas.microsoft.com/office/drawing/2017/decorative" val="1"/>
              </a:ext>
            </a:extLst>
          </p:cNvPr>
          <p:cNvSpPr/>
          <p:nvPr/>
        </p:nvSpPr>
        <p:spPr>
          <a:xfrm>
            <a:off x="6818223"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a:extLst>
              <a:ext uri="{C183D7F6-B498-43B3-948B-1728B52AA6E4}">
                <ns14:decorative xmlns:ns14="http://schemas.microsoft.com/office/drawing/2017/decorative" val="1"/>
              </a:ext>
            </a:extLst>
          </p:cNvPr>
          <p:cNvSpPr/>
          <p:nvPr/>
        </p:nvSpPr>
        <p:spPr>
          <a:xfrm>
            <a:off x="7101687"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101687"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6</a:t>
            </a:r>
          </a:p>
        </p:txBody>
      </p:sp>
      <p:sp>
        <p:nvSpPr>
          <p:cNvPr id="31" name="Rectangle 30">
            <a:extLst>
              <a:ext uri="{C183D7F6-B498-43B3-948B-1728B52AA6E4}">
                <ns15:decorative xmlns:ns15="http://schemas.microsoft.com/office/drawing/2017/decorative" val="1"/>
              </a:ext>
            </a:extLst>
          </p:cNvPr>
          <p:cNvSpPr/>
          <p:nvPr/>
        </p:nvSpPr>
        <p:spPr>
          <a:xfrm>
            <a:off x="765947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a:extLst>
              <a:ext uri="{C183D7F6-B498-43B3-948B-1728B52AA6E4}">
                <ns16:decorative xmlns:ns16="http://schemas.microsoft.com/office/drawing/2017/decorative" val="1"/>
              </a:ext>
            </a:extLst>
          </p:cNvPr>
          <p:cNvSpPr/>
          <p:nvPr/>
        </p:nvSpPr>
        <p:spPr>
          <a:xfrm>
            <a:off x="7942935" y="5257800"/>
            <a:ext cx="512064" cy="512064"/>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942935" y="5257800"/>
            <a:ext cx="512064" cy="512064"/>
          </a:xfrm>
          <a:prstGeom prst="rect">
            <a:avLst/>
          </a:prstGeom>
          <a:noFill/>
        </p:spPr>
        <p:txBody>
          <a:bodyPr wrap="square" anchor="ctr" lIns="0" rIns="0" tIns="0" bIns="0">
            <a:spAutoFit/>
          </a:bodyPr>
          <a:lstStyle/>
          <a:p>
            <a:pPr algn="ctr">
              <a:spcAft>
                <a:spcPts val="400"/>
              </a:spcAft>
            </a:pPr>
            <a:r>
              <a:rPr sz="1400" b="1" i="0">
                <a:solidFill>
                  <a:srgbClr val="FFFFFF"/>
                </a:solidFill>
                <a:latin typeface="Segoe Sans Display Semibold"/>
              </a:rPr>
              <a:t>7</a:t>
            </a:r>
          </a:p>
        </p:txBody>
      </p:sp>
      <p:sp>
        <p:nvSpPr>
          <p:cNvPr id="34" name="Rectangle 33">
            <a:extLst>
              <a:ext uri="{C183D7F6-B498-43B3-948B-1728B52AA6E4}">
                <ns17:decorative xmlns:ns17="http://schemas.microsoft.com/office/drawing/2017/decorative" val="1"/>
              </a:ext>
            </a:extLst>
          </p:cNvPr>
          <p:cNvSpPr/>
          <p:nvPr/>
        </p:nvSpPr>
        <p:spPr>
          <a:xfrm>
            <a:off x="850071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a:extLst>
              <a:ext uri="{C183D7F6-B498-43B3-948B-1728B52AA6E4}">
                <ns18:decorative xmlns:ns18="http://schemas.microsoft.com/office/drawing/2017/decorative" val="1"/>
              </a:ext>
            </a:extLst>
          </p:cNvPr>
          <p:cNvSpPr/>
          <p:nvPr/>
        </p:nvSpPr>
        <p:spPr>
          <a:xfrm>
            <a:off x="8784183" y="5257800"/>
            <a:ext cx="512064" cy="512064"/>
          </a:xfrm>
          <a:prstGeom prst="ellipse">
            <a:avLst/>
          </a:prstGeom>
          <a:solidFill>
            <a:srgbClr val="FFFFFF"/>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784183" y="5257800"/>
            <a:ext cx="512064" cy="512064"/>
          </a:xfrm>
          <a:prstGeom prst="rect">
            <a:avLst/>
          </a:prstGeom>
          <a:noFill/>
        </p:spPr>
        <p:txBody>
          <a:bodyPr wrap="square" anchor="ctr" lIns="0" rIns="0" tIns="0" bIns="0">
            <a:spAutoFit/>
          </a:bodyPr>
          <a:lstStyle/>
          <a:p>
            <a:pPr algn="ctr">
              <a:spcAft>
                <a:spcPts val="400"/>
              </a:spcAft>
            </a:pPr>
            <a:r>
              <a:rPr sz="1400" b="0" i="0">
                <a:solidFill>
                  <a:srgbClr val="616161"/>
                </a:solidFill>
                <a:latin typeface="Segoe Sans Display Semibold"/>
              </a:rPr>
              <a:t>8</a:t>
            </a:r>
          </a:p>
        </p:txBody>
      </p:sp>
      <p:sp>
        <p:nvSpPr>
          <p:cNvPr id="37" name="TextBox 36"/>
          <p:cNvSpPr txBox="1"/>
          <p:nvPr/>
        </p:nvSpPr>
        <p:spPr>
          <a:xfrm>
            <a:off x="457200" y="5897880"/>
            <a:ext cx="11274552" cy="320040"/>
          </a:xfrm>
          <a:prstGeom prst="rect">
            <a:avLst/>
          </a:prstGeom>
          <a:noFill/>
        </p:spPr>
        <p:txBody>
          <a:bodyPr wrap="square" anchor="t" lIns="0" rIns="0" tIns="0" bIns="0">
            <a:spAutoFit/>
          </a:bodyPr>
          <a:lstStyle/>
          <a:p>
            <a:pPr algn="ctr">
              <a:spcAft>
                <a:spcPts val="400"/>
              </a:spcAft>
            </a:pPr>
            <a:r>
              <a:rPr sz="1200" b="0" i="0">
                <a:solidFill>
                  <a:srgbClr val="616161"/>
                </a:solidFill>
                <a:latin typeface="Segoe UI"/>
              </a:rPr>
              <a:t>Exercise 7 of 8</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98.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HR Policy Agent with Agent Builder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07</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Stand up a reusable Q&amp;A agent employees can chat with to get sourced policy answers.</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 working “HR Policy Agent” in Microsoft 365 Copilot, grounded in Zava’s HR documents, that cites sources and declines out-of-scope questions.</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Agent Builder</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Agent Builder?: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A Cowork skill helps you in your own tasks. An agent is a standalone helper other people use directly in Copilot — built with no code via Describe → Configure → Try it, then shared or published.</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Describe</a:t>
              </a:r>
              <a:r>
                <a:rPr lang="en-US" sz="1100">
                  <a:solidFill>
                    <a:prstClr val="black"/>
                  </a:solidFill>
                  <a:latin typeface="Segoe Sans Display" pitchFamily="2" charset="0"/>
                  <a:cs typeface="Segoe Sans Display" pitchFamily="2" charset="0"/>
                </a:rPr>
                <a:t> → Define the agent in plain language</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Configure</a:t>
              </a:r>
              <a:r>
                <a:rPr lang="en-US" sz="1100">
                  <a:solidFill>
                    <a:prstClr val="black"/>
                  </a:solidFill>
                  <a:latin typeface="Segoe Sans Display" pitchFamily="2" charset="0"/>
                  <a:cs typeface="Segoe Sans Display" pitchFamily="2" charset="0"/>
                </a:rPr>
                <a:t> → Name, instructions, knowledge, prompts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Try it</a:t>
              </a:r>
              <a:r>
                <a:rPr lang="en-US" sz="1100">
                  <a:solidFill>
                    <a:prstClr val="black"/>
                  </a:solidFill>
                  <a:latin typeface="Segoe Sans Display" pitchFamily="2" charset="0"/>
                  <a:cs typeface="Segoe Sans Display" pitchFamily="2" charset="0"/>
                </a:rPr>
                <a:t> → Test in-scope and out-of-scope</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Share</a:t>
              </a:r>
              <a:r>
                <a:rPr lang="en-US" sz="1100">
                  <a:solidFill>
                    <a:prstClr val="black"/>
                  </a:solidFill>
                  <a:latin typeface="Segoe Sans Display" pitchFamily="2" charset="0"/>
                  <a:cs typeface="Segoe Sans Display" pitchFamily="2" charset="0"/>
                </a:rPr>
                <a:t> → Share or publish (optional)</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Describe tab</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Create an HR Policy Agent that answers Zava employees’ questions about Zava’s policies and benefits — PTO, remote/hybrid work, benefits enrollment, overtime, and the code of conduct</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 </a:t>
            </a:r>
            <a:r>
              <a:rPr kumimoji="0" lang="en-US" sz="115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using only Zava’s HR documents</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in a warm, professional tone. Always cite the source document and remind the reader that HR should confirm.</a:t>
            </a: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115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Politely decline questions about individual pay, performance, legal, or medical matters and redirect them to HR.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Configure tab</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Name: HR Policy Agent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Knowledge: employee-handbook-excerpt.docx and benefits-summary.docx (upload, or pick from OneDrive)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Only use specified sources: On · Search all websites: Off</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Suggested prompts: “How much PTO do I get at Zava?” · “When is Zava’s open enrollment?” · “What are Zava’s anchor office days?”</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7"/>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SharePoint</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912" name="Rounded Rectangle 911">
            <a:extLst>
              <a:ext uri="{C183D7F6-B498-43B3-948B-1728B52AA6E4}">
                <ns0:decorative xmlns:ns0="http://schemas.microsoft.com/office/drawing/2017/decorative" val="1"/>
              </a:ext>
            </a:extLst>
          </p:cNvPr>
          <p:cNvSpPr/>
          <p:nvPr/>
        </p:nvSpPr>
        <p:spPr>
          <a:xfrm>
            <a:off x="8001000" y="3639312"/>
            <a:ext cx="3749039" cy="457200"/>
          </a:xfrm>
          <a:prstGeom prst="roundRect">
            <a:avLst>
              <a:gd name="adj" fmla="val 50000"/>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3" name="TextBox 912"/>
          <p:cNvSpPr txBox="1"/>
          <p:nvPr/>
        </p:nvSpPr>
        <p:spPr>
          <a:xfrm>
            <a:off x="8001000" y="3639312"/>
            <a:ext cx="3749039" cy="457200"/>
          </a:xfrm>
          <a:prstGeom prst="rect">
            <a:avLst/>
          </a:prstGeom>
          <a:noFill/>
        </p:spPr>
        <p:txBody>
          <a:bodyPr wrap="square" anchor="ctr" lIns="0" rIns="0" tIns="0" bIns="0">
            <a:spAutoFit/>
          </a:bodyPr>
          <a:lstStyle/>
          <a:p>
            <a:pPr algn="ctr">
              <a:spcAft>
                <a:spcPts val="400"/>
              </a:spcAft>
            </a:pPr>
            <a:r>
              <a:rPr sz="1300" b="1" i="0">
                <a:solidFill>
                  <a:srgbClr val="FFFFFF"/>
                </a:solidFill>
                <a:latin typeface="Segoe Sans Display Semibold"/>
              </a:rPr>
              <a:t>⚠  Not Cowork · </a:t>
            </a:r>
            <a:r>
              <a:rPr sz="1300" b="0" i="0">
                <a:solidFill>
                  <a:srgbClr val="FFFFFF"/>
                </a:solidFill>
                <a:latin typeface="Segoe Sans Display"/>
              </a:rPr>
              <a:t>this one is Copilot Agent Builder</a:t>
            </a:r>
          </a:p>
        </p:txBody>
      </p:sp>
      <p:sp>
        <p:nvSpPr>
          <p:cNvPr id="914" name="Rounded Rectangle 913">
            <a:extLst>
              <a:ext uri="{C183D7F6-B498-43B3-948B-1728B52AA6E4}">
                <ns1:decorative xmlns:ns1="http://schemas.microsoft.com/office/drawing/2017/decorative" val="1"/>
              </a:ext>
            </a:extLst>
          </p:cNvPr>
          <p:cNvSpPr/>
          <p:nvPr/>
        </p:nvSpPr>
        <p:spPr>
          <a:xfrm>
            <a:off x="7754112" y="5230368"/>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5" name="TextBox 914"/>
          <p:cNvSpPr txBox="1"/>
          <p:nvPr/>
        </p:nvSpPr>
        <p:spPr>
          <a:xfrm>
            <a:off x="7754112" y="5230368"/>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Prompt key</a:t>
            </a:r>
          </a:p>
        </p:txBody>
      </p:sp>
      <p:pic>
        <p:nvPicPr>
          <p:cNvPr id="916" name="Picture 915" descr="Prompt key: Goal (blue) is the outcome, for whom, and why; Source (green) is the files, sites, or data to use; Expectations (orange) describe what good looks like; Constraints (purple) say what Cowork must not do."/>
          <p:cNvPicPr>
            <a:picLocks noChangeAspect="1"/>
          </p:cNvPicPr>
          <p:nvPr/>
        </p:nvPicPr>
        <p:blipFill>
          <a:blip r:embed="rId6"/>
          <a:stretch>
            <a:fillRect/>
          </a:stretch>
        </p:blipFill>
        <p:spPr>
          <a:xfrm>
            <a:off x="7726680" y="5577840"/>
            <a:ext cx="4224528" cy="940756"/>
          </a:xfrm>
          <a:prstGeom prst="rect">
            <a:avLst/>
          </a:prstGeom>
        </p:spPr>
      </p:pic>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99.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Demo · HR Policy Agent</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07</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Video</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3754755"/>
          </a:xfrm>
          <a:prstGeom prst="roundRect">
            <a:avLst>
              <a:gd name="adj" fmla="val 3000"/>
            </a:avLst>
          </a:prstGeom>
          <a:solidFill>
            <a:srgbClr val="FFF9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Demo video</a:t>
            </a:r>
          </a:p>
        </p:txBody>
      </p:sp>
      <p:sp>
        <p:nvSpPr>
          <p:cNvPr id="54" name="TextBox 53"/>
          <p:cNvSpPr txBox="1"/>
          <p:nvPr/>
        </p:nvSpPr>
        <p:spPr>
          <a:xfrm>
            <a:off x="694944" y="4257675"/>
            <a:ext cx="6126480" cy="548640"/>
          </a:xfrm>
          <a:prstGeom prst="rect">
            <a:avLst/>
          </a:prstGeom>
          <a:noFill/>
        </p:spPr>
        <p:txBody>
          <a:bodyPr wrap="square" anchor="b" lIns="0" rIns="0" tIns="0" bIns="0">
            <a:spAutoFit/>
          </a:bodyPr>
          <a:lstStyle/>
          <a:p>
            <a:pPr algn="ctr">
              <a:spcAft>
                <a:spcPts val="400"/>
              </a:spcAft>
            </a:pPr>
            <a:r>
              <a:rPr sz="1300" b="1" i="0">
                <a:solidFill>
                  <a:srgbClr val="8064A2"/>
                </a:solidFill>
                <a:latin typeface="Segoe Sans Display Semibold"/>
              </a:rPr>
              <a:t>Recorded run: Exercise 7, HR Policy Agent with Agent Builder</a:t>
            </a:r>
          </a:p>
          <a:p>
            <a:pPr algn="ctr">
              <a:spcAft>
                <a:spcPts val="400"/>
              </a:spcAft>
            </a:pPr>
            <a:r>
              <a:rPr sz="1000" b="0" i="0">
                <a:solidFill>
                  <a:srgbClr val="616161"/>
                </a:solidFill>
                <a:latin typeface="Segoe UI"/>
              </a:rPr>
              <a:t>Facilitator: insert your recording here (see notes)</a:t>
            </a:r>
          </a:p>
        </p:txBody>
      </p:sp>
      <p:sp>
        <p:nvSpPr>
          <p:cNvPr id="55" name="Demo Video Placeholder" descr="Demo video: recorded run of Exercise 7, HR Policy Agent with Agent Builder"/>
          <p:cNvSpPr>
            <a:spLocks noGrp="1"/>
          </p:cNvSpPr>
          <p:nvPr>
            <p:ph type="media" sz="quarter" idx="155"/>
          </p:nvPr>
        </p:nvSpPr>
        <p:spPr>
          <a:xfrm>
            <a:off x="420624" y="1188720"/>
            <a:ext cx="6675120" cy="3754755"/>
          </a:xfrm>
          <a:prstGeom prst="rect">
            <a:avLst/>
          </a:prstGeom>
        </p:spPr>
        <p:txBody>
          <a:bodyPr anchor="ctr"/>
          <a:lstStyle/>
          <a:p>
            <a:pPr algn="ctr"/>
            <a:endParaRPr lang="en-US"/>
          </a:p>
        </p:txBody>
      </p:sp>
      <p:sp>
        <p:nvSpPr>
          <p:cNvPr id="56" name="Rounded Rectangle 55">
            <a:extLst>
              <a:ext uri="{C183D7F6-B498-43B3-948B-1728B52AA6E4}">
                <ns2:decorative xmlns:ns2="http://schemas.microsoft.com/office/drawing/2017/decorative" val="1"/>
              </a:ext>
            </a:extLst>
          </p:cNvPr>
          <p:cNvSpPr/>
          <p:nvPr/>
        </p:nvSpPr>
        <p:spPr>
          <a:xfrm>
            <a:off x="420624" y="5217795"/>
            <a:ext cx="6675120" cy="1228725"/>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5217795"/>
            <a:ext cx="6144768" cy="1228725"/>
          </a:xfrm>
          <a:prstGeom prst="rect">
            <a:avLst/>
          </a:prstGeom>
          <a:noFill/>
        </p:spPr>
        <p:txBody>
          <a:bodyPr wrap="square" anchor="ctr" lIns="0" rIns="0" tIns="0" bIns="0">
            <a:spAutoFit/>
          </a:bodyPr>
          <a:lstStyle/>
          <a:p>
            <a:pPr algn="l">
              <a:lnSpc>
                <a:spcPct val="103000"/>
              </a:lnSpc>
              <a:spcAft>
                <a:spcPts val="400"/>
              </a:spcAft>
            </a:pPr>
            <a:r>
              <a:rPr sz="1300" b="1" i="0">
                <a:solidFill>
                  <a:srgbClr val="FFFFFF"/>
                </a:solidFill>
                <a:latin typeface="Segoe Sans Display Semibold"/>
              </a:rPr>
              <a:t>Not Cowork. </a:t>
            </a:r>
            <a:r>
              <a:rPr sz="1300" b="0" i="0">
                <a:solidFill>
                  <a:srgbClr val="FFFFFF"/>
                </a:solidFill>
                <a:latin typeface="Segoe Sans Display"/>
              </a:rPr>
              <a:t>This demo runs in Copilot Agent Builder (Microsoft 365 Copilot → Create agent), not in a Cowork task.</a:t>
            </a:r>
          </a:p>
        </p:txBody>
      </p:sp>
      <p:sp>
        <p:nvSpPr>
          <p:cNvPr id="58" name="Rounded Rectangle 57">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Watch for in the demo</a:t>
            </a:r>
          </a:p>
        </p:txBody>
      </p:sp>
      <p:sp>
        <p:nvSpPr>
          <p:cNvPr id="60" name="TextBox 59"/>
          <p:cNvSpPr txBox="1"/>
          <p:nvPr/>
        </p:nvSpPr>
        <p:spPr>
          <a:xfrm>
            <a:off x="7772400" y="1737360"/>
            <a:ext cx="3931920" cy="3108960"/>
          </a:xfrm>
          <a:prstGeom prst="rect">
            <a:avLst/>
          </a:prstGeom>
          <a:noFill/>
        </p:spPr>
        <p:txBody>
          <a:bodyPr wrap="square" anchor="t" lIns="0" rIns="0" tIns="0" bIns="0">
            <a:spAutoFit/>
          </a:bodyPr>
          <a:lstStyle/>
          <a:p>
            <a:pPr algn="l" marL="237744" indent="-237744">
              <a:lnSpc>
                <a:spcPct val="105000"/>
              </a:lnSpc>
              <a:spcAft>
                <a:spcPts val="1000"/>
              </a:spcAft>
              <a:buFont typeface="+mj-lt"/>
              <a:buAutoNum type="arabicPeriod"/>
            </a:pPr>
            <a:r>
              <a:rPr sz="1400" b="1" i="0">
                <a:solidFill>
                  <a:srgbClr val="323139"/>
                </a:solidFill>
                <a:latin typeface="Segoe UI"/>
              </a:rPr>
              <a:t>Describe</a:t>
            </a:r>
            <a:r>
              <a:rPr sz="1400" b="0" i="0">
                <a:solidFill>
                  <a:srgbClr val="323139"/>
                </a:solidFill>
                <a:latin typeface="Segoe UI"/>
              </a:rPr>
              <a:t> → Define the agent in plain language</a:t>
            </a:r>
          </a:p>
          <a:p>
            <a:pPr algn="l" marL="237744" indent="-237744">
              <a:lnSpc>
                <a:spcPct val="105000"/>
              </a:lnSpc>
              <a:spcAft>
                <a:spcPts val="1000"/>
              </a:spcAft>
              <a:buFont typeface="+mj-lt"/>
              <a:buAutoNum type="arabicPeriod"/>
            </a:pPr>
            <a:r>
              <a:rPr sz="1400" b="1" i="0">
                <a:solidFill>
                  <a:srgbClr val="323139"/>
                </a:solidFill>
                <a:latin typeface="Segoe UI"/>
              </a:rPr>
              <a:t>Configure</a:t>
            </a:r>
            <a:r>
              <a:rPr sz="1400" b="0" i="0">
                <a:solidFill>
                  <a:srgbClr val="323139"/>
                </a:solidFill>
                <a:latin typeface="Segoe UI"/>
              </a:rPr>
              <a:t> → Name, instructions, knowledge, prompts</a:t>
            </a:r>
          </a:p>
          <a:p>
            <a:pPr algn="l" marL="237744" indent="-237744">
              <a:lnSpc>
                <a:spcPct val="105000"/>
              </a:lnSpc>
              <a:spcAft>
                <a:spcPts val="1000"/>
              </a:spcAft>
              <a:buFont typeface="+mj-lt"/>
              <a:buAutoNum type="arabicPeriod"/>
            </a:pPr>
            <a:r>
              <a:rPr sz="1400" b="1" i="0">
                <a:solidFill>
                  <a:srgbClr val="323139"/>
                </a:solidFill>
                <a:latin typeface="Segoe UI"/>
              </a:rPr>
              <a:t>Try it</a:t>
            </a:r>
            <a:r>
              <a:rPr sz="1400" b="0" i="0">
                <a:solidFill>
                  <a:srgbClr val="323139"/>
                </a:solidFill>
                <a:latin typeface="Segoe UI"/>
              </a:rPr>
              <a:t> → Test in-scope and out-of-scope</a:t>
            </a:r>
          </a:p>
          <a:p>
            <a:pPr algn="l" marL="237744" indent="-237744">
              <a:lnSpc>
                <a:spcPct val="105000"/>
              </a:lnSpc>
              <a:spcAft>
                <a:spcPts val="1000"/>
              </a:spcAft>
              <a:buFont typeface="+mj-lt"/>
              <a:buAutoNum type="arabicPeriod"/>
            </a:pPr>
            <a:r>
              <a:rPr sz="1400" b="1" i="0">
                <a:solidFill>
                  <a:srgbClr val="323139"/>
                </a:solidFill>
                <a:latin typeface="Segoe UI"/>
              </a:rPr>
              <a:t>Share</a:t>
            </a:r>
            <a:r>
              <a:rPr sz="1400" b="0" i="0">
                <a:solidFill>
                  <a:srgbClr val="323139"/>
                </a:solidFill>
                <a:latin typeface="Segoe UI"/>
              </a:rPr>
              <a:t> → Share or publish (optional)</a:t>
            </a:r>
          </a:p>
        </p:txBody>
      </p:sp>
      <p:sp>
        <p:nvSpPr>
          <p:cNvPr id="61" name="Rounded Rectangle 60">
            <a:extLst>
              <a:ext uri="{C183D7F6-B498-43B3-948B-1728B52AA6E4}">
                <ns4:decorative xmlns:ns4="http://schemas.microsoft.com/office/drawing/2017/decorative" val="1"/>
              </a:ext>
            </a:extLst>
          </p:cNvPr>
          <p:cNvSpPr/>
          <p:nvPr/>
        </p:nvSpPr>
        <p:spPr>
          <a:xfrm>
            <a:off x="7726679" y="5166359"/>
            <a:ext cx="4023360" cy="1051560"/>
          </a:xfrm>
          <a:prstGeom prst="roundRect">
            <a:avLst>
              <a:gd name="adj" fmla="val 10000"/>
            </a:avLst>
          </a:prstGeom>
          <a:solidFill>
            <a:srgbClr val="FFFC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909559" y="5166359"/>
            <a:ext cx="3657600" cy="1051560"/>
          </a:xfrm>
          <a:prstGeom prst="rect">
            <a:avLst/>
          </a:prstGeom>
          <a:noFill/>
        </p:spPr>
        <p:txBody>
          <a:bodyPr wrap="square" anchor="ctr" lIns="0" rIns="0" tIns="0" bIns="0">
            <a:spAutoFit/>
          </a:bodyPr>
          <a:lstStyle/>
          <a:p>
            <a:pPr algn="l">
              <a:lnSpc>
                <a:spcPct val="103000"/>
              </a:lnSpc>
              <a:spcAft>
                <a:spcPts val="400"/>
              </a:spcAft>
            </a:pPr>
            <a:r>
              <a:rPr sz="1200" b="1" i="0">
                <a:solidFill>
                  <a:srgbClr val="323139"/>
                </a:solidFill>
                <a:latin typeface="Segoe Sans Display"/>
              </a:rPr>
              <a:t>Next:</a:t>
            </a:r>
            <a:r>
              <a:rPr sz="1200" b="0" i="0">
                <a:solidFill>
                  <a:srgbClr val="323139"/>
                </a:solidFill>
                <a:latin typeface="Segoe Sans Display"/>
              </a:rPr>
              <a:t> your turn on the hands-on slide (15 min).</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100.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HR Policy Agent</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07</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15 min</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1" i="0">
                <a:solidFill>
                  <a:srgbClr val="323139"/>
                </a:solidFill>
                <a:latin typeface="Segoe UI"/>
              </a:rPr>
              <a:t>Microsoft 365 Copilot → Create agent</a:t>
            </a:r>
            <a:r>
              <a:rPr sz="1500" b="0" i="0">
                <a:solidFill>
                  <a:srgbClr val="323139"/>
                </a:solidFill>
                <a:latin typeface="Segoe UI"/>
              </a:rPr>
              <a:t> (desktop or web).</a:t>
            </a:r>
          </a:p>
          <a:p>
            <a:pPr algn="l" marL="237744" indent="-237744">
              <a:lnSpc>
                <a:spcPct val="105000"/>
              </a:lnSpc>
              <a:spcAft>
                <a:spcPts val="900"/>
              </a:spcAft>
              <a:buFont typeface="+mj-lt"/>
              <a:buAutoNum type="arabicPeriod"/>
            </a:pPr>
            <a:r>
              <a:rPr sz="1500" b="1" i="0">
                <a:solidFill>
                  <a:srgbClr val="323139"/>
                </a:solidFill>
                <a:latin typeface="Segoe UI"/>
              </a:rPr>
              <a:t>Describe</a:t>
            </a:r>
            <a:r>
              <a:rPr sz="1500" b="0" i="0">
                <a:solidFill>
                  <a:srgbClr val="323139"/>
                </a:solidFill>
                <a:latin typeface="Segoe UI"/>
              </a:rPr>
              <a:t> the HR Policy Agent in plain language.</a:t>
            </a:r>
          </a:p>
          <a:p>
            <a:pPr algn="l" marL="237744" indent="-237744">
              <a:lnSpc>
                <a:spcPct val="105000"/>
              </a:lnSpc>
              <a:spcAft>
                <a:spcPts val="900"/>
              </a:spcAft>
              <a:buFont typeface="+mj-lt"/>
              <a:buAutoNum type="arabicPeriod"/>
            </a:pPr>
            <a:r>
              <a:rPr sz="1500" b="1" i="0">
                <a:solidFill>
                  <a:srgbClr val="323139"/>
                </a:solidFill>
                <a:latin typeface="Segoe UI"/>
              </a:rPr>
              <a:t>Configure:</a:t>
            </a:r>
            <a:r>
              <a:rPr sz="1500" b="0" i="0">
                <a:solidFill>
                  <a:srgbClr val="323139"/>
                </a:solidFill>
                <a:latin typeface="Segoe UI"/>
              </a:rPr>
              <a:t> name, instructions, the Zava Word files; </a:t>
            </a:r>
            <a:r>
              <a:rPr sz="1500" b="1" i="0">
                <a:solidFill>
                  <a:srgbClr val="323139"/>
                </a:solidFill>
                <a:latin typeface="Segoe UI"/>
              </a:rPr>
              <a:t>Only use specified sources</a:t>
            </a:r>
            <a:r>
              <a:rPr sz="1500" b="0" i="0">
                <a:solidFill>
                  <a:srgbClr val="323139"/>
                </a:solidFill>
                <a:latin typeface="Segoe UI"/>
              </a:rPr>
              <a:t> on, </a:t>
            </a:r>
            <a:r>
              <a:rPr sz="1500" b="1" i="0">
                <a:solidFill>
                  <a:srgbClr val="323139"/>
                </a:solidFill>
                <a:latin typeface="Segoe UI"/>
              </a:rPr>
              <a:t>Search all websites</a:t>
            </a:r>
            <a:r>
              <a:rPr sz="1500" b="0" i="0">
                <a:solidFill>
                  <a:srgbClr val="323139"/>
                </a:solidFill>
                <a:latin typeface="Segoe UI"/>
              </a:rPr>
              <a:t> off.</a:t>
            </a:r>
          </a:p>
          <a:p>
            <a:pPr algn="l" marL="237744" indent="-237744">
              <a:lnSpc>
                <a:spcPct val="105000"/>
              </a:lnSpc>
              <a:spcAft>
                <a:spcPts val="900"/>
              </a:spcAft>
              <a:buFont typeface="+mj-lt"/>
              <a:buAutoNum type="arabicPeriod"/>
            </a:pPr>
            <a:r>
              <a:rPr sz="1500" b="1" i="0">
                <a:solidFill>
                  <a:srgbClr val="323139"/>
                </a:solidFill>
                <a:latin typeface="Segoe UI"/>
              </a:rPr>
              <a:t>Try it:</a:t>
            </a:r>
            <a:r>
              <a:rPr sz="1500" b="0" i="0">
                <a:solidFill>
                  <a:srgbClr val="323139"/>
                </a:solidFill>
                <a:latin typeface="Segoe UI"/>
              </a:rPr>
              <a:t> “At Zava, when is open enrollment…?” gets a sourced answer; a salary question is declined.</a:t>
            </a:r>
          </a:p>
          <a:p>
            <a:pPr algn="l" marL="237744" indent="-237744">
              <a:lnSpc>
                <a:spcPct val="105000"/>
              </a:lnSpc>
              <a:spcAft>
                <a:spcPts val="900"/>
              </a:spcAft>
              <a:buFont typeface="+mj-lt"/>
              <a:buAutoNum type="arabicPeriod"/>
            </a:pPr>
            <a:r>
              <a:rPr sz="1500" b="1" i="0">
                <a:solidFill>
                  <a:srgbClr val="323139"/>
                </a:solidFill>
                <a:latin typeface="Segoe UI"/>
              </a:rPr>
              <a:t>Share or publish</a:t>
            </a:r>
            <a:r>
              <a:rPr sz="1500" b="0" i="0">
                <a:solidFill>
                  <a:srgbClr val="323139"/>
                </a:solidFill>
                <a:latin typeface="Segoe UI"/>
              </a:rPr>
              <a:t> (optional).</a:t>
            </a:r>
          </a:p>
        </p:txBody>
      </p:sp>
      <p:sp>
        <p:nvSpPr>
          <p:cNvPr id="55" name="Rounded Rectangle 54">
            <a:extLst>
              <a:ext uri="{C183D7F6-B498-43B3-948B-1728B52AA6E4}">
                <ns2:decorative xmlns:ns2="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3:decorative xmlns:ns3="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Who would use a policy agent in your org, and which questions should it always hand to a human?</a:t>
            </a:r>
          </a:p>
        </p:txBody>
      </p:sp>
      <p:sp>
        <p:nvSpPr>
          <p:cNvPr id="59" name="Rounded Rectangle 58">
            <a:extLst>
              <a:ext uri="{C183D7F6-B498-43B3-948B-1728B52AA6E4}">
                <ns4:decorative xmlns:ns4="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5:decorative xmlns:ns5="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This is </a:t>
            </a:r>
            <a:r>
              <a:rPr sz="1150" b="1" i="0">
                <a:solidFill>
                  <a:srgbClr val="323139"/>
                </a:solidFill>
                <a:latin typeface="Segoe UI"/>
              </a:rPr>
              <a:t>Agent Builder</a:t>
            </a:r>
            <a:r>
              <a:rPr sz="1150" b="0" i="0">
                <a:solidFill>
                  <a:srgbClr val="323139"/>
                </a:solidFill>
                <a:latin typeface="Segoe UI"/>
              </a:rPr>
              <a:t> — not Cowork</a:t>
            </a:r>
          </a:p>
          <a:p>
            <a:pPr algn="l" marL="182880" indent="-182880">
              <a:spcAft>
                <a:spcPts val="400"/>
              </a:spcAft>
              <a:buFont typeface="Arial"/>
              <a:buChar char="•"/>
            </a:pPr>
            <a:r>
              <a:rPr sz="1150" b="0" i="0">
                <a:solidFill>
                  <a:srgbClr val="323139"/>
                </a:solidFill>
                <a:latin typeface="Segoe UI"/>
              </a:rPr>
              <a:t>Knowledge must be </a:t>
            </a:r>
            <a:r>
              <a:rPr sz="1150" b="1" i="0">
                <a:solidFill>
                  <a:srgbClr val="323139"/>
                </a:solidFill>
                <a:latin typeface="Segoe UI"/>
              </a:rPr>
              <a:t>.docx/.pdf/.xlsx</a:t>
            </a:r>
            <a:r>
              <a:rPr sz="1150" b="0" i="0">
                <a:solidFill>
                  <a:srgbClr val="323139"/>
                </a:solidFill>
                <a:latin typeface="Segoe UI"/>
              </a:rPr>
              <a:t> — not .md or .csv</a:t>
            </a:r>
          </a:p>
          <a:p>
            <a:pPr algn="l" marL="182880" indent="-182880">
              <a:spcAft>
                <a:spcPts val="400"/>
              </a:spcAft>
              <a:buFont typeface="Arial"/>
              <a:buChar char="•"/>
            </a:pPr>
            <a:r>
              <a:rPr sz="1150" b="0" i="0">
                <a:solidFill>
                  <a:srgbClr val="323139"/>
                </a:solidFill>
                <a:latin typeface="Segoe UI"/>
              </a:rPr>
              <a:t>Skill (Ex 3) helps you; this agent helps others</a:t>
            </a:r>
          </a:p>
          <a:p>
            <a:pPr algn="l" marL="182880" indent="-182880">
              <a:spcAft>
                <a:spcPts val="400"/>
              </a:spcAft>
              <a:buFont typeface="Arial"/>
              <a:buChar char="•"/>
            </a:pPr>
            <a:r>
              <a:rPr sz="1150" b="0" i="0">
                <a:solidFill>
                  <a:srgbClr val="323139"/>
                </a:solidFill>
                <a:latin typeface="Segoe UI"/>
              </a:rPr>
              <a:t>New files show “Preparing” for a few minutes</a:t>
            </a:r>
          </a:p>
        </p:txBody>
      </p:sp>
      <p:sp>
        <p:nvSpPr>
          <p:cNvPr id="63" name="Rounded Rectangle 62">
            <a:extLst>
              <a:ext uri="{C183D7F6-B498-43B3-948B-1728B52AA6E4}">
                <ns6:decorative xmlns:ns6="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7:decorative xmlns:ns7="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 working HR Policy Agent that gives grounded, sourced answers and declines out-of-scope questions.</a:t>
            </a:r>
          </a:p>
        </p:txBody>
      </p:sp>
      <p:sp>
        <p:nvSpPr>
          <p:cNvPr id="67" name="Rounded Rectangle 66">
            <a:extLst>
              <a:ext uri="{C183D7F6-B498-43B3-948B-1728B52AA6E4}">
                <ns8:decorative xmlns:ns8="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200"/>
              </a:spcAft>
            </a:pPr>
            <a:r>
              <a:rPr sz="1100" b="1" i="0">
                <a:solidFill>
                  <a:srgbClr val="323139"/>
                </a:solidFill>
                <a:latin typeface="Segoe Sans Display Semibold"/>
              </a:rPr>
              <a:t>Stretch: </a:t>
            </a:r>
            <a:r>
              <a:rPr sz="1100" b="0" i="0">
                <a:solidFill>
                  <a:srgbClr val="323139"/>
                </a:solidFill>
                <a:latin typeface="Segoe Sans Display"/>
              </a:rPr>
              <a:t>Add the onboarding checklist as a third knowledge source and a new-hire suggested prompt.</a:t>
            </a:r>
          </a:p>
          <a:p>
            <a:pPr algn="l">
              <a:lnSpc>
                <a:spcPct val="103000"/>
              </a:lnSpc>
              <a:spcAft>
                <a:spcPts val="400"/>
              </a:spcAft>
            </a:pPr>
            <a:r>
              <a:rPr sz="1000" b="0" i="0">
                <a:solidFill>
                  <a:srgbClr val="616161"/>
                </a:solidFill>
                <a:latin typeface="Segoe Sans Display"/>
              </a:rPr>
              <a:t>Full prompt: </a:t>
            </a:r>
            <a:r>
              <a:rPr sz="1000" b="1" i="0">
                <a:solidFill>
                  <a:srgbClr val="0F6CBD"/>
                </a:solidFill>
                <a:latin typeface="Segoe Sans Display"/>
                <a:hlinkClick r:id="rId7">
                  <a:extLst>
                    <a:ext uri="{A12FA001-AC4F-418D-AE19-62706E023703}">
                      <ahyp:hlinkClr xmlns:ahyp="http://schemas.microsoft.com/office/drawing/2018/hyperlinkcolor" val="tx"/>
                    </a:ext>
                  </a:extLst>
                </a:hlinkClick>
              </a:rPr>
              <a:t>participant workbook, Exercise 7</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101.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 name="TextBox 1"/>
          <p:cNvSpPr txBox="1"/>
          <p:nvPr/>
        </p:nvSpPr>
        <p:spPr>
          <a:xfrm>
            <a:off x="868680" y="1325880"/>
            <a:ext cx="2743200" cy="365760"/>
          </a:xfrm>
          <a:prstGeom prst="rect">
            <a:avLst/>
          </a:prstGeom>
          <a:noFill/>
        </p:spPr>
        <p:txBody>
          <a:bodyPr wrap="square" anchor="t" lIns="0" rIns="0" tIns="0" bIns="0">
            <a:spAutoFit/>
          </a:bodyPr>
          <a:lstStyle/>
          <a:p>
            <a:pPr algn="l">
              <a:spcAft>
                <a:spcPts val="400"/>
              </a:spcAft>
            </a:pPr>
            <a:r>
              <a:rPr sz="1600" b="0" i="0">
                <a:solidFill>
                  <a:srgbClr val="616161"/>
                </a:solidFill>
                <a:latin typeface="Segoe Sans Display Semibold"/>
              </a:rPr>
              <a:t>EXERCISE</a:t>
            </a:r>
          </a:p>
        </p:txBody>
      </p:sp>
      <p:sp>
        <p:nvSpPr>
          <p:cNvPr id="3" name="TextBox 2"/>
          <p:cNvSpPr txBox="1"/>
          <p:nvPr/>
        </p:nvSpPr>
        <p:spPr>
          <a:xfrm>
            <a:off x="777240" y="1645920"/>
            <a:ext cx="2926080" cy="1828800"/>
          </a:xfrm>
          <a:prstGeom prst="rect">
            <a:avLst/>
          </a:prstGeom>
          <a:noFill/>
        </p:spPr>
        <p:txBody>
          <a:bodyPr wrap="square" anchor="t" lIns="0" rIns="0" tIns="0" bIns="0">
            <a:spAutoFit/>
          </a:bodyPr>
          <a:lstStyle/>
          <a:p>
            <a:pPr algn="l">
              <a:spcAft>
                <a:spcPts val="400"/>
              </a:spcAft>
            </a:pPr>
            <a:r>
              <a:rPr sz="12000" b="1" i="0">
                <a:solidFill>
                  <a:srgbClr val="8064A2"/>
                </a:solidFill>
                <a:latin typeface="Segoe Sans Display"/>
              </a:rPr>
              <a:t>08</a:t>
            </a:r>
          </a:p>
        </p:txBody>
      </p:sp>
      <p:sp>
        <p:nvSpPr>
          <p:cNvPr id="4" name="TextBox 3"/>
          <p:cNvSpPr txBox="1"/>
          <p:nvPr/>
        </p:nvSpPr>
        <p:spPr>
          <a:xfrm>
            <a:off x="3749039" y="1417320"/>
            <a:ext cx="5440680" cy="1508760"/>
          </a:xfrm>
          <a:prstGeom prst="rect">
            <a:avLst/>
          </a:prstGeom>
          <a:noFill/>
        </p:spPr>
        <p:txBody>
          <a:bodyPr wrap="square" anchor="b" lIns="0" rIns="0" tIns="0" bIns="0">
            <a:spAutoFit/>
          </a:bodyPr>
          <a:lstStyle/>
          <a:p>
            <a:pPr algn="l">
              <a:lnSpc>
                <a:spcPct val="95000"/>
              </a:lnSpc>
              <a:spcAft>
                <a:spcPts val="400"/>
              </a:spcAft>
            </a:pPr>
            <a:r>
              <a:rPr sz="3800" b="0" i="0">
                <a:solidFill>
                  <a:srgbClr val="323139"/>
                </a:solidFill>
                <a:latin typeface="Segoe Sans Display"/>
              </a:rPr>
              <a:t>Executive Command Center</a:t>
            </a:r>
          </a:p>
        </p:txBody>
      </p:sp>
      <p:sp>
        <p:nvSpPr>
          <p:cNvPr id="5" name="TextBox 4"/>
          <p:cNvSpPr txBox="1"/>
          <p:nvPr/>
        </p:nvSpPr>
        <p:spPr>
          <a:xfrm>
            <a:off x="3749039" y="3017520"/>
            <a:ext cx="5440680" cy="1005840"/>
          </a:xfrm>
          <a:prstGeom prst="rect">
            <a:avLst/>
          </a:prstGeom>
          <a:noFill/>
        </p:spPr>
        <p:txBody>
          <a:bodyPr wrap="square" anchor="t" lIns="0" rIns="0" tIns="0" bIns="0">
            <a:spAutoFit/>
          </a:bodyPr>
          <a:lstStyle/>
          <a:p>
            <a:pPr algn="l">
              <a:lnSpc>
                <a:spcPct val="105000"/>
              </a:lnSpc>
              <a:spcAft>
                <a:spcPts val="400"/>
              </a:spcAft>
            </a:pPr>
            <a:r>
              <a:rPr sz="1600" b="0" i="0">
                <a:solidFill>
                  <a:srgbClr val="616161"/>
                </a:solidFill>
                <a:latin typeface="Segoe Sans Display"/>
              </a:rPr>
              <a:t>Turn your calendar, communications, and priority work into a daily executive view of decisions, risks, and actions requiring attention.</a:t>
            </a:r>
          </a:p>
        </p:txBody>
      </p:sp>
      <p:sp>
        <p:nvSpPr>
          <p:cNvPr id="6" name="Oval 5">
            <a:extLst>
              <a:ext uri="{C183D7F6-B498-43B3-948B-1728B52AA6E4}">
                <ns0:decorative xmlns:ns0="http://schemas.microsoft.com/office/drawing/2017/decorative" val="1"/>
              </a:ext>
            </a:extLst>
          </p:cNvPr>
          <p:cNvSpPr/>
          <p:nvPr/>
        </p:nvSpPr>
        <p:spPr>
          <a:xfrm>
            <a:off x="9418320" y="1280160"/>
            <a:ext cx="2194560" cy="2194560"/>
          </a:xfrm>
          <a:prstGeom prst="ellipse">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Divider 8" descr="Illustration of a bar chart, for the executive command center dashboard"/>
          <p:cNvPicPr>
            <a:picLocks noChangeAspect="1"/>
          </p:cNvPicPr>
          <p:nvPr/>
        </p:nvPicPr>
        <p:blipFill>
          <a:blip r:embed="rId7"/>
          <a:stretch>
            <a:fillRect/>
          </a:stretch>
        </p:blipFill>
        <p:spPr>
          <a:xfrm>
            <a:off x="9784080" y="1645920"/>
            <a:ext cx="1463040" cy="1463040"/>
          </a:xfrm>
          <a:prstGeom prst="rect">
            <a:avLst/>
          </a:prstGeom>
        </p:spPr>
      </p:pic>
      <p:sp>
        <p:nvSpPr>
          <p:cNvPr id="8" name="Rounded Rectangle 7">
            <a:extLst>
              <a:ext uri="{C183D7F6-B498-43B3-948B-1728B52AA6E4}">
                <ns1:decorative xmlns:ns1="http://schemas.microsoft.com/office/drawing/2017/decorative" val="1"/>
              </a:ext>
            </a:extLst>
          </p:cNvPr>
          <p:cNvSpPr/>
          <p:nvPr/>
        </p:nvSpPr>
        <p:spPr>
          <a:xfrm>
            <a:off x="3749039" y="4069080"/>
            <a:ext cx="2286000"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49039" y="4069080"/>
            <a:ext cx="2286000"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15 min  ·  2:15–2:30</a:t>
            </a:r>
          </a:p>
        </p:txBody>
      </p:sp>
      <p:sp>
        <p:nvSpPr>
          <p:cNvPr id="10" name="Rounded Rectangle 9">
            <a:extLst>
              <a:ext uri="{C183D7F6-B498-43B3-948B-1728B52AA6E4}">
                <ns2:decorative xmlns:ns2="http://schemas.microsoft.com/office/drawing/2017/decorative" val="1"/>
              </a:ext>
            </a:extLst>
          </p:cNvPr>
          <p:cNvSpPr/>
          <p:nvPr/>
        </p:nvSpPr>
        <p:spPr>
          <a:xfrm>
            <a:off x="6217920" y="4069080"/>
            <a:ext cx="1229868" cy="438912"/>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17920" y="4069080"/>
            <a:ext cx="1229868" cy="438912"/>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Executive</a:t>
            </a:r>
          </a:p>
        </p:txBody>
      </p:sp>
      <p:sp>
        <p:nvSpPr>
          <p:cNvPr id="12" name="Oval 11">
            <a:extLst>
              <a:ext uri="{C183D7F6-B498-43B3-948B-1728B52AA6E4}">
                <ns3:decorative xmlns:ns3="http://schemas.microsoft.com/office/drawing/2017/decorative" val="1"/>
              </a:ext>
            </a:extLst>
          </p:cNvPr>
          <p:cNvSpPr/>
          <p:nvPr/>
        </p:nvSpPr>
        <p:spPr>
          <a:xfrm>
            <a:off x="2895447"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895447"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1</a:t>
            </a:r>
          </a:p>
        </p:txBody>
      </p:sp>
      <p:sp>
        <p:nvSpPr>
          <p:cNvPr id="14" name="Rectangle 13">
            <a:extLst>
              <a:ext uri="{C183D7F6-B498-43B3-948B-1728B52AA6E4}">
                <ns4:decorative xmlns:ns4="http://schemas.microsoft.com/office/drawing/2017/decorative" val="1"/>
              </a:ext>
            </a:extLst>
          </p:cNvPr>
          <p:cNvSpPr/>
          <p:nvPr/>
        </p:nvSpPr>
        <p:spPr>
          <a:xfrm>
            <a:off x="345323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a:extLst>
              <a:ext uri="{C183D7F6-B498-43B3-948B-1728B52AA6E4}">
                <ns5:decorative xmlns:ns5="http://schemas.microsoft.com/office/drawing/2017/decorative" val="1"/>
              </a:ext>
            </a:extLst>
          </p:cNvPr>
          <p:cNvSpPr/>
          <p:nvPr/>
        </p:nvSpPr>
        <p:spPr>
          <a:xfrm>
            <a:off x="3736695"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736695"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2</a:t>
            </a:r>
          </a:p>
        </p:txBody>
      </p:sp>
      <p:sp>
        <p:nvSpPr>
          <p:cNvPr id="17" name="Rectangle 16">
            <a:extLst>
              <a:ext uri="{C183D7F6-B498-43B3-948B-1728B52AA6E4}">
                <ns6:decorative xmlns:ns6="http://schemas.microsoft.com/office/drawing/2017/decorative" val="1"/>
              </a:ext>
            </a:extLst>
          </p:cNvPr>
          <p:cNvSpPr/>
          <p:nvPr/>
        </p:nvSpPr>
        <p:spPr>
          <a:xfrm>
            <a:off x="429447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a:extLst>
              <a:ext uri="{C183D7F6-B498-43B3-948B-1728B52AA6E4}">
                <ns7:decorative xmlns:ns7="http://schemas.microsoft.com/office/drawing/2017/decorative" val="1"/>
              </a:ext>
            </a:extLst>
          </p:cNvPr>
          <p:cNvSpPr/>
          <p:nvPr/>
        </p:nvSpPr>
        <p:spPr>
          <a:xfrm>
            <a:off x="4577943"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7943"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3</a:t>
            </a:r>
          </a:p>
        </p:txBody>
      </p:sp>
      <p:sp>
        <p:nvSpPr>
          <p:cNvPr id="20" name="Rectangle 19">
            <a:extLst>
              <a:ext uri="{C183D7F6-B498-43B3-948B-1728B52AA6E4}">
                <ns8:decorative xmlns:ns8="http://schemas.microsoft.com/office/drawing/2017/decorative" val="1"/>
              </a:ext>
            </a:extLst>
          </p:cNvPr>
          <p:cNvSpPr/>
          <p:nvPr/>
        </p:nvSpPr>
        <p:spPr>
          <a:xfrm>
            <a:off x="5135727"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a:extLst>
              <a:ext uri="{C183D7F6-B498-43B3-948B-1728B52AA6E4}">
                <ns9:decorative xmlns:ns9="http://schemas.microsoft.com/office/drawing/2017/decorative" val="1"/>
              </a:ext>
            </a:extLst>
          </p:cNvPr>
          <p:cNvSpPr/>
          <p:nvPr/>
        </p:nvSpPr>
        <p:spPr>
          <a:xfrm>
            <a:off x="5419191"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19191"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4</a:t>
            </a:r>
          </a:p>
        </p:txBody>
      </p:sp>
      <p:sp>
        <p:nvSpPr>
          <p:cNvPr id="23" name="Rectangle 22">
            <a:extLst>
              <a:ext uri="{C183D7F6-B498-43B3-948B-1728B52AA6E4}">
                <ns10:decorative xmlns:ns10="http://schemas.microsoft.com/office/drawing/2017/decorative" val="1"/>
              </a:ext>
            </a:extLst>
          </p:cNvPr>
          <p:cNvSpPr/>
          <p:nvPr/>
        </p:nvSpPr>
        <p:spPr>
          <a:xfrm>
            <a:off x="5976975"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a:extLst>
              <a:ext uri="{C183D7F6-B498-43B3-948B-1728B52AA6E4}">
                <ns11:decorative xmlns:ns11="http://schemas.microsoft.com/office/drawing/2017/decorative" val="1"/>
              </a:ext>
            </a:extLst>
          </p:cNvPr>
          <p:cNvSpPr/>
          <p:nvPr/>
        </p:nvSpPr>
        <p:spPr>
          <a:xfrm>
            <a:off x="6260439"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60439"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5</a:t>
            </a:r>
          </a:p>
        </p:txBody>
      </p:sp>
      <p:sp>
        <p:nvSpPr>
          <p:cNvPr id="26" name="Rectangle 25">
            <a:extLst>
              <a:ext uri="{C183D7F6-B498-43B3-948B-1728B52AA6E4}">
                <ns12:decorative xmlns:ns12="http://schemas.microsoft.com/office/drawing/2017/decorative" val="1"/>
              </a:ext>
            </a:extLst>
          </p:cNvPr>
          <p:cNvSpPr/>
          <p:nvPr/>
        </p:nvSpPr>
        <p:spPr>
          <a:xfrm>
            <a:off x="6818223"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a:extLst>
              <a:ext uri="{C183D7F6-B498-43B3-948B-1728B52AA6E4}">
                <ns13:decorative xmlns:ns13="http://schemas.microsoft.com/office/drawing/2017/decorative" val="1"/>
              </a:ext>
            </a:extLst>
          </p:cNvPr>
          <p:cNvSpPr/>
          <p:nvPr/>
        </p:nvSpPr>
        <p:spPr>
          <a:xfrm>
            <a:off x="7101687"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01687"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6</a:t>
            </a:r>
          </a:p>
        </p:txBody>
      </p:sp>
      <p:sp>
        <p:nvSpPr>
          <p:cNvPr id="29" name="Rectangle 28">
            <a:extLst>
              <a:ext uri="{C183D7F6-B498-43B3-948B-1728B52AA6E4}">
                <ns14:decorative xmlns:ns14="http://schemas.microsoft.com/office/drawing/2017/decorative" val="1"/>
              </a:ext>
            </a:extLst>
          </p:cNvPr>
          <p:cNvSpPr/>
          <p:nvPr/>
        </p:nvSpPr>
        <p:spPr>
          <a:xfrm>
            <a:off x="7659471"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a:extLst>
              <a:ext uri="{C183D7F6-B498-43B3-948B-1728B52AA6E4}">
                <ns15:decorative xmlns:ns15="http://schemas.microsoft.com/office/drawing/2017/decorative" val="1"/>
              </a:ext>
            </a:extLst>
          </p:cNvPr>
          <p:cNvSpPr/>
          <p:nvPr/>
        </p:nvSpPr>
        <p:spPr>
          <a:xfrm>
            <a:off x="7942935" y="5257800"/>
            <a:ext cx="512064" cy="512064"/>
          </a:xfrm>
          <a:prstGeom prst="ellipse">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942935" y="5257800"/>
            <a:ext cx="512064" cy="512064"/>
          </a:xfrm>
          <a:prstGeom prst="rect">
            <a:avLst/>
          </a:prstGeom>
          <a:noFill/>
        </p:spPr>
        <p:txBody>
          <a:bodyPr wrap="square" anchor="ctr" lIns="0" rIns="0" tIns="0" bIns="0">
            <a:spAutoFit/>
          </a:bodyPr>
          <a:lstStyle/>
          <a:p>
            <a:pPr algn="ctr">
              <a:spcAft>
                <a:spcPts val="400"/>
              </a:spcAft>
            </a:pPr>
            <a:r>
              <a:rPr sz="1400" b="0" i="0">
                <a:solidFill>
                  <a:srgbClr val="323139"/>
                </a:solidFill>
                <a:latin typeface="Segoe Sans Display Semibold"/>
              </a:rPr>
              <a:t>7</a:t>
            </a:r>
          </a:p>
        </p:txBody>
      </p:sp>
      <p:sp>
        <p:nvSpPr>
          <p:cNvPr id="32" name="Rectangle 31">
            <a:extLst>
              <a:ext uri="{C183D7F6-B498-43B3-948B-1728B52AA6E4}">
                <ns16:decorative xmlns:ns16="http://schemas.microsoft.com/office/drawing/2017/decorative" val="1"/>
              </a:ext>
            </a:extLst>
          </p:cNvPr>
          <p:cNvSpPr/>
          <p:nvPr/>
        </p:nvSpPr>
        <p:spPr>
          <a:xfrm>
            <a:off x="8500719" y="5504688"/>
            <a:ext cx="237744" cy="18288"/>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a:extLst>
              <a:ext uri="{C183D7F6-B498-43B3-948B-1728B52AA6E4}">
                <ns17:decorative xmlns:ns17="http://schemas.microsoft.com/office/drawing/2017/decorative" val="1"/>
              </a:ext>
            </a:extLst>
          </p:cNvPr>
          <p:cNvSpPr/>
          <p:nvPr/>
        </p:nvSpPr>
        <p:spPr>
          <a:xfrm>
            <a:off x="8784183" y="5257800"/>
            <a:ext cx="512064" cy="512064"/>
          </a:xfrm>
          <a:prstGeom prst="ellipse">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784183" y="5257800"/>
            <a:ext cx="512064" cy="512064"/>
          </a:xfrm>
          <a:prstGeom prst="rect">
            <a:avLst/>
          </a:prstGeom>
          <a:noFill/>
        </p:spPr>
        <p:txBody>
          <a:bodyPr wrap="square" anchor="ctr" lIns="0" rIns="0" tIns="0" bIns="0">
            <a:spAutoFit/>
          </a:bodyPr>
          <a:lstStyle/>
          <a:p>
            <a:pPr algn="ctr">
              <a:spcAft>
                <a:spcPts val="400"/>
              </a:spcAft>
            </a:pPr>
            <a:r>
              <a:rPr sz="1400" b="1" i="0">
                <a:solidFill>
                  <a:srgbClr val="FFFFFF"/>
                </a:solidFill>
                <a:latin typeface="Segoe Sans Display Semibold"/>
              </a:rPr>
              <a:t>8</a:t>
            </a:r>
          </a:p>
        </p:txBody>
      </p:sp>
      <p:sp>
        <p:nvSpPr>
          <p:cNvPr id="35" name="TextBox 34"/>
          <p:cNvSpPr txBox="1"/>
          <p:nvPr/>
        </p:nvSpPr>
        <p:spPr>
          <a:xfrm>
            <a:off x="457200" y="5897880"/>
            <a:ext cx="11274552" cy="320040"/>
          </a:xfrm>
          <a:prstGeom prst="rect">
            <a:avLst/>
          </a:prstGeom>
          <a:noFill/>
        </p:spPr>
        <p:txBody>
          <a:bodyPr wrap="square" anchor="t" lIns="0" rIns="0" tIns="0" bIns="0">
            <a:spAutoFit/>
          </a:bodyPr>
          <a:lstStyle/>
          <a:p>
            <a:pPr algn="ctr">
              <a:spcAft>
                <a:spcPts val="400"/>
              </a:spcAft>
            </a:pPr>
            <a:r>
              <a:rPr sz="1200" b="0" i="0">
                <a:solidFill>
                  <a:srgbClr val="616161"/>
                </a:solidFill>
                <a:latin typeface="Segoe UI"/>
              </a:rPr>
              <a:t>Exercise 8 of 8</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102.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Executive Command Center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08</a:t>
            </a:r>
          </a:p>
        </p:txBody>
      </p:sp>
      <p:sp>
        <p:nvSpPr>
          <p:cNvPr id="33" name="Rectangle: Rounded Corners 32">
            <a:extLst>
              <a:ext uri="{FF2B5EF4-FFF2-40B4-BE49-F238E27FC236}">
                <a16:creationId xmlns:a16="http://schemas.microsoft.com/office/drawing/2014/main" id="{8D56FF72-D759-DB8C-C791-1089618B3EE4}"/>
              </a:ext>
            </a:extLst>
          </p:cNvPr>
          <p:cNvSpPr/>
          <p:nvPr/>
        </p:nvSpPr>
        <p:spPr bwMode="auto">
          <a:xfrm>
            <a:off x="424382" y="954763"/>
            <a:ext cx="3621360" cy="1127147"/>
          </a:xfrm>
          <a:prstGeom prst="roundRect">
            <a:avLst>
              <a:gd name="adj" fmla="val 9646"/>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Goal</a:t>
            </a:r>
            <a:r>
              <a:rPr kumimoji="0" lang="en-US" sz="1100" b="0" i="0" u="none" strike="noStrike" kern="0" cap="none" spc="0" normalizeH="0" baseline="0" noProof="0">
                <a:ln w="3175">
                  <a:noFill/>
                </a:ln>
                <a:solidFill>
                  <a:srgbClr val="323139"/>
                </a:solidFill>
                <a:effectLst/>
                <a:uLnTx/>
                <a:uFillTx/>
                <a:latin typeface="Segoe Sans Display Semibold" pitchFamily="2" charset="0"/>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Turn your calendar, communications, and priority work into a daily executive view of decisions, risks, and actions requiring attention.</a:t>
            </a:r>
          </a:p>
        </p:txBody>
      </p:sp>
      <p:sp>
        <p:nvSpPr>
          <p:cNvPr id="34" name="Rectangle: Rounded Corners 33">
            <a:extLst>
              <a:ext uri="{FF2B5EF4-FFF2-40B4-BE49-F238E27FC236}">
                <a16:creationId xmlns:a16="http://schemas.microsoft.com/office/drawing/2014/main" id="{58B7C25E-B49B-24B7-8F32-A2823589DFF3}"/>
              </a:ext>
            </a:extLst>
          </p:cNvPr>
          <p:cNvSpPr/>
          <p:nvPr/>
        </p:nvSpPr>
        <p:spPr bwMode="auto">
          <a:xfrm>
            <a:off x="4372822" y="978410"/>
            <a:ext cx="3621360" cy="1107187"/>
          </a:xfrm>
          <a:prstGeom prst="roundRect">
            <a:avLst>
              <a:gd name="adj" fmla="val 10584"/>
            </a:avLst>
          </a:prstGeom>
          <a:solidFill>
            <a:srgbClr val="FFFC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w="3175">
                  <a:noFill/>
                </a:ln>
                <a:blipFill>
                  <a:blip r:embed="rId4"/>
                  <a:stretch>
                    <a:fillRect t="-26822" b="-26822"/>
                  </a:stretch>
                </a:blipFill>
                <a:effectLst/>
                <a:uLnTx/>
                <a:uFillTx/>
                <a:latin typeface="Segoe Sans Display Semibold"/>
                <a:ea typeface="+mn-ea"/>
                <a:cs typeface="Segoe Sans Display Semibold" pitchFamily="2" charset="0"/>
              </a:rPr>
              <a:t>Output</a:t>
            </a:r>
            <a:r>
              <a:rPr kumimoji="0" lang="en-US" sz="1100" b="0" i="0" u="none" strike="noStrike" kern="0" cap="none" spc="0" normalizeH="0" baseline="0" noProof="0">
                <a:ln w="3175">
                  <a:noFill/>
                </a:ln>
                <a:solidFill>
                  <a:srgbClr val="323139"/>
                </a:solidFill>
                <a:effectLst/>
                <a:uLnTx/>
                <a:uFillTx/>
                <a:latin typeface="Segoe Sans Display Semibold"/>
                <a:ea typeface="+mn-ea"/>
                <a:cs typeface="Segoe Sans Display Semibold" pitchFamily="2" charset="0"/>
              </a:rPr>
              <a:t>: </a:t>
            </a:r>
            <a:r>
              <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rPr>
              <a:t>An interactive executive command center covering meetings, priorities, and org pulse, with labeled recommendations and links to supporting context.</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Function</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Executive</a:t>
            </a:r>
          </a:p>
        </p:txBody>
      </p:sp>
      <p:sp>
        <p:nvSpPr>
          <p:cNvPr id="59" name="Rectangle: Rounded Corners 58">
            <a:extLst>
              <a:ext uri="{FF2B5EF4-FFF2-40B4-BE49-F238E27FC236}">
                <a16:creationId xmlns:a16="http://schemas.microsoft.com/office/drawing/2014/main" id="{4A73329A-1917-C156-E817-2B9E2D56CBE1}"/>
              </a:ext>
              <a:ext uri="{C183D7F6-B498-43B3-948B-1728B52AA6E4}">
                <ns1:decorative xmlns:ns1="http://schemas.microsoft.com/office/drawing/2017/decorative" val="1"/>
              </a:ext>
            </a:extLst>
          </p:cNvPr>
          <p:cNvSpPr/>
          <p:nvPr/>
        </p:nvSpPr>
        <p:spPr bwMode="auto">
          <a:xfrm>
            <a:off x="424381" y="2312313"/>
            <a:ext cx="7171849" cy="4327573"/>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79" name="Group 78">
            <a:extLst>
              <a:ext uri="{FF2B5EF4-FFF2-40B4-BE49-F238E27FC236}">
                <a16:creationId xmlns:a16="http://schemas.microsoft.com/office/drawing/2014/main" id="{B857CF20-AAD8-92CD-98E7-73BD8662071B}"/>
              </a:ext>
            </a:extLst>
          </p:cNvPr>
          <p:cNvGrpSpPr/>
          <p:nvPr/>
        </p:nvGrpSpPr>
        <p:grpSpPr>
          <a:xfrm>
            <a:off x="199916" y="775485"/>
            <a:ext cx="398477" cy="398477"/>
            <a:chOff x="3403308" y="1083220"/>
            <a:chExt cx="398477" cy="398477"/>
          </a:xfrm>
        </p:grpSpPr>
        <p:sp>
          <p:nvSpPr>
            <p:cNvPr id="76" name="Oval 75">
              <a:extLst>
                <a:ext uri="{FF2B5EF4-FFF2-40B4-BE49-F238E27FC236}">
                  <a16:creationId xmlns:a16="http://schemas.microsoft.com/office/drawing/2014/main" id="{159C5AC1-FC57-57FC-51C9-4DC5847B88F1}"/>
                </a:ext>
                <a:ext uri="{C183D7F6-B498-43B3-948B-1728B52AA6E4}">
                  <ns2:decorative xmlns:ns2="http://schemas.microsoft.com/office/drawing/2017/decorative" val="1"/>
                </a:ext>
              </a:extLst>
            </p:cNvPr>
            <p:cNvSpPr/>
            <p:nvPr/>
          </p:nvSpPr>
          <p:spPr>
            <a:xfrm>
              <a:off x="3403308" y="1083220"/>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Graphic 5">
              <a:extLst>
                <a:ext uri="{FF2B5EF4-FFF2-40B4-BE49-F238E27FC236}">
                  <a16:creationId xmlns:a16="http://schemas.microsoft.com/office/drawing/2014/main" id="{9F306AE4-27E6-F02E-E553-1EF2C3FBAF65}"/>
                </a:ext>
                <a:ext uri="{C183D7F6-B498-43B3-948B-1728B52AA6E4}">
                  <adec:decorative xmlns:adec="http://schemas.microsoft.com/office/drawing/2017/decorative" val="1"/>
                </a:ext>
              </a:extLst>
            </p:cNvPr>
            <p:cNvSpPr>
              <a:spLocks/>
            </p:cNvSpPr>
            <p:nvPr/>
          </p:nvSpPr>
          <p:spPr>
            <a:xfrm>
              <a:off x="3474676" y="1157049"/>
              <a:ext cx="250822" cy="250818"/>
            </a:xfrm>
            <a:custGeom>
              <a:avLst/>
              <a:gdLst>
                <a:gd name="csX0" fmla="*/ 188408 w 190501"/>
                <a:gd name="csY0" fmla="*/ 45534 h 190500"/>
                <a:gd name="csX1" fmla="*/ 189957 w 190501"/>
                <a:gd name="csY1" fmla="*/ 37748 h 190500"/>
                <a:gd name="csX2" fmla="*/ 183357 w 190501"/>
                <a:gd name="csY2" fmla="*/ 33338 h 190500"/>
                <a:gd name="csX3" fmla="*/ 157162 w 190501"/>
                <a:gd name="csY3" fmla="*/ 33338 h 190500"/>
                <a:gd name="csX4" fmla="*/ 157162 w 190501"/>
                <a:gd name="csY4" fmla="*/ 7144 h 190500"/>
                <a:gd name="csX5" fmla="*/ 152751 w 190501"/>
                <a:gd name="csY5" fmla="*/ 544 h 190500"/>
                <a:gd name="csX6" fmla="*/ 144967 w 190501"/>
                <a:gd name="csY6" fmla="*/ 2093 h 190500"/>
                <a:gd name="csX7" fmla="*/ 121155 w 190501"/>
                <a:gd name="csY7" fmla="*/ 25906 h 190500"/>
                <a:gd name="csX8" fmla="*/ 119063 w 190501"/>
                <a:gd name="csY8" fmla="*/ 30957 h 190500"/>
                <a:gd name="csX9" fmla="*/ 119063 w 190501"/>
                <a:gd name="csY9" fmla="*/ 57967 h 190500"/>
                <a:gd name="csX10" fmla="*/ 100185 w 190501"/>
                <a:gd name="csY10" fmla="*/ 76846 h 190500"/>
                <a:gd name="csX11" fmla="*/ 95250 w 190501"/>
                <a:gd name="csY11" fmla="*/ 76201 h 190500"/>
                <a:gd name="csX12" fmla="*/ 76200 w 190501"/>
                <a:gd name="csY12" fmla="*/ 95251 h 190500"/>
                <a:gd name="csX13" fmla="*/ 95250 w 190501"/>
                <a:gd name="csY13" fmla="*/ 114301 h 190500"/>
                <a:gd name="csX14" fmla="*/ 114300 w 190501"/>
                <a:gd name="csY14" fmla="*/ 95251 h 190500"/>
                <a:gd name="csX15" fmla="*/ 113655 w 190501"/>
                <a:gd name="csY15" fmla="*/ 90316 h 190500"/>
                <a:gd name="csX16" fmla="*/ 132533 w 190501"/>
                <a:gd name="csY16" fmla="*/ 71438 h 190500"/>
                <a:gd name="csX17" fmla="*/ 159545 w 190501"/>
                <a:gd name="csY17" fmla="*/ 71438 h 190500"/>
                <a:gd name="csX18" fmla="*/ 164596 w 190501"/>
                <a:gd name="csY18" fmla="*/ 69346 h 190500"/>
                <a:gd name="csX19" fmla="*/ 188408 w 190501"/>
                <a:gd name="csY19" fmla="*/ 45534 h 190500"/>
                <a:gd name="csX20" fmla="*/ 95250 w 190501"/>
                <a:gd name="csY20" fmla="*/ 1 h 190500"/>
                <a:gd name="csX21" fmla="*/ 127860 w 190501"/>
                <a:gd name="csY21" fmla="*/ 5729 h 190500"/>
                <a:gd name="csX22" fmla="*/ 114419 w 190501"/>
                <a:gd name="csY22" fmla="*/ 19170 h 190500"/>
                <a:gd name="csX23" fmla="*/ 112781 w 190501"/>
                <a:gd name="csY23" fmla="*/ 21077 h 190500"/>
                <a:gd name="csX24" fmla="*/ 95250 w 190501"/>
                <a:gd name="csY24" fmla="*/ 19051 h 190500"/>
                <a:gd name="csX25" fmla="*/ 19050 w 190501"/>
                <a:gd name="csY25" fmla="*/ 95251 h 190500"/>
                <a:gd name="csX26" fmla="*/ 95250 w 190501"/>
                <a:gd name="csY26" fmla="*/ 171451 h 190500"/>
                <a:gd name="csX27" fmla="*/ 171450 w 190501"/>
                <a:gd name="csY27" fmla="*/ 95251 h 190500"/>
                <a:gd name="csX28" fmla="*/ 169424 w 190501"/>
                <a:gd name="csY28" fmla="*/ 77720 h 190500"/>
                <a:gd name="csX29" fmla="*/ 171331 w 190501"/>
                <a:gd name="csY29" fmla="*/ 76081 h 190500"/>
                <a:gd name="csX30" fmla="*/ 184772 w 190501"/>
                <a:gd name="csY30" fmla="*/ 62641 h 190500"/>
                <a:gd name="csX31" fmla="*/ 190500 w 190501"/>
                <a:gd name="csY31" fmla="*/ 95251 h 190500"/>
                <a:gd name="csX32" fmla="*/ 95250 w 190501"/>
                <a:gd name="csY32" fmla="*/ 190501 h 190500"/>
                <a:gd name="csX33" fmla="*/ 0 w 190501"/>
                <a:gd name="csY33" fmla="*/ 95251 h 190500"/>
                <a:gd name="csX34" fmla="*/ 95250 w 190501"/>
                <a:gd name="csY34" fmla="*/ 1 h 190500"/>
                <a:gd name="csX35" fmla="*/ 95250 w 190501"/>
                <a:gd name="csY35" fmla="*/ 38101 h 190500"/>
                <a:gd name="csX36" fmla="*/ 109538 w 190501"/>
                <a:gd name="csY36" fmla="*/ 39901 h 190500"/>
                <a:gd name="csX37" fmla="*/ 109538 w 190501"/>
                <a:gd name="csY37" fmla="*/ 54021 h 190500"/>
                <a:gd name="csX38" fmla="*/ 105592 w 190501"/>
                <a:gd name="csY38" fmla="*/ 57968 h 190500"/>
                <a:gd name="csX39" fmla="*/ 105131 w 190501"/>
                <a:gd name="csY39" fmla="*/ 58444 h 190500"/>
                <a:gd name="csX40" fmla="*/ 95250 w 190501"/>
                <a:gd name="csY40" fmla="*/ 57151 h 190500"/>
                <a:gd name="csX41" fmla="*/ 57150 w 190501"/>
                <a:gd name="csY41" fmla="*/ 95251 h 190500"/>
                <a:gd name="csX42" fmla="*/ 95250 w 190501"/>
                <a:gd name="csY42" fmla="*/ 133351 h 190500"/>
                <a:gd name="csX43" fmla="*/ 133350 w 190501"/>
                <a:gd name="csY43" fmla="*/ 95251 h 190500"/>
                <a:gd name="csX44" fmla="*/ 132057 w 190501"/>
                <a:gd name="csY44" fmla="*/ 85369 h 190500"/>
                <a:gd name="csX45" fmla="*/ 132533 w 190501"/>
                <a:gd name="csY45" fmla="*/ 84909 h 190500"/>
                <a:gd name="csX46" fmla="*/ 136478 w 190501"/>
                <a:gd name="csY46" fmla="*/ 80963 h 190500"/>
                <a:gd name="csX47" fmla="*/ 150600 w 190501"/>
                <a:gd name="csY47" fmla="*/ 80963 h 190500"/>
                <a:gd name="csX48" fmla="*/ 152400 w 190501"/>
                <a:gd name="csY48" fmla="*/ 95251 h 190500"/>
                <a:gd name="csX49" fmla="*/ 95250 w 190501"/>
                <a:gd name="csY49" fmla="*/ 152401 h 190500"/>
                <a:gd name="csX50" fmla="*/ 38100 w 190501"/>
                <a:gd name="csY50" fmla="*/ 95251 h 190500"/>
                <a:gd name="csX51" fmla="*/ 95250 w 190501"/>
                <a:gd name="csY51" fmla="*/ 38101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90501" h="190500">
                  <a:moveTo>
                    <a:pt x="188408" y="45534"/>
                  </a:moveTo>
                  <a:cubicBezTo>
                    <a:pt x="190452" y="43491"/>
                    <a:pt x="191063" y="40418"/>
                    <a:pt x="189957" y="37748"/>
                  </a:cubicBezTo>
                  <a:cubicBezTo>
                    <a:pt x="188852" y="35079"/>
                    <a:pt x="186247" y="33338"/>
                    <a:pt x="183357" y="33338"/>
                  </a:cubicBezTo>
                  <a:lnTo>
                    <a:pt x="157162" y="33338"/>
                  </a:lnTo>
                  <a:lnTo>
                    <a:pt x="157162" y="7144"/>
                  </a:lnTo>
                  <a:cubicBezTo>
                    <a:pt x="157162" y="4255"/>
                    <a:pt x="155421" y="1650"/>
                    <a:pt x="152751" y="544"/>
                  </a:cubicBezTo>
                  <a:cubicBezTo>
                    <a:pt x="150083" y="-562"/>
                    <a:pt x="147010" y="50"/>
                    <a:pt x="144967" y="2093"/>
                  </a:cubicBezTo>
                  <a:lnTo>
                    <a:pt x="121155" y="25906"/>
                  </a:lnTo>
                  <a:cubicBezTo>
                    <a:pt x="119815" y="27246"/>
                    <a:pt x="119063" y="29063"/>
                    <a:pt x="119063" y="30957"/>
                  </a:cubicBezTo>
                  <a:lnTo>
                    <a:pt x="119063" y="57967"/>
                  </a:lnTo>
                  <a:lnTo>
                    <a:pt x="100185" y="76846"/>
                  </a:lnTo>
                  <a:cubicBezTo>
                    <a:pt x="98610" y="76425"/>
                    <a:pt x="96957" y="76201"/>
                    <a:pt x="95250" y="76201"/>
                  </a:cubicBezTo>
                  <a:cubicBezTo>
                    <a:pt x="84729" y="76201"/>
                    <a:pt x="76200" y="84730"/>
                    <a:pt x="76200" y="95251"/>
                  </a:cubicBezTo>
                  <a:cubicBezTo>
                    <a:pt x="76200" y="105771"/>
                    <a:pt x="84729" y="114301"/>
                    <a:pt x="95250" y="114301"/>
                  </a:cubicBezTo>
                  <a:cubicBezTo>
                    <a:pt x="105771" y="114301"/>
                    <a:pt x="114300" y="105771"/>
                    <a:pt x="114300" y="95251"/>
                  </a:cubicBezTo>
                  <a:cubicBezTo>
                    <a:pt x="114300" y="93544"/>
                    <a:pt x="114075" y="91891"/>
                    <a:pt x="113655" y="90316"/>
                  </a:cubicBezTo>
                  <a:lnTo>
                    <a:pt x="132533" y="71438"/>
                  </a:lnTo>
                  <a:lnTo>
                    <a:pt x="159545" y="71438"/>
                  </a:lnTo>
                  <a:cubicBezTo>
                    <a:pt x="161439" y="71438"/>
                    <a:pt x="163256" y="70686"/>
                    <a:pt x="164596" y="69346"/>
                  </a:cubicBezTo>
                  <a:lnTo>
                    <a:pt x="188408" y="45534"/>
                  </a:lnTo>
                  <a:close/>
                  <a:moveTo>
                    <a:pt x="95250" y="1"/>
                  </a:moveTo>
                  <a:cubicBezTo>
                    <a:pt x="106705" y="1"/>
                    <a:pt x="117687" y="2023"/>
                    <a:pt x="127860" y="5729"/>
                  </a:cubicBezTo>
                  <a:lnTo>
                    <a:pt x="114419" y="19170"/>
                  </a:lnTo>
                  <a:cubicBezTo>
                    <a:pt x="113823" y="19767"/>
                    <a:pt x="113275" y="20405"/>
                    <a:pt x="112781" y="21077"/>
                  </a:cubicBezTo>
                  <a:cubicBezTo>
                    <a:pt x="107152" y="19752"/>
                    <a:pt x="101283" y="19051"/>
                    <a:pt x="95250" y="19051"/>
                  </a:cubicBezTo>
                  <a:cubicBezTo>
                    <a:pt x="53166" y="19051"/>
                    <a:pt x="19050" y="53166"/>
                    <a:pt x="19050" y="95251"/>
                  </a:cubicBezTo>
                  <a:cubicBezTo>
                    <a:pt x="19050" y="137334"/>
                    <a:pt x="53166" y="171451"/>
                    <a:pt x="95250" y="171451"/>
                  </a:cubicBezTo>
                  <a:cubicBezTo>
                    <a:pt x="137334" y="171451"/>
                    <a:pt x="171450" y="137334"/>
                    <a:pt x="171450" y="95251"/>
                  </a:cubicBezTo>
                  <a:cubicBezTo>
                    <a:pt x="171450" y="89218"/>
                    <a:pt x="170749" y="83348"/>
                    <a:pt x="169424" y="77720"/>
                  </a:cubicBezTo>
                  <a:cubicBezTo>
                    <a:pt x="170096" y="77226"/>
                    <a:pt x="170734" y="76678"/>
                    <a:pt x="171331" y="76081"/>
                  </a:cubicBezTo>
                  <a:lnTo>
                    <a:pt x="184772" y="62641"/>
                  </a:lnTo>
                  <a:cubicBezTo>
                    <a:pt x="188478" y="72813"/>
                    <a:pt x="190500" y="83796"/>
                    <a:pt x="190500" y="95251"/>
                  </a:cubicBezTo>
                  <a:cubicBezTo>
                    <a:pt x="190500" y="147856"/>
                    <a:pt x="147855" y="190501"/>
                    <a:pt x="95250" y="190501"/>
                  </a:cubicBezTo>
                  <a:cubicBezTo>
                    <a:pt x="42645" y="190501"/>
                    <a:pt x="0" y="147856"/>
                    <a:pt x="0" y="95251"/>
                  </a:cubicBezTo>
                  <a:cubicBezTo>
                    <a:pt x="0" y="42645"/>
                    <a:pt x="42645" y="1"/>
                    <a:pt x="95250" y="1"/>
                  </a:cubicBezTo>
                  <a:close/>
                  <a:moveTo>
                    <a:pt x="95250" y="38101"/>
                  </a:moveTo>
                  <a:cubicBezTo>
                    <a:pt x="100184" y="38101"/>
                    <a:pt x="104971" y="38726"/>
                    <a:pt x="109538" y="39901"/>
                  </a:cubicBezTo>
                  <a:lnTo>
                    <a:pt x="109538" y="54021"/>
                  </a:lnTo>
                  <a:lnTo>
                    <a:pt x="105592" y="57968"/>
                  </a:lnTo>
                  <a:cubicBezTo>
                    <a:pt x="105435" y="58125"/>
                    <a:pt x="105282" y="58284"/>
                    <a:pt x="105131" y="58444"/>
                  </a:cubicBezTo>
                  <a:cubicBezTo>
                    <a:pt x="101980" y="57601"/>
                    <a:pt x="98668" y="57151"/>
                    <a:pt x="95250" y="57151"/>
                  </a:cubicBezTo>
                  <a:cubicBezTo>
                    <a:pt x="74208" y="57151"/>
                    <a:pt x="57150" y="74208"/>
                    <a:pt x="57150" y="95251"/>
                  </a:cubicBezTo>
                  <a:cubicBezTo>
                    <a:pt x="57150" y="116293"/>
                    <a:pt x="74208" y="133351"/>
                    <a:pt x="95250" y="133351"/>
                  </a:cubicBezTo>
                  <a:cubicBezTo>
                    <a:pt x="116292" y="133351"/>
                    <a:pt x="133350" y="116293"/>
                    <a:pt x="133350" y="95251"/>
                  </a:cubicBezTo>
                  <a:cubicBezTo>
                    <a:pt x="133350" y="91833"/>
                    <a:pt x="132900" y="88521"/>
                    <a:pt x="132057" y="85369"/>
                  </a:cubicBezTo>
                  <a:cubicBezTo>
                    <a:pt x="132217" y="85219"/>
                    <a:pt x="132376" y="85065"/>
                    <a:pt x="132533" y="84909"/>
                  </a:cubicBezTo>
                  <a:lnTo>
                    <a:pt x="136478" y="80963"/>
                  </a:lnTo>
                  <a:lnTo>
                    <a:pt x="150600" y="80963"/>
                  </a:lnTo>
                  <a:cubicBezTo>
                    <a:pt x="151775" y="85530"/>
                    <a:pt x="152400" y="90317"/>
                    <a:pt x="152400" y="95251"/>
                  </a:cubicBezTo>
                  <a:cubicBezTo>
                    <a:pt x="152400" y="126814"/>
                    <a:pt x="126813" y="152401"/>
                    <a:pt x="95250" y="152401"/>
                  </a:cubicBezTo>
                  <a:cubicBezTo>
                    <a:pt x="63687" y="152401"/>
                    <a:pt x="38100" y="126814"/>
                    <a:pt x="38100" y="95251"/>
                  </a:cubicBezTo>
                  <a:cubicBezTo>
                    <a:pt x="38100" y="63687"/>
                    <a:pt x="63687" y="38101"/>
                    <a:pt x="95250" y="38101"/>
                  </a:cubicBez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sp>
        <p:nvSpPr>
          <p:cNvPr id="78" name="Oval 77">
            <a:extLst>
              <a:ext uri="{FF2B5EF4-FFF2-40B4-BE49-F238E27FC236}">
                <a16:creationId xmlns:a16="http://schemas.microsoft.com/office/drawing/2014/main" id="{7ABF2AEF-7824-DEF7-C92E-0915DEF41F17}"/>
              </a:ext>
              <a:ext uri="{C183D7F6-B498-43B3-948B-1728B52AA6E4}">
                <ns3:decorative xmlns:ns3="http://schemas.microsoft.com/office/drawing/2017/decorative" val="1"/>
              </a:ext>
            </a:extLst>
          </p:cNvPr>
          <p:cNvSpPr/>
          <p:nvPr/>
        </p:nvSpPr>
        <p:spPr>
          <a:xfrm>
            <a:off x="4122028" y="779171"/>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Graphic 15">
            <a:extLst>
              <a:ext uri="{FF2B5EF4-FFF2-40B4-BE49-F238E27FC236}">
                <a16:creationId xmlns:a16="http://schemas.microsoft.com/office/drawing/2014/main" id="{09721564-91C5-D7C7-A65B-CFCBCAAA8285}"/>
              </a:ext>
              <a:ext uri="{C183D7F6-B498-43B3-948B-1728B52AA6E4}">
                <adec:decorative xmlns:adec="http://schemas.microsoft.com/office/drawing/2017/decorative" val="1"/>
              </a:ext>
            </a:extLst>
          </p:cNvPr>
          <p:cNvSpPr>
            <a:spLocks/>
          </p:cNvSpPr>
          <p:nvPr/>
        </p:nvSpPr>
        <p:spPr>
          <a:xfrm>
            <a:off x="4172482" y="836452"/>
            <a:ext cx="297568" cy="252931"/>
          </a:xfrm>
          <a:custGeom>
            <a:avLst/>
            <a:gdLst>
              <a:gd name="csX0" fmla="*/ 147926 w 190499"/>
              <a:gd name="csY0" fmla="*/ 2092 h 161924"/>
              <a:gd name="csX1" fmla="*/ 137824 w 190499"/>
              <a:gd name="csY1" fmla="*/ 2092 h 161924"/>
              <a:gd name="csX2" fmla="*/ 137824 w 190499"/>
              <a:gd name="csY2" fmla="*/ 12195 h 161924"/>
              <a:gd name="csX3" fmla="*/ 166109 w 190499"/>
              <a:gd name="csY3" fmla="*/ 40481 h 161924"/>
              <a:gd name="csX4" fmla="*/ 119063 w 190499"/>
              <a:gd name="csY4" fmla="*/ 40481 h 161924"/>
              <a:gd name="csX5" fmla="*/ 88106 w 190499"/>
              <a:gd name="csY5" fmla="*/ 71437 h 161924"/>
              <a:gd name="csX6" fmla="*/ 88106 w 190499"/>
              <a:gd name="csY6" fmla="*/ 100012 h 161924"/>
              <a:gd name="csX7" fmla="*/ 75437 w 190499"/>
              <a:gd name="csY7" fmla="*/ 116198 h 161924"/>
              <a:gd name="csX8" fmla="*/ 38100 w 190499"/>
              <a:gd name="csY8" fmla="*/ 85725 h 161924"/>
              <a:gd name="csX9" fmla="*/ 0 w 190499"/>
              <a:gd name="csY9" fmla="*/ 123825 h 161924"/>
              <a:gd name="csX10" fmla="*/ 38100 w 190499"/>
              <a:gd name="csY10" fmla="*/ 161925 h 161924"/>
              <a:gd name="csX11" fmla="*/ 75582 w 190499"/>
              <a:gd name="csY11" fmla="*/ 130693 h 161924"/>
              <a:gd name="csX12" fmla="*/ 102394 w 190499"/>
              <a:gd name="csY12" fmla="*/ 100012 h 161924"/>
              <a:gd name="csX13" fmla="*/ 102394 w 190499"/>
              <a:gd name="csY13" fmla="*/ 71437 h 161924"/>
              <a:gd name="csX14" fmla="*/ 119063 w 190499"/>
              <a:gd name="csY14" fmla="*/ 54769 h 161924"/>
              <a:gd name="csX15" fmla="*/ 166109 w 190499"/>
              <a:gd name="csY15" fmla="*/ 54769 h 161924"/>
              <a:gd name="csX16" fmla="*/ 137824 w 190499"/>
              <a:gd name="csY16" fmla="*/ 83055 h 161924"/>
              <a:gd name="csX17" fmla="*/ 137824 w 190499"/>
              <a:gd name="csY17" fmla="*/ 93157 h 161924"/>
              <a:gd name="csX18" fmla="*/ 147926 w 190499"/>
              <a:gd name="csY18" fmla="*/ 93157 h 161924"/>
              <a:gd name="csX19" fmla="*/ 188407 w 190499"/>
              <a:gd name="csY19" fmla="*/ 52676 h 161924"/>
              <a:gd name="csX20" fmla="*/ 188407 w 190499"/>
              <a:gd name="csY20" fmla="*/ 42574 h 161924"/>
              <a:gd name="csX21" fmla="*/ 147926 w 190499"/>
              <a:gd name="csY21" fmla="*/ 2092 h 1619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90499" h="161924">
                <a:moveTo>
                  <a:pt x="147926" y="2092"/>
                </a:moveTo>
                <a:cubicBezTo>
                  <a:pt x="145136" y="-697"/>
                  <a:pt x="140614" y="-697"/>
                  <a:pt x="137824" y="2092"/>
                </a:cubicBezTo>
                <a:cubicBezTo>
                  <a:pt x="135034" y="4882"/>
                  <a:pt x="135034" y="9405"/>
                  <a:pt x="137824" y="12195"/>
                </a:cubicBezTo>
                <a:lnTo>
                  <a:pt x="166109" y="40481"/>
                </a:lnTo>
                <a:lnTo>
                  <a:pt x="119063" y="40481"/>
                </a:lnTo>
                <a:cubicBezTo>
                  <a:pt x="101966" y="40481"/>
                  <a:pt x="88106" y="54341"/>
                  <a:pt x="88106" y="71437"/>
                </a:cubicBezTo>
                <a:lnTo>
                  <a:pt x="88106" y="100012"/>
                </a:lnTo>
                <a:cubicBezTo>
                  <a:pt x="88106" y="107840"/>
                  <a:pt x="82711" y="114408"/>
                  <a:pt x="75437" y="116198"/>
                </a:cubicBezTo>
                <a:cubicBezTo>
                  <a:pt x="71904" y="98811"/>
                  <a:pt x="56530" y="85725"/>
                  <a:pt x="38100" y="85725"/>
                </a:cubicBezTo>
                <a:cubicBezTo>
                  <a:pt x="17058" y="85725"/>
                  <a:pt x="0" y="102783"/>
                  <a:pt x="0" y="123825"/>
                </a:cubicBezTo>
                <a:cubicBezTo>
                  <a:pt x="0" y="144867"/>
                  <a:pt x="17058" y="161925"/>
                  <a:pt x="38100" y="161925"/>
                </a:cubicBezTo>
                <a:cubicBezTo>
                  <a:pt x="56797" y="161925"/>
                  <a:pt x="72348" y="148458"/>
                  <a:pt x="75582" y="130693"/>
                </a:cubicBezTo>
                <a:cubicBezTo>
                  <a:pt x="90719" y="128668"/>
                  <a:pt x="102394" y="115704"/>
                  <a:pt x="102394" y="100012"/>
                </a:cubicBezTo>
                <a:lnTo>
                  <a:pt x="102394" y="71437"/>
                </a:lnTo>
                <a:cubicBezTo>
                  <a:pt x="102394" y="62232"/>
                  <a:pt x="109857" y="54769"/>
                  <a:pt x="119063" y="54769"/>
                </a:cubicBezTo>
                <a:lnTo>
                  <a:pt x="166109" y="54769"/>
                </a:lnTo>
                <a:lnTo>
                  <a:pt x="137824" y="83055"/>
                </a:lnTo>
                <a:cubicBezTo>
                  <a:pt x="135034" y="85845"/>
                  <a:pt x="135034" y="90367"/>
                  <a:pt x="137824" y="93157"/>
                </a:cubicBezTo>
                <a:cubicBezTo>
                  <a:pt x="140614" y="95947"/>
                  <a:pt x="145136" y="95947"/>
                  <a:pt x="147926" y="93157"/>
                </a:cubicBezTo>
                <a:lnTo>
                  <a:pt x="188407" y="52676"/>
                </a:lnTo>
                <a:cubicBezTo>
                  <a:pt x="191197" y="49887"/>
                  <a:pt x="191197" y="45363"/>
                  <a:pt x="188407" y="42574"/>
                </a:cubicBezTo>
                <a:lnTo>
                  <a:pt x="147926" y="2092"/>
                </a:lnTo>
                <a:close/>
              </a:path>
            </a:pathLst>
          </a:custGeom>
          <a:solidFill>
            <a:srgbClr val="323139"/>
          </a:solidFill>
          <a:ln w="10477" cap="flat" cmpd="sng" algn="ctr">
            <a:noFill/>
            <a:prstDash val="solid"/>
            <a:miter/>
          </a:ln>
          <a:effectLst/>
        </p:spPr>
        <p:txBody>
          <a:bodyPr rot="0" spcFirstLastPara="0" vertOverflow="overflow" horzOverflow="overflow" vert="horz" wrap="square" lIns="338011" tIns="270406" rIns="338011" bIns="270406" numCol="1" spcCol="0" rtlCol="0" fromWordArt="0" anchor="t" anchorCtr="0" forceAA="0" compatLnSpc="1">
            <a:prstTxWarp prst="textNoShape">
              <a:avLst/>
            </a:prstTxWarp>
            <a:noAutofit/>
          </a:bodyPr>
          <a:lstStyle/>
          <a:p>
            <a:pPr marL="0" marR="0" lvl="0" indent="0" algn="l" defTabSz="1722411" rtl="0" eaLnBrk="1" fontAlgn="base" latinLnBrk="0" hangingPunct="1">
              <a:lnSpc>
                <a:spcPct val="100000"/>
              </a:lnSpc>
              <a:spcBef>
                <a:spcPct val="0"/>
              </a:spcBef>
              <a:spcAft>
                <a:spcPct val="0"/>
              </a:spcAft>
              <a:buClrTx/>
              <a:buSzTx/>
              <a:buFontTx/>
              <a:buNone/>
              <a:tabLst/>
              <a:defRPr/>
            </a:pPr>
            <a:endParaRPr kumimoji="0" lang="en-US" sz="3622" b="1" i="0" u="none" strike="noStrike" kern="0" cap="none" spc="0" normalizeH="0" baseline="0" noProof="0">
              <a:ln>
                <a:noFill/>
              </a:ln>
              <a:noFill/>
              <a:effectLst/>
              <a:uLnTx/>
              <a:uFillTx/>
              <a:latin typeface="Segoe UI Variable Display Semibold" pitchFamily="2" charset="0"/>
              <a:ea typeface="+mn-ea"/>
              <a:cs typeface="Segoe UI" pitchFamily="34" charset="0"/>
            </a:endParaRPr>
          </a:p>
        </p:txBody>
      </p:sp>
      <p:grpSp>
        <p:nvGrpSpPr>
          <p:cNvPr id="83" name="Group 82">
            <a:extLst>
              <a:ext uri="{FF2B5EF4-FFF2-40B4-BE49-F238E27FC236}">
                <a16:creationId xmlns:a16="http://schemas.microsoft.com/office/drawing/2014/main" id="{5A0CBAFC-5DED-D3E2-18ED-E34B74CAE926}"/>
              </a:ext>
            </a:extLst>
          </p:cNvPr>
          <p:cNvGrpSpPr/>
          <p:nvPr/>
        </p:nvGrpSpPr>
        <p:grpSpPr>
          <a:xfrm>
            <a:off x="3261739" y="2189487"/>
            <a:ext cx="1534355" cy="276999"/>
            <a:chOff x="3261739" y="2189487"/>
            <a:chExt cx="1534355" cy="276999"/>
          </a:xfrm>
        </p:grpSpPr>
        <p:sp>
          <p:nvSpPr>
            <p:cNvPr id="82" name="Rectangle: Rounded Corners 81">
              <a:extLst>
                <a:ext uri="{FF2B5EF4-FFF2-40B4-BE49-F238E27FC236}">
                  <a16:creationId xmlns:a16="http://schemas.microsoft.com/office/drawing/2014/main" id="{A21A551A-DE36-A716-13EE-21F822622FD5}"/>
                </a:ext>
                <a:ext uri="{C183D7F6-B498-43B3-948B-1728B52AA6E4}">
                  <ns4:decorative xmlns:ns4="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63" name="TextBox 62">
              <a:extLst>
                <a:ext uri="{FF2B5EF4-FFF2-40B4-BE49-F238E27FC236}">
                  <a16:creationId xmlns:a16="http://schemas.microsoft.com/office/drawing/2014/main" id="{197D0AEB-8A07-B4D6-7F33-85429D49214C}"/>
                </a:ext>
              </a:extLst>
            </p:cNvPr>
            <p:cNvSpPr txBox="1"/>
            <p:nvPr/>
          </p:nvSpPr>
          <p:spPr>
            <a:xfrm>
              <a:off x="3655077" y="2189487"/>
              <a:ext cx="71045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Prompt</a:t>
              </a:r>
              <a:endParaRPr kumimoji="0" lang="en-IN"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endParaRPr>
            </a:p>
          </p:txBody>
        </p:sp>
      </p:grpSp>
      <p:sp>
        <p:nvSpPr>
          <p:cNvPr id="98" name="Rectangle: Rounded Corners 97">
            <a:extLst>
              <a:ext uri="{FF2B5EF4-FFF2-40B4-BE49-F238E27FC236}">
                <a16:creationId xmlns:a16="http://schemas.microsoft.com/office/drawing/2014/main" id="{AEBB3E1D-C5FB-7FC9-829F-F4815362ABD2}"/>
              </a:ext>
            </a:extLst>
          </p:cNvPr>
          <p:cNvSpPr/>
          <p:nvPr/>
        </p:nvSpPr>
        <p:spPr bwMode="auto">
          <a:xfrm>
            <a:off x="8334509" y="968486"/>
            <a:ext cx="3621360" cy="1107187"/>
          </a:xfrm>
          <a:prstGeom prst="roundRect">
            <a:avLst>
              <a:gd name="adj" fmla="val 10584"/>
            </a:avLst>
          </a:prstGeom>
          <a:solidFill>
            <a:srgbClr val="341434"/>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Why Cowork?: </a:t>
            </a:r>
            <a:r>
              <a:rPr kumimoji="0" lang="en-US" sz="1100" b="0" i="0" u="none" strike="noStrike" kern="0" cap="none" spc="0" normalizeH="0" baseline="0" noProof="0">
                <a:ln>
                  <a:noFill/>
                </a:ln>
                <a:solidFill>
                  <a:prstClr val="white"/>
                </a:solidFill>
                <a:effectLst/>
                <a:uLnTx/>
                <a:uFillTx/>
                <a:latin typeface="Segoe Sans Display Semilight" pitchFamily="2" charset="0"/>
                <a:ea typeface="+mn-ea"/>
                <a:cs typeface="Segoe Sans Display Semilight" pitchFamily="2" charset="0"/>
              </a:rPr>
              <a:t>What needs your attention is scattered across calendar, email, chats, and documents. Cowork combines: calendar and priority documents, emails, chats and transcripts, signal detection across workstreams, and an interactive daily dashboard, into one recurring workflow.</a:t>
            </a:r>
            <a:endParaRPr kumimoji="0" lang="en-US" sz="1100" i="0" u="none" strike="noStrike" kern="0" cap="none" spc="0" normalizeH="0" baseline="0" noProof="0">
              <a:ln w="3175">
                <a:noFill/>
              </a:ln>
              <a:solidFill>
                <a:prstClr val="white"/>
              </a:solidFill>
              <a:effectLst/>
              <a:uLnTx/>
              <a:uFillTx/>
              <a:latin typeface="Segoe Sans Display Semilight" pitchFamily="2" charset="0"/>
              <a:cs typeface="Segoe Sans Display Semilight" pitchFamily="2" charset="0"/>
            </a:endParaRPr>
          </a:p>
        </p:txBody>
      </p:sp>
      <p:sp>
        <p:nvSpPr>
          <p:cNvPr id="100" name="Oval 99">
            <a:extLst>
              <a:ext uri="{FF2B5EF4-FFF2-40B4-BE49-F238E27FC236}">
                <a16:creationId xmlns:a16="http://schemas.microsoft.com/office/drawing/2014/main" id="{82CA9355-2BD9-0408-CC03-CCAC40D6F6BE}"/>
              </a:ext>
              <a:ext uri="{C183D7F6-B498-43B3-948B-1728B52AA6E4}">
                <ns5:decorative xmlns:ns5="http://schemas.microsoft.com/office/drawing/2017/decorative" val="1"/>
              </a:ext>
            </a:extLst>
          </p:cNvPr>
          <p:cNvSpPr/>
          <p:nvPr/>
        </p:nvSpPr>
        <p:spPr>
          <a:xfrm>
            <a:off x="8054943" y="775485"/>
            <a:ext cx="398477" cy="398477"/>
          </a:xfrm>
          <a:prstGeom prst="ellipse">
            <a:avLst/>
          </a:prstGeom>
          <a:solidFill>
            <a:srgbClr val="FFF9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1" name="Icon Question Mark"/>
          <p:cNvSpPr txBox="1"/>
          <p:nvPr/>
        </p:nvSpPr>
        <p:spPr>
          <a:xfrm>
            <a:off x="8054943" y="775485"/>
            <a:ext cx="252134" cy="398477"/>
          </a:xfrm>
          <a:prstGeom prst="rect">
            <a:avLst/>
          </a:prstGeom>
          <a:noFill/>
        </p:spPr>
        <p:txBody>
          <a:bodyPr wrap="none" lIns="0" tIns="0" rIns="0" bIns="0" anchor="ctr" anchorCtr="1">
            <a:normAutofit/>
          </a:bodyPr>
          <a:lstStyle/>
          <a:p>
            <a:pPr algn="ctr"/>
            <a:r>
              <a:rPr lang="en-US" sz="1800" b="1">
                <a:solidFill>
                  <a:srgbClr val="3B1041"/>
                </a:solidFill>
                <a:latin typeface="Segoe UI" pitchFamily="34" charset="0"/>
                <a:cs typeface="Segoe UI" pitchFamily="34" charset="0"/>
              </a:rPr>
              <a:t>?</a:t>
            </a:r>
            <a:endParaRPr lang="en-US" sz="1800" b="1"/>
          </a:p>
        </p:txBody>
      </p:sp>
      <p:grpSp>
        <p:nvGrpSpPr>
          <p:cNvPr id="8" name="Group 7">
            <a:extLst>
              <a:ext uri="{FF2B5EF4-FFF2-40B4-BE49-F238E27FC236}">
                <a16:creationId xmlns:a16="http://schemas.microsoft.com/office/drawing/2014/main" id="{1722D180-2D5E-7D8C-B4A2-59B15C0453BA}"/>
              </a:ext>
            </a:extLst>
          </p:cNvPr>
          <p:cNvGrpSpPr/>
          <p:nvPr/>
        </p:nvGrpSpPr>
        <p:grpSpPr>
          <a:xfrm>
            <a:off x="7762717" y="2189487"/>
            <a:ext cx="4227030" cy="2010821"/>
            <a:chOff x="7762717" y="4071694"/>
            <a:chExt cx="4227030" cy="2010821"/>
          </a:xfrm>
        </p:grpSpPr>
        <p:sp>
          <p:nvSpPr>
            <p:cNvPr id="12" name="Rectangle: Rounded Corners 11">
              <a:extLst>
                <a:ext uri="{FF2B5EF4-FFF2-40B4-BE49-F238E27FC236}">
                  <a16:creationId xmlns:a16="http://schemas.microsoft.com/office/drawing/2014/main" id="{D0A30958-8A91-8F1F-EAED-DFB3605D650E}"/>
                </a:ext>
                <a:ext uri="{C183D7F6-B498-43B3-948B-1728B52AA6E4}">
                  <ns6:decorative xmlns:ns6="http://schemas.microsoft.com/office/drawing/2017/decorative" val="1"/>
                </a:ext>
              </a:extLst>
            </p:cNvPr>
            <p:cNvSpPr/>
            <p:nvPr/>
          </p:nvSpPr>
          <p:spPr bwMode="auto">
            <a:xfrm>
              <a:off x="7762717" y="4194834"/>
              <a:ext cx="4227030" cy="1887681"/>
            </a:xfrm>
            <a:prstGeom prst="roundRect">
              <a:avLst>
                <a:gd name="adj" fmla="val 1683"/>
              </a:avLst>
            </a:prstGeom>
            <a:solidFill>
              <a:srgbClr val="FFF9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B553FF"/>
                </a:solidFill>
                <a:effectLst/>
                <a:uLnTx/>
                <a:uFillTx/>
                <a:latin typeface="Segoe Sans Display Semibold" pitchFamily="2" charset="0"/>
                <a:ea typeface="+mn-ea"/>
                <a:cs typeface="Segoe Sans Display Semibold" pitchFamily="2" charset="0"/>
              </a:endParaRPr>
            </a:p>
          </p:txBody>
        </p:sp>
        <p:grpSp>
          <p:nvGrpSpPr>
            <p:cNvPr id="14" name="Group 13">
              <a:extLst>
                <a:ext uri="{FF2B5EF4-FFF2-40B4-BE49-F238E27FC236}">
                  <a16:creationId xmlns:a16="http://schemas.microsoft.com/office/drawing/2014/main" id="{FF30221B-5C85-22FC-F18F-7F0E26EEB0E2}"/>
                </a:ext>
              </a:extLst>
            </p:cNvPr>
            <p:cNvGrpSpPr/>
            <p:nvPr/>
          </p:nvGrpSpPr>
          <p:grpSpPr>
            <a:xfrm>
              <a:off x="9064660" y="4071694"/>
              <a:ext cx="1534355" cy="339147"/>
              <a:chOff x="3261739" y="2198151"/>
              <a:chExt cx="1534355" cy="276999"/>
            </a:xfrm>
          </p:grpSpPr>
          <p:sp>
            <p:nvSpPr>
              <p:cNvPr id="15" name="Rectangle: Rounded Corners 14">
                <a:extLst>
                  <a:ext uri="{FF2B5EF4-FFF2-40B4-BE49-F238E27FC236}">
                    <a16:creationId xmlns:a16="http://schemas.microsoft.com/office/drawing/2014/main" id="{0B857C90-B398-E232-66D0-F3E7E6CB19FB}"/>
                  </a:ext>
                  <a:ext uri="{C183D7F6-B498-43B3-948B-1728B52AA6E4}">
                    <ns7:decorative xmlns:ns7="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6" name="TextBox 15">
                <a:extLst>
                  <a:ext uri="{FF2B5EF4-FFF2-40B4-BE49-F238E27FC236}">
                    <a16:creationId xmlns:a16="http://schemas.microsoft.com/office/drawing/2014/main" id="{7130A025-6B78-DCFA-A21F-4C83E42E79DB}"/>
                  </a:ext>
                </a:extLst>
              </p:cNvPr>
              <p:cNvSpPr txBox="1"/>
              <p:nvPr/>
            </p:nvSpPr>
            <p:spPr>
              <a:xfrm>
                <a:off x="3594912" y="2198151"/>
                <a:ext cx="86433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Workflow</a:t>
                </a:r>
              </a:p>
            </p:txBody>
          </p:sp>
        </p:grpSp>
        <p:sp>
          <p:nvSpPr>
            <p:cNvPr id="57" name="TextBox 56">
              <a:extLst>
                <a:ext uri="{FF2B5EF4-FFF2-40B4-BE49-F238E27FC236}">
                  <a16:creationId xmlns:a16="http://schemas.microsoft.com/office/drawing/2014/main" id="{D4B4634D-9BFA-FCEC-CFE2-4FD4315DDD1A}"/>
                </a:ext>
              </a:extLst>
            </p:cNvPr>
            <p:cNvSpPr txBox="1"/>
            <p:nvPr/>
          </p:nvSpPr>
          <p:spPr>
            <a:xfrm>
              <a:off x="8001952" y="4410841"/>
              <a:ext cx="3756431" cy="1074461"/>
            </a:xfrm>
            <a:prstGeom prst="rect">
              <a:avLst/>
            </a:prstGeom>
            <a:noFill/>
          </p:spPr>
          <p:txBody>
            <a:bodyPr wrap="square" rtlCol="0">
              <a:spAutoFit/>
            </a:bodyPr>
            <a:lstStyle/>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Work IQ</a:t>
              </a:r>
              <a:r>
                <a:rPr lang="en-US" sz="1100">
                  <a:solidFill>
                    <a:prstClr val="black"/>
                  </a:solidFill>
                  <a:latin typeface="Segoe Sans Display" pitchFamily="2" charset="0"/>
                  <a:cs typeface="Segoe Sans Display" pitchFamily="2" charset="0"/>
                </a:rPr>
                <a:t> → Gather calendar, emails, chats, documents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Analyze</a:t>
              </a:r>
              <a:r>
                <a:rPr lang="en-US" sz="1100">
                  <a:solidFill>
                    <a:prstClr val="black"/>
                  </a:solidFill>
                  <a:latin typeface="Segoe Sans Display" pitchFamily="2" charset="0"/>
                  <a:cs typeface="Segoe Sans Display" pitchFamily="2" charset="0"/>
                </a:rPr>
                <a:t> → Surface urgent items, blockers, quiet signals</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Build</a:t>
              </a:r>
              <a:r>
                <a:rPr lang="en-US" sz="1100">
                  <a:solidFill>
                    <a:prstClr val="black"/>
                  </a:solidFill>
                  <a:latin typeface="Segoe Sans Display" pitchFamily="2" charset="0"/>
                  <a:cs typeface="Segoe Sans Display" pitchFamily="2" charset="0"/>
                </a:rPr>
                <a:t> → Interactive HTML command center</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a:p>
              <a:pPr marL="228600" indent="-228600">
                <a:lnSpc>
                  <a:spcPct val="150000"/>
                </a:lnSpc>
                <a:buFont typeface="+mj-lt"/>
                <a:buAutoNum type="arabicPeriod"/>
                <a:defRPr/>
              </a:pPr>
              <a:r>
                <a:rPr lang="en-US" sz="1100" b="1">
                  <a:solidFill>
                    <a:prstClr val="black"/>
                  </a:solidFill>
                  <a:latin typeface="Segoe Sans Display" pitchFamily="2" charset="0"/>
                  <a:cs typeface="Segoe Sans Display" pitchFamily="2" charset="0"/>
                </a:rPr>
                <a:t>Schedule</a:t>
              </a:r>
              <a:r>
                <a:rPr lang="en-US" sz="1100">
                  <a:solidFill>
                    <a:prstClr val="black"/>
                  </a:solidFill>
                  <a:latin typeface="Segoe Sans Display" pitchFamily="2" charset="0"/>
                  <a:cs typeface="Segoe Sans Display" pitchFamily="2" charset="0"/>
                </a:rPr>
                <a:t> → Daily run every weekday morning</a:t>
              </a:r>
              <a:endParaRPr kumimoji="0" lang="en-US" sz="1100" b="1"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3" name="Text 25">
            <a:extLst>
              <a:ext uri="{FF2B5EF4-FFF2-40B4-BE49-F238E27FC236}">
                <a16:creationId xmlns:a16="http://schemas.microsoft.com/office/drawing/2014/main" id="{41B60886-5E17-E589-2FF8-1DDB98962F30}"/>
              </a:ext>
            </a:extLst>
          </p:cNvPr>
          <p:cNvSpPr/>
          <p:nvPr/>
        </p:nvSpPr>
        <p:spPr>
          <a:xfrm>
            <a:off x="632004" y="2684018"/>
            <a:ext cx="6734710" cy="3632476"/>
          </a:xfrm>
          <a:prstGeom prst="rect">
            <a:avLst/>
          </a:prstGeom>
          <a:noFill/>
          <a:ln/>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Build an interactive HTML Executive Command Center that shows what requires my attention today and this week.</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highlight>
                  <a:srgbClr val="DFF5E1"/>
                </a:highlight>
                <a:uLnTx/>
                <a:uFillTx/>
                <a:latin typeface="Segoe UI" pitchFamily="34" charset="0"/>
                <a:ea typeface="Segoe UI" pitchFamily="34" charset="-122"/>
                <a:cs typeface="Segoe UI" pitchFamily="34" charset="-120"/>
              </a:rPr>
              <a:t>Use my calendar, recent emails, Teams conversations, meeting transcripts, and priority documents from [Priority Folder].</a:t>
            </a: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9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Focus on decisions, commitments, risks, and workstreams where my involvement could change the outcome.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At the top, show:</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One or two urgent items requiring 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Today’s most important meeting or priority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My busiest day this week</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Remaining working days this week</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Organize the command center into three views: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Meetings: Key meetings, preparation needed, conflicts, and follow-ups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Priorities: Active commitments, approaching deadlines, blockers, and decisions waiting on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Org pulse: Workstreams receiving significant attention, areas with limited recent activity, and important commitments that may have gone quiet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For each recommended action, label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Lean in; OR, Delegate; OR, Re-engage; OR, Protect time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Explain the signal behind the recommendation and give me one clear next action.</a:t>
            </a: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950" b="0" i="0" u="none" strike="noStrike" kern="1200" cap="none" spc="0" normalizeH="0" baseline="0" noProof="0">
                <a:ln>
                  <a:noFill/>
                </a:ln>
                <a:solidFill>
                  <a:srgbClr val="303030"/>
                </a:solidFill>
                <a:effectLst/>
                <a:highlight>
                  <a:srgbClr val="EDE3FA"/>
                </a:highlight>
                <a:uLnTx/>
                <a:uFillTx/>
                <a:latin typeface="Segoe UI" pitchFamily="34" charset="0"/>
                <a:ea typeface="Segoe UI" pitchFamily="34" charset="-122"/>
                <a:cs typeface="Segoe UI" pitchFamily="34" charset="-120"/>
              </a:rPr>
              <a:t>Keep recommendations focused on workstreams, decisions, and commitments rather than evaluating individual people.</a:t>
            </a: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Make the dashboard executive-ready and easy to scan, with expandable sections, traffic-light indicators, and links to the supporting emails, meetings, chats, and files.</a:t>
            </a:r>
            <a:r>
              <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rPr>
              <a:t> </a:t>
            </a:r>
            <a:r>
              <a:rPr kumimoji="0" lang="en-US" sz="950" b="0" i="0" u="none" strike="noStrike" kern="1200" cap="none" spc="0" normalizeH="0" baseline="0" noProof="0">
                <a:ln>
                  <a:noFill/>
                </a:ln>
                <a:solidFill>
                  <a:srgbClr val="303030"/>
                </a:solidFill>
                <a:effectLst/>
                <a:highlight>
                  <a:srgbClr val="DCEBFF"/>
                </a:highlight>
                <a:uLnTx/>
                <a:uFillTx/>
                <a:latin typeface="Segoe UI" pitchFamily="34" charset="0"/>
                <a:ea typeface="Segoe UI" pitchFamily="34" charset="-122"/>
                <a:cs typeface="Segoe UI" pitchFamily="34" charset="-120"/>
              </a:rPr>
              <a:t>The most important content should answer: What needs my attention, and what should I do differently today?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a:ln>
                <a:noFill/>
              </a:ln>
              <a:solidFill>
                <a:srgbClr val="303030"/>
              </a:solidFill>
              <a:effectLst/>
              <a:uLnTx/>
              <a:uFillTx/>
              <a:latin typeface="Segoe UI" pitchFamily="34" charset="0"/>
              <a:ea typeface="Segoe UI" pitchFamily="34" charset="-122"/>
              <a:cs typeface="Segoe UI" pitchFamily="34" charset="-12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303030"/>
                </a:solidFill>
                <a:effectLst/>
                <a:highlight>
                  <a:srgbClr val="FFE9CC"/>
                </a:highlight>
                <a:uLnTx/>
                <a:uFillTx/>
                <a:latin typeface="Segoe UI" pitchFamily="34" charset="0"/>
                <a:ea typeface="Segoe UI" pitchFamily="34" charset="-122"/>
                <a:cs typeface="Segoe UI" pitchFamily="34" charset="-120"/>
              </a:rPr>
              <a:t>Save this as a skill named [Executive Command Center] and schedule it to run every weekday at [time], using the latest available context.</a:t>
            </a:r>
          </a:p>
        </p:txBody>
      </p:sp>
      <p:grpSp>
        <p:nvGrpSpPr>
          <p:cNvPr id="17" name="Group 16">
            <a:extLst>
              <a:ext uri="{FF2B5EF4-FFF2-40B4-BE49-F238E27FC236}">
                <a16:creationId xmlns:a16="http://schemas.microsoft.com/office/drawing/2014/main" id="{317BDD88-DD13-C157-9D0C-376C7050CA18}"/>
              </a:ext>
            </a:extLst>
          </p:cNvPr>
          <p:cNvGrpSpPr/>
          <p:nvPr/>
        </p:nvGrpSpPr>
        <p:grpSpPr>
          <a:xfrm>
            <a:off x="7756139" y="4421568"/>
            <a:ext cx="1534355" cy="276999"/>
            <a:chOff x="3261739" y="2198151"/>
            <a:chExt cx="1534355" cy="276999"/>
          </a:xfrm>
        </p:grpSpPr>
        <p:sp>
          <p:nvSpPr>
            <p:cNvPr id="18" name="Rectangle: Rounded Corners 17">
              <a:extLst>
                <a:ext uri="{FF2B5EF4-FFF2-40B4-BE49-F238E27FC236}">
                  <a16:creationId xmlns:a16="http://schemas.microsoft.com/office/drawing/2014/main" id="{3E986E19-9FEA-1F60-BCDA-008D13564D09}"/>
                </a:ext>
                <a:ext uri="{C183D7F6-B498-43B3-948B-1728B52AA6E4}">
                  <ns8:decorative xmlns:ns8="http://schemas.microsoft.com/office/drawing/2017/decorative" val="1"/>
                </a:ext>
              </a:extLst>
            </p:cNvPr>
            <p:cNvSpPr/>
            <p:nvPr/>
          </p:nvSpPr>
          <p:spPr bwMode="auto">
            <a:xfrm>
              <a:off x="3261739" y="2213019"/>
              <a:ext cx="1534355" cy="244283"/>
            </a:xfrm>
            <a:prstGeom prst="roundRect">
              <a:avLst>
                <a:gd name="adj" fmla="val 50000"/>
              </a:avLst>
            </a:prstGeom>
            <a:solidFill>
              <a:srgbClr val="F3E5FD"/>
            </a:solidFill>
            <a:ln w="9525" cap="flat" cmpd="sng" algn="ctr">
              <a:noFill/>
              <a:prstDash val="soli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769520"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a:ln w="3175">
                  <a:noFill/>
                </a:ln>
                <a:solidFill>
                  <a:srgbClr val="323139"/>
                </a:solidFill>
                <a:effectLst/>
                <a:uLnTx/>
                <a:uFillTx/>
                <a:latin typeface="Segoe Sans Display Semilight"/>
                <a:ea typeface="+mn-ea"/>
                <a:cs typeface="Segoe Sans Display Semibold" pitchFamily="2" charset="0"/>
              </a:endParaRPr>
            </a:p>
          </p:txBody>
        </p:sp>
        <p:sp>
          <p:nvSpPr>
            <p:cNvPr id="19" name="TextBox 18">
              <a:extLst>
                <a:ext uri="{FF2B5EF4-FFF2-40B4-BE49-F238E27FC236}">
                  <a16:creationId xmlns:a16="http://schemas.microsoft.com/office/drawing/2014/main" id="{66387F56-2C11-A4AD-4E15-4442F2454D48}"/>
                </a:ext>
              </a:extLst>
            </p:cNvPr>
            <p:cNvSpPr txBox="1"/>
            <p:nvPr/>
          </p:nvSpPr>
          <p:spPr>
            <a:xfrm>
              <a:off x="3472286" y="2198151"/>
              <a:ext cx="110959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Data Sources</a:t>
              </a:r>
            </a:p>
          </p:txBody>
        </p:sp>
      </p:grpSp>
      <p:grpSp>
        <p:nvGrpSpPr>
          <p:cNvPr id="13" name="Group 12">
            <a:extLst>
              <a:ext uri="{FF2B5EF4-FFF2-40B4-BE49-F238E27FC236}">
                <a16:creationId xmlns:a16="http://schemas.microsoft.com/office/drawing/2014/main" id="{6DC82203-C40E-B229-3216-8513934D28BD}"/>
              </a:ext>
            </a:extLst>
          </p:cNvPr>
          <p:cNvGrpSpPr/>
          <p:nvPr/>
        </p:nvGrpSpPr>
        <p:grpSpPr>
          <a:xfrm>
            <a:off x="9121309" y="4421568"/>
            <a:ext cx="1200156" cy="488252"/>
            <a:chOff x="10558227" y="4421568"/>
            <a:chExt cx="1200156" cy="488252"/>
          </a:xfrm>
        </p:grpSpPr>
        <p:pic>
          <p:nvPicPr>
            <p:cNvPr id="7" name="Picture 6" descr="Microsoft 365 data icon">
              <a:extLst>
                <a:ext uri="{FF2B5EF4-FFF2-40B4-BE49-F238E27FC236}">
                  <a16:creationId xmlns:a16="http://schemas.microsoft.com/office/drawing/2014/main" id="{8B0F26AD-79AC-E75B-C2DA-E6BBA636792A}"/>
                </a:ext>
              </a:extLst>
            </p:cNvPr>
            <p:cNvPicPr>
              <a:picLocks noChangeAspect="1"/>
            </p:cNvPicPr>
            <p:nvPr/>
          </p:nvPicPr>
          <p:blipFill>
            <a:blip r:embed="rId3"/>
            <a:stretch>
              <a:fillRect/>
            </a:stretch>
          </p:blipFill>
          <p:spPr>
            <a:xfrm>
              <a:off x="11014657" y="4421568"/>
              <a:ext cx="287296" cy="287296"/>
            </a:xfrm>
            <a:prstGeom prst="rect">
              <a:avLst/>
            </a:prstGeom>
          </p:spPr>
        </p:pic>
        <p:sp>
          <p:nvSpPr>
            <p:cNvPr id="9" name="TextBox 8">
              <a:extLst>
                <a:ext uri="{FF2B5EF4-FFF2-40B4-BE49-F238E27FC236}">
                  <a16:creationId xmlns:a16="http://schemas.microsoft.com/office/drawing/2014/main" id="{FE07ADF1-F66F-E626-BAE0-23ADC3E6D92F}"/>
                </a:ext>
              </a:extLst>
            </p:cNvPr>
            <p:cNvSpPr txBox="1"/>
            <p:nvPr/>
          </p:nvSpPr>
          <p:spPr>
            <a:xfrm>
              <a:off x="10558227" y="4678988"/>
              <a:ext cx="1200156"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rPr>
                <a:t>M365 Data</a:t>
              </a:r>
              <a:endParaRPr kumimoji="0" lang="en-IN" sz="900" b="0" i="0" u="none" strike="noStrike" kern="1200" cap="none" spc="0" normalizeH="0" baseline="0" noProof="0">
                <a:ln>
                  <a:noFill/>
                </a:ln>
                <a:solidFill>
                  <a:prstClr val="black"/>
                </a:solidFill>
                <a:effectLst/>
                <a:uLnTx/>
                <a:uFillTx/>
                <a:latin typeface="Segoe Sans Display" pitchFamily="2" charset="0"/>
                <a:ea typeface="+mn-ea"/>
                <a:cs typeface="Segoe Sans Display" pitchFamily="2" charset="0"/>
              </a:endParaRPr>
            </a:p>
          </p:txBody>
        </p:sp>
      </p:grpSp>
      <p:sp>
        <p:nvSpPr>
          <p:cNvPr id="912" name="Rounded Rectangle 911">
            <a:extLst>
              <a:ext uri="{C183D7F6-B498-43B3-948B-1728B52AA6E4}">
                <ns0:decorative xmlns:ns0="http://schemas.microsoft.com/office/drawing/2017/decorative" val="1"/>
              </a:ext>
            </a:extLst>
          </p:cNvPr>
          <p:cNvSpPr/>
          <p:nvPr/>
        </p:nvSpPr>
        <p:spPr>
          <a:xfrm>
            <a:off x="7754112" y="5230368"/>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3" name="TextBox 912"/>
          <p:cNvSpPr txBox="1"/>
          <p:nvPr/>
        </p:nvSpPr>
        <p:spPr>
          <a:xfrm>
            <a:off x="7754112" y="5230368"/>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Prompt key</a:t>
            </a:r>
          </a:p>
        </p:txBody>
      </p:sp>
      <p:pic>
        <p:nvPicPr>
          <p:cNvPr id="914" name="Picture 913" descr="Prompt key: Goal (blue) is the outcome, for whom, and why; Source (green) is the files, sites, or data to use; Expectations (orange) describe what good looks like; Constraints (purple) say what Cowork must not do."/>
          <p:cNvPicPr>
            <a:picLocks noChangeAspect="1"/>
          </p:cNvPicPr>
          <p:nvPr/>
        </p:nvPicPr>
        <p:blipFill>
          <a:blip r:embed="rId6"/>
          <a:stretch>
            <a:fillRect/>
          </a:stretch>
        </p:blipFill>
        <p:spPr>
          <a:xfrm>
            <a:off x="7726680" y="5577840"/>
            <a:ext cx="4224528" cy="940756"/>
          </a:xfrm>
          <a:prstGeom prst="rect">
            <a:avLst/>
          </a:prstGeom>
        </p:spPr>
      </p:pic>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103.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Demo · Executive Command Center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08</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Format</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Video</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6675120" cy="3754755"/>
          </a:xfrm>
          <a:prstGeom prst="roundRect">
            <a:avLst>
              <a:gd name="adj" fmla="val 3000"/>
            </a:avLst>
          </a:prstGeom>
          <a:solidFill>
            <a:srgbClr val="FFF9FD"/>
          </a:solidFill>
          <a:ln w="9525">
            <a:solidFill>
              <a:srgbClr val="8064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2990088"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990088"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Demo video</a:t>
            </a:r>
          </a:p>
        </p:txBody>
      </p:sp>
      <p:sp>
        <p:nvSpPr>
          <p:cNvPr id="54" name="TextBox 53"/>
          <p:cNvSpPr txBox="1"/>
          <p:nvPr/>
        </p:nvSpPr>
        <p:spPr>
          <a:xfrm>
            <a:off x="694944" y="4257675"/>
            <a:ext cx="6126480" cy="548640"/>
          </a:xfrm>
          <a:prstGeom prst="rect">
            <a:avLst/>
          </a:prstGeom>
          <a:noFill/>
        </p:spPr>
        <p:txBody>
          <a:bodyPr wrap="square" anchor="b" lIns="0" rIns="0" tIns="0" bIns="0">
            <a:spAutoFit/>
          </a:bodyPr>
          <a:lstStyle/>
          <a:p>
            <a:pPr algn="ctr">
              <a:spcAft>
                <a:spcPts val="400"/>
              </a:spcAft>
            </a:pPr>
            <a:r>
              <a:rPr sz="1300" b="1" i="0">
                <a:solidFill>
                  <a:srgbClr val="8064A2"/>
                </a:solidFill>
                <a:latin typeface="Segoe Sans Display Semibold"/>
              </a:rPr>
              <a:t>Recorded run: Exercise 8, Executive Command Center</a:t>
            </a:r>
          </a:p>
          <a:p>
            <a:pPr algn="ctr">
              <a:spcAft>
                <a:spcPts val="400"/>
              </a:spcAft>
            </a:pPr>
            <a:r>
              <a:rPr sz="1000" b="0" i="0">
                <a:solidFill>
                  <a:srgbClr val="616161"/>
                </a:solidFill>
                <a:latin typeface="Segoe UI"/>
              </a:rPr>
              <a:t>Facilitator: insert your recording here (see notes)</a:t>
            </a:r>
          </a:p>
        </p:txBody>
      </p:sp>
      <p:sp>
        <p:nvSpPr>
          <p:cNvPr id="55" name="Demo Video Placeholder" descr="Demo video: recorded run of Exercise 8, Executive Command Center"/>
          <p:cNvSpPr>
            <a:spLocks noGrp="1"/>
          </p:cNvSpPr>
          <p:nvPr>
            <p:ph type="media" sz="quarter" idx="155"/>
          </p:nvPr>
        </p:nvSpPr>
        <p:spPr>
          <a:xfrm>
            <a:off x="420624" y="1188720"/>
            <a:ext cx="6675120" cy="3754755"/>
          </a:xfrm>
          <a:prstGeom prst="rect">
            <a:avLst/>
          </a:prstGeom>
        </p:spPr>
        <p:txBody>
          <a:bodyPr anchor="ctr"/>
          <a:lstStyle/>
          <a:p>
            <a:pPr algn="ctr"/>
            <a:endParaRPr lang="en-US"/>
          </a:p>
        </p:txBody>
      </p:sp>
      <p:sp>
        <p:nvSpPr>
          <p:cNvPr id="56" name="Rounded Rectangle 55">
            <a:extLst>
              <a:ext uri="{C183D7F6-B498-43B3-948B-1728B52AA6E4}">
                <ns2:decorative xmlns:ns2="http://schemas.microsoft.com/office/drawing/2017/decorative" val="1"/>
              </a:ext>
            </a:extLst>
          </p:cNvPr>
          <p:cNvSpPr/>
          <p:nvPr/>
        </p:nvSpPr>
        <p:spPr>
          <a:xfrm>
            <a:off x="420624" y="5217795"/>
            <a:ext cx="6675120" cy="1228725"/>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85800" y="5217795"/>
            <a:ext cx="6144768" cy="1228725"/>
          </a:xfrm>
          <a:prstGeom prst="rect">
            <a:avLst/>
          </a:prstGeom>
          <a:noFill/>
        </p:spPr>
        <p:txBody>
          <a:bodyPr wrap="square" anchor="ctr" lIns="0" rIns="0" tIns="0" bIns="0">
            <a:spAutoFit/>
          </a:bodyPr>
          <a:lstStyle/>
          <a:p>
            <a:pPr algn="l">
              <a:lnSpc>
                <a:spcPct val="103000"/>
              </a:lnSpc>
              <a:spcAft>
                <a:spcPts val="400"/>
              </a:spcAft>
            </a:pPr>
            <a:r>
              <a:rPr sz="1300" b="1" i="0">
                <a:solidFill>
                  <a:srgbClr val="FFFFFF"/>
                </a:solidFill>
                <a:latin typeface="Segoe Sans Display Semibold"/>
              </a:rPr>
              <a:t>Why a recording? </a:t>
            </a:r>
            <a:r>
              <a:rPr sz="1300" b="0" i="0">
                <a:solidFill>
                  <a:srgbClr val="FFFFFF"/>
                </a:solidFill>
                <a:latin typeface="Segoe Sans Display"/>
              </a:rPr>
              <a:t>Cowork tasks can take several minutes. Watch the run here, then do it yourself.</a:t>
            </a:r>
          </a:p>
        </p:txBody>
      </p:sp>
      <p:sp>
        <p:nvSpPr>
          <p:cNvPr id="58" name="Rounded Rectangle 57">
            <a:extLst>
              <a:ext uri="{C183D7F6-B498-43B3-948B-1728B52AA6E4}">
                <ns3:decorative xmlns:ns3="http://schemas.microsoft.com/office/drawing/2017/decorative" val="1"/>
              </a:ext>
            </a:extLst>
          </p:cNvPr>
          <p:cNvSpPr/>
          <p:nvPr/>
        </p:nvSpPr>
        <p:spPr>
          <a:xfrm>
            <a:off x="7498079" y="1188720"/>
            <a:ext cx="4480560" cy="5257800"/>
          </a:xfrm>
          <a:prstGeom prst="roundRect">
            <a:avLst>
              <a:gd name="adj" fmla="val 3000"/>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726679" y="1298448"/>
            <a:ext cx="4023360" cy="32004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Watch for in the demo</a:t>
            </a:r>
          </a:p>
        </p:txBody>
      </p:sp>
      <p:sp>
        <p:nvSpPr>
          <p:cNvPr id="60" name="TextBox 59"/>
          <p:cNvSpPr txBox="1"/>
          <p:nvPr/>
        </p:nvSpPr>
        <p:spPr>
          <a:xfrm>
            <a:off x="7772400" y="1737360"/>
            <a:ext cx="3931920" cy="3108960"/>
          </a:xfrm>
          <a:prstGeom prst="rect">
            <a:avLst/>
          </a:prstGeom>
          <a:noFill/>
        </p:spPr>
        <p:txBody>
          <a:bodyPr wrap="square" anchor="t" lIns="0" rIns="0" tIns="0" bIns="0">
            <a:spAutoFit/>
          </a:bodyPr>
          <a:lstStyle/>
          <a:p>
            <a:pPr algn="l" marL="237744" indent="-237744">
              <a:lnSpc>
                <a:spcPct val="105000"/>
              </a:lnSpc>
              <a:spcAft>
                <a:spcPts val="1000"/>
              </a:spcAft>
              <a:buFont typeface="+mj-lt"/>
              <a:buAutoNum type="arabicPeriod"/>
            </a:pPr>
            <a:r>
              <a:rPr sz="1400" b="1" i="0">
                <a:solidFill>
                  <a:srgbClr val="323139"/>
                </a:solidFill>
                <a:latin typeface="Segoe UI"/>
              </a:rPr>
              <a:t>Work IQ</a:t>
            </a:r>
            <a:r>
              <a:rPr sz="1400" b="0" i="0">
                <a:solidFill>
                  <a:srgbClr val="323139"/>
                </a:solidFill>
                <a:latin typeface="Segoe UI"/>
              </a:rPr>
              <a:t> → Gather calendar, emails, chats, documents</a:t>
            </a:r>
          </a:p>
          <a:p>
            <a:pPr algn="l" marL="237744" indent="-237744">
              <a:lnSpc>
                <a:spcPct val="105000"/>
              </a:lnSpc>
              <a:spcAft>
                <a:spcPts val="1000"/>
              </a:spcAft>
              <a:buFont typeface="+mj-lt"/>
              <a:buAutoNum type="arabicPeriod"/>
            </a:pPr>
            <a:r>
              <a:rPr sz="1400" b="1" i="0">
                <a:solidFill>
                  <a:srgbClr val="323139"/>
                </a:solidFill>
                <a:latin typeface="Segoe UI"/>
              </a:rPr>
              <a:t>Analyze</a:t>
            </a:r>
            <a:r>
              <a:rPr sz="1400" b="0" i="0">
                <a:solidFill>
                  <a:srgbClr val="323139"/>
                </a:solidFill>
                <a:latin typeface="Segoe UI"/>
              </a:rPr>
              <a:t> → Surface urgent items, blockers, quiet signals</a:t>
            </a:r>
          </a:p>
          <a:p>
            <a:pPr algn="l" marL="237744" indent="-237744">
              <a:lnSpc>
                <a:spcPct val="105000"/>
              </a:lnSpc>
              <a:spcAft>
                <a:spcPts val="1000"/>
              </a:spcAft>
              <a:buFont typeface="+mj-lt"/>
              <a:buAutoNum type="arabicPeriod"/>
            </a:pPr>
            <a:r>
              <a:rPr sz="1400" b="1" i="0">
                <a:solidFill>
                  <a:srgbClr val="323139"/>
                </a:solidFill>
                <a:latin typeface="Segoe UI"/>
              </a:rPr>
              <a:t>Build</a:t>
            </a:r>
            <a:r>
              <a:rPr sz="1400" b="0" i="0">
                <a:solidFill>
                  <a:srgbClr val="323139"/>
                </a:solidFill>
                <a:latin typeface="Segoe UI"/>
              </a:rPr>
              <a:t> → Interactive HTML command center</a:t>
            </a:r>
          </a:p>
          <a:p>
            <a:pPr algn="l" marL="237744" indent="-237744">
              <a:lnSpc>
                <a:spcPct val="105000"/>
              </a:lnSpc>
              <a:spcAft>
                <a:spcPts val="1000"/>
              </a:spcAft>
              <a:buFont typeface="+mj-lt"/>
              <a:buAutoNum type="arabicPeriod"/>
            </a:pPr>
            <a:r>
              <a:rPr sz="1400" b="1" i="0">
                <a:solidFill>
                  <a:srgbClr val="323139"/>
                </a:solidFill>
                <a:latin typeface="Segoe UI"/>
              </a:rPr>
              <a:t>Schedule</a:t>
            </a:r>
            <a:r>
              <a:rPr sz="1400" b="0" i="0">
                <a:solidFill>
                  <a:srgbClr val="323139"/>
                </a:solidFill>
                <a:latin typeface="Segoe UI"/>
              </a:rPr>
              <a:t> → Daily run every weekday morning</a:t>
            </a:r>
          </a:p>
        </p:txBody>
      </p:sp>
      <p:sp>
        <p:nvSpPr>
          <p:cNvPr id="61" name="Rounded Rectangle 60">
            <a:extLst>
              <a:ext uri="{C183D7F6-B498-43B3-948B-1728B52AA6E4}">
                <ns4:decorative xmlns:ns4="http://schemas.microsoft.com/office/drawing/2017/decorative" val="1"/>
              </a:ext>
            </a:extLst>
          </p:cNvPr>
          <p:cNvSpPr/>
          <p:nvPr/>
        </p:nvSpPr>
        <p:spPr>
          <a:xfrm>
            <a:off x="7726679" y="5166359"/>
            <a:ext cx="4023360" cy="1051560"/>
          </a:xfrm>
          <a:prstGeom prst="roundRect">
            <a:avLst>
              <a:gd name="adj" fmla="val 10000"/>
            </a:avLst>
          </a:prstGeom>
          <a:solidFill>
            <a:srgbClr val="FFFCFD"/>
          </a:solidFill>
          <a:ln w="9525">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909559" y="5166359"/>
            <a:ext cx="3657600" cy="1051560"/>
          </a:xfrm>
          <a:prstGeom prst="rect">
            <a:avLst/>
          </a:prstGeom>
          <a:noFill/>
        </p:spPr>
        <p:txBody>
          <a:bodyPr wrap="square" anchor="ctr" lIns="0" rIns="0" tIns="0" bIns="0">
            <a:spAutoFit/>
          </a:bodyPr>
          <a:lstStyle/>
          <a:p>
            <a:pPr algn="l">
              <a:lnSpc>
                <a:spcPct val="103000"/>
              </a:lnSpc>
              <a:spcAft>
                <a:spcPts val="400"/>
              </a:spcAft>
            </a:pPr>
            <a:r>
              <a:rPr sz="1200" b="1" i="0">
                <a:solidFill>
                  <a:srgbClr val="323139"/>
                </a:solidFill>
                <a:latin typeface="Segoe Sans Display"/>
              </a:rPr>
              <a:t>Next:</a:t>
            </a:r>
            <a:r>
              <a:rPr sz="1200" b="0" i="0">
                <a:solidFill>
                  <a:srgbClr val="323139"/>
                </a:solidFill>
                <a:latin typeface="Segoe Sans Display"/>
              </a:rPr>
              <a:t> your turn on the hands-on slide (15 min).</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104.xml><?xml version="1.0" encoding="utf-8"?>
<p:sld xmlns:a="http://schemas.openxmlformats.org/drawingml/2006/main" xmlns:p="http://schemas.openxmlformats.org/presentationml/2006/main" xmlns:r="http://schemas.openxmlformats.org/officeDocument/2006/relationships">
  <p:cSld>
    <p:bg>
      <p:bgPr>
        <a:blipFill dpi="0" rotWithShape="1">
          <a:blip r:embed="rId5">
            <a:alphaModFix amt="70000"/>
            <a:lum/>
          </a:blip>
          <a:srcRect/>
          <a:stretch>
            <a:fillRect l="-2000" r="-2000"/>
          </a:stretch>
        </a:blipFill>
        <a:effectLst/>
      </p:bgPr>
    </p:bg>
    <p:spTree>
      <p:nvGrpSpPr>
        <p:cNvPr id="1" name="">
          <a:extLst>
            <a:ext uri="{FF2B5EF4-FFF2-40B4-BE49-F238E27FC236}">
              <a16:creationId xmlns:a16="http://schemas.microsoft.com/office/drawing/2014/main" id="{CC810B06-9C60-9BCB-DF49-73D043B037F2}"/>
            </a:ext>
          </a:extLst>
        </p:cNvPr>
        <p:cNvGrpSpPr/>
        <p:nvPr/>
      </p:nvGrpSpPr>
      <p:grpSpPr>
        <a:xfrm>
          <a:off x="0" y="0"/>
          <a:ext cx="0" cy="0"/>
          <a:chOff x="0" y="0"/>
          <a:chExt cx="0" cy="0"/>
        </a:xfrm>
      </p:grpSpPr>
      <p:sp>
        <p:nvSpPr>
          <p:cNvPr id="27" name="Title 3">
            <a:extLst>
              <a:ext uri="{FF2B5EF4-FFF2-40B4-BE49-F238E27FC236}">
                <a16:creationId xmlns:a16="http://schemas.microsoft.com/office/drawing/2014/main" id="{3EF2C483-DB46-D975-7E0E-09A75642D76B}"/>
              </a:ext>
            </a:extLst>
          </p:cNvPr>
          <p:cNvSpPr txBox="1">
            <a:spLocks/>
          </p:cNvSpPr>
          <p:nvPr/>
        </p:nvSpPr>
        <p:spPr>
          <a:xfrm>
            <a:off x="1925908" y="293473"/>
            <a:ext cx="7070725" cy="430887"/>
          </a:xfrm>
          <a:prstGeom prst="rect">
            <a:avLst/>
          </a:prstGeom>
        </p:spPr>
        <p:txBody>
          <a:bodyPr vert="horz" wrap="square" lIns="0" tIns="0" rIns="0" bIns="0" rtlCol="0" anchor="t">
            <a:spAutoFit/>
          </a:bodyPr>
          <a:lstStyle>
            <a:lvl1pPr algn="l" defTabSz="769520" rtl="0" eaLnBrk="1" latinLnBrk="0" hangingPunct="1">
              <a:lnSpc>
                <a:spcPct val="100000"/>
              </a:lnSpc>
              <a:spcBef>
                <a:spcPct val="0"/>
              </a:spcBef>
              <a:buNone/>
              <a:defRPr lang="en-US" sz="2000" b="0" kern="1200" cap="none" spc="0" baseline="0">
                <a:ln w="3175">
                  <a:noFill/>
                </a:ln>
                <a:solidFill>
                  <a:schemeClr val="tx1"/>
                </a:solidFill>
                <a:effectLst/>
                <a:latin typeface="+mj-lt"/>
                <a:ea typeface="+mn-ea"/>
                <a:cs typeface="Segoe Sans Display" pitchFamily="2" charset="0"/>
              </a:defRPr>
            </a:lvl1pPr>
          </a:lstStyle>
          <a:p>
            <a:pPr marL="0" marR="0" lvl="0" indent="0" algn="l" defTabSz="76952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w="3175">
                  <a:noFill/>
                </a:ln>
                <a:solidFill>
                  <a:srgbClr val="323139"/>
                </a:solidFill>
                <a:effectLst/>
                <a:uLnTx/>
                <a:uFillTx/>
                <a:latin typeface="Segoe Sans Display" pitchFamily="2" charset="0"/>
                <a:ea typeface="+mn-ea"/>
                <a:cs typeface="Segoe Sans Display" pitchFamily="2" charset="0"/>
              </a:rPr>
              <a:t>Hands-on · Executive Command Center</a:t>
            </a:r>
          </a:p>
        </p:txBody>
      </p:sp>
      <p:sp>
        <p:nvSpPr>
          <p:cNvPr id="28" name="NavPill_SitesPages">
            <a:extLst>
              <a:ext uri="{FF2B5EF4-FFF2-40B4-BE49-F238E27FC236}">
                <a16:creationId xmlns:a16="http://schemas.microsoft.com/office/drawing/2014/main" id="{57BB7AF5-33B6-DA4A-ABA7-2573FB8050B2}"/>
              </a:ext>
            </a:extLst>
          </p:cNvPr>
          <p:cNvSpPr/>
          <p:nvPr/>
        </p:nvSpPr>
        <p:spPr>
          <a:xfrm>
            <a:off x="350837" y="342900"/>
            <a:ext cx="1419239" cy="337762"/>
          </a:xfrm>
          <a:prstGeom prst="roundRect">
            <a:avLst>
              <a:gd name="adj" fmla="val 50000"/>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07091"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blipFill>
                  <a:blip r:embed="rId4"/>
                  <a:stretch>
                    <a:fillRect t="-26822" b="-26822"/>
                  </a:stretch>
                </a:blipFill>
                <a:effectLst/>
                <a:uLnTx/>
                <a:uFillTx/>
                <a:latin typeface="Segoe Sans Display Semibold" pitchFamily="2" charset="0"/>
                <a:ea typeface="+mn-ea"/>
                <a:cs typeface="Segoe Sans Display Semibold" pitchFamily="2" charset="0"/>
              </a:rPr>
              <a:t>Ex 08</a:t>
            </a:r>
          </a:p>
        </p:txBody>
      </p:sp>
      <p:sp>
        <p:nvSpPr>
          <p:cNvPr id="30" name="TextBox 29">
            <a:extLst>
              <a:ext uri="{FF2B5EF4-FFF2-40B4-BE49-F238E27FC236}">
                <a16:creationId xmlns:a16="http://schemas.microsoft.com/office/drawing/2014/main" id="{4519738B-A618-91E3-CAC4-D99F7E54632B}"/>
              </a:ext>
              <a:ext uri="{C183D7F6-B498-43B3-948B-1728B52AA6E4}">
                <ns0:decorative xmlns:ns0="http://schemas.microsoft.com/office/drawing/2017/decorative" val="1"/>
              </a:ext>
            </a:extLst>
          </p:cNvPr>
          <p:cNvSpPr txBox="1"/>
          <p:nvPr/>
        </p:nvSpPr>
        <p:spPr>
          <a:xfrm>
            <a:off x="8867052" y="119383"/>
            <a:ext cx="3092209" cy="338554"/>
          </a:xfrm>
          <a:prstGeom prst="roundRect">
            <a:avLst>
              <a:gd name="adj" fmla="val 19537"/>
            </a:avLst>
          </a:prstGeom>
          <a:solidFill>
            <a:srgbClr val="CB85FF">
              <a:lumMod val="20000"/>
              <a:lumOff val="80000"/>
            </a:srgbClr>
          </a:solidFill>
        </p:spPr>
        <p:txBody>
          <a:bodyPr wrap="square" lIns="1188720" tIns="45720" rIns="0" bIns="45720" anchor="ctr">
            <a:noAutofit/>
          </a:bodyPr>
          <a:lstStyle>
            <a:defPPr>
              <a:defRPr lang="en-US"/>
            </a:defPPr>
            <a:lvl1pPr>
              <a:spcAft>
                <a:spcPts val="776"/>
              </a:spcAft>
              <a:defRPr sz="1200">
                <a:latin typeface="+mj-lt"/>
                <a:cs typeface="Segoe Sans Display Semibold" pitchFamily="2" charset="0"/>
              </a:defRPr>
            </a:lvl1pPr>
          </a:lstStyle>
          <a:p>
            <a:pPr marL="0" marR="0" lvl="0" indent="0" algn="l" defTabSz="914294" rtl="0" eaLnBrk="1" fontAlgn="auto" latinLnBrk="0" hangingPunct="1">
              <a:lnSpc>
                <a:spcPct val="100000"/>
              </a:lnSpc>
              <a:spcBef>
                <a:spcPts val="0"/>
              </a:spcBef>
              <a:spcAft>
                <a:spcPts val="776"/>
              </a:spcAft>
              <a:buClrTx/>
              <a:buSzTx/>
              <a:buFontTx/>
              <a:buNone/>
              <a:tabLst/>
              <a:defRPr/>
            </a:pPr>
            <a:endParaRPr kumimoji="0" lang="en-US" sz="1200" b="0" i="0" u="none" strike="noStrike" kern="0" cap="none" spc="0" normalizeH="0" baseline="0" noProof="0">
              <a:ln>
                <a:noFill/>
              </a:ln>
              <a:solidFill>
                <a:srgbClr val="323139"/>
              </a:solidFill>
              <a:effectLst/>
              <a:uLnTx/>
              <a:uFillTx/>
              <a:latin typeface="Segoe Sans Display"/>
              <a:ea typeface="+mn-ea"/>
              <a:cs typeface="Segoe Sans Display Semibold" pitchFamily="2" charset="0"/>
            </a:endParaRPr>
          </a:p>
        </p:txBody>
      </p:sp>
      <p:sp>
        <p:nvSpPr>
          <p:cNvPr id="31" name="TextBox 30">
            <a:extLst>
              <a:ext uri="{FF2B5EF4-FFF2-40B4-BE49-F238E27FC236}">
                <a16:creationId xmlns:a16="http://schemas.microsoft.com/office/drawing/2014/main" id="{4B310F6E-1BD3-CF01-32AD-647BCF12AC0F}"/>
              </a:ext>
            </a:extLst>
          </p:cNvPr>
          <p:cNvSpPr txBox="1"/>
          <p:nvPr/>
        </p:nvSpPr>
        <p:spPr>
          <a:xfrm>
            <a:off x="8942688" y="173878"/>
            <a:ext cx="1280160" cy="233352"/>
          </a:xfrm>
          <a:prstGeom prst="roundRect">
            <a:avLst>
              <a:gd name="adj" fmla="val 16151"/>
            </a:avLst>
          </a:prstGeom>
          <a:solidFill>
            <a:srgbClr val="FFFFFF"/>
          </a:solidFill>
          <a:ln w="9525" cap="flat" cmpd="sng" algn="ctr">
            <a:noFill/>
            <a:prstDash val="solid"/>
            <a:headEnd type="none" w="lg" len="med"/>
            <a:tailEnd type="none" w="lg" len="med"/>
          </a:ln>
          <a:effectLst>
            <a:outerShdw blurRad="63500" dist="63500" dir="2700000" algn="tl" rotWithShape="0">
              <a:prstClr val="black">
                <a:alpha val="5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defRPr lang="en-US"/>
            </a:defPPr>
            <a:lvl1pPr algn="ctr" defTabSz="932765" fontAlgn="base">
              <a:spcBef>
                <a:spcPct val="0"/>
              </a:spcBef>
              <a:spcAft>
                <a:spcPct val="0"/>
              </a:spcAft>
              <a:defRPr sz="1600">
                <a:solidFill>
                  <a:schemeClr val="accent1"/>
                </a:solidFill>
                <a:latin typeface="+mj-lt"/>
                <a:cs typeface="Segoe Sans Display Semibold" pitchFamily="2" charset="0"/>
              </a:defRPr>
            </a:lvl1pPr>
          </a:lstStyle>
          <a:p>
            <a:pPr marL="0" marR="0" lvl="0" indent="0" algn="l" defTabSz="932765" rtl="0" eaLnBrk="1" fontAlgn="base" latinLnBrk="0" hangingPunct="1">
              <a:lnSpc>
                <a:spcPct val="100000"/>
              </a:lnSpc>
              <a:spcBef>
                <a:spcPct val="0"/>
              </a:spcBef>
              <a:spcAft>
                <a:spcPct val="0"/>
              </a:spcAft>
              <a:buClrTx/>
              <a:buSzTx/>
              <a:buFontTx/>
              <a:buNone/>
              <a:tabLst/>
              <a:defRPr/>
            </a:pPr>
            <a:r>
              <a:rPr kumimoji="0" lang="en-IN" sz="1050" b="0" i="0" u="none" strike="noStrike" kern="0" cap="none" spc="0" normalizeH="0" baseline="0" noProof="0">
                <a:ln>
                  <a:noFill/>
                </a:ln>
                <a:solidFill>
                  <a:srgbClr val="323139"/>
                </a:solidFill>
                <a:effectLst/>
                <a:uLnTx/>
                <a:uFillTx/>
                <a:latin typeface="Segoe Sans Display"/>
                <a:ea typeface="+mn-ea"/>
                <a:cs typeface="Segoe Sans Display Semibold" pitchFamily="2" charset="0"/>
              </a:rPr>
              <a:t>Time</a:t>
            </a:r>
          </a:p>
        </p:txBody>
      </p:sp>
      <p:sp>
        <p:nvSpPr>
          <p:cNvPr id="50" name="TextBox 49">
            <a:extLst>
              <a:ext uri="{FF2B5EF4-FFF2-40B4-BE49-F238E27FC236}">
                <a16:creationId xmlns:a16="http://schemas.microsoft.com/office/drawing/2014/main" id="{0CE10D15-83B7-7915-49A3-0BD3A21E9731}"/>
              </a:ext>
            </a:extLst>
          </p:cNvPr>
          <p:cNvSpPr txBox="1"/>
          <p:nvPr/>
        </p:nvSpPr>
        <p:spPr>
          <a:xfrm>
            <a:off x="10298483" y="173490"/>
            <a:ext cx="1668779" cy="253916"/>
          </a:xfrm>
          <a:prstGeom prst="rect">
            <a:avLst/>
          </a:prstGeom>
          <a:noFill/>
        </p:spPr>
        <p:txBody>
          <a:bodyPr wrap="square">
            <a:spAutoFit/>
          </a:bodyPr>
          <a:lstStyle/>
          <a:p>
            <a:pPr marL="0" marR="0" lvl="0" indent="0" algn="l" defTabSz="914294"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23139"/>
                </a:solidFill>
                <a:effectLst/>
                <a:uLnTx/>
                <a:uFillTx/>
                <a:latin typeface="Segoe Sans Display"/>
                <a:ea typeface="+mn-ea"/>
                <a:cs typeface="Segoe Sans Display"/>
              </a:rPr>
              <a:t>15 min</a:t>
            </a:r>
          </a:p>
        </p:txBody>
      </p:sp>
      <p:sp>
        <p:nvSpPr>
          <p:cNvPr id="51" name="Rounded Rectangle 50">
            <a:extLst>
              <a:ext uri="{C183D7F6-B498-43B3-948B-1728B52AA6E4}">
                <ns0:decorative xmlns:ns0="http://schemas.microsoft.com/office/drawing/2017/decorative" val="1"/>
              </a:ext>
            </a:extLst>
          </p:cNvPr>
          <p:cNvSpPr/>
          <p:nvPr/>
        </p:nvSpPr>
        <p:spPr>
          <a:xfrm>
            <a:off x="420624" y="1188720"/>
            <a:ext cx="7168896" cy="3611880"/>
          </a:xfrm>
          <a:prstGeom prst="roundRect">
            <a:avLst>
              <a:gd name="adj" fmla="val 5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a:extLst>
              <a:ext uri="{C183D7F6-B498-43B3-948B-1728B52AA6E4}">
                <ns1:decorative xmlns:ns1="http://schemas.microsoft.com/office/drawing/2017/decorative" val="1"/>
              </a:ext>
            </a:extLst>
          </p:cNvPr>
          <p:cNvSpPr/>
          <p:nvPr/>
        </p:nvSpPr>
        <p:spPr>
          <a:xfrm>
            <a:off x="3236976"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3236976"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Steps</a:t>
            </a:r>
          </a:p>
        </p:txBody>
      </p:sp>
      <p:sp>
        <p:nvSpPr>
          <p:cNvPr id="54" name="TextBox 53"/>
          <p:cNvSpPr txBox="1"/>
          <p:nvPr/>
        </p:nvSpPr>
        <p:spPr>
          <a:xfrm>
            <a:off x="777240" y="1572768"/>
            <a:ext cx="6492240" cy="3154680"/>
          </a:xfrm>
          <a:prstGeom prst="rect">
            <a:avLst/>
          </a:prstGeom>
          <a:noFill/>
        </p:spPr>
        <p:txBody>
          <a:bodyPr wrap="square" anchor="t" lIns="0" rIns="0" tIns="0" bIns="0">
            <a:spAutoFit/>
          </a:bodyPr>
          <a:lstStyle/>
          <a:p>
            <a:pPr algn="l" marL="237744" indent="-237744">
              <a:lnSpc>
                <a:spcPct val="105000"/>
              </a:lnSpc>
              <a:spcAft>
                <a:spcPts val="900"/>
              </a:spcAft>
              <a:buFont typeface="+mj-lt"/>
              <a:buAutoNum type="arabicPeriod"/>
            </a:pPr>
            <a:r>
              <a:rPr sz="1500" b="0" i="0">
                <a:solidFill>
                  <a:srgbClr val="323139"/>
                </a:solidFill>
                <a:latin typeface="Segoe UI"/>
              </a:rPr>
              <a:t>Fill </a:t>
            </a:r>
            <a:r>
              <a:rPr sz="1500" b="1" i="0">
                <a:solidFill>
                  <a:srgbClr val="323139"/>
                </a:solidFill>
                <a:latin typeface="Segoe UI"/>
              </a:rPr>
              <a:t>[Priority Folder]</a:t>
            </a:r>
            <a:r>
              <a:rPr sz="1500" b="0" i="0">
                <a:solidFill>
                  <a:srgbClr val="323139"/>
                </a:solidFill>
                <a:latin typeface="Segoe UI"/>
              </a:rPr>
              <a:t> (a OneDrive folder of your priority documents, or the Zava folder) and </a:t>
            </a:r>
            <a:r>
              <a:rPr sz="1500" b="1" i="0">
                <a:solidFill>
                  <a:srgbClr val="323139"/>
                </a:solidFill>
                <a:latin typeface="Segoe UI"/>
              </a:rPr>
              <a:t>[time]</a:t>
            </a:r>
            <a:r>
              <a:rPr sz="1500" b="0" i="0">
                <a:solidFill>
                  <a:srgbClr val="323139"/>
                </a:solidFill>
                <a:latin typeface="Segoe UI"/>
              </a:rPr>
              <a:t> (e.g., 8:00 AM).</a:t>
            </a:r>
          </a:p>
          <a:p>
            <a:pPr algn="l" marL="237744" indent="-237744">
              <a:lnSpc>
                <a:spcPct val="105000"/>
              </a:lnSpc>
              <a:spcAft>
                <a:spcPts val="900"/>
              </a:spcAft>
              <a:buFont typeface="+mj-lt"/>
              <a:buAutoNum type="arabicPeriod"/>
            </a:pPr>
            <a:r>
              <a:rPr sz="1500" b="1" i="0">
                <a:solidFill>
                  <a:srgbClr val="323139"/>
                </a:solidFill>
                <a:latin typeface="Segoe UI"/>
              </a:rPr>
              <a:t>New task</a:t>
            </a:r>
            <a:r>
              <a:rPr sz="1500" b="0" i="0">
                <a:solidFill>
                  <a:srgbClr val="323139"/>
                </a:solidFill>
                <a:latin typeface="Segoe UI"/>
              </a:rPr>
              <a:t> → paste the Executive Command Center prompt.</a:t>
            </a:r>
          </a:p>
          <a:p>
            <a:pPr algn="l" marL="237744" indent="-237744">
              <a:lnSpc>
                <a:spcPct val="105000"/>
              </a:lnSpc>
              <a:spcAft>
                <a:spcPts val="900"/>
              </a:spcAft>
              <a:buFont typeface="+mj-lt"/>
              <a:buAutoNum type="arabicPeriod"/>
            </a:pPr>
            <a:r>
              <a:rPr sz="1500" b="1" i="0">
                <a:solidFill>
                  <a:srgbClr val="323139"/>
                </a:solidFill>
                <a:latin typeface="Segoe UI"/>
              </a:rPr>
              <a:t>Side panel → Output folder → Preview</a:t>
            </a:r>
            <a:r>
              <a:rPr sz="1500" b="0" i="0">
                <a:solidFill>
                  <a:srgbClr val="323139"/>
                </a:solidFill>
                <a:latin typeface="Segoe UI"/>
              </a:rPr>
              <a:t> the HTML dashboard (use the Output folder workflow from Ex 1).</a:t>
            </a:r>
          </a:p>
          <a:p>
            <a:pPr algn="l" marL="237744" indent="-237744">
              <a:lnSpc>
                <a:spcPct val="105000"/>
              </a:lnSpc>
              <a:spcAft>
                <a:spcPts val="900"/>
              </a:spcAft>
              <a:buFont typeface="+mj-lt"/>
              <a:buAutoNum type="arabicPeriod"/>
            </a:pPr>
            <a:r>
              <a:rPr sz="1500" b="0" i="0">
                <a:solidFill>
                  <a:srgbClr val="323139"/>
                </a:solidFill>
                <a:latin typeface="Segoe UI"/>
              </a:rPr>
              <a:t>Check the top summary, the three views, the action labels, and the links.</a:t>
            </a:r>
          </a:p>
          <a:p>
            <a:pPr algn="l" marL="237744" indent="-237744">
              <a:lnSpc>
                <a:spcPct val="105000"/>
              </a:lnSpc>
              <a:spcAft>
                <a:spcPts val="900"/>
              </a:spcAft>
              <a:buFont typeface="+mj-lt"/>
              <a:buAutoNum type="arabicPeriod"/>
            </a:pPr>
            <a:r>
              <a:rPr sz="1500" b="0" i="0">
                <a:solidFill>
                  <a:srgbClr val="323139"/>
                </a:solidFill>
                <a:latin typeface="Segoe UI"/>
              </a:rPr>
              <a:t>Answer any </a:t>
            </a:r>
            <a:r>
              <a:rPr sz="1500" b="1" i="0">
                <a:solidFill>
                  <a:srgbClr val="323139"/>
                </a:solidFill>
                <a:latin typeface="Segoe UI"/>
              </a:rPr>
              <a:t>questions</a:t>
            </a:r>
            <a:r>
              <a:rPr sz="1500" b="0" i="0">
                <a:solidFill>
                  <a:srgbClr val="323139"/>
                </a:solidFill>
                <a:latin typeface="Segoe UI"/>
              </a:rPr>
              <a:t> in chat; </a:t>
            </a:r>
            <a:r>
              <a:rPr sz="1500" b="1" i="0">
                <a:solidFill>
                  <a:srgbClr val="323139"/>
                </a:solidFill>
                <a:latin typeface="Segoe UI"/>
              </a:rPr>
              <a:t>approve</a:t>
            </a:r>
            <a:r>
              <a:rPr sz="1500" b="0" i="0">
                <a:solidFill>
                  <a:srgbClr val="323139"/>
                </a:solidFill>
                <a:latin typeface="Segoe UI"/>
              </a:rPr>
              <a:t> the skill and schedule cards one at a time; skip suggested follow-ups.</a:t>
            </a:r>
          </a:p>
        </p:txBody>
      </p:sp>
      <p:sp>
        <p:nvSpPr>
          <p:cNvPr id="55" name="Rounded Rectangle 54">
            <a:extLst>
              <a:ext uri="{C183D7F6-B498-43B3-948B-1728B52AA6E4}">
                <ns2:decorative xmlns:ns2="http://schemas.microsoft.com/office/drawing/2017/decorative" val="1"/>
              </a:ext>
            </a:extLst>
          </p:cNvPr>
          <p:cNvSpPr/>
          <p:nvPr/>
        </p:nvSpPr>
        <p:spPr>
          <a:xfrm>
            <a:off x="420624" y="5074920"/>
            <a:ext cx="7168896" cy="1371600"/>
          </a:xfrm>
          <a:prstGeom prst="roundRect">
            <a:avLst>
              <a:gd name="adj" fmla="val 10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a:extLst>
              <a:ext uri="{C183D7F6-B498-43B3-948B-1728B52AA6E4}">
                <ns3:decorative xmlns:ns3="http://schemas.microsoft.com/office/drawing/2017/decorative" val="1"/>
              </a:ext>
            </a:extLst>
          </p:cNvPr>
          <p:cNvSpPr/>
          <p:nvPr/>
        </p:nvSpPr>
        <p:spPr>
          <a:xfrm>
            <a:off x="3236976" y="49377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236976" y="49377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Discuss</a:t>
            </a:r>
          </a:p>
        </p:txBody>
      </p:sp>
      <p:sp>
        <p:nvSpPr>
          <p:cNvPr id="58" name="TextBox 57"/>
          <p:cNvSpPr txBox="1"/>
          <p:nvPr/>
        </p:nvSpPr>
        <p:spPr>
          <a:xfrm>
            <a:off x="777240" y="5303520"/>
            <a:ext cx="6492240" cy="1005840"/>
          </a:xfrm>
          <a:prstGeom prst="rect">
            <a:avLst/>
          </a:prstGeom>
          <a:noFill/>
        </p:spPr>
        <p:txBody>
          <a:bodyPr wrap="square" anchor="ctr" lIns="0" rIns="0" tIns="0" bIns="0">
            <a:spAutoFit/>
          </a:bodyPr>
          <a:lstStyle/>
          <a:p>
            <a:pPr algn="l">
              <a:lnSpc>
                <a:spcPct val="105000"/>
              </a:lnSpc>
              <a:spcAft>
                <a:spcPts val="400"/>
              </a:spcAft>
            </a:pPr>
            <a:r>
              <a:rPr sz="1400" b="0" i="0">
                <a:solidFill>
                  <a:srgbClr val="323139"/>
                </a:solidFill>
                <a:latin typeface="Segoe Sans Display"/>
              </a:rPr>
              <a:t>Which recommendations would you trust? What would an </a:t>
            </a:r>
            <a:r>
              <a:rPr sz="1400" b="1" i="0">
                <a:solidFill>
                  <a:srgbClr val="323139"/>
                </a:solidFill>
                <a:latin typeface="Segoe Sans Display"/>
              </a:rPr>
              <a:t>HR-leader</a:t>
            </a:r>
            <a:r>
              <a:rPr sz="1400" b="0" i="0">
                <a:solidFill>
                  <a:srgbClr val="323139"/>
                </a:solidFill>
                <a:latin typeface="Segoe Sans Display"/>
              </a:rPr>
              <a:t> version track — open reqs, ER cases, policy deadlines?</a:t>
            </a:r>
          </a:p>
        </p:txBody>
      </p:sp>
      <p:sp>
        <p:nvSpPr>
          <p:cNvPr id="59" name="Rounded Rectangle 58">
            <a:extLst>
              <a:ext uri="{C183D7F6-B498-43B3-948B-1728B52AA6E4}">
                <ns4:decorative xmlns:ns4="http://schemas.microsoft.com/office/drawing/2017/decorative" val="1"/>
              </a:ext>
            </a:extLst>
          </p:cNvPr>
          <p:cNvSpPr/>
          <p:nvPr/>
        </p:nvSpPr>
        <p:spPr>
          <a:xfrm>
            <a:off x="7763256" y="1188720"/>
            <a:ext cx="4224528" cy="2194560"/>
          </a:xfrm>
          <a:prstGeom prst="roundRect">
            <a:avLst>
              <a:gd name="adj" fmla="val 6000"/>
            </a:avLst>
          </a:prstGeom>
          <a:solidFill>
            <a:srgbClr val="FF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a:extLst>
              <a:ext uri="{C183D7F6-B498-43B3-948B-1728B52AA6E4}">
                <ns5:decorative xmlns:ns5="http://schemas.microsoft.com/office/drawing/2017/decorative" val="1"/>
              </a:ext>
            </a:extLst>
          </p:cNvPr>
          <p:cNvSpPr/>
          <p:nvPr/>
        </p:nvSpPr>
        <p:spPr>
          <a:xfrm>
            <a:off x="9107424" y="1051560"/>
            <a:ext cx="1536192" cy="274320"/>
          </a:xfrm>
          <a:prstGeom prst="roundRect">
            <a:avLst>
              <a:gd name="adj" fmla="val 50000"/>
            </a:avLst>
          </a:prstGeom>
          <a:solidFill>
            <a:srgbClr val="F3E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107424" y="1051560"/>
            <a:ext cx="1536192" cy="274320"/>
          </a:xfrm>
          <a:prstGeom prst="rect">
            <a:avLst/>
          </a:prstGeom>
          <a:noFill/>
        </p:spPr>
        <p:txBody>
          <a:bodyPr wrap="square" anchor="ctr" lIns="0" rIns="0" tIns="0" bIns="0">
            <a:spAutoFit/>
          </a:bodyPr>
          <a:lstStyle/>
          <a:p>
            <a:pPr algn="ctr">
              <a:spcAft>
                <a:spcPts val="400"/>
              </a:spcAft>
            </a:pPr>
            <a:r>
              <a:rPr sz="1200" b="0" i="0">
                <a:solidFill>
                  <a:srgbClr val="323139"/>
                </a:solidFill>
                <a:latin typeface="Segoe Sans Display Semibold"/>
              </a:rPr>
              <a:t>Watch for</a:t>
            </a:r>
          </a:p>
        </p:txBody>
      </p:sp>
      <p:sp>
        <p:nvSpPr>
          <p:cNvPr id="62" name="TextBox 61"/>
          <p:cNvSpPr txBox="1"/>
          <p:nvPr/>
        </p:nvSpPr>
        <p:spPr>
          <a:xfrm>
            <a:off x="8001000" y="1572768"/>
            <a:ext cx="3794760" cy="173736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23139"/>
                </a:solidFill>
                <a:latin typeface="Segoe UI"/>
              </a:rPr>
              <a:t>Work IQ gathering calendar, mail, chats, and files</a:t>
            </a:r>
          </a:p>
          <a:p>
            <a:pPr algn="l" marL="182880" indent="-182880">
              <a:spcAft>
                <a:spcPts val="400"/>
              </a:spcAft>
              <a:buFont typeface="Arial"/>
              <a:buChar char="•"/>
            </a:pPr>
            <a:r>
              <a:rPr sz="1150" b="0" i="0">
                <a:solidFill>
                  <a:srgbClr val="323139"/>
                </a:solidFill>
                <a:latin typeface="Segoe UI"/>
              </a:rPr>
              <a:t>Labels: Lean in · Delegate · Re-engage · Protect time</a:t>
            </a:r>
          </a:p>
          <a:p>
            <a:pPr algn="l" marL="182880" indent="-182880">
              <a:spcAft>
                <a:spcPts val="400"/>
              </a:spcAft>
              <a:buFont typeface="Arial"/>
              <a:buChar char="•"/>
            </a:pPr>
            <a:r>
              <a:rPr sz="1150" b="0" i="0">
                <a:solidFill>
                  <a:srgbClr val="323139"/>
                </a:solidFill>
                <a:latin typeface="Segoe UI"/>
              </a:rPr>
              <a:t>Focus on workstreams — not on evaluating people</a:t>
            </a:r>
          </a:p>
          <a:p>
            <a:pPr algn="l" marL="182880" indent="-182880">
              <a:spcAft>
                <a:spcPts val="400"/>
              </a:spcAft>
              <a:buFont typeface="Arial"/>
              <a:buChar char="•"/>
            </a:pPr>
            <a:r>
              <a:rPr sz="1150" b="1" i="0">
                <a:solidFill>
                  <a:srgbClr val="323139"/>
                </a:solidFill>
                <a:latin typeface="Segoe UI"/>
              </a:rPr>
              <a:t>Your own</a:t>
            </a:r>
            <a:r>
              <a:rPr sz="1150" b="0" i="0">
                <a:solidFill>
                  <a:srgbClr val="323139"/>
                </a:solidFill>
                <a:latin typeface="Segoe UI"/>
              </a:rPr>
              <a:t> work, not Zava: private to you, no screen sharing</a:t>
            </a:r>
          </a:p>
        </p:txBody>
      </p:sp>
      <p:sp>
        <p:nvSpPr>
          <p:cNvPr id="63" name="Rounded Rectangle 62">
            <a:extLst>
              <a:ext uri="{C183D7F6-B498-43B3-948B-1728B52AA6E4}">
                <ns6:decorative xmlns:ns6="http://schemas.microsoft.com/office/drawing/2017/decorative" val="1"/>
              </a:ext>
            </a:extLst>
          </p:cNvPr>
          <p:cNvSpPr/>
          <p:nvPr/>
        </p:nvSpPr>
        <p:spPr>
          <a:xfrm>
            <a:off x="7763256" y="3611880"/>
            <a:ext cx="4224528" cy="1691640"/>
          </a:xfrm>
          <a:prstGeom prst="roundRect">
            <a:avLst>
              <a:gd name="adj" fmla="val 8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a:extLst>
              <a:ext uri="{C183D7F6-B498-43B3-948B-1728B52AA6E4}">
                <ns7:decorative xmlns:ns7="http://schemas.microsoft.com/office/drawing/2017/decorative" val="1"/>
              </a:ext>
            </a:extLst>
          </p:cNvPr>
          <p:cNvSpPr/>
          <p:nvPr/>
        </p:nvSpPr>
        <p:spPr>
          <a:xfrm>
            <a:off x="7543800" y="3401568"/>
            <a:ext cx="402336" cy="402336"/>
          </a:xfrm>
          <a:prstGeom prst="ellipse">
            <a:avLst/>
          </a:prstGeom>
          <a:solidFill>
            <a:srgbClr val="FFFFFF"/>
          </a:solidFill>
          <a:ln>
            <a:no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543800" y="3401568"/>
            <a:ext cx="402336" cy="402336"/>
          </a:xfrm>
          <a:prstGeom prst="rect">
            <a:avLst/>
          </a:prstGeom>
          <a:noFill/>
        </p:spPr>
        <p:txBody>
          <a:bodyPr wrap="square" anchor="ctr" lIns="0" rIns="0" tIns="0" bIns="0">
            <a:spAutoFit/>
          </a:bodyPr>
          <a:lstStyle/>
          <a:p>
            <a:pPr algn="ctr">
              <a:spcAft>
                <a:spcPts val="400"/>
              </a:spcAft>
            </a:pPr>
            <a:r>
              <a:rPr sz="1600" b="1" i="0">
                <a:solidFill>
                  <a:srgbClr val="3B1041"/>
                </a:solidFill>
                <a:latin typeface="Segoe UI"/>
              </a:rPr>
              <a:t>✓</a:t>
            </a:r>
          </a:p>
        </p:txBody>
      </p:sp>
      <p:sp>
        <p:nvSpPr>
          <p:cNvPr id="66" name="TextBox 65"/>
          <p:cNvSpPr txBox="1"/>
          <p:nvPr/>
        </p:nvSpPr>
        <p:spPr>
          <a:xfrm>
            <a:off x="8001000" y="3749039"/>
            <a:ext cx="3794760" cy="1463040"/>
          </a:xfrm>
          <a:prstGeom prst="rect">
            <a:avLst/>
          </a:prstGeom>
          <a:noFill/>
        </p:spPr>
        <p:txBody>
          <a:bodyPr wrap="square" anchor="ctr" lIns="0" rIns="0" tIns="0" bIns="0">
            <a:spAutoFit/>
          </a:bodyPr>
          <a:lstStyle/>
          <a:p>
            <a:pPr algn="l">
              <a:lnSpc>
                <a:spcPct val="105000"/>
              </a:lnSpc>
              <a:spcAft>
                <a:spcPts val="400"/>
              </a:spcAft>
            </a:pPr>
            <a:r>
              <a:rPr sz="1200" b="1" i="0">
                <a:solidFill>
                  <a:srgbClr val="FFFFFF"/>
                </a:solidFill>
                <a:latin typeface="Segoe Sans Display Semibold"/>
              </a:rPr>
              <a:t>Checkpoint: </a:t>
            </a:r>
            <a:r>
              <a:rPr sz="1200" b="0" i="0">
                <a:solidFill>
                  <a:srgbClr val="FFFFFF"/>
                </a:solidFill>
                <a:latin typeface="Segoe Sans Display"/>
              </a:rPr>
              <a:t>An HTML command center opened from the Output folder and found in OneDrive → Cowork, a saved skill, and a weekday schedule. Pause it after class.</a:t>
            </a:r>
          </a:p>
        </p:txBody>
      </p:sp>
      <p:sp>
        <p:nvSpPr>
          <p:cNvPr id="67" name="Rounded Rectangle 66">
            <a:extLst>
              <a:ext uri="{C183D7F6-B498-43B3-948B-1728B52AA6E4}">
                <ns8:decorative xmlns:ns8="http://schemas.microsoft.com/office/drawing/2017/decorative" val="1"/>
              </a:ext>
            </a:extLst>
          </p:cNvPr>
          <p:cNvSpPr/>
          <p:nvPr/>
        </p:nvSpPr>
        <p:spPr>
          <a:xfrm>
            <a:off x="7763256" y="5486400"/>
            <a:ext cx="4224528" cy="960120"/>
          </a:xfrm>
          <a:prstGeom prst="roundRect">
            <a:avLst>
              <a:gd name="adj" fmla="val 10000"/>
            </a:avLst>
          </a:prstGeom>
          <a:solidFill>
            <a:srgbClr val="FF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001000" y="5486400"/>
            <a:ext cx="3794760" cy="960120"/>
          </a:xfrm>
          <a:prstGeom prst="rect">
            <a:avLst/>
          </a:prstGeom>
          <a:noFill/>
        </p:spPr>
        <p:txBody>
          <a:bodyPr wrap="square" anchor="ctr" lIns="0" rIns="0" tIns="0" bIns="0">
            <a:spAutoFit/>
          </a:bodyPr>
          <a:lstStyle/>
          <a:p>
            <a:pPr algn="l">
              <a:lnSpc>
                <a:spcPct val="103000"/>
              </a:lnSpc>
              <a:spcAft>
                <a:spcPts val="200"/>
              </a:spcAft>
            </a:pPr>
            <a:r>
              <a:rPr sz="1100" b="1" i="0">
                <a:solidFill>
                  <a:srgbClr val="323139"/>
                </a:solidFill>
                <a:latin typeface="Segoe Sans Display Semibold"/>
              </a:rPr>
              <a:t>Stretch: </a:t>
            </a:r>
            <a:r>
              <a:rPr sz="1100" b="0" i="0">
                <a:solidFill>
                  <a:srgbClr val="323139"/>
                </a:solidFill>
                <a:latin typeface="Segoe Sans Display"/>
              </a:rPr>
              <a:t>Make an HR Leader variant with a view for open requisitions and HR ticket trends.</a:t>
            </a:r>
          </a:p>
          <a:p>
            <a:pPr algn="l">
              <a:lnSpc>
                <a:spcPct val="103000"/>
              </a:lnSpc>
              <a:spcAft>
                <a:spcPts val="400"/>
              </a:spcAft>
            </a:pPr>
            <a:r>
              <a:rPr sz="1000" b="0" i="0">
                <a:solidFill>
                  <a:srgbClr val="616161"/>
                </a:solidFill>
                <a:latin typeface="Segoe Sans Display"/>
              </a:rPr>
              <a:t>Full prompt: </a:t>
            </a:r>
            <a:r>
              <a:rPr sz="1000" b="1" i="0">
                <a:solidFill>
                  <a:srgbClr val="0F6CBD"/>
                </a:solidFill>
                <a:latin typeface="Segoe Sans Display"/>
                <a:hlinkClick r:id="rId7">
                  <a:extLst>
                    <a:ext uri="{A12FA001-AC4F-418D-AE19-62706E023703}">
                      <ahyp:hlinkClr xmlns:ahyp="http://schemas.microsoft.com/office/drawing/2018/hyperlinkcolor" val="tx"/>
                    </a:ext>
                  </a:extLst>
                </a:hlinkClick>
              </a:rPr>
              <a:t>participant workbook, Exercise 8</a:t>
            </a:r>
          </a:p>
        </p:txBody>
      </p:sp>
    </p:spTree>
    <p:extLst>
      <p:ext uri="{BB962C8B-B14F-4D97-AF65-F5344CB8AC3E}">
        <p14:creationId xmlns:p14="http://schemas.microsoft.com/office/powerpoint/2010/main" val="1649947486"/>
      </p:ext>
    </p:extLst>
  </p:cSld>
  <p:clrMapOvr>
    <a:overrideClrMapping bg1="lt1" tx1="dk1" bg2="lt2" tx2="dk2" accent1="accent1" accent2="accent2" accent3="accent3" accent4="accent4" accent5="accent5" accent6="accent6" hlink="hlink" folHlink="folHlink"/>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6CA73066-62EB-02EC-D037-EC294C24A95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A38DABC-8A4C-0F68-E7D3-3975110991B6}"/>
              </a:ext>
            </a:extLst>
          </p:cNvPr>
          <p:cNvSpPr txBox="1">
            <a:spLocks noGrp="1"/>
          </p:cNvSpPr>
          <p:nvPr>
            <p:ph type="title"/>
          </p:nvPr>
        </p:nvSpPr>
        <p:spPr>
          <a:xfrm>
            <a:off x="584200" y="2148840"/>
            <a:ext cx="9144000" cy="1371600"/>
          </a:xfr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lvl1pPr algn="l" defTabSz="932742" rtl="0" eaLnBrk="1" latinLnBrk="0" hangingPunct="1">
              <a:lnSpc>
                <a:spcPct val="100000"/>
              </a:lnSpc>
              <a:spcBef>
                <a:spcPct val="0"/>
              </a:spcBef>
              <a:buNone/>
              <a:defRPr lang="en-US" sz="4000" b="0" kern="1200" cap="none" spc="-50" baseline="0">
                <a:ln w="3175">
                  <a:noFill/>
                </a:ln>
                <a:solidFill>
                  <a:schemeClr val="tx1"/>
                </a:solidFill>
                <a:effectLst/>
                <a:latin typeface="+mj-lt"/>
                <a:ea typeface="+mn-ea"/>
                <a:cs typeface="Segoe Sans Display" pitchFamily="2" charset="0"/>
              </a:defRPr>
            </a:lvl1pPr>
          </a:lstStyle>
          <a:p>
            <a:pPr lvl="0"/>
            <a:r>
              <a:rPr lang="en-US" noProof="0" sz="4000"/>
              <a:t>Appendix</a:t>
            </a:r>
            <a:br>
              <a:rPr lang="en-US" noProof="0" sz="4000"/>
            </a:br>
            <a:endParaRPr lang="en-US" noProof="0"/>
          </a:p>
        </p:txBody>
      </p:sp>
      <p:sp>
        <p:nvSpPr>
          <p:cNvPr id="5" name="Text Placeholder 4">
            <a:extLst>
              <a:ext uri="{FF2B5EF4-FFF2-40B4-BE49-F238E27FC236}">
                <a16:creationId xmlns:a16="http://schemas.microsoft.com/office/drawing/2014/main" id="{66591BFA-242A-4A0F-746F-DC462B53012B}"/>
              </a:ext>
            </a:extLst>
          </p:cNvPr>
          <p:cNvSpPr>
            <a:spLocks noGrp="1"/>
          </p:cNvSpPr>
          <p:nvPr>
            <p:ph type="body" sz="quarter" idx="12"/>
          </p:nvPr>
        </p:nvSpPr>
        <p:spPr/>
        <p:txBody>
          <a:bodyPr/>
          <a:lstStyle/>
          <a:p>
            <a:r>
              <a:rPr lang="en-IN"/>
              <a:t>Optional recaps, walkthroughs, and workshop resources</a:t>
            </a:r>
          </a:p>
        </p:txBody>
      </p:sp>
      <p:sp>
        <p:nvSpPr>
          <p:cNvPr id="7" name="TextBox 6">
            <a:extLst>
              <a:ext uri="{FF2B5EF4-FFF2-40B4-BE49-F238E27FC236}">
                <a16:creationId xmlns:a16="http://schemas.microsoft.com/office/drawing/2014/main" id="{9E45F3F4-9BE0-AC31-C0BF-36DF98724E37}"/>
              </a:ext>
            </a:extLst>
          </p:cNvPr>
          <p:cNvSpPr txBox="1"/>
          <p:nvPr/>
        </p:nvSpPr>
        <p:spPr>
          <a:xfrm>
            <a:off x="584200" y="6293077"/>
            <a:ext cx="681192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©2026</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Microsoft</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Corporation.</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All</a:t>
            </a:r>
            <a:r>
              <a:rPr kumimoji="0" lang="en-US" sz="800" b="0" i="0" u="none" strike="noStrike" kern="1200" cap="none" spc="35"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rights</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reserved</a:t>
            </a:r>
            <a:r>
              <a:rPr kumimoji="0" lang="en-US" sz="800" b="0" i="0" u="none" strike="noStrike" kern="1200" cap="none" spc="0" normalizeH="0" baseline="0" noProof="0">
                <a:ln>
                  <a:noFill/>
                </a:ln>
                <a:solidFill>
                  <a:srgbClr val="FFFFFF"/>
                </a:solidFill>
                <a:effectLst/>
                <a:uLnTx/>
                <a:uFillTx/>
                <a:latin typeface="Segoe Sans Display Semilight"/>
                <a:ea typeface="+mn-ea"/>
                <a:cs typeface="+mn-cs"/>
              </a:rPr>
              <a:t>.</a:t>
            </a:r>
            <a:r>
              <a:rPr kumimoji="0" lang="en-US" sz="800" b="0" i="0" u="none" strike="noStrike" kern="1200" cap="none" spc="40" normalizeH="0" baseline="0" noProof="0">
                <a:ln>
                  <a:noFill/>
                </a:ln>
                <a:solidFill>
                  <a:srgbClr val="FFFFFF"/>
                </a:solidFill>
                <a:effectLst/>
                <a:uLnTx/>
                <a:uFillTx/>
                <a:latin typeface="Segoe Sans Display Semilight"/>
                <a:ea typeface="+mn-ea"/>
                <a:cs typeface="+mn-cs"/>
              </a:rPr>
              <a:t> </a:t>
            </a:r>
            <a:endParaRPr kumimoji="0" lang="en-US" sz="1800" b="0" i="0" u="none" strike="noStrike" kern="1200" cap="none" spc="0" normalizeH="0" baseline="0" noProof="0">
              <a:ln>
                <a:noFill/>
              </a:ln>
              <a:solidFill>
                <a:srgbClr val="323139"/>
              </a:solidFill>
              <a:effectLst/>
              <a:uLnTx/>
              <a:uFillTx/>
              <a:latin typeface="Segoe Sans Display Semilight"/>
              <a:ea typeface="+mn-ea"/>
              <a:cs typeface="+mn-cs"/>
            </a:endParaRPr>
          </a:p>
        </p:txBody>
      </p:sp>
    </p:spTree>
    <p:extLst>
      <p:ext uri="{BB962C8B-B14F-4D97-AF65-F5344CB8AC3E}">
        <p14:creationId xmlns:p14="http://schemas.microsoft.com/office/powerpoint/2010/main" val="3541237129"/>
      </p:ext>
    </p:extLst>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What you’ll be able to do by the end</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Six learning objectives — we’ll check them at wrap-up.</a:t>
            </a:r>
          </a:p>
        </p:txBody>
      </p:sp>
      <p:sp>
        <p:nvSpPr>
          <p:cNvPr id="4" name="Rectangle 3">
            <a:extLst>
              <a:ext uri="{C183D7F6-B498-43B3-948B-1728B52AA6E4}">
                <ns0:decorative xmlns:ns0="http://schemas.microsoft.com/office/drawing/2017/decorative" val="1"/>
              </a:ext>
            </a:extLst>
          </p:cNvPr>
          <p:cNvSpPr/>
          <p:nvPr/>
        </p:nvSpPr>
        <p:spPr>
          <a:xfrm>
            <a:off x="502920" y="14630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 cy="141732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63040"/>
            <a:ext cx="640080" cy="1417320"/>
          </a:xfrm>
          <a:prstGeom prst="rect">
            <a:avLst/>
          </a:prstGeom>
          <a:noFill/>
        </p:spPr>
        <p:txBody>
          <a:bodyPr wrap="square" anchor="ctr" lIns="0" rIns="0" tIns="0" bIns="0">
            <a:spAutoFit/>
          </a:bodyPr>
          <a:lstStyle/>
          <a:p>
            <a:pPr algn="l">
              <a:spcAft>
                <a:spcPts val="400"/>
              </a:spcAft>
            </a:pPr>
            <a:r>
              <a:rPr sz="3200" b="1" i="0">
                <a:solidFill>
                  <a:srgbClr val="0F6CBD"/>
                </a:solidFill>
                <a:latin typeface="Segoe UI"/>
              </a:rPr>
              <a:t>1</a:t>
            </a:r>
          </a:p>
        </p:txBody>
      </p:sp>
      <p:sp>
        <p:nvSpPr>
          <p:cNvPr id="7" name="TextBox 6"/>
          <p:cNvSpPr txBox="1"/>
          <p:nvPr/>
        </p:nvSpPr>
        <p:spPr>
          <a:xfrm>
            <a:off x="1508760" y="1554480"/>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Choose the right tool</a:t>
            </a:r>
          </a:p>
          <a:p>
            <a:pPr algn="l">
              <a:spcAft>
                <a:spcPts val="400"/>
              </a:spcAft>
            </a:pPr>
            <a:r>
              <a:rPr sz="1300" b="0" i="0">
                <a:solidFill>
                  <a:srgbClr val="616161"/>
                </a:solidFill>
                <a:latin typeface="Segoe UI"/>
              </a:rPr>
              <a:t>Copilot Chat, </a:t>
            </a:r>
            <a:r>
              <a:rPr sz="1300" b="1" i="0">
                <a:solidFill>
                  <a:srgbClr val="616161"/>
                </a:solidFill>
                <a:latin typeface="Segoe UI"/>
              </a:rPr>
              <a:t>Cowork</a:t>
            </a:r>
            <a:r>
              <a:rPr sz="1300" b="0" i="0">
                <a:solidFill>
                  <a:srgbClr val="616161"/>
                </a:solidFill>
                <a:latin typeface="Segoe UI"/>
              </a:rPr>
              <a:t>, or </a:t>
            </a:r>
            <a:r>
              <a:rPr sz="1300" b="1" i="0">
                <a:solidFill>
                  <a:srgbClr val="616161"/>
                </a:solidFill>
                <a:latin typeface="Segoe UI"/>
              </a:rPr>
              <a:t>Agent Builder</a:t>
            </a:r>
            <a:r>
              <a:rPr sz="1300" b="0" i="0">
                <a:solidFill>
                  <a:srgbClr val="616161"/>
                </a:solidFill>
                <a:latin typeface="Segoe UI"/>
              </a:rPr>
              <a:t> — for the task in front of you.</a:t>
            </a:r>
          </a:p>
        </p:txBody>
      </p:sp>
      <p:sp>
        <p:nvSpPr>
          <p:cNvPr id="8" name="Rectangle 7">
            <a:extLst>
              <a:ext uri="{C183D7F6-B498-43B3-948B-1728B52AA6E4}">
                <ns2:decorative xmlns:ns2="http://schemas.microsoft.com/office/drawing/2017/decorative" val="1"/>
              </a:ext>
            </a:extLst>
          </p:cNvPr>
          <p:cNvSpPr/>
          <p:nvPr/>
        </p:nvSpPr>
        <p:spPr>
          <a:xfrm>
            <a:off x="6172200" y="14630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6172200" y="1463040"/>
            <a:ext cx="54864" cy="1417320"/>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46520" y="1463040"/>
            <a:ext cx="640080" cy="1417320"/>
          </a:xfrm>
          <a:prstGeom prst="rect">
            <a:avLst/>
          </a:prstGeom>
          <a:noFill/>
        </p:spPr>
        <p:txBody>
          <a:bodyPr wrap="square" anchor="ctr" lIns="0" rIns="0" tIns="0" bIns="0">
            <a:spAutoFit/>
          </a:bodyPr>
          <a:lstStyle/>
          <a:p>
            <a:pPr algn="l">
              <a:spcAft>
                <a:spcPts val="400"/>
              </a:spcAft>
            </a:pPr>
            <a:r>
              <a:rPr sz="3200" b="1" i="0">
                <a:solidFill>
                  <a:srgbClr val="8064A2"/>
                </a:solidFill>
                <a:latin typeface="Segoe UI"/>
              </a:rPr>
              <a:t>2</a:t>
            </a:r>
          </a:p>
        </p:txBody>
      </p:sp>
      <p:sp>
        <p:nvSpPr>
          <p:cNvPr id="11" name="TextBox 10"/>
          <p:cNvSpPr txBox="1"/>
          <p:nvPr/>
        </p:nvSpPr>
        <p:spPr>
          <a:xfrm>
            <a:off x="7178040" y="1554480"/>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Delegate safely</a:t>
            </a:r>
          </a:p>
          <a:p>
            <a:pPr algn="l">
              <a:spcAft>
                <a:spcPts val="400"/>
              </a:spcAft>
            </a:pPr>
            <a:r>
              <a:rPr sz="1300" b="0" i="0">
                <a:solidFill>
                  <a:srgbClr val="616161"/>
                </a:solidFill>
                <a:latin typeface="Segoe UI"/>
              </a:rPr>
              <a:t>Describe an outcome; approve Cowork’s actions </a:t>
            </a:r>
            <a:r>
              <a:rPr sz="1300" b="1" i="0">
                <a:solidFill>
                  <a:srgbClr val="616161"/>
                </a:solidFill>
                <a:latin typeface="Segoe UI"/>
              </a:rPr>
              <a:t>one at a time</a:t>
            </a:r>
            <a:r>
              <a:rPr sz="1300" b="0" i="0">
                <a:solidFill>
                  <a:srgbClr val="616161"/>
                </a:solidFill>
                <a:latin typeface="Segoe UI"/>
              </a:rPr>
              <a:t>.</a:t>
            </a:r>
          </a:p>
        </p:txBody>
      </p:sp>
      <p:sp>
        <p:nvSpPr>
          <p:cNvPr id="12" name="Rectangle 11">
            <a:extLst>
              <a:ext uri="{C183D7F6-B498-43B3-948B-1728B52AA6E4}">
                <ns4:decorative xmlns:ns4="http://schemas.microsoft.com/office/drawing/2017/decorative" val="1"/>
              </a:ext>
            </a:extLst>
          </p:cNvPr>
          <p:cNvSpPr/>
          <p:nvPr/>
        </p:nvSpPr>
        <p:spPr>
          <a:xfrm>
            <a:off x="502920" y="30632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502920" y="3063240"/>
            <a:ext cx="54864" cy="1417320"/>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3063240"/>
            <a:ext cx="640080" cy="1417320"/>
          </a:xfrm>
          <a:prstGeom prst="rect">
            <a:avLst/>
          </a:prstGeom>
          <a:noFill/>
        </p:spPr>
        <p:txBody>
          <a:bodyPr wrap="square" anchor="ctr" lIns="0" rIns="0" tIns="0" bIns="0">
            <a:spAutoFit/>
          </a:bodyPr>
          <a:lstStyle/>
          <a:p>
            <a:pPr algn="l">
              <a:spcAft>
                <a:spcPts val="400"/>
              </a:spcAft>
            </a:pPr>
            <a:r>
              <a:rPr sz="3200" b="1" i="0">
                <a:solidFill>
                  <a:srgbClr val="107C10"/>
                </a:solidFill>
                <a:latin typeface="Segoe UI"/>
              </a:rPr>
              <a:t>3</a:t>
            </a:r>
          </a:p>
        </p:txBody>
      </p:sp>
      <p:sp>
        <p:nvSpPr>
          <p:cNvPr id="15" name="TextBox 14"/>
          <p:cNvSpPr txBox="1"/>
          <p:nvPr/>
        </p:nvSpPr>
        <p:spPr>
          <a:xfrm>
            <a:off x="1508760" y="3154680"/>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Ground in real content</a:t>
            </a:r>
          </a:p>
          <a:p>
            <a:pPr algn="l">
              <a:spcAft>
                <a:spcPts val="400"/>
              </a:spcAft>
            </a:pPr>
            <a:r>
              <a:rPr sz="1300" b="0" i="0">
                <a:solidFill>
                  <a:srgbClr val="616161"/>
                </a:solidFill>
                <a:latin typeface="Segoe UI"/>
              </a:rPr>
              <a:t>Attach files, research and browse the web </a:t>
            </a:r>
            <a:r>
              <a:rPr sz="1300" b="1" i="0">
                <a:solidFill>
                  <a:srgbClr val="616161"/>
                </a:solidFill>
                <a:latin typeface="Segoe UI"/>
              </a:rPr>
              <a:t>with citations</a:t>
            </a:r>
            <a:r>
              <a:rPr sz="1300" b="0" i="0">
                <a:solidFill>
                  <a:srgbClr val="616161"/>
                </a:solidFill>
                <a:latin typeface="Segoe UI"/>
              </a:rPr>
              <a:t>, and check the result.</a:t>
            </a:r>
          </a:p>
        </p:txBody>
      </p:sp>
      <p:sp>
        <p:nvSpPr>
          <p:cNvPr id="16" name="Rectangle 15">
            <a:extLst>
              <a:ext uri="{C183D7F6-B498-43B3-948B-1728B52AA6E4}">
                <ns6:decorative xmlns:ns6="http://schemas.microsoft.com/office/drawing/2017/decorative" val="1"/>
              </a:ext>
            </a:extLst>
          </p:cNvPr>
          <p:cNvSpPr/>
          <p:nvPr/>
        </p:nvSpPr>
        <p:spPr>
          <a:xfrm>
            <a:off x="6172200" y="30632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7:decorative xmlns:ns7="http://schemas.microsoft.com/office/drawing/2017/decorative" val="1"/>
              </a:ext>
            </a:extLst>
          </p:cNvPr>
          <p:cNvSpPr/>
          <p:nvPr/>
        </p:nvSpPr>
        <p:spPr>
          <a:xfrm>
            <a:off x="6172200" y="3063240"/>
            <a:ext cx="54864" cy="141732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46520" y="3063240"/>
            <a:ext cx="640080" cy="1417320"/>
          </a:xfrm>
          <a:prstGeom prst="rect">
            <a:avLst/>
          </a:prstGeom>
          <a:noFill/>
        </p:spPr>
        <p:txBody>
          <a:bodyPr wrap="square" anchor="ctr" lIns="0" rIns="0" tIns="0" bIns="0">
            <a:spAutoFit/>
          </a:bodyPr>
          <a:lstStyle/>
          <a:p>
            <a:pPr algn="l">
              <a:spcAft>
                <a:spcPts val="400"/>
              </a:spcAft>
            </a:pPr>
            <a:r>
              <a:rPr sz="3200" b="1" i="0">
                <a:solidFill>
                  <a:srgbClr val="C0504D"/>
                </a:solidFill>
                <a:latin typeface="Segoe UI"/>
              </a:rPr>
              <a:t>4</a:t>
            </a:r>
          </a:p>
        </p:txBody>
      </p:sp>
      <p:sp>
        <p:nvSpPr>
          <p:cNvPr id="19" name="TextBox 18"/>
          <p:cNvSpPr txBox="1"/>
          <p:nvPr/>
        </p:nvSpPr>
        <p:spPr>
          <a:xfrm>
            <a:off x="7178040" y="3154680"/>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Package repeatable work</a:t>
            </a:r>
          </a:p>
          <a:p>
            <a:pPr algn="l">
              <a:spcAft>
                <a:spcPts val="400"/>
              </a:spcAft>
            </a:pPr>
            <a:r>
              <a:rPr sz="1300" b="0" i="0">
                <a:solidFill>
                  <a:srgbClr val="616161"/>
                </a:solidFill>
                <a:latin typeface="Segoe UI"/>
              </a:rPr>
              <a:t>Build a </a:t>
            </a:r>
            <a:r>
              <a:rPr sz="1300" b="1" i="0">
                <a:solidFill>
                  <a:srgbClr val="616161"/>
                </a:solidFill>
                <a:latin typeface="Segoe UI"/>
              </a:rPr>
              <a:t>custom skill</a:t>
            </a:r>
            <a:r>
              <a:rPr sz="1300" b="0" i="0">
                <a:solidFill>
                  <a:srgbClr val="616161"/>
                </a:solidFill>
                <a:latin typeface="Segoe UI"/>
              </a:rPr>
              <a:t>; schedule recurring work with </a:t>
            </a:r>
            <a:r>
              <a:rPr sz="1300" b="1" i="0">
                <a:solidFill>
                  <a:srgbClr val="616161"/>
                </a:solidFill>
                <a:latin typeface="Segoe UI"/>
              </a:rPr>
              <a:t>Automations</a:t>
            </a:r>
            <a:r>
              <a:rPr sz="1300" b="0" i="0">
                <a:solidFill>
                  <a:srgbClr val="616161"/>
                </a:solidFill>
                <a:latin typeface="Segoe UI"/>
              </a:rPr>
              <a:t>.</a:t>
            </a:r>
          </a:p>
        </p:txBody>
      </p:sp>
      <p:sp>
        <p:nvSpPr>
          <p:cNvPr id="20" name="Rectangle 19">
            <a:extLst>
              <a:ext uri="{C183D7F6-B498-43B3-948B-1728B52AA6E4}">
                <ns8:decorative xmlns:ns8="http://schemas.microsoft.com/office/drawing/2017/decorative" val="1"/>
              </a:ext>
            </a:extLst>
          </p:cNvPr>
          <p:cNvSpPr/>
          <p:nvPr/>
        </p:nvSpPr>
        <p:spPr>
          <a:xfrm>
            <a:off x="502920" y="46634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a:extLst>
              <a:ext uri="{C183D7F6-B498-43B3-948B-1728B52AA6E4}">
                <ns9:decorative xmlns:ns9="http://schemas.microsoft.com/office/drawing/2017/decorative" val="1"/>
              </a:ext>
            </a:extLst>
          </p:cNvPr>
          <p:cNvSpPr/>
          <p:nvPr/>
        </p:nvSpPr>
        <p:spPr>
          <a:xfrm>
            <a:off x="502920" y="4663440"/>
            <a:ext cx="54864" cy="1417320"/>
          </a:xfrm>
          <a:prstGeom prst="rect">
            <a:avLst/>
          </a:prstGeom>
          <a:solidFill>
            <a:srgbClr val="948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7240" y="4663440"/>
            <a:ext cx="640080" cy="1417320"/>
          </a:xfrm>
          <a:prstGeom prst="rect">
            <a:avLst/>
          </a:prstGeom>
          <a:noFill/>
        </p:spPr>
        <p:txBody>
          <a:bodyPr wrap="square" anchor="ctr" lIns="0" rIns="0" tIns="0" bIns="0">
            <a:spAutoFit/>
          </a:bodyPr>
          <a:lstStyle/>
          <a:p>
            <a:pPr algn="l">
              <a:spcAft>
                <a:spcPts val="400"/>
              </a:spcAft>
            </a:pPr>
            <a:r>
              <a:rPr sz="3200" b="1" i="0">
                <a:solidFill>
                  <a:srgbClr val="948A54"/>
                </a:solidFill>
                <a:latin typeface="Segoe UI"/>
              </a:rPr>
              <a:t>5</a:t>
            </a:r>
          </a:p>
        </p:txBody>
      </p:sp>
      <p:sp>
        <p:nvSpPr>
          <p:cNvPr id="23" name="TextBox 22"/>
          <p:cNvSpPr txBox="1"/>
          <p:nvPr/>
        </p:nvSpPr>
        <p:spPr>
          <a:xfrm>
            <a:off x="1508760" y="4754879"/>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Build a no-code agent</a:t>
            </a:r>
          </a:p>
          <a:p>
            <a:pPr algn="l">
              <a:spcAft>
                <a:spcPts val="400"/>
              </a:spcAft>
            </a:pPr>
            <a:r>
              <a:rPr sz="1300" b="0" i="0">
                <a:solidFill>
                  <a:srgbClr val="616161"/>
                </a:solidFill>
                <a:latin typeface="Segoe UI"/>
              </a:rPr>
              <a:t>Answers from HR documents; </a:t>
            </a:r>
            <a:r>
              <a:rPr sz="1300" b="1" i="0">
                <a:solidFill>
                  <a:srgbClr val="616161"/>
                </a:solidFill>
                <a:latin typeface="Segoe UI"/>
              </a:rPr>
              <a:t>declines</a:t>
            </a:r>
            <a:r>
              <a:rPr sz="1300" b="0" i="0">
                <a:solidFill>
                  <a:srgbClr val="616161"/>
                </a:solidFill>
                <a:latin typeface="Segoe UI"/>
              </a:rPr>
              <a:t> what it shouldn’t answer.</a:t>
            </a:r>
          </a:p>
        </p:txBody>
      </p:sp>
      <p:sp>
        <p:nvSpPr>
          <p:cNvPr id="24" name="Rectangle 23">
            <a:extLst>
              <a:ext uri="{C183D7F6-B498-43B3-948B-1728B52AA6E4}">
                <ns10:decorative xmlns:ns10="http://schemas.microsoft.com/office/drawing/2017/decorative" val="1"/>
              </a:ext>
            </a:extLst>
          </p:cNvPr>
          <p:cNvSpPr/>
          <p:nvPr/>
        </p:nvSpPr>
        <p:spPr>
          <a:xfrm>
            <a:off x="6172200" y="4663440"/>
            <a:ext cx="5513832" cy="141732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a:extLst>
              <a:ext uri="{C183D7F6-B498-43B3-948B-1728B52AA6E4}">
                <ns11:decorative xmlns:ns11="http://schemas.microsoft.com/office/drawing/2017/decorative" val="1"/>
              </a:ext>
            </a:extLst>
          </p:cNvPr>
          <p:cNvSpPr/>
          <p:nvPr/>
        </p:nvSpPr>
        <p:spPr>
          <a:xfrm>
            <a:off x="6172200" y="4663440"/>
            <a:ext cx="54864" cy="1417320"/>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46520" y="4663440"/>
            <a:ext cx="640080" cy="1417320"/>
          </a:xfrm>
          <a:prstGeom prst="rect">
            <a:avLst/>
          </a:prstGeom>
          <a:noFill/>
        </p:spPr>
        <p:txBody>
          <a:bodyPr wrap="square" anchor="ctr" lIns="0" rIns="0" tIns="0" bIns="0">
            <a:spAutoFit/>
          </a:bodyPr>
          <a:lstStyle/>
          <a:p>
            <a:pPr algn="l">
              <a:spcAft>
                <a:spcPts val="400"/>
              </a:spcAft>
            </a:pPr>
            <a:r>
              <a:rPr sz="3200" b="1" i="0">
                <a:solidFill>
                  <a:srgbClr val="0F6CBD"/>
                </a:solidFill>
                <a:latin typeface="Segoe UI"/>
              </a:rPr>
              <a:t>6</a:t>
            </a:r>
          </a:p>
        </p:txBody>
      </p:sp>
      <p:sp>
        <p:nvSpPr>
          <p:cNvPr id="27" name="TextBox 26"/>
          <p:cNvSpPr txBox="1"/>
          <p:nvPr/>
        </p:nvSpPr>
        <p:spPr>
          <a:xfrm>
            <a:off x="7178040" y="4754879"/>
            <a:ext cx="4343400" cy="1234440"/>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Apply HR guardrails</a:t>
            </a:r>
          </a:p>
          <a:p>
            <a:pPr algn="l">
              <a:spcAft>
                <a:spcPts val="400"/>
              </a:spcAft>
            </a:pPr>
            <a:r>
              <a:rPr sz="1300" b="0" i="0">
                <a:solidFill>
                  <a:srgbClr val="616161"/>
                </a:solidFill>
                <a:latin typeface="Segoe UI"/>
              </a:rPr>
              <a:t>Keep real data private, </a:t>
            </a:r>
            <a:r>
              <a:rPr sz="1300" b="1" i="0">
                <a:solidFill>
                  <a:srgbClr val="616161"/>
                </a:solidFill>
                <a:latin typeface="Segoe UI"/>
              </a:rPr>
              <a:t>cite and confirm</a:t>
            </a:r>
            <a:r>
              <a:rPr sz="1300" b="0" i="0">
                <a:solidFill>
                  <a:srgbClr val="616161"/>
                </a:solidFill>
                <a:latin typeface="Segoe UI"/>
              </a:rPr>
              <a:t>, people decisions stay with people.</a:t>
            </a:r>
          </a:p>
        </p:txBody>
      </p:sp>
    </p:spTree>
    <p:extLst>
      <p:ext uri="{BB962C8B-B14F-4D97-AF65-F5344CB8AC3E}">
        <p14:creationId xmlns:p14="http://schemas.microsoft.com/office/powerpoint/2010/main" val="418314712"/>
      </p:ext>
    </p:extLst>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Workshop kit — download links</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Everything participants and instructors need. Select a link to download it.</a:t>
            </a:r>
          </a:p>
        </p:txBody>
      </p:sp>
      <p:sp>
        <p:nvSpPr>
          <p:cNvPr id="4" name="Rectangle 3">
            <a:extLst>
              <a:ext uri="{C183D7F6-B498-43B3-948B-1728B52AA6E4}">
                <ns0:decorative xmlns:ns0="http://schemas.microsoft.com/office/drawing/2017/decorative" val="1"/>
              </a:ext>
            </a:extLst>
          </p:cNvPr>
          <p:cNvSpPr/>
          <p:nvPr/>
        </p:nvSpPr>
        <p:spPr>
          <a:xfrm>
            <a:off x="502920" y="1463040"/>
            <a:ext cx="5468112" cy="2926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68112"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5175504"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FOR PARTICIPANTS</a:t>
            </a:r>
          </a:p>
        </p:txBody>
      </p:sp>
      <p:sp>
        <p:nvSpPr>
          <p:cNvPr id="7" name="TextBox 6">
            <a:extLst>
              <a:ext uri="{C183D7F6-B498-43B3-948B-1728B52AA6E4}">
                <ns2:decorative xmlns:ns2="http://schemas.microsoft.com/office/drawing/2017/decorative" val="1"/>
              </a:ext>
            </a:extLst>
          </p:cNvPr>
          <p:cNvSpPr txBox="1"/>
          <p:nvPr/>
        </p:nvSpPr>
        <p:spPr>
          <a:xfrm>
            <a:off x="649224" y="2084832"/>
            <a:ext cx="5175504" cy="2194560"/>
          </a:xfrm>
          <a:prstGeom prst="rect">
            <a:avLst/>
          </a:prstGeom>
          <a:noFill/>
        </p:spPr>
        <p:txBody>
          <a:bodyPr wrap="square" anchor="t" lIns="0" rIns="0" tIns="0" bIns="0">
            <a:spAutoFit/>
          </a:bodyPr>
          <a:lstStyle/>
          <a:p/>
        </p:txBody>
      </p:sp>
      <p:sp>
        <p:nvSpPr>
          <p:cNvPr id="8" name="TextBox 7"/>
          <p:cNvSpPr txBox="1"/>
          <p:nvPr/>
        </p:nvSpPr>
        <p:spPr>
          <a:xfrm>
            <a:off x="685800" y="2103120"/>
            <a:ext cx="5120640" cy="2240280"/>
          </a:xfrm>
          <a:prstGeom prst="rect">
            <a:avLst/>
          </a:prstGeom>
          <a:noFill/>
        </p:spPr>
        <p:txBody>
          <a:bodyPr wrap="square" lIns="0" rIns="0" tIns="0" bIns="0">
            <a:spAutoFit/>
          </a:bodyPr>
          <a:lstStyle/>
          <a:p>
            <a:pPr>
              <a:spcAft>
                <a:spcPts val="1100"/>
              </a:spcAft>
            </a:pPr>
            <a:r>
              <a:rPr sz="1600" b="1" u="sng">
                <a:solidFill>
                  <a:srgbClr val="0F6CBD"/>
                </a:solidFill>
                <a:latin typeface="Segoe UI"/>
                <a:hlinkClick r:id="rId2">
                  <a:extLst>
                    <a:ext uri="{A12FA001-AC4F-418D-AE19-62706E023703}">
                      <ahyp:hlinkClr xmlns:ahyp="http://schemas.microsoft.com/office/drawing/2018/hyperlinkcolor" val="tx"/>
                    </a:ext>
                  </a:extLst>
                </a:hlinkClick>
              </a:rPr>
              <a:t>Participant workbook</a:t>
            </a:r>
            <a:r>
              <a:rPr sz="1400">
                <a:solidFill>
                  <a:srgbClr val="616161"/>
                </a:solidFill>
                <a:latin typeface="Segoe UI"/>
              </a:rPr>
              <a:t>  ·  setup + all 8 exercises</a:t>
            </a:r>
          </a:p>
          <a:p>
            <a:pPr>
              <a:spcAft>
                <a:spcPts val="1100"/>
              </a:spcAft>
            </a:pPr>
            <a:r>
              <a:rPr sz="1600" b="1" u="sng">
                <a:solidFill>
                  <a:srgbClr val="0F6CBD"/>
                </a:solidFill>
                <a:latin typeface="Segoe UI"/>
                <a:hlinkClick r:id="rId3">
                  <a:extLst>
                    <a:ext uri="{A12FA001-AC4F-418D-AE19-62706E023703}">
                      <ahyp:hlinkClr xmlns:ahyp="http://schemas.microsoft.com/office/drawing/2018/hyperlinkcolor" val="tx"/>
                    </a:ext>
                  </a:extLst>
                </a:hlinkClick>
              </a:rPr>
              <a:t>Sample data (zip)</a:t>
            </a:r>
            <a:r>
              <a:rPr sz="1400">
                <a:solidFill>
                  <a:srgbClr val="616161"/>
                </a:solidFill>
                <a:latin typeface="Segoe UI"/>
              </a:rPr>
              <a:t>  ·  the six Zava files</a:t>
            </a:r>
          </a:p>
          <a:p>
            <a:pPr>
              <a:spcAft>
                <a:spcPts val="1100"/>
              </a:spcAft>
            </a:pPr>
            <a:r>
              <a:rPr sz="1600" b="1" u="sng">
                <a:solidFill>
                  <a:srgbClr val="0F6CBD"/>
                </a:solidFill>
                <a:latin typeface="Segoe UI"/>
                <a:hlinkClick r:id="rId4">
                  <a:extLst>
                    <a:ext uri="{A12FA001-AC4F-418D-AE19-62706E023703}">
                      <ahyp:hlinkClr xmlns:ahyp="http://schemas.microsoft.com/office/drawing/2018/hyperlinkcolor" val="tx"/>
                    </a:ext>
                  </a:extLst>
                </a:hlinkClick>
              </a:rPr>
              <a:t>Quick-reference card</a:t>
            </a:r>
            <a:r>
              <a:rPr sz="1400">
                <a:solidFill>
                  <a:srgbClr val="616161"/>
                </a:solidFill>
                <a:latin typeface="Segoe UI"/>
              </a:rPr>
              <a:t>  ·  one-page handout</a:t>
            </a:r>
          </a:p>
          <a:p>
            <a:pPr>
              <a:spcAft>
                <a:spcPts val="1100"/>
              </a:spcAft>
            </a:pPr>
            <a:r>
              <a:rPr sz="1600" b="1" u="sng">
                <a:solidFill>
                  <a:srgbClr val="0F6CBD"/>
                </a:solidFill>
                <a:latin typeface="Segoe UI"/>
                <a:hlinkClick r:id="rId5">
                  <a:extLst>
                    <a:ext uri="{A12FA001-AC4F-418D-AE19-62706E023703}">
                      <ahyp:hlinkClr xmlns:ahyp="http://schemas.microsoft.com/office/drawing/2018/hyperlinkcolor" val="tx"/>
                    </a:ext>
                  </a:extLst>
                </a:hlinkClick>
              </a:rPr>
              <a:t>Prompt library</a:t>
            </a:r>
            <a:r>
              <a:rPr sz="1400">
                <a:solidFill>
                  <a:srgbClr val="616161"/>
                </a:solidFill>
                <a:latin typeface="Segoe UI"/>
              </a:rPr>
              <a:t>  ·  copy-paste HR prompts</a:t>
            </a:r>
          </a:p>
          <a:p>
            <a:pPr>
              <a:spcAft>
                <a:spcPts val="1100"/>
              </a:spcAft>
            </a:pPr>
            <a:r>
              <a:rPr sz="1600" b="1" u="sng">
                <a:solidFill>
                  <a:srgbClr val="0F6CBD"/>
                </a:solidFill>
                <a:latin typeface="Segoe UI"/>
                <a:hlinkClick r:id="rId6">
                  <a:extLst>
                    <a:ext uri="{A12FA001-AC4F-418D-AE19-62706E023703}">
                      <ahyp:hlinkClr xmlns:ahyp="http://schemas.microsoft.com/office/drawing/2018/hyperlinkcolor" val="tx"/>
                    </a:ext>
                  </a:extLst>
                </a:hlinkClick>
              </a:rPr>
              <a:t>Responsible use</a:t>
            </a:r>
            <a:r>
              <a:rPr sz="1400">
                <a:solidFill>
                  <a:srgbClr val="616161"/>
                </a:solidFill>
                <a:latin typeface="Segoe UI"/>
              </a:rPr>
              <a:t>  ·  data-handling rules</a:t>
            </a:r>
          </a:p>
          <a:p>
            <a:pPr>
              <a:spcAft>
                <a:spcPts val="1100"/>
              </a:spcAft>
            </a:pPr>
            <a:r>
              <a:rPr sz="1600" b="1" u="sng">
                <a:solidFill>
                  <a:srgbClr val="0F6CBD"/>
                </a:solidFill>
                <a:latin typeface="Segoe UI"/>
                <a:hlinkClick r:id="rId7">
                  <a:extLst>
                    <a:ext uri="{A12FA001-AC4F-418D-AE19-62706E023703}">
                      <ahyp:hlinkClr xmlns:ahyp="http://schemas.microsoft.com/office/drawing/2018/hyperlinkcolor" val="tx"/>
                    </a:ext>
                  </a:extLst>
                </a:hlinkClick>
              </a:rPr>
              <a:t>After the workshop</a:t>
            </a:r>
            <a:r>
              <a:rPr sz="1400">
                <a:solidFill>
                  <a:srgbClr val="616161"/>
                </a:solidFill>
                <a:latin typeface="Segoe UI"/>
              </a:rPr>
              <a:t>  ·  30-day adoption plan</a:t>
            </a:r>
          </a:p>
        </p:txBody>
      </p:sp>
      <p:sp>
        <p:nvSpPr>
          <p:cNvPr id="9" name="Rectangle 8">
            <a:extLst>
              <a:ext uri="{C183D7F6-B498-43B3-948B-1728B52AA6E4}">
                <ns3:decorative xmlns:ns3="http://schemas.microsoft.com/office/drawing/2017/decorative" val="1"/>
              </a:ext>
            </a:extLst>
          </p:cNvPr>
          <p:cNvSpPr/>
          <p:nvPr/>
        </p:nvSpPr>
        <p:spPr>
          <a:xfrm>
            <a:off x="6217920" y="1463040"/>
            <a:ext cx="5468112" cy="29260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a:extLst>
              <a:ext uri="{C183D7F6-B498-43B3-948B-1728B52AA6E4}">
                <ns4:decorative xmlns:ns4="http://schemas.microsoft.com/office/drawing/2017/decorative" val="1"/>
              </a:ext>
            </a:extLst>
          </p:cNvPr>
          <p:cNvSpPr/>
          <p:nvPr/>
        </p:nvSpPr>
        <p:spPr>
          <a:xfrm>
            <a:off x="6217920" y="1463040"/>
            <a:ext cx="5468112"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64224" y="1645920"/>
            <a:ext cx="5175504"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UI"/>
              </a:rPr>
              <a:t>FOR INSTRUCTORS</a:t>
            </a:r>
          </a:p>
        </p:txBody>
      </p:sp>
      <p:sp>
        <p:nvSpPr>
          <p:cNvPr id="12" name="TextBox 11">
            <a:extLst>
              <a:ext uri="{C183D7F6-B498-43B3-948B-1728B52AA6E4}">
                <ns5:decorative xmlns:ns5="http://schemas.microsoft.com/office/drawing/2017/decorative" val="1"/>
              </a:ext>
            </a:extLst>
          </p:cNvPr>
          <p:cNvSpPr txBox="1"/>
          <p:nvPr/>
        </p:nvSpPr>
        <p:spPr>
          <a:xfrm>
            <a:off x="6364224" y="2084832"/>
            <a:ext cx="5175504" cy="2194560"/>
          </a:xfrm>
          <a:prstGeom prst="rect">
            <a:avLst/>
          </a:prstGeom>
          <a:noFill/>
        </p:spPr>
        <p:txBody>
          <a:bodyPr wrap="square" anchor="t" lIns="0" rIns="0" tIns="0" bIns="0">
            <a:spAutoFit/>
          </a:bodyPr>
          <a:lstStyle/>
          <a:p/>
        </p:txBody>
      </p:sp>
      <p:sp>
        <p:nvSpPr>
          <p:cNvPr id="13" name="TextBox 12"/>
          <p:cNvSpPr txBox="1"/>
          <p:nvPr/>
        </p:nvSpPr>
        <p:spPr>
          <a:xfrm>
            <a:off x="6400800" y="2103120"/>
            <a:ext cx="5120640" cy="2240280"/>
          </a:xfrm>
          <a:prstGeom prst="rect">
            <a:avLst/>
          </a:prstGeom>
          <a:noFill/>
        </p:spPr>
        <p:txBody>
          <a:bodyPr wrap="square" lIns="0" rIns="0" tIns="0" bIns="0">
            <a:spAutoFit/>
          </a:bodyPr>
          <a:lstStyle/>
          <a:p>
            <a:pPr>
              <a:spcAft>
                <a:spcPts val="1100"/>
              </a:spcAft>
            </a:pPr>
            <a:r>
              <a:rPr sz="1600" b="1" u="sng">
                <a:solidFill>
                  <a:srgbClr val="8064A2"/>
                </a:solidFill>
                <a:latin typeface="Segoe UI"/>
                <a:hlinkClick r:id="rId8">
                  <a:extLst>
                    <a:ext uri="{A12FA001-AC4F-418D-AE19-62706E023703}">
                      <ahyp:hlinkClr xmlns:ahyp="http://schemas.microsoft.com/office/drawing/2018/hyperlinkcolor" val="tx"/>
                    </a:ext>
                  </a:extLst>
                </a:hlinkClick>
              </a:rPr>
              <a:t>Instructor deck</a:t>
            </a:r>
            <a:r>
              <a:rPr sz="1400">
                <a:solidFill>
                  <a:srgbClr val="616161"/>
                </a:solidFill>
                <a:latin typeface="Segoe UI"/>
              </a:rPr>
              <a:t>  ·  slides + speaker notes</a:t>
            </a:r>
          </a:p>
          <a:p>
            <a:pPr>
              <a:spcAft>
                <a:spcPts val="1100"/>
              </a:spcAft>
            </a:pPr>
            <a:r>
              <a:rPr sz="1600" b="1" u="sng">
                <a:solidFill>
                  <a:srgbClr val="8064A2"/>
                </a:solidFill>
                <a:latin typeface="Segoe UI"/>
                <a:hlinkClick r:id="rId9">
                  <a:extLst>
                    <a:ext uri="{A12FA001-AC4F-418D-AE19-62706E023703}">
                      <ahyp:hlinkClr xmlns:ahyp="http://schemas.microsoft.com/office/drawing/2018/hyperlinkcolor" val="tx"/>
                    </a:ext>
                  </a:extLst>
                </a:hlinkClick>
              </a:rPr>
              <a:t>Facilitator guide</a:t>
            </a:r>
            <a:r>
              <a:rPr sz="1400">
                <a:solidFill>
                  <a:srgbClr val="616161"/>
                </a:solidFill>
                <a:latin typeface="Segoe UI"/>
              </a:rPr>
              <a:t>  ·  run sheet + triage</a:t>
            </a:r>
          </a:p>
          <a:p>
            <a:pPr>
              <a:spcAft>
                <a:spcPts val="1100"/>
              </a:spcAft>
            </a:pPr>
            <a:r>
              <a:rPr sz="1600" b="1" u="sng">
                <a:solidFill>
                  <a:srgbClr val="8064A2"/>
                </a:solidFill>
                <a:latin typeface="Segoe UI"/>
                <a:hlinkClick r:id="rId10">
                  <a:extLst>
                    <a:ext uri="{A12FA001-AC4F-418D-AE19-62706E023703}">
                      <ahyp:hlinkClr xmlns:ahyp="http://schemas.microsoft.com/office/drawing/2018/hyperlinkcolor" val="tx"/>
                    </a:ext>
                  </a:extLst>
                </a:hlinkClick>
              </a:rPr>
              <a:t>Answer key</a:t>
            </a:r>
            <a:r>
              <a:rPr sz="1400">
                <a:solidFill>
                  <a:srgbClr val="616161"/>
                </a:solidFill>
                <a:latin typeface="Segoe UI"/>
              </a:rPr>
              <a:t>  ·  expected results</a:t>
            </a:r>
          </a:p>
          <a:p>
            <a:pPr>
              <a:spcAft>
                <a:spcPts val="1100"/>
              </a:spcAft>
            </a:pPr>
            <a:r>
              <a:rPr sz="1600" b="1" u="sng">
                <a:solidFill>
                  <a:srgbClr val="8064A2"/>
                </a:solidFill>
                <a:latin typeface="Segoe UI"/>
                <a:hlinkClick r:id="rId11">
                  <a:extLst>
                    <a:ext uri="{A12FA001-AC4F-418D-AE19-62706E023703}">
                      <ahyp:hlinkClr xmlns:ahyp="http://schemas.microsoft.com/office/drawing/2018/hyperlinkcolor" val="tx"/>
                    </a:ext>
                  </a:extLst>
                </a:hlinkClick>
              </a:rPr>
              <a:t>Readiness checklist</a:t>
            </a:r>
            <a:r>
              <a:rPr sz="1400">
                <a:solidFill>
                  <a:srgbClr val="616161"/>
                </a:solidFill>
                <a:latin typeface="Segoe UI"/>
              </a:rPr>
              <a:t>  ·  prep timeline + Plan B</a:t>
            </a:r>
          </a:p>
          <a:p>
            <a:pPr>
              <a:spcAft>
                <a:spcPts val="1100"/>
              </a:spcAft>
            </a:pPr>
            <a:r>
              <a:rPr sz="1600" b="1" u="sng">
                <a:solidFill>
                  <a:srgbClr val="8064A2"/>
                </a:solidFill>
                <a:latin typeface="Segoe UI"/>
                <a:hlinkClick r:id="rId12">
                  <a:extLst>
                    <a:ext uri="{A12FA001-AC4F-418D-AE19-62706E023703}">
                      <ahyp:hlinkClr xmlns:ahyp="http://schemas.microsoft.com/office/drawing/2018/hyperlinkcolor" val="tx"/>
                    </a:ext>
                  </a:extLst>
                </a:hlinkClick>
              </a:rPr>
              <a:t>Demo seed content</a:t>
            </a:r>
            <a:r>
              <a:rPr sz="1400">
                <a:solidFill>
                  <a:srgbClr val="616161"/>
                </a:solidFill>
                <a:latin typeface="Segoe UI"/>
              </a:rPr>
              <a:t>  ·  your Ex 8 demo data + how to load it</a:t>
            </a:r>
          </a:p>
          <a:p>
            <a:pPr>
              <a:spcAft>
                <a:spcPts val="1100"/>
              </a:spcAft>
            </a:pPr>
            <a:r>
              <a:rPr sz="1600" b="1" u="sng">
                <a:solidFill>
                  <a:srgbClr val="8064A2"/>
                </a:solidFill>
                <a:latin typeface="Segoe UI"/>
                <a:hlinkClick r:id="rId13">
                  <a:extLst>
                    <a:ext uri="{A12FA001-AC4F-418D-AE19-62706E023703}">
                      <ahyp:hlinkClr xmlns:ahyp="http://schemas.microsoft.com/office/drawing/2018/hyperlinkcolor" val="tx"/>
                    </a:ext>
                  </a:extLst>
                </a:hlinkClick>
              </a:rPr>
              <a:t>Communication kit</a:t>
            </a:r>
            <a:r>
              <a:rPr sz="1400">
                <a:solidFill>
                  <a:srgbClr val="616161"/>
                </a:solidFill>
                <a:latin typeface="Segoe UI"/>
              </a:rPr>
              <a:t>  ·  overview deck + emails</a:t>
            </a:r>
          </a:p>
        </p:txBody>
      </p:sp>
      <p:sp>
        <p:nvSpPr>
          <p:cNvPr id="14" name="Rounded Rectangle 13">
            <a:extLst>
              <a:ext uri="{C183D7F6-B498-43B3-948B-1728B52AA6E4}">
                <ns6:decorative xmlns:ns6="http://schemas.microsoft.com/office/drawing/2017/decorative" val="1"/>
              </a:ext>
            </a:extLst>
          </p:cNvPr>
          <p:cNvSpPr/>
          <p:nvPr/>
        </p:nvSpPr>
        <p:spPr>
          <a:xfrm>
            <a:off x="502920" y="4572000"/>
            <a:ext cx="11183112" cy="1691640"/>
          </a:xfrm>
          <a:prstGeom prst="roundRect">
            <a:avLst>
              <a:gd name="adj" fmla="val 10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DownloadHint" descr="Tip: on a GitHub file page, select the Download icon (Download raw file) at the top right of the file."/>
          <p:cNvPicPr>
            <a:picLocks noChangeAspect="1"/>
          </p:cNvPicPr>
          <p:nvPr/>
        </p:nvPicPr>
        <p:blipFill>
          <a:blip r:embed="rId14"/>
          <a:stretch>
            <a:fillRect/>
          </a:stretch>
        </p:blipFill>
        <p:spPr>
          <a:xfrm>
            <a:off x="6473952" y="4663440"/>
            <a:ext cx="5082139" cy="1508760"/>
          </a:xfrm>
          <a:prstGeom prst="rect">
            <a:avLst/>
          </a:prstGeom>
        </p:spPr>
      </p:pic>
      <p:sp>
        <p:nvSpPr>
          <p:cNvPr id="16" name="TextBox 15"/>
          <p:cNvSpPr txBox="1"/>
          <p:nvPr/>
        </p:nvSpPr>
        <p:spPr>
          <a:xfrm>
            <a:off x="777240" y="4572000"/>
            <a:ext cx="5440680" cy="1691640"/>
          </a:xfrm>
          <a:prstGeom prst="rect">
            <a:avLst/>
          </a:prstGeom>
          <a:noFill/>
        </p:spPr>
        <p:txBody>
          <a:bodyPr wrap="square" anchor="ctr" lIns="0" rIns="0" tIns="0" bIns="0">
            <a:spAutoFit/>
          </a:bodyPr>
          <a:lstStyle/>
          <a:p>
            <a:r>
              <a:rPr sz="1500" b="1">
                <a:solidFill>
                  <a:srgbClr val="FFFFFF"/>
                </a:solidFill>
                <a:latin typeface="Segoe UI"/>
              </a:rPr>
              <a:t>Everything else: </a:t>
            </a:r>
            <a:r>
              <a:rPr sz="1500" b="0">
                <a:solidFill>
                  <a:srgbClr val="FFFFFF"/>
                </a:solidFill>
                <a:latin typeface="Segoe UI"/>
              </a:rPr>
              <a:t>browse the kit on </a:t>
            </a:r>
            <a:r>
              <a:rPr sz="1500" b="1" u="sng">
                <a:solidFill>
                  <a:srgbClr val="FFFFFF"/>
                </a:solidFill>
                <a:latin typeface="Segoe UI"/>
                <a:hlinkClick r:id="rId15">
                  <a:extLst>
                    <a:ext uri="{A12FA001-AC4F-418D-AE19-62706E023703}">
                      <ahyp:hlinkClr xmlns:ahyp="http://schemas.microsoft.com/office/drawing/2018/hyperlinkcolor" val="tx"/>
                    </a:ext>
                  </a:extLst>
                </a:hlinkClick>
              </a:rPr>
              <a:t>GitHub</a:t>
            </a:r>
            <a:r>
              <a:rPr sz="1500" b="0">
                <a:solidFill>
                  <a:srgbClr val="FFFFFF"/>
                </a:solidFill>
                <a:latin typeface="Segoe UI"/>
              </a:rPr>
              <a:t>. Link opens on GitHub? Select the </a:t>
            </a:r>
            <a:r>
              <a:rPr sz="1500" b="1">
                <a:solidFill>
                  <a:srgbClr val="FFFFFF"/>
                </a:solidFill>
                <a:latin typeface="Segoe UI"/>
              </a:rPr>
              <a:t>Download</a:t>
            </a:r>
            <a:r>
              <a:rPr sz="1500" b="0">
                <a:solidFill>
                  <a:srgbClr val="FFFFFF"/>
                </a:solidFill>
                <a:latin typeface="Segoe UI"/>
              </a:rPr>
              <a:t> icon at the top right of the file. No access? Use the shared Teams/SharePoint folder.</a:t>
            </a:r>
          </a:p>
        </p:txBody>
      </p:sp>
    </p:spTree>
    <p:extLst>
      <p:ext uri="{BB962C8B-B14F-4D97-AF65-F5344CB8AC3E}">
        <p14:creationId xmlns:p14="http://schemas.microsoft.com/office/powerpoint/2010/main" val="418314712"/>
      </p:ext>
    </p:extLst>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Cowork settings — Edge browsing &amp; Copilot Credits</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Complete these prerequisites before training; this Appendix slide is a setup reference.</a:t>
            </a:r>
          </a:p>
        </p:txBody>
      </p:sp>
      <p:sp>
        <p:nvSpPr>
          <p:cNvPr id="4" name="Rectangle 3">
            <a:extLst>
              <a:ext uri="{C183D7F6-B498-43B3-948B-1728B52AA6E4}">
                <ns0:decorative xmlns:ns0="http://schemas.microsoft.com/office/drawing/2017/decorative" val="1"/>
              </a:ext>
            </a:extLst>
          </p:cNvPr>
          <p:cNvSpPr/>
          <p:nvPr/>
        </p:nvSpPr>
        <p:spPr>
          <a:xfrm>
            <a:off x="502920" y="1463040"/>
            <a:ext cx="5486400" cy="219456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00"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5193792"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EDGE BROWSING · ADMIN + USER</a:t>
            </a:r>
          </a:p>
        </p:txBody>
      </p:sp>
      <p:sp>
        <p:nvSpPr>
          <p:cNvPr id="7" name="TextBox 6"/>
          <p:cNvSpPr txBox="1"/>
          <p:nvPr/>
        </p:nvSpPr>
        <p:spPr>
          <a:xfrm>
            <a:off x="649224" y="2084832"/>
            <a:ext cx="5193792" cy="1463039"/>
          </a:xfrm>
          <a:prstGeom prst="rect">
            <a:avLst/>
          </a:prstGeom>
          <a:noFill/>
        </p:spPr>
        <p:txBody>
          <a:bodyPr wrap="square" anchor="t" lIns="0" rIns="0" tIns="0" bIns="0">
            <a:spAutoFit/>
          </a:bodyPr>
          <a:lstStyle/>
          <a:p>
            <a:pPr algn="l" marL="182880" indent="-182880">
              <a:spcAft>
                <a:spcPts val="500"/>
              </a:spcAft>
              <a:buFont typeface="Arial"/>
              <a:buChar char="•"/>
            </a:pPr>
            <a:r>
              <a:rPr sz="1200" b="1" i="0">
                <a:solidFill>
                  <a:srgbClr val="242424"/>
                </a:solidFill>
                <a:latin typeface="Segoe UI"/>
              </a:rPr>
              <a:t>Admin:</a:t>
            </a:r>
            <a:r>
              <a:rPr sz="1200" b="0" i="0">
                <a:solidFill>
                  <a:srgbClr val="242424"/>
                </a:solidFill>
                <a:latin typeface="Segoe UI"/>
              </a:rPr>
              <a:t> Copilot → Settings → View all → Cowork settings → Allow browser access; include attendees.</a:t>
            </a:r>
          </a:p>
          <a:p>
            <a:pPr algn="l" marL="182880" indent="-182880">
              <a:spcAft>
                <a:spcPts val="500"/>
              </a:spcAft>
              <a:buFont typeface="Arial"/>
              <a:buChar char="•"/>
            </a:pPr>
            <a:r>
              <a:rPr sz="1200" b="1" i="0">
                <a:solidFill>
                  <a:srgbClr val="242424"/>
                </a:solidFill>
                <a:latin typeface="Segoe UI"/>
              </a:rPr>
              <a:t>User:</a:t>
            </a:r>
            <a:r>
              <a:rPr sz="1200" b="0" i="0">
                <a:solidFill>
                  <a:srgbClr val="242424"/>
                </a:solidFill>
                <a:latin typeface="Segoe UI"/>
              </a:rPr>
              <a:t> Edge 152+, work-account profile; no InPrivate or guest window.</a:t>
            </a:r>
          </a:p>
          <a:p>
            <a:pPr algn="l" marL="182880" indent="-182880">
              <a:spcAft>
                <a:spcPts val="500"/>
              </a:spcAft>
              <a:buFont typeface="Arial"/>
              <a:buChar char="•"/>
            </a:pPr>
            <a:r>
              <a:rPr sz="1200" b="0" i="0">
                <a:solidFill>
                  <a:srgbClr val="242424"/>
                </a:solidFill>
                <a:latin typeface="Segoe UI"/>
              </a:rPr>
              <a:t>In Edge Settings, search </a:t>
            </a:r>
            <a:r>
              <a:rPr sz="1200" b="1" i="0">
                <a:solidFill>
                  <a:srgbClr val="242424"/>
                </a:solidFill>
                <a:latin typeface="Segoe UI"/>
              </a:rPr>
              <a:t>Cowork</a:t>
            </a:r>
            <a:r>
              <a:rPr sz="1200" b="0" i="0">
                <a:solidFill>
                  <a:srgbClr val="242424"/>
                </a:solidFill>
                <a:latin typeface="Segoe UI"/>
              </a:rPr>
              <a:t>; turn on </a:t>
            </a:r>
            <a:r>
              <a:rPr sz="1200" b="1" i="0">
                <a:solidFill>
                  <a:srgbClr val="242424"/>
                </a:solidFill>
                <a:latin typeface="Segoe UI"/>
              </a:rPr>
              <a:t>Allow Cowork to take actions on your behalf</a:t>
            </a:r>
            <a:r>
              <a:rPr sz="1200" b="0" i="0">
                <a:solidFill>
                  <a:srgbClr val="242424"/>
                </a:solidFill>
                <a:latin typeface="Segoe UI"/>
              </a:rPr>
              <a:t>.</a:t>
            </a:r>
          </a:p>
        </p:txBody>
      </p:sp>
      <p:sp>
        <p:nvSpPr>
          <p:cNvPr id="8" name="Rectangle 7">
            <a:extLst>
              <a:ext uri="{C183D7F6-B498-43B3-948B-1728B52AA6E4}">
                <ns2:decorative xmlns:ns2="http://schemas.microsoft.com/office/drawing/2017/decorative" val="1"/>
              </a:ext>
            </a:extLst>
          </p:cNvPr>
          <p:cNvSpPr/>
          <p:nvPr/>
        </p:nvSpPr>
        <p:spPr>
          <a:xfrm>
            <a:off x="502920" y="3794760"/>
            <a:ext cx="5486400" cy="23774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502920" y="3794760"/>
            <a:ext cx="5486400"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224" y="3977640"/>
            <a:ext cx="5193792"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UI"/>
              </a:rPr>
              <a:t>COPILOT CREDITS · HOST / ADMIN</a:t>
            </a:r>
          </a:p>
        </p:txBody>
      </p:sp>
      <p:sp>
        <p:nvSpPr>
          <p:cNvPr id="11" name="TextBox 10"/>
          <p:cNvSpPr txBox="1"/>
          <p:nvPr/>
        </p:nvSpPr>
        <p:spPr>
          <a:xfrm>
            <a:off x="649224" y="4416552"/>
            <a:ext cx="5193792" cy="1645920"/>
          </a:xfrm>
          <a:prstGeom prst="rect">
            <a:avLst/>
          </a:prstGeom>
          <a:noFill/>
        </p:spPr>
        <p:txBody>
          <a:bodyPr wrap="square" anchor="t" lIns="0" rIns="0" tIns="0" bIns="0">
            <a:spAutoFit/>
          </a:bodyPr>
          <a:lstStyle/>
          <a:p>
            <a:pPr algn="l" marL="182880" indent="-182880">
              <a:spcAft>
                <a:spcPts val="500"/>
              </a:spcAft>
              <a:buFont typeface="Arial"/>
              <a:buChar char="•"/>
            </a:pPr>
            <a:r>
              <a:rPr sz="1200" b="0" i="0">
                <a:solidFill>
                  <a:srgbClr val="242424"/>
                </a:solidFill>
                <a:latin typeface="Segoe UI"/>
              </a:rPr>
              <a:t>Enable usage-based billing; include every attendee in an </a:t>
            </a:r>
            <a:r>
              <a:rPr sz="1200" b="1" i="0">
                <a:solidFill>
                  <a:srgbClr val="242424"/>
                </a:solidFill>
                <a:latin typeface="Segoe UI"/>
              </a:rPr>
              <a:t>enabled spending policy that selects Cowork</a:t>
            </a:r>
            <a:r>
              <a:rPr sz="1200" b="0" i="0">
                <a:solidFill>
                  <a:srgbClr val="242424"/>
                </a:solidFill>
                <a:latin typeface="Segoe UI"/>
              </a:rPr>
              <a:t>.</a:t>
            </a:r>
          </a:p>
          <a:p>
            <a:pPr algn="l" marL="182880" indent="-182880">
              <a:spcAft>
                <a:spcPts val="500"/>
              </a:spcAft>
              <a:buFont typeface="Arial"/>
              <a:buChar char="•"/>
            </a:pPr>
            <a:r>
              <a:rPr sz="1200" b="0" i="0">
                <a:solidFill>
                  <a:srgbClr val="242424"/>
                </a:solidFill>
                <a:latin typeface="Segoe UI"/>
              </a:rPr>
              <a:t>Confirm </a:t>
            </a:r>
            <a:r>
              <a:rPr sz="1200" b="1" i="0">
                <a:solidFill>
                  <a:srgbClr val="242424"/>
                </a:solidFill>
                <a:latin typeface="Segoe UI"/>
              </a:rPr>
              <a:t>enough remaining credits / budget</a:t>
            </a:r>
            <a:r>
              <a:rPr sz="1200" b="0" i="0">
                <a:solidFill>
                  <a:srgbClr val="242424"/>
                </a:solidFill>
                <a:latin typeface="Segoe UI"/>
              </a:rPr>
              <a:t> at policy, user, and group levels for all exercises and retries.</a:t>
            </a:r>
          </a:p>
          <a:p>
            <a:pPr algn="l" marL="182880" indent="-182880">
              <a:spcAft>
                <a:spcPts val="500"/>
              </a:spcAft>
              <a:buFont typeface="Arial"/>
              <a:buChar char="•"/>
            </a:pPr>
            <a:r>
              <a:rPr sz="1200" b="0" i="0">
                <a:solidFill>
                  <a:srgbClr val="242424"/>
                </a:solidFill>
                <a:latin typeface="Segoe UI"/>
              </a:rPr>
              <a:t>Use the estimator and a dry run to set limits with headroom; check </a:t>
            </a:r>
            <a:r>
              <a:rPr sz="1200" b="1" i="0">
                <a:solidFill>
                  <a:srgbClr val="242424"/>
                </a:solidFill>
                <a:latin typeface="Segoe UI"/>
              </a:rPr>
              <a:t>/cost</a:t>
            </a:r>
            <a:r>
              <a:rPr sz="1200" b="0" i="0">
                <a:solidFill>
                  <a:srgbClr val="242424"/>
                </a:solidFill>
                <a:latin typeface="Segoe UI"/>
              </a:rPr>
              <a:t> during training and pause schedules.</a:t>
            </a:r>
          </a:p>
        </p:txBody>
      </p:sp>
      <p:sp>
        <p:nvSpPr>
          <p:cNvPr id="12" name="TextBox 11"/>
          <p:cNvSpPr txBox="1"/>
          <p:nvPr/>
        </p:nvSpPr>
        <p:spPr>
          <a:xfrm>
            <a:off x="6263640" y="1463040"/>
            <a:ext cx="5394960" cy="411480"/>
          </a:xfrm>
          <a:prstGeom prst="rect">
            <a:avLst/>
          </a:prstGeom>
          <a:noFill/>
        </p:spPr>
        <p:txBody>
          <a:bodyPr wrap="square" anchor="t" lIns="0" rIns="0" tIns="0" bIns="0">
            <a:spAutoFit/>
          </a:bodyPr>
          <a:lstStyle/>
          <a:p>
            <a:pPr algn="l">
              <a:spcAft>
                <a:spcPts val="400"/>
              </a:spcAft>
            </a:pPr>
            <a:r>
              <a:rPr sz="1400" b="1" i="0">
                <a:solidFill>
                  <a:srgbClr val="242424"/>
                </a:solidFill>
                <a:latin typeface="Segoe UI"/>
              </a:rPr>
              <a:t>Example admin spending policy</a:t>
            </a:r>
          </a:p>
        </p:txBody>
      </p:sp>
      <p:pic>
        <p:nvPicPr>
          <p:cNvPr id="13" name="Picture 12" descr="Example All Users Policy: enabled, Cowork included, Capacity Packs plus pay-as-you-go billing, no spending limit, user and group limits off, and alerts off. These are example settings, not recommendations."/>
          <p:cNvPicPr>
            <a:picLocks noChangeAspect="1"/>
          </p:cNvPicPr>
          <p:nvPr/>
        </p:nvPicPr>
        <p:blipFill>
          <a:blip r:embed="rId2"/>
          <a:stretch>
            <a:fillRect/>
          </a:stretch>
        </p:blipFill>
        <p:spPr>
          <a:xfrm>
            <a:off x="6263640" y="1920240"/>
            <a:ext cx="5394960" cy="3847102"/>
          </a:xfrm>
          <a:prstGeom prst="rect">
            <a:avLst/>
          </a:prstGeom>
        </p:spPr>
      </p:pic>
      <p:sp>
        <p:nvSpPr>
          <p:cNvPr id="14" name="TextBox 13"/>
          <p:cNvSpPr txBox="1"/>
          <p:nvPr/>
        </p:nvSpPr>
        <p:spPr>
          <a:xfrm>
            <a:off x="6263640" y="5852160"/>
            <a:ext cx="5394960" cy="411480"/>
          </a:xfrm>
          <a:prstGeom prst="rect">
            <a:avLst/>
          </a:prstGeom>
          <a:noFill/>
        </p:spPr>
        <p:txBody>
          <a:bodyPr wrap="square" anchor="t" lIns="0" rIns="0" tIns="0" bIns="0">
            <a:spAutoFit/>
          </a:bodyPr>
          <a:lstStyle/>
          <a:p>
            <a:pPr algn="l">
              <a:spcAft>
                <a:spcPts val="400"/>
              </a:spcAft>
            </a:pPr>
            <a:r>
              <a:rPr sz="1100" b="0" i="0">
                <a:solidFill>
                  <a:srgbClr val="616161"/>
                </a:solidFill>
                <a:latin typeface="Segoe UI"/>
              </a:rPr>
              <a:t>Example only: use workshop-scoped limits and alerts, not unlimited spend.</a:t>
            </a:r>
          </a:p>
        </p:txBody>
      </p:sp>
    </p:spTree>
    <p:extLst>
      <p:ext uri="{BB962C8B-B14F-4D97-AF65-F5344CB8AC3E}">
        <p14:creationId xmlns:p14="http://schemas.microsoft.com/office/powerpoint/2010/main" val="418314712"/>
      </p:ext>
    </p:extLst>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How approvals work — one at a time</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Optional walkthrough after Exercise 8: sending, posting, deleting, creating meetings.</a:t>
            </a:r>
          </a:p>
        </p:txBody>
      </p:sp>
      <p:sp>
        <p:nvSpPr>
          <p:cNvPr id="4" name="TextBox 3"/>
          <p:cNvSpPr txBox="1"/>
          <p:nvPr/>
        </p:nvSpPr>
        <p:spPr>
          <a:xfrm>
            <a:off x="685800" y="1463040"/>
            <a:ext cx="3291840" cy="36576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OPTION</a:t>
            </a:r>
          </a:p>
        </p:txBody>
      </p:sp>
      <p:sp>
        <p:nvSpPr>
          <p:cNvPr id="5" name="TextBox 4"/>
          <p:cNvSpPr txBox="1"/>
          <p:nvPr/>
        </p:nvSpPr>
        <p:spPr>
          <a:xfrm>
            <a:off x="4160520" y="1463040"/>
            <a:ext cx="4114800" cy="36576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WHAT IT DOES</a:t>
            </a:r>
          </a:p>
        </p:txBody>
      </p:sp>
      <p:sp>
        <p:nvSpPr>
          <p:cNvPr id="6" name="TextBox 5"/>
          <p:cNvSpPr txBox="1"/>
          <p:nvPr/>
        </p:nvSpPr>
        <p:spPr>
          <a:xfrm>
            <a:off x="8458200" y="1463040"/>
            <a:ext cx="3108960" cy="365760"/>
          </a:xfrm>
          <a:prstGeom prst="rect">
            <a:avLst/>
          </a:prstGeom>
          <a:noFill/>
        </p:spPr>
        <p:txBody>
          <a:bodyPr wrap="square" anchor="t" lIns="0" rIns="0" tIns="0" bIns="0">
            <a:spAutoFit/>
          </a:bodyPr>
          <a:lstStyle/>
          <a:p>
            <a:pPr algn="l">
              <a:spcAft>
                <a:spcPts val="400"/>
              </a:spcAft>
            </a:pPr>
            <a:r>
              <a:rPr sz="1200" b="1" i="0">
                <a:solidFill>
                  <a:srgbClr val="616161"/>
                </a:solidFill>
                <a:latin typeface="Segoe UI"/>
              </a:rPr>
              <a:t>USE IT TODAY?</a:t>
            </a:r>
          </a:p>
        </p:txBody>
      </p:sp>
      <p:sp>
        <p:nvSpPr>
          <p:cNvPr id="7" name="Rectangle 6">
            <a:extLst>
              <a:ext uri="{C183D7F6-B498-43B3-948B-1728B52AA6E4}">
                <ns0:decorative xmlns:ns0="http://schemas.microsoft.com/office/drawing/2017/decorative" val="1"/>
              </a:ext>
            </a:extLst>
          </p:cNvPr>
          <p:cNvSpPr/>
          <p:nvPr/>
        </p:nvSpPr>
        <p:spPr>
          <a:xfrm>
            <a:off x="502920" y="1828800"/>
            <a:ext cx="11183112" cy="512064"/>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a:extLst>
              <a:ext uri="{C183D7F6-B498-43B3-948B-1728B52AA6E4}">
                <ns1:decorative xmlns:ns1="http://schemas.microsoft.com/office/drawing/2017/decorative" val="1"/>
              </a:ext>
            </a:extLst>
          </p:cNvPr>
          <p:cNvSpPr/>
          <p:nvPr/>
        </p:nvSpPr>
        <p:spPr>
          <a:xfrm>
            <a:off x="502920" y="1828800"/>
            <a:ext cx="54864" cy="512064"/>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828800"/>
            <a:ext cx="3383280" cy="512064"/>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Send / Post / Create</a:t>
            </a:r>
          </a:p>
        </p:txBody>
      </p:sp>
      <p:sp>
        <p:nvSpPr>
          <p:cNvPr id="10" name="TextBox 9"/>
          <p:cNvSpPr txBox="1"/>
          <p:nvPr/>
        </p:nvSpPr>
        <p:spPr>
          <a:xfrm>
            <a:off x="4160520" y="1828800"/>
            <a:ext cx="4206240" cy="512064"/>
          </a:xfrm>
          <a:prstGeom prst="rect">
            <a:avLst/>
          </a:prstGeom>
          <a:noFill/>
        </p:spPr>
        <p:txBody>
          <a:bodyPr wrap="square" anchor="ctr" lIns="0" rIns="0" tIns="0" bIns="0">
            <a:spAutoFit/>
          </a:bodyPr>
          <a:lstStyle/>
          <a:p>
            <a:pPr algn="l">
              <a:spcAft>
                <a:spcPts val="400"/>
              </a:spcAft>
            </a:pPr>
            <a:r>
              <a:rPr sz="1300" b="0" i="0">
                <a:solidFill>
                  <a:srgbClr val="242424"/>
                </a:solidFill>
                <a:latin typeface="Segoe UI"/>
              </a:rPr>
              <a:t>Approves this one action</a:t>
            </a:r>
          </a:p>
        </p:txBody>
      </p:sp>
      <p:sp>
        <p:nvSpPr>
          <p:cNvPr id="11" name="TextBox 10"/>
          <p:cNvSpPr txBox="1"/>
          <p:nvPr/>
        </p:nvSpPr>
        <p:spPr>
          <a:xfrm>
            <a:off x="8458200" y="1828800"/>
            <a:ext cx="3108960" cy="512064"/>
          </a:xfrm>
          <a:prstGeom prst="rect">
            <a:avLst/>
          </a:prstGeom>
          <a:noFill/>
        </p:spPr>
        <p:txBody>
          <a:bodyPr wrap="square" anchor="ctr" lIns="0" rIns="0" tIns="0" bIns="0">
            <a:spAutoFit/>
          </a:bodyPr>
          <a:lstStyle/>
          <a:p>
            <a:pPr algn="l">
              <a:spcAft>
                <a:spcPts val="400"/>
              </a:spcAft>
            </a:pPr>
            <a:r>
              <a:rPr sz="1300" b="1" i="0">
                <a:solidFill>
                  <a:srgbClr val="107C10"/>
                </a:solidFill>
                <a:latin typeface="Segoe UI"/>
              </a:rPr>
              <a:t>Yes — after reading the preview</a:t>
            </a:r>
          </a:p>
        </p:txBody>
      </p:sp>
      <p:sp>
        <p:nvSpPr>
          <p:cNvPr id="12" name="Rectangle 11">
            <a:extLst>
              <a:ext uri="{C183D7F6-B498-43B3-948B-1728B52AA6E4}">
                <ns2:decorative xmlns:ns2="http://schemas.microsoft.com/office/drawing/2017/decorative" val="1"/>
              </a:ext>
            </a:extLst>
          </p:cNvPr>
          <p:cNvSpPr/>
          <p:nvPr/>
        </p:nvSpPr>
        <p:spPr>
          <a:xfrm>
            <a:off x="502920" y="2432304"/>
            <a:ext cx="11183112" cy="512064"/>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3:decorative xmlns:ns3="http://schemas.microsoft.com/office/drawing/2017/decorative" val="1"/>
              </a:ext>
            </a:extLst>
          </p:cNvPr>
          <p:cNvSpPr/>
          <p:nvPr/>
        </p:nvSpPr>
        <p:spPr>
          <a:xfrm>
            <a:off x="502920" y="2432304"/>
            <a:ext cx="54864" cy="512064"/>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432304"/>
            <a:ext cx="3383280" cy="512064"/>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Cancel</a:t>
            </a:r>
          </a:p>
        </p:txBody>
      </p:sp>
      <p:sp>
        <p:nvSpPr>
          <p:cNvPr id="15" name="TextBox 14"/>
          <p:cNvSpPr txBox="1"/>
          <p:nvPr/>
        </p:nvSpPr>
        <p:spPr>
          <a:xfrm>
            <a:off x="4160520" y="2432304"/>
            <a:ext cx="4206240" cy="512064"/>
          </a:xfrm>
          <a:prstGeom prst="rect">
            <a:avLst/>
          </a:prstGeom>
          <a:noFill/>
        </p:spPr>
        <p:txBody>
          <a:bodyPr wrap="square" anchor="ctr" lIns="0" rIns="0" tIns="0" bIns="0">
            <a:spAutoFit/>
          </a:bodyPr>
          <a:lstStyle/>
          <a:p>
            <a:pPr algn="l">
              <a:spcAft>
                <a:spcPts val="400"/>
              </a:spcAft>
            </a:pPr>
            <a:r>
              <a:rPr sz="1300" b="0" i="0">
                <a:solidFill>
                  <a:srgbClr val="242424"/>
                </a:solidFill>
                <a:latin typeface="Segoe UI"/>
              </a:rPr>
              <a:t>Skips it; Cowork continues with the rest</a:t>
            </a:r>
          </a:p>
        </p:txBody>
      </p:sp>
      <p:sp>
        <p:nvSpPr>
          <p:cNvPr id="16" name="TextBox 15"/>
          <p:cNvSpPr txBox="1"/>
          <p:nvPr/>
        </p:nvSpPr>
        <p:spPr>
          <a:xfrm>
            <a:off x="8458200" y="2432304"/>
            <a:ext cx="3108960" cy="512064"/>
          </a:xfrm>
          <a:prstGeom prst="rect">
            <a:avLst/>
          </a:prstGeom>
          <a:noFill/>
        </p:spPr>
        <p:txBody>
          <a:bodyPr wrap="square" anchor="ctr" lIns="0" rIns="0" tIns="0" bIns="0">
            <a:spAutoFit/>
          </a:bodyPr>
          <a:lstStyle/>
          <a:p>
            <a:pPr algn="l">
              <a:spcAft>
                <a:spcPts val="400"/>
              </a:spcAft>
            </a:pPr>
            <a:r>
              <a:rPr sz="1300" b="1" i="0">
                <a:solidFill>
                  <a:srgbClr val="107C10"/>
                </a:solidFill>
                <a:latin typeface="Segoe UI"/>
              </a:rPr>
              <a:t>Yes — whenever unsure</a:t>
            </a:r>
          </a:p>
        </p:txBody>
      </p:sp>
      <p:sp>
        <p:nvSpPr>
          <p:cNvPr id="17" name="Rectangle 16">
            <a:extLst>
              <a:ext uri="{C183D7F6-B498-43B3-948B-1728B52AA6E4}">
                <ns4:decorative xmlns:ns4="http://schemas.microsoft.com/office/drawing/2017/decorative" val="1"/>
              </a:ext>
            </a:extLst>
          </p:cNvPr>
          <p:cNvSpPr/>
          <p:nvPr/>
        </p:nvSpPr>
        <p:spPr>
          <a:xfrm>
            <a:off x="502920" y="3035808"/>
            <a:ext cx="11183112" cy="512064"/>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a:extLst>
              <a:ext uri="{C183D7F6-B498-43B3-948B-1728B52AA6E4}">
                <ns5:decorative xmlns:ns5="http://schemas.microsoft.com/office/drawing/2017/decorative" val="1"/>
              </a:ext>
            </a:extLst>
          </p:cNvPr>
          <p:cNvSpPr/>
          <p:nvPr/>
        </p:nvSpPr>
        <p:spPr>
          <a:xfrm>
            <a:off x="502920" y="3035808"/>
            <a:ext cx="54864" cy="512064"/>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3035808"/>
            <a:ext cx="3383280" cy="512064"/>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Show parameters</a:t>
            </a:r>
          </a:p>
        </p:txBody>
      </p:sp>
      <p:sp>
        <p:nvSpPr>
          <p:cNvPr id="20" name="TextBox 19"/>
          <p:cNvSpPr txBox="1"/>
          <p:nvPr/>
        </p:nvSpPr>
        <p:spPr>
          <a:xfrm>
            <a:off x="4160520" y="3035808"/>
            <a:ext cx="4206240" cy="512064"/>
          </a:xfrm>
          <a:prstGeom prst="rect">
            <a:avLst/>
          </a:prstGeom>
          <a:noFill/>
        </p:spPr>
        <p:txBody>
          <a:bodyPr wrap="square" anchor="ctr" lIns="0" rIns="0" tIns="0" bIns="0">
            <a:spAutoFit/>
          </a:bodyPr>
          <a:lstStyle/>
          <a:p>
            <a:pPr algn="l">
              <a:spcAft>
                <a:spcPts val="400"/>
              </a:spcAft>
            </a:pPr>
            <a:r>
              <a:rPr sz="1300" b="0" i="0">
                <a:solidFill>
                  <a:srgbClr val="242424"/>
                </a:solidFill>
                <a:latin typeface="Segoe UI"/>
              </a:rPr>
              <a:t>Shows recipients, targets, and details</a:t>
            </a:r>
          </a:p>
        </p:txBody>
      </p:sp>
      <p:sp>
        <p:nvSpPr>
          <p:cNvPr id="21" name="TextBox 20"/>
          <p:cNvSpPr txBox="1"/>
          <p:nvPr/>
        </p:nvSpPr>
        <p:spPr>
          <a:xfrm>
            <a:off x="8458200" y="3035808"/>
            <a:ext cx="3108960" cy="512064"/>
          </a:xfrm>
          <a:prstGeom prst="rect">
            <a:avLst/>
          </a:prstGeom>
          <a:noFill/>
        </p:spPr>
        <p:txBody>
          <a:bodyPr wrap="square" anchor="ctr" lIns="0" rIns="0" tIns="0" bIns="0">
            <a:spAutoFit/>
          </a:bodyPr>
          <a:lstStyle/>
          <a:p>
            <a:pPr algn="l">
              <a:spcAft>
                <a:spcPts val="400"/>
              </a:spcAft>
            </a:pPr>
            <a:r>
              <a:rPr sz="1300" b="1" i="0">
                <a:solidFill>
                  <a:srgbClr val="107C10"/>
                </a:solidFill>
                <a:latin typeface="Segoe UI"/>
              </a:rPr>
              <a:t>Yes — check before approving</a:t>
            </a:r>
          </a:p>
        </p:txBody>
      </p:sp>
      <p:sp>
        <p:nvSpPr>
          <p:cNvPr id="22" name="Rectangle 21">
            <a:extLst>
              <a:ext uri="{C183D7F6-B498-43B3-948B-1728B52AA6E4}">
                <ns6:decorative xmlns:ns6="http://schemas.microsoft.com/office/drawing/2017/decorative" val="1"/>
              </a:ext>
            </a:extLst>
          </p:cNvPr>
          <p:cNvSpPr/>
          <p:nvPr/>
        </p:nvSpPr>
        <p:spPr>
          <a:xfrm>
            <a:off x="502920" y="3639312"/>
            <a:ext cx="11183112" cy="512064"/>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a:extLst>
              <a:ext uri="{C183D7F6-B498-43B3-948B-1728B52AA6E4}">
                <ns7:decorative xmlns:ns7="http://schemas.microsoft.com/office/drawing/2017/decorative" val="1"/>
              </a:ext>
            </a:extLst>
          </p:cNvPr>
          <p:cNvSpPr/>
          <p:nvPr/>
        </p:nvSpPr>
        <p:spPr>
          <a:xfrm>
            <a:off x="502920" y="3639312"/>
            <a:ext cx="54864" cy="512064"/>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800" y="3639312"/>
            <a:ext cx="3383280" cy="512064"/>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Approve All (n)</a:t>
            </a:r>
          </a:p>
        </p:txBody>
      </p:sp>
      <p:sp>
        <p:nvSpPr>
          <p:cNvPr id="25" name="TextBox 24"/>
          <p:cNvSpPr txBox="1"/>
          <p:nvPr/>
        </p:nvSpPr>
        <p:spPr>
          <a:xfrm>
            <a:off x="4160520" y="3639312"/>
            <a:ext cx="4206240" cy="512064"/>
          </a:xfrm>
          <a:prstGeom prst="rect">
            <a:avLst/>
          </a:prstGeom>
          <a:noFill/>
        </p:spPr>
        <p:txBody>
          <a:bodyPr wrap="square" anchor="ctr" lIns="0" rIns="0" tIns="0" bIns="0">
            <a:spAutoFit/>
          </a:bodyPr>
          <a:lstStyle/>
          <a:p>
            <a:pPr algn="l">
              <a:spcAft>
                <a:spcPts val="400"/>
              </a:spcAft>
            </a:pPr>
            <a:r>
              <a:rPr sz="1300" b="0" i="0">
                <a:solidFill>
                  <a:srgbClr val="242424"/>
                </a:solidFill>
                <a:latin typeface="Segoe UI"/>
              </a:rPr>
              <a:t>Approves every pending action at once</a:t>
            </a:r>
          </a:p>
        </p:txBody>
      </p:sp>
      <p:sp>
        <p:nvSpPr>
          <p:cNvPr id="26" name="TextBox 25"/>
          <p:cNvSpPr txBox="1"/>
          <p:nvPr/>
        </p:nvSpPr>
        <p:spPr>
          <a:xfrm>
            <a:off x="8458200" y="3639312"/>
            <a:ext cx="3108960" cy="512064"/>
          </a:xfrm>
          <a:prstGeom prst="rect">
            <a:avLst/>
          </a:prstGeom>
          <a:noFill/>
        </p:spPr>
        <p:txBody>
          <a:bodyPr wrap="square" anchor="ctr" lIns="0" rIns="0" tIns="0" bIns="0">
            <a:spAutoFit/>
          </a:bodyPr>
          <a:lstStyle/>
          <a:p>
            <a:pPr algn="l">
              <a:spcAft>
                <a:spcPts val="400"/>
              </a:spcAft>
            </a:pPr>
            <a:r>
              <a:rPr sz="1300" b="1" i="0">
                <a:solidFill>
                  <a:srgbClr val="C0504D"/>
                </a:solidFill>
                <a:latin typeface="Segoe UI"/>
              </a:rPr>
              <a:t>No — not today</a:t>
            </a:r>
          </a:p>
        </p:txBody>
      </p:sp>
      <p:sp>
        <p:nvSpPr>
          <p:cNvPr id="27" name="Rectangle 26">
            <a:extLst>
              <a:ext uri="{C183D7F6-B498-43B3-948B-1728B52AA6E4}">
                <ns8:decorative xmlns:ns8="http://schemas.microsoft.com/office/drawing/2017/decorative" val="1"/>
              </a:ext>
            </a:extLst>
          </p:cNvPr>
          <p:cNvSpPr/>
          <p:nvPr/>
        </p:nvSpPr>
        <p:spPr>
          <a:xfrm>
            <a:off x="502920" y="4242816"/>
            <a:ext cx="11183112" cy="512064"/>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a:extLst>
              <a:ext uri="{C183D7F6-B498-43B3-948B-1728B52AA6E4}">
                <ns9:decorative xmlns:ns9="http://schemas.microsoft.com/office/drawing/2017/decorative" val="1"/>
              </a:ext>
            </a:extLst>
          </p:cNvPr>
          <p:cNvSpPr/>
          <p:nvPr/>
        </p:nvSpPr>
        <p:spPr>
          <a:xfrm>
            <a:off x="502920" y="4242816"/>
            <a:ext cx="54864" cy="512064"/>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5800" y="4242816"/>
            <a:ext cx="3383280" cy="512064"/>
          </a:xfrm>
          <a:prstGeom prst="rect">
            <a:avLst/>
          </a:prstGeom>
          <a:noFill/>
        </p:spPr>
        <p:txBody>
          <a:bodyPr wrap="square" anchor="ctr" lIns="0" rIns="0" tIns="0" bIns="0">
            <a:spAutoFit/>
          </a:bodyPr>
          <a:lstStyle/>
          <a:p>
            <a:pPr algn="l">
              <a:spcAft>
                <a:spcPts val="400"/>
              </a:spcAft>
            </a:pPr>
            <a:r>
              <a:rPr sz="1350" b="1" i="0">
                <a:solidFill>
                  <a:srgbClr val="242424"/>
                </a:solidFill>
                <a:latin typeface="Segoe UI"/>
              </a:rPr>
              <a:t>More options → Always allow</a:t>
            </a:r>
          </a:p>
        </p:txBody>
      </p:sp>
      <p:sp>
        <p:nvSpPr>
          <p:cNvPr id="30" name="TextBox 29"/>
          <p:cNvSpPr txBox="1"/>
          <p:nvPr/>
        </p:nvSpPr>
        <p:spPr>
          <a:xfrm>
            <a:off x="4160520" y="4242816"/>
            <a:ext cx="4206240" cy="512064"/>
          </a:xfrm>
          <a:prstGeom prst="rect">
            <a:avLst/>
          </a:prstGeom>
          <a:noFill/>
        </p:spPr>
        <p:txBody>
          <a:bodyPr wrap="square" anchor="ctr" lIns="0" rIns="0" tIns="0" bIns="0">
            <a:spAutoFit/>
          </a:bodyPr>
          <a:lstStyle/>
          <a:p>
            <a:pPr algn="l">
              <a:spcAft>
                <a:spcPts val="400"/>
              </a:spcAft>
            </a:pPr>
            <a:r>
              <a:rPr sz="1300" b="0" i="0">
                <a:solidFill>
                  <a:srgbClr val="242424"/>
                </a:solidFill>
                <a:latin typeface="Segoe UI"/>
              </a:rPr>
              <a:t>Stops asking for similar actions this session</a:t>
            </a:r>
          </a:p>
        </p:txBody>
      </p:sp>
      <p:sp>
        <p:nvSpPr>
          <p:cNvPr id="31" name="TextBox 30"/>
          <p:cNvSpPr txBox="1"/>
          <p:nvPr/>
        </p:nvSpPr>
        <p:spPr>
          <a:xfrm>
            <a:off x="8458200" y="4242816"/>
            <a:ext cx="3108960" cy="512064"/>
          </a:xfrm>
          <a:prstGeom prst="rect">
            <a:avLst/>
          </a:prstGeom>
          <a:noFill/>
        </p:spPr>
        <p:txBody>
          <a:bodyPr wrap="square" anchor="ctr" lIns="0" rIns="0" tIns="0" bIns="0">
            <a:spAutoFit/>
          </a:bodyPr>
          <a:lstStyle/>
          <a:p>
            <a:pPr algn="l">
              <a:spcAft>
                <a:spcPts val="400"/>
              </a:spcAft>
            </a:pPr>
            <a:r>
              <a:rPr sz="1300" b="1" i="0">
                <a:solidFill>
                  <a:srgbClr val="C0504D"/>
                </a:solidFill>
                <a:latin typeface="Segoe UI"/>
              </a:rPr>
              <a:t>No — not today</a:t>
            </a:r>
          </a:p>
        </p:txBody>
      </p:sp>
      <p:sp>
        <p:nvSpPr>
          <p:cNvPr id="32" name="Rounded Rectangle 31">
            <a:extLst>
              <a:ext uri="{C183D7F6-B498-43B3-948B-1728B52AA6E4}">
                <ns10:decorative xmlns:ns10="http://schemas.microsoft.com/office/drawing/2017/decorative" val="1"/>
              </a:ext>
            </a:extLst>
          </p:cNvPr>
          <p:cNvSpPr/>
          <p:nvPr/>
        </p:nvSpPr>
        <p:spPr>
          <a:xfrm>
            <a:off x="502920" y="4983480"/>
            <a:ext cx="11183112" cy="118872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77240" y="4983480"/>
            <a:ext cx="10634472" cy="1188720"/>
          </a:xfrm>
          <a:prstGeom prst="rect">
            <a:avLst/>
          </a:prstGeom>
          <a:noFill/>
        </p:spPr>
        <p:txBody>
          <a:bodyPr wrap="square" anchor="ctr" lIns="0" rIns="0" tIns="0" bIns="0">
            <a:spAutoFit/>
          </a:bodyPr>
          <a:lstStyle/>
          <a:p>
            <a:pPr algn="l">
              <a:lnSpc>
                <a:spcPct val="105000"/>
              </a:lnSpc>
              <a:spcAft>
                <a:spcPts val="400"/>
              </a:spcAft>
            </a:pPr>
            <a:r>
              <a:rPr sz="1500" b="1" i="0">
                <a:solidFill>
                  <a:srgbClr val="FFFFFF"/>
                </a:solidFill>
                <a:latin typeface="Segoe UI"/>
              </a:rPr>
              <a:t>Why:</a:t>
            </a:r>
            <a:r>
              <a:rPr sz="1500" b="0" i="0">
                <a:solidFill>
                  <a:srgbClr val="FFFFFF"/>
                </a:solidFill>
                <a:latin typeface="Segoe UI"/>
              </a:rPr>
              <a:t> one click on </a:t>
            </a:r>
            <a:r>
              <a:rPr sz="1500" b="1" i="0">
                <a:solidFill>
                  <a:srgbClr val="FFFFFF"/>
                </a:solidFill>
                <a:latin typeface="Segoe UI"/>
              </a:rPr>
              <a:t>Approve All</a:t>
            </a:r>
            <a:r>
              <a:rPr sz="1500" b="0" i="0">
                <a:solidFill>
                  <a:srgbClr val="FFFFFF"/>
                </a:solidFill>
                <a:latin typeface="Segoe UI"/>
              </a:rPr>
              <a:t> could bulk-send mail or change many items at once. </a:t>
            </a:r>
            <a:r>
              <a:rPr sz="1500" b="1" i="0">
                <a:solidFill>
                  <a:srgbClr val="FFFFFF"/>
                </a:solidFill>
                <a:latin typeface="Segoe UI"/>
              </a:rPr>
              <a:t>Clicked one by mistake?</a:t>
            </a:r>
            <a:r>
              <a:rPr sz="1500" b="0" i="0">
                <a:solidFill>
                  <a:srgbClr val="FFFFFF"/>
                </a:solidFill>
                <a:latin typeface="Segoe UI"/>
              </a:rPr>
              <a:t> Open the side panel’s </a:t>
            </a:r>
            <a:r>
              <a:rPr sz="1500" b="1" i="0">
                <a:solidFill>
                  <a:srgbClr val="FFFFFF"/>
                </a:solidFill>
                <a:latin typeface="Segoe UI"/>
              </a:rPr>
              <a:t>Permissions</a:t>
            </a:r>
            <a:r>
              <a:rPr sz="1500" b="0" i="0">
                <a:solidFill>
                  <a:srgbClr val="FFFFFF"/>
                </a:solidFill>
                <a:latin typeface="Segoe UI"/>
              </a:rPr>
              <a:t> section and revoke it.</a:t>
            </a:r>
          </a:p>
        </p:txBody>
      </p:sp>
    </p:spTree>
    <p:extLst>
      <p:ext uri="{BB962C8B-B14F-4D97-AF65-F5344CB8AC3E}">
        <p14:creationId xmlns:p14="http://schemas.microsoft.com/office/powerpoint/2010/main" val="418314712"/>
      </p:ext>
    </p:extLst>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Optional — Customize instructions for Cowork</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After Exercise 8, if time allows; otherwise try this after the workshop.</a:t>
            </a:r>
          </a:p>
        </p:txBody>
      </p:sp>
      <p:pic>
        <p:nvPicPr>
          <p:cNvPr id="4" name="Picture CustomInstructions" descr="Screenshot of the Cowork card 'Customize instructions for Cowork: Give Cowork guidance that is automatically added to the start of every task.'"/>
          <p:cNvPicPr>
            <a:picLocks noChangeAspect="1"/>
          </p:cNvPicPr>
          <p:nvPr/>
        </p:nvPicPr>
        <p:blipFill>
          <a:blip r:embed="rId2"/>
          <a:stretch>
            <a:fillRect/>
          </a:stretch>
        </p:blipFill>
        <p:spPr>
          <a:xfrm>
            <a:off x="502920" y="1417320"/>
            <a:ext cx="11183112" cy="1596144"/>
          </a:xfrm>
          <a:prstGeom prst="rect">
            <a:avLst/>
          </a:prstGeom>
        </p:spPr>
      </p:pic>
      <p:sp>
        <p:nvSpPr>
          <p:cNvPr id="5" name="Rectangle 4">
            <a:extLst>
              <a:ext uri="{C183D7F6-B498-43B3-948B-1728B52AA6E4}">
                <ns0:decorative xmlns:ns0="http://schemas.microsoft.com/office/drawing/2017/decorative" val="1"/>
              </a:ext>
            </a:extLst>
          </p:cNvPr>
          <p:cNvSpPr/>
          <p:nvPr/>
        </p:nvSpPr>
        <p:spPr>
          <a:xfrm>
            <a:off x="502920" y="3200400"/>
            <a:ext cx="3931920" cy="219456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a:extLst>
              <a:ext uri="{C183D7F6-B498-43B3-948B-1728B52AA6E4}">
                <ns1:decorative xmlns:ns1="http://schemas.microsoft.com/office/drawing/2017/decorative" val="1"/>
              </a:ext>
            </a:extLst>
          </p:cNvPr>
          <p:cNvSpPr/>
          <p:nvPr/>
        </p:nvSpPr>
        <p:spPr>
          <a:xfrm>
            <a:off x="502920" y="3200400"/>
            <a:ext cx="3931920"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9224" y="3383280"/>
            <a:ext cx="3639312"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HOW</a:t>
            </a:r>
          </a:p>
        </p:txBody>
      </p:sp>
      <p:sp>
        <p:nvSpPr>
          <p:cNvPr id="8" name="TextBox 7"/>
          <p:cNvSpPr txBox="1"/>
          <p:nvPr/>
        </p:nvSpPr>
        <p:spPr>
          <a:xfrm>
            <a:off x="649224" y="3822191"/>
            <a:ext cx="3639312" cy="1463039"/>
          </a:xfrm>
          <a:prstGeom prst="rect">
            <a:avLst/>
          </a:prstGeom>
          <a:noFill/>
        </p:spPr>
        <p:txBody>
          <a:bodyPr wrap="square" anchor="t" lIns="0" rIns="0" tIns="0" bIns="0">
            <a:spAutoFit/>
          </a:bodyPr>
          <a:lstStyle/>
          <a:p>
            <a:pPr algn="l" marL="237744" indent="-237744">
              <a:spcAft>
                <a:spcPts val="500"/>
              </a:spcAft>
              <a:buFont typeface="+mj-lt"/>
              <a:buAutoNum type="arabicPeriod"/>
            </a:pPr>
            <a:r>
              <a:rPr sz="1400" b="1" i="0">
                <a:solidFill>
                  <a:srgbClr val="242424"/>
                </a:solidFill>
                <a:latin typeface="Segoe UI"/>
              </a:rPr>
              <a:t>Customize → Preferences</a:t>
            </a:r>
          </a:p>
          <a:p>
            <a:pPr algn="l" marL="237744" indent="-237744">
              <a:spcAft>
                <a:spcPts val="500"/>
              </a:spcAft>
              <a:buFont typeface="+mj-lt"/>
              <a:buAutoNum type="arabicPeriod"/>
            </a:pPr>
            <a:r>
              <a:rPr sz="1400" b="0" i="0">
                <a:solidFill>
                  <a:srgbClr val="242424"/>
                </a:solidFill>
                <a:latin typeface="Segoe UI"/>
              </a:rPr>
              <a:t>Select </a:t>
            </a:r>
            <a:r>
              <a:rPr sz="1400" b="1" i="0">
                <a:solidFill>
                  <a:srgbClr val="242424"/>
                </a:solidFill>
                <a:latin typeface="Segoe UI"/>
              </a:rPr>
              <a:t>Customize instructions for Cowork</a:t>
            </a:r>
          </a:p>
          <a:p>
            <a:pPr algn="l" marL="237744" indent="-237744">
              <a:spcAft>
                <a:spcPts val="500"/>
              </a:spcAft>
              <a:buFont typeface="+mj-lt"/>
              <a:buAutoNum type="arabicPeriod"/>
            </a:pPr>
            <a:r>
              <a:rPr sz="1400" b="0" i="0">
                <a:solidFill>
                  <a:srgbClr val="242424"/>
                </a:solidFill>
                <a:latin typeface="Segoe UI"/>
              </a:rPr>
              <a:t>Paste the text, then </a:t>
            </a:r>
            <a:r>
              <a:rPr sz="1400" b="1" i="0">
                <a:solidFill>
                  <a:srgbClr val="242424"/>
                </a:solidFill>
                <a:latin typeface="Segoe UI"/>
              </a:rPr>
              <a:t>save</a:t>
            </a:r>
          </a:p>
          <a:p>
            <a:pPr algn="l" marL="237744" indent="-237744">
              <a:spcAft>
                <a:spcPts val="500"/>
              </a:spcAft>
              <a:buFont typeface="+mj-lt"/>
              <a:buAutoNum type="arabicPeriod"/>
            </a:pPr>
            <a:r>
              <a:rPr sz="1400" b="0" i="0">
                <a:solidFill>
                  <a:srgbClr val="242424"/>
                </a:solidFill>
                <a:latin typeface="Segoe UI"/>
              </a:rPr>
              <a:t>Test it in a </a:t>
            </a:r>
            <a:r>
              <a:rPr sz="1400" b="1" i="0">
                <a:solidFill>
                  <a:srgbClr val="242424"/>
                </a:solidFill>
                <a:latin typeface="Segoe UI"/>
              </a:rPr>
              <a:t>new task</a:t>
            </a:r>
          </a:p>
        </p:txBody>
      </p:sp>
      <p:sp>
        <p:nvSpPr>
          <p:cNvPr id="9" name="Rectangle 8">
            <a:extLst>
              <a:ext uri="{C183D7F6-B498-43B3-948B-1728B52AA6E4}">
                <ns2:decorative xmlns:ns2="http://schemas.microsoft.com/office/drawing/2017/decorative" val="1"/>
              </a:ext>
            </a:extLst>
          </p:cNvPr>
          <p:cNvSpPr/>
          <p:nvPr/>
        </p:nvSpPr>
        <p:spPr>
          <a:xfrm>
            <a:off x="4617720" y="3200400"/>
            <a:ext cx="7068312" cy="219456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a:extLst>
              <a:ext uri="{C183D7F6-B498-43B3-948B-1728B52AA6E4}">
                <ns3:decorative xmlns:ns3="http://schemas.microsoft.com/office/drawing/2017/decorative" val="1"/>
              </a:ext>
            </a:extLst>
          </p:cNvPr>
          <p:cNvSpPr/>
          <p:nvPr/>
        </p:nvSpPr>
        <p:spPr>
          <a:xfrm>
            <a:off x="4617720" y="3200400"/>
            <a:ext cx="7068312"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764024" y="3383280"/>
            <a:ext cx="6775704"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UI"/>
              </a:rPr>
              <a:t>PASTE THIS (WORKBOOK OPTIONAL SECTIONS)</a:t>
            </a:r>
          </a:p>
        </p:txBody>
      </p:sp>
      <p:sp>
        <p:nvSpPr>
          <p:cNvPr id="12" name="TextBox 11"/>
          <p:cNvSpPr txBox="1"/>
          <p:nvPr/>
        </p:nvSpPr>
        <p:spPr>
          <a:xfrm>
            <a:off x="4764024" y="3822191"/>
            <a:ext cx="6775704" cy="1463039"/>
          </a:xfrm>
          <a:prstGeom prst="rect">
            <a:avLst/>
          </a:prstGeom>
          <a:noFill/>
        </p:spPr>
        <p:txBody>
          <a:bodyPr wrap="square" anchor="t" lIns="0" rIns="0" tIns="0" bIns="0">
            <a:spAutoFit/>
          </a:bodyPr>
          <a:lstStyle/>
          <a:p>
            <a:pPr algn="l">
              <a:spcAft>
                <a:spcPts val="500"/>
              </a:spcAft>
            </a:pPr>
            <a:r>
              <a:rPr sz="1350" b="0" i="1">
                <a:solidFill>
                  <a:srgbClr val="242424"/>
                </a:solidFill>
                <a:latin typeface="Segoe UI"/>
              </a:rPr>
              <a:t>I work in HR at Zava. Write in a warm, professional, inclusive tone suitable for employee communications. When you answer a policy or benefits question, cite the source document and add “Policies can change — please confirm with HR.” Save emails and messages as drafts for me to review; during this workshop, never send anything to anyone but me. Unless I ask you to use my mail, calendar, or Teams, use only the Zava sample files in my OneDrive folder Documents/ai_hr_cowork_workshop, and never copy real employee personal data into files or drafts.</a:t>
            </a:r>
          </a:p>
        </p:txBody>
      </p:sp>
      <p:sp>
        <p:nvSpPr>
          <p:cNvPr id="13" name="Rounded Rectangle 12">
            <a:extLst>
              <a:ext uri="{C183D7F6-B498-43B3-948B-1728B52AA6E4}">
                <ns4:decorative xmlns:ns4="http://schemas.microsoft.com/office/drawing/2017/decorative" val="1"/>
              </a:ext>
            </a:extLst>
          </p:cNvPr>
          <p:cNvSpPr/>
          <p:nvPr/>
        </p:nvSpPr>
        <p:spPr>
          <a:xfrm>
            <a:off x="502920" y="5532120"/>
            <a:ext cx="11183112" cy="68580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5532120"/>
            <a:ext cx="10634472" cy="685800"/>
          </a:xfrm>
          <a:prstGeom prst="rect">
            <a:avLst/>
          </a:prstGeom>
          <a:noFill/>
        </p:spPr>
        <p:txBody>
          <a:bodyPr wrap="square" anchor="ctr" lIns="0" rIns="0" tIns="0" bIns="0">
            <a:spAutoFit/>
          </a:bodyPr>
          <a:lstStyle/>
          <a:p>
            <a:pPr algn="l">
              <a:lnSpc>
                <a:spcPct val="105000"/>
              </a:lnSpc>
              <a:spcAft>
                <a:spcPts val="400"/>
              </a:spcAft>
            </a:pPr>
            <a:r>
              <a:rPr sz="1300" b="1" i="0">
                <a:solidFill>
                  <a:srgbClr val="FFFFFF"/>
                </a:solidFill>
                <a:latin typeface="Segoe UI"/>
              </a:rPr>
              <a:t>Personal to you</a:t>
            </a:r>
            <a:r>
              <a:rPr sz="1300" b="0" i="0">
                <a:solidFill>
                  <a:srgbClr val="FFFFFF"/>
                </a:solidFill>
                <a:latin typeface="Segoe UI"/>
              </a:rPr>
              <a:t> · type </a:t>
            </a:r>
            <a:r>
              <a:rPr sz="1300" b="1" i="0">
                <a:solidFill>
                  <a:srgbClr val="FFFFFF"/>
                </a:solidFill>
                <a:latin typeface="Segoe UI"/>
              </a:rPr>
              <a:t>/</a:t>
            </a:r>
            <a:r>
              <a:rPr sz="1300" b="0" i="0">
                <a:solidFill>
                  <a:srgbClr val="FFFFFF"/>
                </a:solidFill>
                <a:latin typeface="Segoe UI"/>
              </a:rPr>
              <a:t> to reference a file or person · up to ~20 KB, but </a:t>
            </a:r>
            <a:r>
              <a:rPr sz="1300" b="1" i="0">
                <a:solidFill>
                  <a:srgbClr val="FFFFFF"/>
                </a:solidFill>
                <a:latin typeface="Segoe UI"/>
              </a:rPr>
              <a:t>shorter is better</a:t>
            </a:r>
            <a:r>
              <a:rPr sz="1300" b="0" i="0">
                <a:solidFill>
                  <a:srgbClr val="FFFFFF"/>
                </a:solidFill>
                <a:latin typeface="Segoe UI"/>
              </a:rPr>
              <a:t> · Role samples: workbook Appendix</a:t>
            </a:r>
          </a:p>
        </p:txBody>
      </p:sp>
    </p:spTree>
    <p:extLst>
      <p:ext uri="{BB962C8B-B14F-4D97-AF65-F5344CB8AC3E}">
        <p14:creationId xmlns:p14="http://schemas.microsoft.com/office/powerpoint/2010/main" val="418314712"/>
      </p:ext>
    </p:extLst>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Responsible use — the golden rules</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HR handles sensitive people data. Make these non-negotiable.</a:t>
            </a:r>
          </a:p>
        </p:txBody>
      </p:sp>
      <p:sp>
        <p:nvSpPr>
          <p:cNvPr id="4" name="Rectangle 3">
            <a:extLst>
              <a:ext uri="{C183D7F6-B498-43B3-948B-1728B52AA6E4}">
                <ns0:decorative xmlns:ns0="http://schemas.microsoft.com/office/drawing/2017/decorative" val="1"/>
              </a:ext>
            </a:extLst>
          </p:cNvPr>
          <p:cNvSpPr/>
          <p:nvPr/>
        </p:nvSpPr>
        <p:spPr>
          <a:xfrm>
            <a:off x="502920" y="1463040"/>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 cy="8412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463040"/>
            <a:ext cx="457200" cy="841248"/>
          </a:xfrm>
          <a:prstGeom prst="rect">
            <a:avLst/>
          </a:prstGeom>
          <a:noFill/>
        </p:spPr>
        <p:txBody>
          <a:bodyPr wrap="square" anchor="ctr" lIns="0" rIns="0" tIns="0" bIns="0">
            <a:spAutoFit/>
          </a:bodyPr>
          <a:lstStyle/>
          <a:p>
            <a:pPr algn="l">
              <a:spcAft>
                <a:spcPts val="400"/>
              </a:spcAft>
            </a:pPr>
            <a:r>
              <a:rPr sz="2200" b="1" i="0">
                <a:solidFill>
                  <a:srgbClr val="0F6CBD"/>
                </a:solidFill>
                <a:latin typeface="Segoe UI"/>
              </a:rPr>
              <a:t>1</a:t>
            </a:r>
          </a:p>
        </p:txBody>
      </p:sp>
      <p:sp>
        <p:nvSpPr>
          <p:cNvPr id="7" name="TextBox 6"/>
          <p:cNvSpPr txBox="1"/>
          <p:nvPr/>
        </p:nvSpPr>
        <p:spPr>
          <a:xfrm>
            <a:off x="1234440" y="1463040"/>
            <a:ext cx="3566160" cy="841248"/>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Every output is a draft</a:t>
            </a:r>
          </a:p>
        </p:txBody>
      </p:sp>
      <p:sp>
        <p:nvSpPr>
          <p:cNvPr id="8" name="TextBox 7"/>
          <p:cNvSpPr txBox="1"/>
          <p:nvPr/>
        </p:nvSpPr>
        <p:spPr>
          <a:xfrm>
            <a:off x="4846320" y="1463040"/>
            <a:ext cx="6675120" cy="841248"/>
          </a:xfrm>
          <a:prstGeom prst="rect">
            <a:avLst/>
          </a:prstGeom>
          <a:noFill/>
        </p:spPr>
        <p:txBody>
          <a:bodyPr wrap="square" anchor="ctr" lIns="0" rIns="0" tIns="0" bIns="0">
            <a:spAutoFit/>
          </a:bodyPr>
          <a:lstStyle/>
          <a:p>
            <a:pPr algn="l">
              <a:spcAft>
                <a:spcPts val="400"/>
              </a:spcAft>
            </a:pPr>
            <a:r>
              <a:rPr sz="1400" b="0" i="0">
                <a:solidFill>
                  <a:srgbClr val="616161"/>
                </a:solidFill>
                <a:latin typeface="Segoe UI"/>
              </a:rPr>
              <a:t>Review before you send, share, or file — especially employee comms.</a:t>
            </a:r>
          </a:p>
        </p:txBody>
      </p:sp>
      <p:sp>
        <p:nvSpPr>
          <p:cNvPr id="9" name="Rectangle 8">
            <a:extLst>
              <a:ext uri="{C183D7F6-B498-43B3-948B-1728B52AA6E4}">
                <ns2:decorative xmlns:ns2="http://schemas.microsoft.com/office/drawing/2017/decorative" val="1"/>
              </a:ext>
            </a:extLst>
          </p:cNvPr>
          <p:cNvSpPr/>
          <p:nvPr/>
        </p:nvSpPr>
        <p:spPr>
          <a:xfrm>
            <a:off x="502920" y="2404872"/>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a:extLst>
              <a:ext uri="{C183D7F6-B498-43B3-948B-1728B52AA6E4}">
                <ns3:decorative xmlns:ns3="http://schemas.microsoft.com/office/drawing/2017/decorative" val="1"/>
              </a:ext>
            </a:extLst>
          </p:cNvPr>
          <p:cNvSpPr/>
          <p:nvPr/>
        </p:nvSpPr>
        <p:spPr>
          <a:xfrm>
            <a:off x="502920" y="2404872"/>
            <a:ext cx="54864" cy="8412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2404872"/>
            <a:ext cx="457200" cy="841248"/>
          </a:xfrm>
          <a:prstGeom prst="rect">
            <a:avLst/>
          </a:prstGeom>
          <a:noFill/>
        </p:spPr>
        <p:txBody>
          <a:bodyPr wrap="square" anchor="ctr" lIns="0" rIns="0" tIns="0" bIns="0">
            <a:spAutoFit/>
          </a:bodyPr>
          <a:lstStyle/>
          <a:p>
            <a:pPr algn="l">
              <a:spcAft>
                <a:spcPts val="400"/>
              </a:spcAft>
            </a:pPr>
            <a:r>
              <a:rPr sz="2200" b="1" i="0">
                <a:solidFill>
                  <a:srgbClr val="8064A2"/>
                </a:solidFill>
                <a:latin typeface="Segoe UI"/>
              </a:rPr>
              <a:t>2</a:t>
            </a:r>
          </a:p>
        </p:txBody>
      </p:sp>
      <p:sp>
        <p:nvSpPr>
          <p:cNvPr id="12" name="TextBox 11"/>
          <p:cNvSpPr txBox="1"/>
          <p:nvPr/>
        </p:nvSpPr>
        <p:spPr>
          <a:xfrm>
            <a:off x="1234440" y="2404872"/>
            <a:ext cx="3566160" cy="841248"/>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Approve at checkpoints</a:t>
            </a:r>
          </a:p>
        </p:txBody>
      </p:sp>
      <p:sp>
        <p:nvSpPr>
          <p:cNvPr id="13" name="TextBox 12"/>
          <p:cNvSpPr txBox="1"/>
          <p:nvPr/>
        </p:nvSpPr>
        <p:spPr>
          <a:xfrm>
            <a:off x="4846320" y="2404872"/>
            <a:ext cx="6675120" cy="841248"/>
          </a:xfrm>
          <a:prstGeom prst="rect">
            <a:avLst/>
          </a:prstGeom>
          <a:noFill/>
        </p:spPr>
        <p:txBody>
          <a:bodyPr wrap="square" anchor="ctr" lIns="0" rIns="0" tIns="0" bIns="0">
            <a:spAutoFit/>
          </a:bodyPr>
          <a:lstStyle/>
          <a:p>
            <a:pPr algn="l">
              <a:spcAft>
                <a:spcPts val="400"/>
              </a:spcAft>
            </a:pPr>
            <a:r>
              <a:rPr sz="1400" b="0" i="0">
                <a:solidFill>
                  <a:srgbClr val="616161"/>
                </a:solidFill>
                <a:latin typeface="Segoe UI"/>
              </a:rPr>
              <a:t>Cowork pauses before irreversible actions. Read before you confirm.</a:t>
            </a:r>
          </a:p>
        </p:txBody>
      </p:sp>
      <p:sp>
        <p:nvSpPr>
          <p:cNvPr id="14" name="Rectangle 13">
            <a:extLst>
              <a:ext uri="{C183D7F6-B498-43B3-948B-1728B52AA6E4}">
                <ns4:decorative xmlns:ns4="http://schemas.microsoft.com/office/drawing/2017/decorative" val="1"/>
              </a:ext>
            </a:extLst>
          </p:cNvPr>
          <p:cNvSpPr/>
          <p:nvPr/>
        </p:nvSpPr>
        <p:spPr>
          <a:xfrm>
            <a:off x="502920" y="3346704"/>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a:extLst>
              <a:ext uri="{C183D7F6-B498-43B3-948B-1728B52AA6E4}">
                <ns5:decorative xmlns:ns5="http://schemas.microsoft.com/office/drawing/2017/decorative" val="1"/>
              </a:ext>
            </a:extLst>
          </p:cNvPr>
          <p:cNvSpPr/>
          <p:nvPr/>
        </p:nvSpPr>
        <p:spPr>
          <a:xfrm>
            <a:off x="502920" y="3346704"/>
            <a:ext cx="54864" cy="84124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3346704"/>
            <a:ext cx="457200" cy="841248"/>
          </a:xfrm>
          <a:prstGeom prst="rect">
            <a:avLst/>
          </a:prstGeom>
          <a:noFill/>
        </p:spPr>
        <p:txBody>
          <a:bodyPr wrap="square" anchor="ctr" lIns="0" rIns="0" tIns="0" bIns="0">
            <a:spAutoFit/>
          </a:bodyPr>
          <a:lstStyle/>
          <a:p>
            <a:pPr algn="l">
              <a:spcAft>
                <a:spcPts val="400"/>
              </a:spcAft>
            </a:pPr>
            <a:r>
              <a:rPr sz="2200" b="1" i="0">
                <a:solidFill>
                  <a:srgbClr val="107C10"/>
                </a:solidFill>
                <a:latin typeface="Segoe UI"/>
              </a:rPr>
              <a:t>3</a:t>
            </a:r>
          </a:p>
        </p:txBody>
      </p:sp>
      <p:sp>
        <p:nvSpPr>
          <p:cNvPr id="17" name="TextBox 16"/>
          <p:cNvSpPr txBox="1"/>
          <p:nvPr/>
        </p:nvSpPr>
        <p:spPr>
          <a:xfrm>
            <a:off x="1234440" y="3346704"/>
            <a:ext cx="3566160" cy="841248"/>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Keep real data private</a:t>
            </a:r>
          </a:p>
        </p:txBody>
      </p:sp>
      <p:sp>
        <p:nvSpPr>
          <p:cNvPr id="18" name="TextBox 17"/>
          <p:cNvSpPr txBox="1"/>
          <p:nvPr/>
        </p:nvSpPr>
        <p:spPr>
          <a:xfrm>
            <a:off x="4846320" y="3346704"/>
            <a:ext cx="6675120" cy="841248"/>
          </a:xfrm>
          <a:prstGeom prst="rect">
            <a:avLst/>
          </a:prstGeom>
          <a:noFill/>
        </p:spPr>
        <p:txBody>
          <a:bodyPr wrap="square" anchor="ctr" lIns="0" rIns="0" tIns="0" bIns="0">
            <a:spAutoFit/>
          </a:bodyPr>
          <a:lstStyle/>
          <a:p>
            <a:pPr algn="l">
              <a:spcAft>
                <a:spcPts val="400"/>
              </a:spcAft>
            </a:pPr>
            <a:r>
              <a:rPr sz="1400" b="0" i="0">
                <a:solidFill>
                  <a:srgbClr val="616161"/>
                </a:solidFill>
                <a:latin typeface="Segoe UI"/>
              </a:rPr>
              <a:t>Ex 8 reads </a:t>
            </a:r>
            <a:r>
              <a:rPr sz="1400" b="1" i="0">
                <a:solidFill>
                  <a:srgbClr val="616161"/>
                </a:solidFill>
                <a:latin typeface="Segoe UI"/>
              </a:rPr>
              <a:t>your own</a:t>
            </a:r>
            <a:r>
              <a:rPr sz="1400" b="0" i="0">
                <a:solidFill>
                  <a:srgbClr val="616161"/>
                </a:solidFill>
                <a:latin typeface="Segoe UI"/>
              </a:rPr>
              <a:t> mail and calendar: keep results off shared screens. Everything else uses the fictional Zava files.</a:t>
            </a:r>
          </a:p>
        </p:txBody>
      </p:sp>
      <p:sp>
        <p:nvSpPr>
          <p:cNvPr id="19" name="Rectangle 18">
            <a:extLst>
              <a:ext uri="{C183D7F6-B498-43B3-948B-1728B52AA6E4}">
                <ns6:decorative xmlns:ns6="http://schemas.microsoft.com/office/drawing/2017/decorative" val="1"/>
              </a:ext>
            </a:extLst>
          </p:cNvPr>
          <p:cNvSpPr/>
          <p:nvPr/>
        </p:nvSpPr>
        <p:spPr>
          <a:xfrm>
            <a:off x="502920" y="4288536"/>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a:extLst>
              <a:ext uri="{C183D7F6-B498-43B3-948B-1728B52AA6E4}">
                <ns7:decorative xmlns:ns7="http://schemas.microsoft.com/office/drawing/2017/decorative" val="1"/>
              </a:ext>
            </a:extLst>
          </p:cNvPr>
          <p:cNvSpPr/>
          <p:nvPr/>
        </p:nvSpPr>
        <p:spPr>
          <a:xfrm>
            <a:off x="502920" y="4288536"/>
            <a:ext cx="54864" cy="84124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1520" y="4288536"/>
            <a:ext cx="457200" cy="841248"/>
          </a:xfrm>
          <a:prstGeom prst="rect">
            <a:avLst/>
          </a:prstGeom>
          <a:noFill/>
        </p:spPr>
        <p:txBody>
          <a:bodyPr wrap="square" anchor="ctr" lIns="0" rIns="0" tIns="0" bIns="0">
            <a:spAutoFit/>
          </a:bodyPr>
          <a:lstStyle/>
          <a:p>
            <a:pPr algn="l">
              <a:spcAft>
                <a:spcPts val="400"/>
              </a:spcAft>
            </a:pPr>
            <a:r>
              <a:rPr sz="2200" b="1" i="0">
                <a:solidFill>
                  <a:srgbClr val="C0504D"/>
                </a:solidFill>
                <a:latin typeface="Segoe UI"/>
              </a:rPr>
              <a:t>4</a:t>
            </a:r>
          </a:p>
        </p:txBody>
      </p:sp>
      <p:sp>
        <p:nvSpPr>
          <p:cNvPr id="22" name="TextBox 21"/>
          <p:cNvSpPr txBox="1"/>
          <p:nvPr/>
        </p:nvSpPr>
        <p:spPr>
          <a:xfrm>
            <a:off x="1234440" y="4288536"/>
            <a:ext cx="3566160" cy="841248"/>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Cite &amp; confirm</a:t>
            </a:r>
          </a:p>
        </p:txBody>
      </p:sp>
      <p:sp>
        <p:nvSpPr>
          <p:cNvPr id="23" name="TextBox 22"/>
          <p:cNvSpPr txBox="1"/>
          <p:nvPr/>
        </p:nvSpPr>
        <p:spPr>
          <a:xfrm>
            <a:off x="4846320" y="4288536"/>
            <a:ext cx="6675120" cy="841248"/>
          </a:xfrm>
          <a:prstGeom prst="rect">
            <a:avLst/>
          </a:prstGeom>
          <a:noFill/>
        </p:spPr>
        <p:txBody>
          <a:bodyPr wrap="square" anchor="ctr" lIns="0" rIns="0" tIns="0" bIns="0">
            <a:spAutoFit/>
          </a:bodyPr>
          <a:lstStyle/>
          <a:p>
            <a:pPr algn="l">
              <a:spcAft>
                <a:spcPts val="400"/>
              </a:spcAft>
            </a:pPr>
            <a:r>
              <a:rPr sz="1400" b="0" i="0">
                <a:solidFill>
                  <a:srgbClr val="616161"/>
                </a:solidFill>
                <a:latin typeface="Segoe UI"/>
              </a:rPr>
              <a:t>For policy answers, name the source and note HR should confirm.</a:t>
            </a:r>
          </a:p>
        </p:txBody>
      </p:sp>
      <p:sp>
        <p:nvSpPr>
          <p:cNvPr id="24" name="Rectangle 23">
            <a:extLst>
              <a:ext uri="{C183D7F6-B498-43B3-948B-1728B52AA6E4}">
                <ns8:decorative xmlns:ns8="http://schemas.microsoft.com/office/drawing/2017/decorative" val="1"/>
              </a:ext>
            </a:extLst>
          </p:cNvPr>
          <p:cNvSpPr/>
          <p:nvPr/>
        </p:nvSpPr>
        <p:spPr>
          <a:xfrm>
            <a:off x="502920" y="5230368"/>
            <a:ext cx="11183112" cy="841248"/>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a:extLst>
              <a:ext uri="{C183D7F6-B498-43B3-948B-1728B52AA6E4}">
                <ns9:decorative xmlns:ns9="http://schemas.microsoft.com/office/drawing/2017/decorative" val="1"/>
              </a:ext>
            </a:extLst>
          </p:cNvPr>
          <p:cNvSpPr/>
          <p:nvPr/>
        </p:nvSpPr>
        <p:spPr>
          <a:xfrm>
            <a:off x="502920" y="5230368"/>
            <a:ext cx="54864" cy="841248"/>
          </a:xfrm>
          <a:prstGeom prst="rect">
            <a:avLst/>
          </a:prstGeom>
          <a:solidFill>
            <a:srgbClr val="948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31520" y="5230368"/>
            <a:ext cx="457200" cy="841248"/>
          </a:xfrm>
          <a:prstGeom prst="rect">
            <a:avLst/>
          </a:prstGeom>
          <a:noFill/>
        </p:spPr>
        <p:txBody>
          <a:bodyPr wrap="square" anchor="ctr" lIns="0" rIns="0" tIns="0" bIns="0">
            <a:spAutoFit/>
          </a:bodyPr>
          <a:lstStyle/>
          <a:p>
            <a:pPr algn="l">
              <a:spcAft>
                <a:spcPts val="400"/>
              </a:spcAft>
            </a:pPr>
            <a:r>
              <a:rPr sz="2200" b="1" i="0">
                <a:solidFill>
                  <a:srgbClr val="948A54"/>
                </a:solidFill>
                <a:latin typeface="Segoe UI"/>
              </a:rPr>
              <a:t>5</a:t>
            </a:r>
          </a:p>
        </p:txBody>
      </p:sp>
      <p:sp>
        <p:nvSpPr>
          <p:cNvPr id="27" name="TextBox 26"/>
          <p:cNvSpPr txBox="1"/>
          <p:nvPr/>
        </p:nvSpPr>
        <p:spPr>
          <a:xfrm>
            <a:off x="1234440" y="5230368"/>
            <a:ext cx="3566160" cy="841248"/>
          </a:xfrm>
          <a:prstGeom prst="rect">
            <a:avLst/>
          </a:prstGeom>
          <a:noFill/>
        </p:spPr>
        <p:txBody>
          <a:bodyPr wrap="square" anchor="ctr" lIns="0" rIns="0" tIns="0" bIns="0">
            <a:spAutoFit/>
          </a:bodyPr>
          <a:lstStyle/>
          <a:p>
            <a:pPr algn="l">
              <a:spcAft>
                <a:spcPts val="400"/>
              </a:spcAft>
            </a:pPr>
            <a:r>
              <a:rPr sz="1600" b="1" i="0">
                <a:solidFill>
                  <a:srgbClr val="242424"/>
                </a:solidFill>
                <a:latin typeface="Segoe UI"/>
              </a:rPr>
              <a:t>Right person, right data</a:t>
            </a:r>
          </a:p>
        </p:txBody>
      </p:sp>
      <p:sp>
        <p:nvSpPr>
          <p:cNvPr id="28" name="TextBox 27"/>
          <p:cNvSpPr txBox="1"/>
          <p:nvPr/>
        </p:nvSpPr>
        <p:spPr>
          <a:xfrm>
            <a:off x="4846320" y="5230368"/>
            <a:ext cx="6675120" cy="841248"/>
          </a:xfrm>
          <a:prstGeom prst="rect">
            <a:avLst/>
          </a:prstGeom>
          <a:noFill/>
        </p:spPr>
        <p:txBody>
          <a:bodyPr wrap="square" anchor="ctr" lIns="0" rIns="0" tIns="0" bIns="0">
            <a:spAutoFit/>
          </a:bodyPr>
          <a:lstStyle/>
          <a:p>
            <a:pPr algn="l">
              <a:spcAft>
                <a:spcPts val="400"/>
              </a:spcAft>
            </a:pPr>
            <a:r>
              <a:rPr sz="1400" b="0" i="0">
                <a:solidFill>
                  <a:srgbClr val="616161"/>
                </a:solidFill>
                <a:latin typeface="Segoe UI"/>
              </a:rPr>
              <a:t>Cowork only reaches content you already have permission to see.</a:t>
            </a:r>
          </a:p>
        </p:txBody>
      </p:sp>
    </p:spTree>
    <p:extLst>
      <p:ext uri="{BB962C8B-B14F-4D97-AF65-F5344CB8AC3E}">
        <p14:creationId xmlns:p14="http://schemas.microsoft.com/office/powerpoint/2010/main" val="418314712"/>
      </p:ext>
    </p:extLst>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Facilitation &amp; troubleshooting</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For instructors — skip live or use during a break.</a:t>
            </a:r>
          </a:p>
        </p:txBody>
      </p:sp>
      <p:sp>
        <p:nvSpPr>
          <p:cNvPr id="4" name="Rectangle 3">
            <a:extLst>
              <a:ext uri="{C183D7F6-B498-43B3-948B-1728B52AA6E4}">
                <ns0:decorative xmlns:ns0="http://schemas.microsoft.com/office/drawing/2017/decorative" val="1"/>
              </a:ext>
            </a:extLst>
          </p:cNvPr>
          <p:cNvSpPr/>
          <p:nvPr/>
        </p:nvSpPr>
        <p:spPr>
          <a:xfrm>
            <a:off x="502920" y="1463040"/>
            <a:ext cx="5468112" cy="30632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68112"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5175504"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KEEP 25 PEOPLE TOGETHER</a:t>
            </a:r>
          </a:p>
        </p:txBody>
      </p:sp>
      <p:sp>
        <p:nvSpPr>
          <p:cNvPr id="7" name="TextBox 6"/>
          <p:cNvSpPr txBox="1"/>
          <p:nvPr/>
        </p:nvSpPr>
        <p:spPr>
          <a:xfrm>
            <a:off x="649224" y="2084832"/>
            <a:ext cx="5175504" cy="2331720"/>
          </a:xfrm>
          <a:prstGeom prst="rect">
            <a:avLst/>
          </a:prstGeom>
          <a:noFill/>
        </p:spPr>
        <p:txBody>
          <a:bodyPr wrap="square" anchor="t" lIns="0" rIns="0" tIns="0" bIns="0">
            <a:spAutoFit/>
          </a:bodyPr>
          <a:lstStyle/>
          <a:p>
            <a:pPr algn="l" marL="182880" indent="-182880">
              <a:spcAft>
                <a:spcPts val="500"/>
              </a:spcAft>
              <a:buFont typeface="Arial"/>
              <a:buChar char="•"/>
            </a:pPr>
            <a:r>
              <a:rPr sz="1400" b="0" i="0">
                <a:solidFill>
                  <a:srgbClr val="242424"/>
                </a:solidFill>
                <a:latin typeface="Segoe UI"/>
              </a:rPr>
              <a:t>1 facilitator + 1–2 floaters</a:t>
            </a:r>
          </a:p>
          <a:p>
            <a:pPr algn="l" marL="182880" indent="-182880">
              <a:spcAft>
                <a:spcPts val="500"/>
              </a:spcAft>
              <a:buFont typeface="Arial"/>
              <a:buChar char="•"/>
            </a:pPr>
            <a:r>
              <a:rPr sz="1400" b="0" i="0">
                <a:solidFill>
                  <a:srgbClr val="242424"/>
                </a:solidFill>
                <a:latin typeface="Segoe UI"/>
              </a:rPr>
              <a:t>Use each hands-on slide’s </a:t>
            </a:r>
            <a:r>
              <a:rPr sz="1400" b="1" i="0">
                <a:solidFill>
                  <a:srgbClr val="242424"/>
                </a:solidFill>
                <a:latin typeface="Segoe UI"/>
              </a:rPr>
              <a:t>checkpoint</a:t>
            </a:r>
            <a:r>
              <a:rPr sz="1400" b="0" i="0">
                <a:solidFill>
                  <a:srgbClr val="242424"/>
                </a:solidFill>
                <a:latin typeface="Segoe UI"/>
              </a:rPr>
              <a:t> to sync</a:t>
            </a:r>
          </a:p>
          <a:p>
            <a:pPr algn="l" marL="182880" indent="-182880">
              <a:spcAft>
                <a:spcPts val="500"/>
              </a:spcAft>
              <a:buFont typeface="Arial"/>
              <a:buChar char="•"/>
            </a:pPr>
            <a:r>
              <a:rPr sz="1400" b="0" i="0">
                <a:solidFill>
                  <a:srgbClr val="242424"/>
                </a:solidFill>
                <a:latin typeface="Segoe UI"/>
              </a:rPr>
              <a:t>Seed </a:t>
            </a:r>
            <a:r>
              <a:rPr sz="1400" b="1" i="0">
                <a:solidFill>
                  <a:srgbClr val="242424"/>
                </a:solidFill>
                <a:latin typeface="Segoe UI"/>
              </a:rPr>
              <a:t>your demo account</a:t>
            </a:r>
            <a:r>
              <a:rPr sz="1400" b="0" i="0">
                <a:solidFill>
                  <a:srgbClr val="242424"/>
                </a:solidFill>
                <a:latin typeface="Segoe UI"/>
              </a:rPr>
              <a:t> 1–2 days ahead (seed-content.md)</a:t>
            </a:r>
          </a:p>
          <a:p>
            <a:pPr algn="l" marL="182880" indent="-182880">
              <a:spcAft>
                <a:spcPts val="500"/>
              </a:spcAft>
              <a:buFont typeface="Arial"/>
              <a:buChar char="•"/>
            </a:pPr>
            <a:r>
              <a:rPr sz="1400" b="0" i="0">
                <a:solidFill>
                  <a:srgbClr val="242424"/>
                </a:solidFill>
                <a:latin typeface="Segoe UI"/>
              </a:rPr>
              <a:t>Check results with the </a:t>
            </a:r>
            <a:r>
              <a:rPr sz="1400" b="1" i="0">
                <a:solidFill>
                  <a:srgbClr val="242424"/>
                </a:solidFill>
                <a:latin typeface="Segoe UI"/>
              </a:rPr>
              <a:t>answer key</a:t>
            </a:r>
          </a:p>
          <a:p>
            <a:pPr algn="l" marL="182880" indent="-182880">
              <a:spcAft>
                <a:spcPts val="500"/>
              </a:spcAft>
              <a:buFont typeface="Arial"/>
              <a:buChar char="•"/>
            </a:pPr>
            <a:r>
              <a:rPr sz="1400" b="0" i="0">
                <a:solidFill>
                  <a:srgbClr val="242424"/>
                </a:solidFill>
                <a:latin typeface="Segoe UI"/>
              </a:rPr>
              <a:t>Watch the clock: </a:t>
            </a:r>
            <a:r>
              <a:rPr sz="1400" b="1" i="0">
                <a:solidFill>
                  <a:srgbClr val="242424"/>
                </a:solidFill>
                <a:latin typeface="Segoe UI"/>
              </a:rPr>
              <a:t>time checks</a:t>
            </a:r>
            <a:r>
              <a:rPr sz="1400" b="0" i="0">
                <a:solidFill>
                  <a:srgbClr val="242424"/>
                </a:solidFill>
                <a:latin typeface="Segoe UI"/>
              </a:rPr>
              <a:t> at each break</a:t>
            </a:r>
          </a:p>
        </p:txBody>
      </p:sp>
      <p:sp>
        <p:nvSpPr>
          <p:cNvPr id="8" name="Rectangle 7">
            <a:extLst>
              <a:ext uri="{C183D7F6-B498-43B3-948B-1728B52AA6E4}">
                <ns2:decorative xmlns:ns2="http://schemas.microsoft.com/office/drawing/2017/decorative" val="1"/>
              </a:ext>
            </a:extLst>
          </p:cNvPr>
          <p:cNvSpPr/>
          <p:nvPr/>
        </p:nvSpPr>
        <p:spPr>
          <a:xfrm>
            <a:off x="6217920" y="1463040"/>
            <a:ext cx="5468112" cy="306324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6217920" y="1463040"/>
            <a:ext cx="5468112" cy="41148"/>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64224" y="1645920"/>
            <a:ext cx="5175504" cy="365760"/>
          </a:xfrm>
          <a:prstGeom prst="rect">
            <a:avLst/>
          </a:prstGeom>
          <a:noFill/>
        </p:spPr>
        <p:txBody>
          <a:bodyPr wrap="square" anchor="t" lIns="0" rIns="0" tIns="0" bIns="0">
            <a:spAutoFit/>
          </a:bodyPr>
          <a:lstStyle/>
          <a:p>
            <a:pPr algn="l">
              <a:spcAft>
                <a:spcPts val="400"/>
              </a:spcAft>
            </a:pPr>
            <a:r>
              <a:rPr sz="1400" b="1" i="0">
                <a:solidFill>
                  <a:srgbClr val="8064A2"/>
                </a:solidFill>
                <a:latin typeface="Segoe UI"/>
              </a:rPr>
              <a:t>COMMON BLOCKERS</a:t>
            </a:r>
          </a:p>
        </p:txBody>
      </p:sp>
      <p:sp>
        <p:nvSpPr>
          <p:cNvPr id="11" name="TextBox 10"/>
          <p:cNvSpPr txBox="1"/>
          <p:nvPr/>
        </p:nvSpPr>
        <p:spPr>
          <a:xfrm>
            <a:off x="6364224" y="2084832"/>
            <a:ext cx="5175504" cy="2331720"/>
          </a:xfrm>
          <a:prstGeom prst="rect">
            <a:avLst/>
          </a:prstGeom>
          <a:noFill/>
        </p:spPr>
        <p:txBody>
          <a:bodyPr wrap="square" anchor="t" lIns="0" rIns="0" tIns="0" bIns="0">
            <a:spAutoFit/>
          </a:bodyPr>
          <a:lstStyle/>
          <a:p>
            <a:pPr algn="l" marL="182880" indent="-182880">
              <a:spcAft>
                <a:spcPts val="500"/>
              </a:spcAft>
              <a:buFont typeface="Arial"/>
              <a:buChar char="•"/>
            </a:pPr>
            <a:r>
              <a:rPr sz="1400" b="0" i="0">
                <a:solidFill>
                  <a:srgbClr val="242424"/>
                </a:solidFill>
                <a:latin typeface="Segoe UI"/>
              </a:rPr>
              <a:t>No Cowork toggle → spare licensed account</a:t>
            </a:r>
          </a:p>
          <a:p>
            <a:pPr algn="l" marL="182880" indent="-182880">
              <a:spcAft>
                <a:spcPts val="500"/>
              </a:spcAft>
              <a:buFont typeface="Arial"/>
              <a:buChar char="•"/>
            </a:pPr>
            <a:r>
              <a:rPr sz="1400" b="0" i="0">
                <a:solidFill>
                  <a:srgbClr val="242424"/>
                </a:solidFill>
                <a:latin typeface="Segoe UI"/>
              </a:rPr>
              <a:t>Acted without asking → revoke in side panel </a:t>
            </a:r>
            <a:r>
              <a:rPr sz="1400" b="1" i="0">
                <a:solidFill>
                  <a:srgbClr val="242424"/>
                </a:solidFill>
                <a:latin typeface="Segoe UI"/>
              </a:rPr>
              <a:t>Permissions</a:t>
            </a:r>
          </a:p>
          <a:p>
            <a:pPr algn="l" marL="182880" indent="-182880">
              <a:spcAft>
                <a:spcPts val="500"/>
              </a:spcAft>
              <a:buFont typeface="Arial"/>
              <a:buChar char="•"/>
            </a:pPr>
            <a:r>
              <a:rPr sz="1400" b="0" i="0">
                <a:solidFill>
                  <a:srgbClr val="242424"/>
                </a:solidFill>
                <a:latin typeface="Segoe UI"/>
              </a:rPr>
              <a:t>Light dashboard → quiet week; show your demo</a:t>
            </a:r>
          </a:p>
          <a:p>
            <a:pPr algn="l" marL="182880" indent="-182880">
              <a:spcAft>
                <a:spcPts val="500"/>
              </a:spcAft>
              <a:buFont typeface="Arial"/>
              <a:buChar char="•"/>
            </a:pPr>
            <a:r>
              <a:rPr sz="1400" b="0" i="0">
                <a:solidFill>
                  <a:srgbClr val="242424"/>
                </a:solidFill>
                <a:latin typeface="Segoe UI"/>
              </a:rPr>
              <a:t>No browser task → Edge, signed in with the work account</a:t>
            </a:r>
          </a:p>
          <a:p>
            <a:pPr algn="l" marL="182880" indent="-182880">
              <a:spcAft>
                <a:spcPts val="500"/>
              </a:spcAft>
              <a:buFont typeface="Arial"/>
              <a:buChar char="•"/>
            </a:pPr>
            <a:r>
              <a:rPr sz="1400" b="0" i="0">
                <a:solidFill>
                  <a:srgbClr val="242424"/>
                </a:solidFill>
                <a:latin typeface="Segoe UI"/>
              </a:rPr>
              <a:t>Agent ignores files → wait for “Preparing”, then refresh</a:t>
            </a:r>
          </a:p>
        </p:txBody>
      </p:sp>
      <p:sp>
        <p:nvSpPr>
          <p:cNvPr id="12" name="Rounded Rectangle 11">
            <a:extLst>
              <a:ext uri="{C183D7F6-B498-43B3-948B-1728B52AA6E4}">
                <ns4:decorative xmlns:ns4="http://schemas.microsoft.com/office/drawing/2017/decorative" val="1"/>
              </a:ext>
            </a:extLst>
          </p:cNvPr>
          <p:cNvSpPr/>
          <p:nvPr/>
        </p:nvSpPr>
        <p:spPr>
          <a:xfrm>
            <a:off x="502920" y="4800600"/>
            <a:ext cx="11183112" cy="137160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4800600"/>
            <a:ext cx="10634472" cy="1371600"/>
          </a:xfrm>
          <a:prstGeom prst="rect">
            <a:avLst/>
          </a:prstGeom>
          <a:noFill/>
        </p:spPr>
        <p:txBody>
          <a:bodyPr wrap="square" anchor="ctr" lIns="0" rIns="0" tIns="0" bIns="0">
            <a:spAutoFit/>
          </a:bodyPr>
          <a:lstStyle/>
          <a:p>
            <a:pPr algn="l">
              <a:lnSpc>
                <a:spcPct val="105000"/>
              </a:lnSpc>
              <a:spcAft>
                <a:spcPts val="400"/>
              </a:spcAft>
            </a:pPr>
            <a:r>
              <a:rPr sz="1400" b="1" i="0">
                <a:solidFill>
                  <a:srgbClr val="FFFFFF"/>
                </a:solidFill>
                <a:latin typeface="Segoe UI"/>
              </a:rPr>
              <a:t>Fallback:</a:t>
            </a:r>
            <a:r>
              <a:rPr sz="1400" b="0" i="0">
                <a:solidFill>
                  <a:srgbClr val="FFFFFF"/>
                </a:solidFill>
                <a:latin typeface="Segoe UI"/>
              </a:rPr>
              <a:t> anyone blocked follows your demo, using </a:t>
            </a:r>
            <a:r>
              <a:rPr sz="1400" b="1" i="0">
                <a:solidFill>
                  <a:srgbClr val="FFFFFF"/>
                </a:solidFill>
                <a:latin typeface="Segoe UI"/>
              </a:rPr>
              <a:t>facilitator-answer-key.md</a:t>
            </a:r>
            <a:r>
              <a:rPr sz="1400" b="0" i="0">
                <a:solidFill>
                  <a:srgbClr val="FFFFFF"/>
                </a:solidFill>
                <a:latin typeface="Segoe UI"/>
              </a:rPr>
              <a:t>. Whole room down? Stop after 10 minutes and switch to </a:t>
            </a:r>
            <a:r>
              <a:rPr sz="1400" b="1" i="0">
                <a:solidFill>
                  <a:srgbClr val="FFFFFF"/>
                </a:solidFill>
                <a:latin typeface="Segoe UI"/>
              </a:rPr>
              <a:t>Plan B</a:t>
            </a:r>
            <a:r>
              <a:rPr sz="1400" b="0" i="0">
                <a:solidFill>
                  <a:srgbClr val="FFFFFF"/>
                </a:solidFill>
                <a:latin typeface="Segoe UI"/>
              </a:rPr>
              <a:t> (readiness-checklist.md). Running long? Use the time checks in the facilitator guide.</a:t>
            </a:r>
          </a:p>
        </p:txBody>
      </p:sp>
    </p:spTree>
    <p:extLst>
      <p:ext uri="{BB962C8B-B14F-4D97-AF65-F5344CB8AC3E}">
        <p14:creationId xmlns:p14="http://schemas.microsoft.com/office/powerpoint/2010/main" val="418314712"/>
      </p:ext>
    </p:extLst>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Wrap-up &amp; next steps</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Three tools, eight exercises, one habit: draft → review → approve.</a:t>
            </a:r>
          </a:p>
        </p:txBody>
      </p:sp>
      <p:sp>
        <p:nvSpPr>
          <p:cNvPr id="4" name="Rectangle 3">
            <a:extLst>
              <a:ext uri="{C183D7F6-B498-43B3-948B-1728B52AA6E4}">
                <ns0:decorative xmlns:ns0="http://schemas.microsoft.com/office/drawing/2017/decorative" val="1"/>
              </a:ext>
            </a:extLst>
          </p:cNvPr>
          <p:cNvSpPr/>
          <p:nvPr/>
        </p:nvSpPr>
        <p:spPr>
          <a:xfrm>
            <a:off x="502920" y="1463040"/>
            <a:ext cx="11183112" cy="804672"/>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864" cy="804672"/>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1463040"/>
            <a:ext cx="2377440" cy="804672"/>
          </a:xfrm>
          <a:prstGeom prst="rect">
            <a:avLst/>
          </a:prstGeom>
          <a:noFill/>
        </p:spPr>
        <p:txBody>
          <a:bodyPr wrap="square" anchor="ctr" lIns="0" rIns="0" tIns="0" bIns="0">
            <a:spAutoFit/>
          </a:bodyPr>
          <a:lstStyle/>
          <a:p>
            <a:pPr algn="l">
              <a:spcAft>
                <a:spcPts val="400"/>
              </a:spcAft>
            </a:pPr>
            <a:r>
              <a:rPr sz="1500" b="1" i="0">
                <a:solidFill>
                  <a:srgbClr val="0F6CBD"/>
                </a:solidFill>
                <a:latin typeface="Segoe UI"/>
              </a:rPr>
              <a:t>Three tools</a:t>
            </a:r>
          </a:p>
        </p:txBody>
      </p:sp>
      <p:sp>
        <p:nvSpPr>
          <p:cNvPr id="7" name="TextBox 6"/>
          <p:cNvSpPr txBox="1"/>
          <p:nvPr/>
        </p:nvSpPr>
        <p:spPr>
          <a:xfrm>
            <a:off x="3154680" y="1463040"/>
            <a:ext cx="8412480" cy="804672"/>
          </a:xfrm>
          <a:prstGeom prst="rect">
            <a:avLst/>
          </a:prstGeom>
          <a:noFill/>
        </p:spPr>
        <p:txBody>
          <a:bodyPr wrap="square" anchor="ctr" lIns="0" rIns="0" tIns="0" bIns="0">
            <a:spAutoFit/>
          </a:bodyPr>
          <a:lstStyle/>
          <a:p>
            <a:pPr algn="l">
              <a:spcAft>
                <a:spcPts val="400"/>
              </a:spcAft>
            </a:pPr>
            <a:r>
              <a:rPr sz="1400" b="0" i="0">
                <a:solidFill>
                  <a:srgbClr val="242424"/>
                </a:solidFill>
                <a:latin typeface="Segoe UI"/>
              </a:rPr>
              <a:t>Copilot Chat for quick answers, </a:t>
            </a:r>
            <a:r>
              <a:rPr sz="1400" b="1" i="0">
                <a:solidFill>
                  <a:srgbClr val="242424"/>
                </a:solidFill>
                <a:latin typeface="Segoe UI"/>
              </a:rPr>
              <a:t>Cowork</a:t>
            </a:r>
            <a:r>
              <a:rPr sz="1400" b="0" i="0">
                <a:solidFill>
                  <a:srgbClr val="242424"/>
                </a:solidFill>
                <a:latin typeface="Segoe UI"/>
              </a:rPr>
              <a:t> to get multi-step work done, </a:t>
            </a:r>
            <a:r>
              <a:rPr sz="1400" b="1" i="0">
                <a:solidFill>
                  <a:srgbClr val="242424"/>
                </a:solidFill>
                <a:latin typeface="Segoe UI"/>
              </a:rPr>
              <a:t>Agent Builder</a:t>
            </a:r>
            <a:r>
              <a:rPr sz="1400" b="0" i="0">
                <a:solidFill>
                  <a:srgbClr val="242424"/>
                </a:solidFill>
                <a:latin typeface="Segoe UI"/>
              </a:rPr>
              <a:t> for a reusable helper.</a:t>
            </a:r>
          </a:p>
        </p:txBody>
      </p:sp>
      <p:sp>
        <p:nvSpPr>
          <p:cNvPr id="8" name="Rectangle 7">
            <a:extLst>
              <a:ext uri="{C183D7F6-B498-43B3-948B-1728B52AA6E4}">
                <ns2:decorative xmlns:ns2="http://schemas.microsoft.com/office/drawing/2017/decorative" val="1"/>
              </a:ext>
            </a:extLst>
          </p:cNvPr>
          <p:cNvSpPr/>
          <p:nvPr/>
        </p:nvSpPr>
        <p:spPr>
          <a:xfrm>
            <a:off x="502920" y="2377440"/>
            <a:ext cx="11183112" cy="804672"/>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502920" y="2377440"/>
            <a:ext cx="54864" cy="804672"/>
          </a:xfrm>
          <a:prstGeom prst="rect">
            <a:avLst/>
          </a:prstGeom>
          <a:solidFill>
            <a:srgbClr val="806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2377440"/>
            <a:ext cx="2377440" cy="804672"/>
          </a:xfrm>
          <a:prstGeom prst="rect">
            <a:avLst/>
          </a:prstGeom>
          <a:noFill/>
        </p:spPr>
        <p:txBody>
          <a:bodyPr wrap="square" anchor="ctr" lIns="0" rIns="0" tIns="0" bIns="0">
            <a:spAutoFit/>
          </a:bodyPr>
          <a:lstStyle/>
          <a:p>
            <a:pPr algn="l">
              <a:spcAft>
                <a:spcPts val="400"/>
              </a:spcAft>
            </a:pPr>
            <a:r>
              <a:rPr sz="1500" b="1" i="0">
                <a:solidFill>
                  <a:srgbClr val="8064A2"/>
                </a:solidFill>
                <a:latin typeface="Segoe UI"/>
              </a:rPr>
              <a:t>What you built</a:t>
            </a:r>
          </a:p>
        </p:txBody>
      </p:sp>
      <p:sp>
        <p:nvSpPr>
          <p:cNvPr id="11" name="TextBox 10"/>
          <p:cNvSpPr txBox="1"/>
          <p:nvPr/>
        </p:nvSpPr>
        <p:spPr>
          <a:xfrm>
            <a:off x="3154680" y="2377440"/>
            <a:ext cx="8412480" cy="804672"/>
          </a:xfrm>
          <a:prstGeom prst="rect">
            <a:avLst/>
          </a:prstGeom>
          <a:noFill/>
        </p:spPr>
        <p:txBody>
          <a:bodyPr wrap="square" anchor="ctr" lIns="0" rIns="0" tIns="0" bIns="0">
            <a:spAutoFit/>
          </a:bodyPr>
          <a:lstStyle/>
          <a:p>
            <a:pPr algn="l">
              <a:spcAft>
                <a:spcPts val="400"/>
              </a:spcAft>
            </a:pPr>
            <a:r>
              <a:rPr sz="1400" b="0" i="0">
                <a:solidFill>
                  <a:srgbClr val="242424"/>
                </a:solidFill>
                <a:latin typeface="Segoe UI"/>
              </a:rPr>
              <a:t>A command center, a cited briefing, a browser task across two sites, a custom skill, an onboarding pack, an automation, and an agent.</a:t>
            </a:r>
          </a:p>
        </p:txBody>
      </p:sp>
      <p:sp>
        <p:nvSpPr>
          <p:cNvPr id="12" name="Rectangle 11">
            <a:extLst>
              <a:ext uri="{C183D7F6-B498-43B3-948B-1728B52AA6E4}">
                <ns4:decorative xmlns:ns4="http://schemas.microsoft.com/office/drawing/2017/decorative" val="1"/>
              </a:ext>
            </a:extLst>
          </p:cNvPr>
          <p:cNvSpPr/>
          <p:nvPr/>
        </p:nvSpPr>
        <p:spPr>
          <a:xfrm>
            <a:off x="502920" y="3291840"/>
            <a:ext cx="11183112" cy="804672"/>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a:extLst>
              <a:ext uri="{C183D7F6-B498-43B3-948B-1728B52AA6E4}">
                <ns5:decorative xmlns:ns5="http://schemas.microsoft.com/office/drawing/2017/decorative" val="1"/>
              </a:ext>
            </a:extLst>
          </p:cNvPr>
          <p:cNvSpPr/>
          <p:nvPr/>
        </p:nvSpPr>
        <p:spPr>
          <a:xfrm>
            <a:off x="502920" y="3291840"/>
            <a:ext cx="54864" cy="804672"/>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1520" y="3291840"/>
            <a:ext cx="2377440" cy="804672"/>
          </a:xfrm>
          <a:prstGeom prst="rect">
            <a:avLst/>
          </a:prstGeom>
          <a:noFill/>
        </p:spPr>
        <p:txBody>
          <a:bodyPr wrap="square" anchor="ctr" lIns="0" rIns="0" tIns="0" bIns="0">
            <a:spAutoFit/>
          </a:bodyPr>
          <a:lstStyle/>
          <a:p>
            <a:pPr algn="l">
              <a:spcAft>
                <a:spcPts val="400"/>
              </a:spcAft>
            </a:pPr>
            <a:r>
              <a:rPr sz="1500" b="1" i="0">
                <a:solidFill>
                  <a:srgbClr val="107C10"/>
                </a:solidFill>
                <a:latin typeface="Segoe UI"/>
              </a:rPr>
              <a:t>Take it with you</a:t>
            </a:r>
          </a:p>
        </p:txBody>
      </p:sp>
      <p:sp>
        <p:nvSpPr>
          <p:cNvPr id="15" name="TextBox 14"/>
          <p:cNvSpPr txBox="1"/>
          <p:nvPr/>
        </p:nvSpPr>
        <p:spPr>
          <a:xfrm>
            <a:off x="3154680" y="3291840"/>
            <a:ext cx="8412480" cy="804672"/>
          </a:xfrm>
          <a:prstGeom prst="rect">
            <a:avLst/>
          </a:prstGeom>
          <a:noFill/>
        </p:spPr>
        <p:txBody>
          <a:bodyPr wrap="square" anchor="ctr" lIns="0" rIns="0" tIns="0" bIns="0">
            <a:spAutoFit/>
          </a:bodyPr>
          <a:lstStyle/>
          <a:p>
            <a:pPr algn="l">
              <a:spcAft>
                <a:spcPts val="400"/>
              </a:spcAft>
            </a:pPr>
            <a:r>
              <a:rPr sz="1400" b="0" i="0">
                <a:solidFill>
                  <a:srgbClr val="242424"/>
                </a:solidFill>
                <a:latin typeface="Segoe UI"/>
              </a:rPr>
              <a:t>The </a:t>
            </a:r>
            <a:r>
              <a:rPr sz="1400" b="1" i="0">
                <a:solidFill>
                  <a:srgbClr val="242424"/>
                </a:solidFill>
                <a:latin typeface="Segoe UI"/>
              </a:rPr>
              <a:t>quick-reference card</a:t>
            </a:r>
            <a:r>
              <a:rPr sz="1400" b="0" i="0">
                <a:solidFill>
                  <a:srgbClr val="242424"/>
                </a:solidFill>
                <a:latin typeface="Segoe UI"/>
              </a:rPr>
              <a:t>, the prompt library, and the scenario cards in your workbook.</a:t>
            </a:r>
          </a:p>
        </p:txBody>
      </p:sp>
      <p:sp>
        <p:nvSpPr>
          <p:cNvPr id="16" name="Rectangle 15">
            <a:extLst>
              <a:ext uri="{C183D7F6-B498-43B3-948B-1728B52AA6E4}">
                <ns6:decorative xmlns:ns6="http://schemas.microsoft.com/office/drawing/2017/decorative" val="1"/>
              </a:ext>
            </a:extLst>
          </p:cNvPr>
          <p:cNvSpPr/>
          <p:nvPr/>
        </p:nvSpPr>
        <p:spPr>
          <a:xfrm>
            <a:off x="502920" y="4206240"/>
            <a:ext cx="11183112" cy="804672"/>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a:extLst>
              <a:ext uri="{C183D7F6-B498-43B3-948B-1728B52AA6E4}">
                <ns7:decorative xmlns:ns7="http://schemas.microsoft.com/office/drawing/2017/decorative" val="1"/>
              </a:ext>
            </a:extLst>
          </p:cNvPr>
          <p:cNvSpPr/>
          <p:nvPr/>
        </p:nvSpPr>
        <p:spPr>
          <a:xfrm>
            <a:off x="502920" y="4206240"/>
            <a:ext cx="54864" cy="8046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1520" y="4206240"/>
            <a:ext cx="2377440" cy="804672"/>
          </a:xfrm>
          <a:prstGeom prst="rect">
            <a:avLst/>
          </a:prstGeom>
          <a:noFill/>
        </p:spPr>
        <p:txBody>
          <a:bodyPr wrap="square" anchor="ctr" lIns="0" rIns="0" tIns="0" bIns="0">
            <a:spAutoFit/>
          </a:bodyPr>
          <a:lstStyle/>
          <a:p>
            <a:pPr algn="l">
              <a:spcAft>
                <a:spcPts val="400"/>
              </a:spcAft>
            </a:pPr>
            <a:r>
              <a:rPr sz="1500" b="1" i="0">
                <a:solidFill>
                  <a:srgbClr val="C0504D"/>
                </a:solidFill>
                <a:latin typeface="Segoe UI"/>
              </a:rPr>
              <a:t>Next week</a:t>
            </a:r>
          </a:p>
        </p:txBody>
      </p:sp>
      <p:sp>
        <p:nvSpPr>
          <p:cNvPr id="19" name="TextBox 18"/>
          <p:cNvSpPr txBox="1"/>
          <p:nvPr/>
        </p:nvSpPr>
        <p:spPr>
          <a:xfrm>
            <a:off x="3154680" y="4206240"/>
            <a:ext cx="8412480" cy="804672"/>
          </a:xfrm>
          <a:prstGeom prst="rect">
            <a:avLst/>
          </a:prstGeom>
          <a:noFill/>
        </p:spPr>
        <p:txBody>
          <a:bodyPr wrap="square" anchor="ctr" lIns="0" rIns="0" tIns="0" bIns="0">
            <a:spAutoFit/>
          </a:bodyPr>
          <a:lstStyle/>
          <a:p>
            <a:pPr algn="l">
              <a:spcAft>
                <a:spcPts val="400"/>
              </a:spcAft>
            </a:pPr>
            <a:r>
              <a:rPr sz="1400" b="0" i="0">
                <a:solidFill>
                  <a:srgbClr val="242424"/>
                </a:solidFill>
                <a:latin typeface="Segoe UI"/>
              </a:rPr>
              <a:t>Pick </a:t>
            </a:r>
            <a:r>
              <a:rPr sz="1400" b="1" i="0">
                <a:solidFill>
                  <a:srgbClr val="242424"/>
                </a:solidFill>
                <a:latin typeface="Segoe UI"/>
              </a:rPr>
              <a:t>one</a:t>
            </a:r>
            <a:r>
              <a:rPr sz="1400" b="0" i="0">
                <a:solidFill>
                  <a:srgbClr val="242424"/>
                </a:solidFill>
                <a:latin typeface="Segoe UI"/>
              </a:rPr>
              <a:t> task to hand to Cowork. Tomorrow you’ll get a 30-day adoption plan.</a:t>
            </a:r>
          </a:p>
        </p:txBody>
      </p:sp>
      <p:sp>
        <p:nvSpPr>
          <p:cNvPr id="20" name="Rounded Rectangle 19">
            <a:extLst>
              <a:ext uri="{C183D7F6-B498-43B3-948B-1728B52AA6E4}">
                <ns8:decorative xmlns:ns8="http://schemas.microsoft.com/office/drawing/2017/decorative" val="1"/>
              </a:ext>
            </a:extLst>
          </p:cNvPr>
          <p:cNvSpPr/>
          <p:nvPr/>
        </p:nvSpPr>
        <p:spPr>
          <a:xfrm>
            <a:off x="502920" y="5257800"/>
            <a:ext cx="11183112" cy="91440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7240" y="5257800"/>
            <a:ext cx="10634472" cy="914400"/>
          </a:xfrm>
          <a:prstGeom prst="rect">
            <a:avLst/>
          </a:prstGeom>
          <a:noFill/>
        </p:spPr>
        <p:txBody>
          <a:bodyPr wrap="square" anchor="ctr" lIns="0" rIns="0" tIns="0" bIns="0">
            <a:spAutoFit/>
          </a:bodyPr>
          <a:lstStyle/>
          <a:p>
            <a:pPr algn="l">
              <a:lnSpc>
                <a:spcPct val="105000"/>
              </a:lnSpc>
              <a:spcAft>
                <a:spcPts val="400"/>
              </a:spcAft>
            </a:pPr>
            <a:r>
              <a:rPr sz="1400" b="1" i="0">
                <a:solidFill>
                  <a:srgbClr val="FFFFFF"/>
                </a:solidFill>
                <a:latin typeface="Segoe UI"/>
              </a:rPr>
              <a:t>Before you leave:</a:t>
            </a:r>
            <a:r>
              <a:rPr sz="1400" b="0" i="0">
                <a:solidFill>
                  <a:srgbClr val="FFFFFF"/>
                </a:solidFill>
                <a:latin typeface="Segoe UI"/>
              </a:rPr>
              <a:t> clean up the training data with the steps on the last slide. At minimum, delete or pause your Exercise 8 and 6 schedules.</a:t>
            </a:r>
          </a:p>
        </p:txBody>
      </p:sp>
    </p:spTree>
    <p:extLst>
      <p:ext uri="{BB962C8B-B14F-4D97-AF65-F5344CB8AC3E}">
        <p14:creationId xmlns:p14="http://schemas.microsoft.com/office/powerpoint/2010/main" val="418314712"/>
      </p:ext>
    </p:extLst>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6CA73066-62EB-02EC-D037-EC294C24A95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A38DABC-8A4C-0F68-E7D3-3975110991B6}"/>
              </a:ext>
            </a:extLst>
          </p:cNvPr>
          <p:cNvSpPr txBox="1">
            <a:spLocks noGrp="1"/>
          </p:cNvSpPr>
          <p:nvPr>
            <p:ph type="title"/>
          </p:nvPr>
        </p:nvSpPr>
        <p:spPr>
          <a:xfrm>
            <a:off x="584200" y="2148840"/>
            <a:ext cx="9144000" cy="1371600"/>
          </a:xfr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lvl1pPr algn="l" defTabSz="932742" rtl="0" eaLnBrk="1" latinLnBrk="0" hangingPunct="1">
              <a:lnSpc>
                <a:spcPct val="100000"/>
              </a:lnSpc>
              <a:spcBef>
                <a:spcPct val="0"/>
              </a:spcBef>
              <a:buNone/>
              <a:defRPr lang="en-US" sz="4000" b="0" kern="1200" cap="none" spc="-50" baseline="0">
                <a:ln w="3175">
                  <a:noFill/>
                </a:ln>
                <a:solidFill>
                  <a:schemeClr val="tx1"/>
                </a:solidFill>
                <a:effectLst/>
                <a:latin typeface="+mj-lt"/>
                <a:ea typeface="+mn-ea"/>
                <a:cs typeface="Segoe Sans Display" pitchFamily="2" charset="0"/>
              </a:defRPr>
            </a:lvl1pPr>
          </a:lstStyle>
          <a:p>
            <a:pPr lvl="0"/>
            <a:r>
              <a:rPr lang="en-US" noProof="0" sz="4000"/>
              <a:t>Thank you</a:t>
            </a:r>
            <a:br>
              <a:rPr lang="en-US" noProof="0" sz="4000"/>
            </a:br>
            <a:endParaRPr lang="en-US" noProof="0"/>
          </a:p>
        </p:txBody>
      </p:sp>
      <p:sp>
        <p:nvSpPr>
          <p:cNvPr id="5" name="Text Placeholder 4">
            <a:extLst>
              <a:ext uri="{FF2B5EF4-FFF2-40B4-BE49-F238E27FC236}">
                <a16:creationId xmlns:a16="http://schemas.microsoft.com/office/drawing/2014/main" id="{66591BFA-242A-4A0F-746F-DC462B53012B}"/>
              </a:ext>
            </a:extLst>
          </p:cNvPr>
          <p:cNvSpPr>
            <a:spLocks noGrp="1"/>
          </p:cNvSpPr>
          <p:nvPr>
            <p:ph type="body" sz="quarter" idx="12"/>
          </p:nvPr>
        </p:nvSpPr>
        <p:spPr/>
        <p:txBody>
          <a:bodyPr/>
          <a:lstStyle/>
          <a:p>
            <a:r>
              <a:rPr lang="en-IN"/>
              <a:t>Questions? Try the </a:t>
            </a:r>
            <a:r>
              <a:rPr lang="en-IN">
                <a:hlinkClick r:id="rId2">
                  <a:extLst>
                    <a:ext uri="{A12FA001-AC4F-418D-AE19-62706E023703}">
                      <ahyp:hlinkClr xmlns:ahyp="http://schemas.microsoft.com/office/drawing/2018/hyperlinkcolor" val="tx"/>
                    </a:ext>
                  </a:extLst>
                </a:hlinkClick>
              </a:rPr>
              <a:t>stretch prompts</a:t>
            </a:r>
            <a:r>
              <a:rPr lang="en-IN"/>
              <a:t> at the end of each exercise in the participant workbook, then explore the kit’s </a:t>
            </a:r>
            <a:r>
              <a:rPr lang="en-IN">
                <a:hlinkClick r:id="rId3">
                  <a:extLst>
                    <a:ext uri="{A12FA001-AC4F-418D-AE19-62706E023703}">
                      <ahyp:hlinkClr xmlns:ahyp="http://schemas.microsoft.com/office/drawing/2018/hyperlinkcolor" val="tx"/>
                    </a:ext>
                  </a:extLst>
                </a:hlinkClick>
              </a:rPr>
              <a:t>README</a:t>
            </a:r>
            <a:r>
              <a:rPr lang="en-IN"/>
              <a:t>.</a:t>
            </a:r>
          </a:p>
        </p:txBody>
      </p:sp>
      <p:sp>
        <p:nvSpPr>
          <p:cNvPr id="7" name="TextBox 6">
            <a:extLst>
              <a:ext uri="{FF2B5EF4-FFF2-40B4-BE49-F238E27FC236}">
                <a16:creationId xmlns:a16="http://schemas.microsoft.com/office/drawing/2014/main" id="{9E45F3F4-9BE0-AC31-C0BF-36DF98724E37}"/>
              </a:ext>
            </a:extLst>
          </p:cNvPr>
          <p:cNvSpPr txBox="1"/>
          <p:nvPr/>
        </p:nvSpPr>
        <p:spPr>
          <a:xfrm>
            <a:off x="584200" y="6293077"/>
            <a:ext cx="681192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©2026</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Microsoft</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Corporation.</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All</a:t>
            </a:r>
            <a:r>
              <a:rPr kumimoji="0" lang="en-US" sz="800" b="0" i="0" u="none" strike="noStrike" kern="1200" cap="none" spc="35"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rights</a:t>
            </a:r>
            <a:r>
              <a:rPr kumimoji="0" lang="en-US" sz="800" b="0" i="0" u="none" strike="noStrike" kern="1200" cap="none" spc="40" normalizeH="0" baseline="0" noProof="0">
                <a:ln>
                  <a:noFill/>
                </a:ln>
                <a:solidFill>
                  <a:srgbClr val="323139"/>
                </a:solidFill>
                <a:effectLst/>
                <a:uLnTx/>
                <a:uFillTx/>
                <a:latin typeface="Segoe Sans Display Semilight"/>
                <a:ea typeface="+mn-ea"/>
                <a:cs typeface="+mn-cs"/>
              </a:rPr>
              <a:t> </a:t>
            </a:r>
            <a:r>
              <a:rPr kumimoji="0" lang="en-US" sz="800" b="0" i="0" u="none" strike="noStrike" kern="1200" cap="none" spc="0" normalizeH="0" baseline="0" noProof="0">
                <a:ln>
                  <a:noFill/>
                </a:ln>
                <a:solidFill>
                  <a:srgbClr val="323139"/>
                </a:solidFill>
                <a:effectLst/>
                <a:uLnTx/>
                <a:uFillTx/>
                <a:latin typeface="Segoe Sans Display Semilight"/>
                <a:ea typeface="+mn-ea"/>
                <a:cs typeface="+mn-cs"/>
              </a:rPr>
              <a:t>reserved</a:t>
            </a:r>
            <a:r>
              <a:rPr kumimoji="0" lang="en-US" sz="800" b="0" i="0" u="none" strike="noStrike" kern="1200" cap="none" spc="0" normalizeH="0" baseline="0" noProof="0">
                <a:ln>
                  <a:noFill/>
                </a:ln>
                <a:solidFill>
                  <a:srgbClr val="FFFFFF"/>
                </a:solidFill>
                <a:effectLst/>
                <a:uLnTx/>
                <a:uFillTx/>
                <a:latin typeface="Segoe Sans Display Semilight"/>
                <a:ea typeface="+mn-ea"/>
                <a:cs typeface="+mn-cs"/>
              </a:rPr>
              <a:t>.</a:t>
            </a:r>
            <a:r>
              <a:rPr kumimoji="0" lang="en-US" sz="800" b="0" i="0" u="none" strike="noStrike" kern="1200" cap="none" spc="40" normalizeH="0" baseline="0" noProof="0">
                <a:ln>
                  <a:noFill/>
                </a:ln>
                <a:solidFill>
                  <a:srgbClr val="FFFFFF"/>
                </a:solidFill>
                <a:effectLst/>
                <a:uLnTx/>
                <a:uFillTx/>
                <a:latin typeface="Segoe Sans Display Semilight"/>
                <a:ea typeface="+mn-ea"/>
                <a:cs typeface="+mn-cs"/>
              </a:rPr>
              <a:t> </a:t>
            </a:r>
            <a:endParaRPr kumimoji="0" lang="en-US" sz="1800" b="0" i="0" u="none" strike="noStrike" kern="1200" cap="none" spc="0" normalizeH="0" baseline="0" noProof="0">
              <a:ln>
                <a:noFill/>
              </a:ln>
              <a:solidFill>
                <a:srgbClr val="323139"/>
              </a:solidFill>
              <a:effectLst/>
              <a:uLnTx/>
              <a:uFillTx/>
              <a:latin typeface="Segoe Sans Display Semilight"/>
              <a:ea typeface="+mn-ea"/>
              <a:cs typeface="+mn-cs"/>
            </a:endParaRPr>
          </a:p>
        </p:txBody>
      </p:sp>
    </p:spTree>
    <p:extLst>
      <p:ext uri="{BB962C8B-B14F-4D97-AF65-F5344CB8AC3E}">
        <p14:creationId xmlns:p14="http://schemas.microsoft.com/office/powerpoint/2010/main" val="3541237129"/>
      </p:ext>
    </p:extLst>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690EC29-5E32-79B5-E29E-1E389EB1B8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1224B80-F0A8-232A-607E-25709F49219E}"/>
              </a:ext>
            </a:extLst>
          </p:cNvPr>
          <p:cNvSpPr txBox="1"/>
          <p:nvPr/>
        </p:nvSpPr>
        <p:spPr>
          <a:xfrm>
            <a:off x="502920" y="347472"/>
            <a:ext cx="11155680" cy="415498"/>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242424"/>
                </a:solidFill>
                <a:effectLst/>
                <a:uLnTx/>
                <a:uFillTx/>
                <a:latin typeface="Segoe UI"/>
                <a:ea typeface="+mn-ea"/>
                <a:cs typeface="+mn-cs"/>
              </a:rPr>
              <a:t>Clean up the training data</a:t>
            </a:r>
          </a:p>
        </p:txBody>
      </p:sp>
      <p:sp>
        <p:nvSpPr>
          <p:cNvPr id="3" name="TextBox 2">
            <a:extLst>
              <a:ext uri="{FF2B5EF4-FFF2-40B4-BE49-F238E27FC236}">
                <a16:creationId xmlns:a16="http://schemas.microsoft.com/office/drawing/2014/main" id="{C42FDF1E-C1D0-BD11-A7D1-CD7E8CECE583}"/>
              </a:ext>
            </a:extLst>
          </p:cNvPr>
          <p:cNvSpPr txBox="1"/>
          <p:nvPr/>
        </p:nvSpPr>
        <p:spPr>
          <a:xfrm>
            <a:off x="502920" y="932688"/>
            <a:ext cx="1106424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616161"/>
                </a:solidFill>
                <a:effectLst/>
                <a:uLnTx/>
                <a:uFillTx/>
                <a:latin typeface="Segoe UI"/>
                <a:ea typeface="+mn-ea"/>
                <a:cs typeface="+mn-cs"/>
              </a:rPr>
              <a:t>Before you leave (or later today): delete only what you made in the workshop, in this order.</a:t>
            </a:r>
          </a:p>
        </p:txBody>
      </p:sp>
      <p:sp>
        <p:nvSpPr>
          <p:cNvPr id="4" name="Rectangle 3">
            <a:extLst>
              <a:ext uri="{C183D7F6-B498-43B3-948B-1728B52AA6E4}">
                <ns0:decorative xmlns:ns0="http://schemas.microsoft.com/office/drawing/2017/decorative" val="1"/>
              </a:ext>
            </a:extLst>
          </p:cNvPr>
          <p:cNvSpPr/>
          <p:nvPr/>
        </p:nvSpPr>
        <p:spPr>
          <a:xfrm>
            <a:off x="502920" y="1463040"/>
            <a:ext cx="5468112" cy="31546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a:extLst>
              <a:ext uri="{C183D7F6-B498-43B3-948B-1728B52AA6E4}">
                <ns1:decorative xmlns:ns1="http://schemas.microsoft.com/office/drawing/2017/decorative" val="1"/>
              </a:ext>
            </a:extLst>
          </p:cNvPr>
          <p:cNvSpPr/>
          <p:nvPr/>
        </p:nvSpPr>
        <p:spPr>
          <a:xfrm>
            <a:off x="502920" y="1463040"/>
            <a:ext cx="5468112" cy="41148"/>
          </a:xfrm>
          <a:prstGeom prst="rect">
            <a:avLst/>
          </a:prstGeom>
          <a:solidFill>
            <a:srgbClr val="0F6C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9224" y="1645920"/>
            <a:ext cx="5175504" cy="365760"/>
          </a:xfrm>
          <a:prstGeom prst="rect">
            <a:avLst/>
          </a:prstGeom>
          <a:noFill/>
        </p:spPr>
        <p:txBody>
          <a:bodyPr wrap="square" anchor="t" lIns="0" rIns="0" tIns="0" bIns="0">
            <a:spAutoFit/>
          </a:bodyPr>
          <a:lstStyle/>
          <a:p>
            <a:pPr algn="l">
              <a:spcAft>
                <a:spcPts val="400"/>
              </a:spcAft>
            </a:pPr>
            <a:r>
              <a:rPr sz="1400" b="1" i="0">
                <a:solidFill>
                  <a:srgbClr val="0F6CBD"/>
                </a:solidFill>
                <a:latin typeface="Segoe UI"/>
              </a:rPr>
              <a:t>1  STOP AND REVIEW IN COPILOT</a:t>
            </a:r>
          </a:p>
        </p:txBody>
      </p:sp>
      <p:sp>
        <p:nvSpPr>
          <p:cNvPr id="7" name="TextBox 6"/>
          <p:cNvSpPr txBox="1"/>
          <p:nvPr/>
        </p:nvSpPr>
        <p:spPr>
          <a:xfrm>
            <a:off x="649224" y="2084832"/>
            <a:ext cx="5175504" cy="2423160"/>
          </a:xfrm>
          <a:prstGeom prst="rect">
            <a:avLst/>
          </a:prstGeom>
          <a:noFill/>
        </p:spPr>
        <p:txBody>
          <a:bodyPr wrap="square" anchor="t" lIns="0" rIns="0" tIns="0" bIns="0">
            <a:spAutoFit/>
          </a:bodyPr>
          <a:lstStyle/>
          <a:p>
            <a:pPr algn="l" marL="182880" indent="-182880">
              <a:spcAft>
                <a:spcPts val="500"/>
              </a:spcAft>
              <a:buFont typeface="Arial"/>
              <a:buChar char="•"/>
            </a:pPr>
            <a:r>
              <a:rPr sz="1300" b="1" i="0">
                <a:solidFill>
                  <a:srgbClr val="242424"/>
                </a:solidFill>
                <a:latin typeface="Segoe UI"/>
              </a:rPr>
              <a:t>Automations → Manage schedules:</a:t>
            </a:r>
            <a:r>
              <a:rPr sz="1300" b="0" i="0">
                <a:solidFill>
                  <a:srgbClr val="242424"/>
                </a:solidFill>
                <a:latin typeface="Segoe UI"/>
              </a:rPr>
              <a:t> delete or pause the Ex 8 command center and Ex 6 ticket digest</a:t>
            </a:r>
          </a:p>
          <a:p>
            <a:pPr algn="l" marL="182880" indent="-182880">
              <a:spcAft>
                <a:spcPts val="500"/>
              </a:spcAft>
              <a:buFont typeface="Arial"/>
              <a:buChar char="•"/>
            </a:pPr>
            <a:r>
              <a:rPr sz="1300" b="1" i="0">
                <a:solidFill>
                  <a:srgbClr val="242424"/>
                </a:solidFill>
                <a:latin typeface="Segoe UI"/>
              </a:rPr>
              <a:t>Customize → Skills:</a:t>
            </a:r>
            <a:r>
              <a:rPr sz="1300" b="0" i="0">
                <a:solidFill>
                  <a:srgbClr val="242424"/>
                </a:solidFill>
                <a:latin typeface="Segoe UI"/>
              </a:rPr>
              <a:t> delete Executive Command Center and HR Policy Answer unless you’ll use them</a:t>
            </a:r>
          </a:p>
          <a:p>
            <a:pPr algn="l" marL="182880" indent="-182880">
              <a:spcAft>
                <a:spcPts val="500"/>
              </a:spcAft>
              <a:buFont typeface="Arial"/>
              <a:buChar char="•"/>
            </a:pPr>
            <a:r>
              <a:rPr sz="1300" b="1" i="0">
                <a:solidFill>
                  <a:srgbClr val="242424"/>
                </a:solidFill>
                <a:latin typeface="Segoe UI"/>
              </a:rPr>
              <a:t>Customize → Preferences:</a:t>
            </a:r>
            <a:r>
              <a:rPr sz="1300" b="0" i="0">
                <a:solidFill>
                  <a:srgbClr val="242424"/>
                </a:solidFill>
                <a:latin typeface="Segoe UI"/>
              </a:rPr>
              <a:t> if set in the optional section, delete or rewrite the Zava instructions</a:t>
            </a:r>
          </a:p>
          <a:p>
            <a:pPr algn="l" marL="182880" indent="-182880">
              <a:spcAft>
                <a:spcPts val="500"/>
              </a:spcAft>
              <a:buFont typeface="Arial"/>
              <a:buChar char="•"/>
            </a:pPr>
            <a:r>
              <a:rPr sz="1300" b="1" i="0">
                <a:solidFill>
                  <a:srgbClr val="242424"/>
                </a:solidFill>
                <a:latin typeface="Segoe UI"/>
              </a:rPr>
              <a:t>Copilot → agent … menu:</a:t>
            </a:r>
            <a:r>
              <a:rPr sz="1300" b="0" i="0">
                <a:solidFill>
                  <a:srgbClr val="242424"/>
                </a:solidFill>
                <a:latin typeface="Segoe UI"/>
              </a:rPr>
              <a:t> delete HR Policy Agent if you don’t need it (permanent)</a:t>
            </a:r>
          </a:p>
        </p:txBody>
      </p:sp>
      <p:sp>
        <p:nvSpPr>
          <p:cNvPr id="8" name="Rectangle 7">
            <a:extLst>
              <a:ext uri="{C183D7F6-B498-43B3-948B-1728B52AA6E4}">
                <ns2:decorative xmlns:ns2="http://schemas.microsoft.com/office/drawing/2017/decorative" val="1"/>
              </a:ext>
            </a:extLst>
          </p:cNvPr>
          <p:cNvSpPr/>
          <p:nvPr/>
        </p:nvSpPr>
        <p:spPr>
          <a:xfrm>
            <a:off x="6217920" y="1463040"/>
            <a:ext cx="5468112" cy="3154680"/>
          </a:xfrm>
          <a:prstGeom prst="rect">
            <a:avLst/>
          </a:prstGeom>
          <a:solidFill>
            <a:srgbClr val="FFFFFF"/>
          </a:solidFill>
          <a:ln w="9525">
            <a:solidFill>
              <a:srgbClr val="D1D1D1"/>
            </a:solidFill>
          </a:ln>
          <a:effectLst>
            <a:outerShdw blurRad="76200" dist="19050" dir="5400000" algn="t"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a:extLst>
              <a:ext uri="{C183D7F6-B498-43B3-948B-1728B52AA6E4}">
                <ns3:decorative xmlns:ns3="http://schemas.microsoft.com/office/drawing/2017/decorative" val="1"/>
              </a:ext>
            </a:extLst>
          </p:cNvPr>
          <p:cNvSpPr/>
          <p:nvPr/>
        </p:nvSpPr>
        <p:spPr>
          <a:xfrm>
            <a:off x="6217920" y="1463040"/>
            <a:ext cx="5468112" cy="4114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64224" y="1645920"/>
            <a:ext cx="5175504" cy="365760"/>
          </a:xfrm>
          <a:prstGeom prst="rect">
            <a:avLst/>
          </a:prstGeom>
          <a:noFill/>
        </p:spPr>
        <p:txBody>
          <a:bodyPr wrap="square" anchor="t" lIns="0" rIns="0" tIns="0" bIns="0">
            <a:spAutoFit/>
          </a:bodyPr>
          <a:lstStyle/>
          <a:p>
            <a:pPr algn="l">
              <a:spcAft>
                <a:spcPts val="400"/>
              </a:spcAft>
            </a:pPr>
            <a:r>
              <a:rPr sz="1400" b="1" i="0">
                <a:solidFill>
                  <a:srgbClr val="107C10"/>
                </a:solidFill>
                <a:latin typeface="Segoe UI"/>
              </a:rPr>
              <a:t>2  DELETE THE ZAVA FILES</a:t>
            </a:r>
          </a:p>
        </p:txBody>
      </p:sp>
      <p:sp>
        <p:nvSpPr>
          <p:cNvPr id="11" name="TextBox 10"/>
          <p:cNvSpPr txBox="1"/>
          <p:nvPr/>
        </p:nvSpPr>
        <p:spPr>
          <a:xfrm>
            <a:off x="6364224" y="2084832"/>
            <a:ext cx="5175504" cy="2423160"/>
          </a:xfrm>
          <a:prstGeom prst="rect">
            <a:avLst/>
          </a:prstGeom>
          <a:noFill/>
        </p:spPr>
        <p:txBody>
          <a:bodyPr wrap="square" anchor="t" lIns="0" rIns="0" tIns="0" bIns="0">
            <a:spAutoFit/>
          </a:bodyPr>
          <a:lstStyle/>
          <a:p>
            <a:pPr algn="l" marL="182880" indent="-182880">
              <a:spcAft>
                <a:spcPts val="500"/>
              </a:spcAft>
              <a:buFont typeface="Arial"/>
              <a:buChar char="•"/>
            </a:pPr>
            <a:r>
              <a:rPr sz="1300" b="1" i="0">
                <a:solidFill>
                  <a:srgbClr val="242424"/>
                </a:solidFill>
                <a:latin typeface="Segoe UI"/>
              </a:rPr>
              <a:t>OneDrive:</a:t>
            </a:r>
            <a:r>
              <a:rPr sz="1300" b="0" i="0">
                <a:solidFill>
                  <a:srgbClr val="242424"/>
                </a:solidFill>
                <a:latin typeface="Segoe UI"/>
              </a:rPr>
              <a:t> delete Documents/ai_hr_cowork_workshop and the Zava files in </a:t>
            </a:r>
            <a:r>
              <a:rPr sz="1300" b="1" i="0">
                <a:solidFill>
                  <a:srgbClr val="242424"/>
                </a:solidFill>
                <a:latin typeface="Segoe UI"/>
              </a:rPr>
              <a:t>Cowork</a:t>
            </a:r>
          </a:p>
          <a:p>
            <a:pPr algn="l" marL="182880" indent="-182880">
              <a:spcAft>
                <a:spcPts val="500"/>
              </a:spcAft>
              <a:buFont typeface="Arial"/>
              <a:buChar char="•"/>
            </a:pPr>
            <a:r>
              <a:rPr sz="1300" b="1" i="0">
                <a:solidFill>
                  <a:srgbClr val="242424"/>
                </a:solidFill>
                <a:latin typeface="Segoe UI"/>
              </a:rPr>
              <a:t>Outlook:</a:t>
            </a:r>
            <a:r>
              <a:rPr sz="1300" b="0" i="0">
                <a:solidFill>
                  <a:srgbClr val="242424"/>
                </a:solidFill>
                <a:latin typeface="Segoe UI"/>
              </a:rPr>
              <a:t> delete the Sofia announcement draft and the kickoff meeting (optional Ex 5 tasks)</a:t>
            </a:r>
          </a:p>
          <a:p>
            <a:pPr algn="l" marL="182880" indent="-182880">
              <a:spcAft>
                <a:spcPts val="500"/>
              </a:spcAft>
              <a:buFont typeface="Arial"/>
              <a:buChar char="•"/>
            </a:pPr>
            <a:r>
              <a:rPr sz="1300" b="1" i="0">
                <a:solidFill>
                  <a:srgbClr val="242424"/>
                </a:solidFill>
                <a:latin typeface="Segoe UI"/>
              </a:rPr>
              <a:t>Laptop:</a:t>
            </a:r>
            <a:r>
              <a:rPr sz="1300" b="0" i="0">
                <a:solidFill>
                  <a:srgbClr val="242424"/>
                </a:solidFill>
                <a:latin typeface="Segoe UI"/>
              </a:rPr>
              <a:t> delete the zip, the extracted files, and any </a:t>
            </a:r>
            <a:r>
              <a:rPr sz="1300" b="1" i="0">
                <a:solidFill>
                  <a:srgbClr val="242424"/>
                </a:solidFill>
                <a:latin typeface="Segoe UI"/>
              </a:rPr>
              <a:t>Download All</a:t>
            </a:r>
            <a:r>
              <a:rPr sz="1300" b="0" i="0">
                <a:solidFill>
                  <a:srgbClr val="242424"/>
                </a:solidFill>
                <a:latin typeface="Segoe UI"/>
              </a:rPr>
              <a:t> zips</a:t>
            </a:r>
          </a:p>
          <a:p>
            <a:pPr algn="l" marL="182880" indent="-182880">
              <a:spcAft>
                <a:spcPts val="500"/>
              </a:spcAft>
              <a:buFont typeface="Arial"/>
              <a:buChar char="•"/>
            </a:pPr>
            <a:r>
              <a:rPr sz="1300" b="1" i="0">
                <a:solidFill>
                  <a:srgbClr val="242424"/>
                </a:solidFill>
                <a:latin typeface="Segoe UI"/>
              </a:rPr>
              <a:t>Shared laptop:</a:t>
            </a:r>
            <a:r>
              <a:rPr sz="1300" b="0" i="0">
                <a:solidFill>
                  <a:srgbClr val="242424"/>
                </a:solidFill>
                <a:latin typeface="Segoe UI"/>
              </a:rPr>
              <a:t> sign out of Microsoft 365</a:t>
            </a:r>
          </a:p>
        </p:txBody>
      </p:sp>
      <p:sp>
        <p:nvSpPr>
          <p:cNvPr id="12" name="Rounded Rectangle 11">
            <a:extLst>
              <a:ext uri="{C183D7F6-B498-43B3-948B-1728B52AA6E4}">
                <ns4:decorative xmlns:ns4="http://schemas.microsoft.com/office/drawing/2017/decorative" val="1"/>
              </a:ext>
            </a:extLst>
          </p:cNvPr>
          <p:cNvSpPr/>
          <p:nvPr/>
        </p:nvSpPr>
        <p:spPr>
          <a:xfrm>
            <a:off x="502920" y="4800600"/>
            <a:ext cx="11183112" cy="1371600"/>
          </a:xfrm>
          <a:prstGeom prst="roundRect">
            <a:avLst>
              <a:gd name="adj" fmla="val 12000"/>
            </a:avLst>
          </a:prstGeom>
          <a:solidFill>
            <a:srgbClr val="341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4800600"/>
            <a:ext cx="10634472" cy="1371600"/>
          </a:xfrm>
          <a:prstGeom prst="rect">
            <a:avLst/>
          </a:prstGeom>
          <a:noFill/>
        </p:spPr>
        <p:txBody>
          <a:bodyPr wrap="square" anchor="ctr" lIns="0" rIns="0" tIns="0" bIns="0">
            <a:spAutoFit/>
          </a:bodyPr>
          <a:lstStyle/>
          <a:p>
            <a:pPr algn="l">
              <a:lnSpc>
                <a:spcPct val="105000"/>
              </a:lnSpc>
              <a:spcAft>
                <a:spcPts val="400"/>
              </a:spcAft>
            </a:pPr>
            <a:r>
              <a:rPr sz="1300" b="1" i="0">
                <a:solidFill>
                  <a:srgbClr val="FFFFFF"/>
                </a:solidFill>
                <a:latin typeface="Segoe UI"/>
              </a:rPr>
              <a:t>Host, day after:</a:t>
            </a:r>
            <a:r>
              <a:rPr sz="1300" b="0" i="0">
                <a:solidFill>
                  <a:srgbClr val="FFFFFF"/>
                </a:solidFill>
                <a:latin typeface="Segoe UI"/>
              </a:rPr>
              <a:t> remind attendees about their schedules; remove the workshop group from the Cowork spending policy if attendees shouldn’t keep access. </a:t>
            </a:r>
            <a:r>
              <a:rPr sz="1300" b="1" i="0">
                <a:solidFill>
                  <a:srgbClr val="FFFFFF"/>
                </a:solidFill>
                <a:latin typeface="Segoe UI"/>
              </a:rPr>
              <a:t>Facilitator:</a:t>
            </a:r>
            <a:r>
              <a:rPr sz="1300" b="0" i="0">
                <a:solidFill>
                  <a:srgbClr val="FFFFFF"/>
                </a:solidFill>
                <a:latin typeface="Segoe UI"/>
              </a:rPr>
              <a:t> clean up your demo tenant (seed content, demo schedules, skills, and agents).</a:t>
            </a:r>
          </a:p>
        </p:txBody>
      </p:sp>
    </p:spTree>
    <p:extLst>
      <p:ext uri="{BB962C8B-B14F-4D97-AF65-F5344CB8AC3E}">
        <p14:creationId xmlns:p14="http://schemas.microsoft.com/office/powerpoint/2010/main" val="418314712"/>
      </p:ext>
    </p:extLst>
  </p:cSld>
  <p:clrMapOvr>
    <a:masterClrMapping/>
  </p:clrMapOvr>
</p:sld>
</file>

<file path=ppt/theme/theme1.xml><?xml version="1.0" encoding="utf-8"?>
<a:theme xmlns:a="http://schemas.openxmlformats.org/drawingml/2006/main" name="1_Microsoft 365 Copilot Template">
  <a:themeElements>
    <a:clrScheme name="MSFT Copilot 2026">
      <a:dk1>
        <a:srgbClr val="323139"/>
      </a:dk1>
      <a:lt1>
        <a:srgbClr val="FFFFFF"/>
      </a:lt1>
      <a:dk2>
        <a:srgbClr val="000000"/>
      </a:dk2>
      <a:lt2>
        <a:srgbClr val="EEF1F4"/>
      </a:lt2>
      <a:accent1>
        <a:srgbClr val="0097F4"/>
      </a:accent1>
      <a:accent2>
        <a:srgbClr val="CB85FF"/>
      </a:accent2>
      <a:accent3>
        <a:srgbClr val="FFA200"/>
      </a:accent3>
      <a:accent4>
        <a:srgbClr val="9BC72A"/>
      </a:accent4>
      <a:accent5>
        <a:srgbClr val="FF32A3"/>
      </a:accent5>
      <a:accent6>
        <a:srgbClr val="FFCE20"/>
      </a:accent6>
      <a:hlink>
        <a:srgbClr val="0097F4"/>
      </a:hlink>
      <a:folHlink>
        <a:srgbClr val="CB85FF"/>
      </a:folHlink>
    </a:clrScheme>
    <a:fontScheme name="Custom 5">
      <a:majorFont>
        <a:latin typeface="Segoe Sans Display"/>
        <a:ea typeface=""/>
        <a:cs typeface=""/>
      </a:majorFont>
      <a:minorFont>
        <a:latin typeface="Segoe Sans Display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365-Copilot-PowerPoint-template-2605" id="{E02A0F4E-1562-C14F-AE4C-1C40487469A5}" vid="{E5BCED4C-CF40-0F44-997B-4F080B9A7D8E}"/>
    </a:ext>
  </a:extLst>
</a:theme>
</file>

<file path=ppt/theme/theme2.xml><?xml version="1.0" encoding="utf-8"?>
<a:theme xmlns:a="http://schemas.openxmlformats.org/drawingml/2006/main" name="Microsoft 365 PPT Template - 2018">
  <a:themeElements>
    <a:clrScheme name="Teams">
      <a:dk1>
        <a:srgbClr val="252423"/>
      </a:dk1>
      <a:lt1>
        <a:sysClr val="window" lastClr="FFFFFF"/>
      </a:lt1>
      <a:dk2>
        <a:srgbClr val="6264A7"/>
      </a:dk2>
      <a:lt2>
        <a:srgbClr val="F3F2F1"/>
      </a:lt2>
      <a:accent1>
        <a:srgbClr val="C50E2E"/>
      </a:accent1>
      <a:accent2>
        <a:srgbClr val="9FA4FE"/>
      </a:accent2>
      <a:accent3>
        <a:srgbClr val="ED1B3E"/>
      </a:accent3>
      <a:accent4>
        <a:srgbClr val="605E5C"/>
      </a:accent4>
      <a:accent5>
        <a:srgbClr val="BEBBB8"/>
      </a:accent5>
      <a:accent6>
        <a:srgbClr val="E1DFDD"/>
      </a:accent6>
      <a:hlink>
        <a:srgbClr val="6264A7"/>
      </a:hlink>
      <a:folHlink>
        <a:srgbClr val="C8C6C4"/>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 365 PPT Template 2018_2" id="{01A7FB2A-7862-441E-89D5-C3EE05893CAC}" vid="{DEC62A46-47F5-4825-899D-4E8B117FF74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8E4635F6FDE443B4932A463991D546" ma:contentTypeVersion="17" ma:contentTypeDescription="Create a new document." ma:contentTypeScope="" ma:versionID="ef844624fa06aabf90fef7c3ded28024">
  <xsd:schema xmlns:xsd="http://www.w3.org/2001/XMLSchema" xmlns:xs="http://www.w3.org/2001/XMLSchema" xmlns:p="http://schemas.microsoft.com/office/2006/metadata/properties" xmlns:ns1="http://schemas.microsoft.com/sharepoint/v3" xmlns:ns2="9f999e54-2bb7-4d3e-98ea-4d068e0776c8" xmlns:ns3="81b978aa-f708-4b9a-bb08-4a0c5682ef61" targetNamespace="http://schemas.microsoft.com/office/2006/metadata/properties" ma:root="true" ma:fieldsID="9cd3b0adde458e7029fd082f3b426eb3" ns1:_="" ns2:_="" ns3:_="">
    <xsd:import namespace="http://schemas.microsoft.com/sharepoint/v3"/>
    <xsd:import namespace="9f999e54-2bb7-4d3e-98ea-4d068e0776c8"/>
    <xsd:import namespace="81b978aa-f708-4b9a-bb08-4a0c5682ef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1:_ip_UnifiedCompliancePolicyProperties" minOccurs="0"/>
                <xsd:element ref="ns1:_ip_UnifiedCompliancePolicyUIAction"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f999e54-2bb7-4d3e-98ea-4d068e0776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Text"/>
      </xsd:simpleType>
    </xsd:element>
    <xsd:element name="HasDigitalSignature" ma:index="23" nillable="true" ma:displayName="Signed electronically" ma:internalName="HasDigitalSignature" ma:readOnly="true">
      <xsd:simpleType>
        <xsd:restriction base="dms:Boolean"/>
      </xsd:simpleType>
    </xsd:element>
    <xsd:element name="DigitalSignatureProvider" ma:index="24"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b978aa-f708-4b9a-bb08-4a0c5682ef61"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c3d9b0ef-f47e-49c2-ab2e-e36ac6c1e459}" ma:internalName="TaxCatchAll" ma:showField="CatchAllData" ma:web="81b978aa-f708-4b9a-bb08-4a0c5682ef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9f999e54-2bb7-4d3e-98ea-4d068e0776c8">
      <Terms xmlns="http://schemas.microsoft.com/office/infopath/2007/PartnerControls"/>
    </lcf76f155ced4ddcb4097134ff3c332f>
    <TaxCatchAll xmlns="81b978aa-f708-4b9a-bb08-4a0c5682ef61" xsi:nil="true"/>
  </documentManagement>
</p:properties>
</file>

<file path=customXml/itemProps1.xml><?xml version="1.0" encoding="utf-8"?>
<ds:datastoreItem xmlns:ds="http://schemas.openxmlformats.org/officeDocument/2006/customXml" ds:itemID="{BF73BFBE-D3CC-4153-B031-607EFF219B7F}">
  <ds:schemaRefs>
    <ds:schemaRef ds:uri="http://schemas.microsoft.com/sharepoint/v3/contenttype/forms"/>
  </ds:schemaRefs>
</ds:datastoreItem>
</file>

<file path=customXml/itemProps2.xml><?xml version="1.0" encoding="utf-8"?>
<ds:datastoreItem xmlns:ds="http://schemas.openxmlformats.org/officeDocument/2006/customXml" ds:itemID="{EC79634C-EAD0-4B2D-9B13-32801D372DC0}">
  <ds:schemaRefs>
    <ds:schemaRef ds:uri="81b978aa-f708-4b9a-bb08-4a0c5682ef61"/>
    <ds:schemaRef ds:uri="9f999e54-2bb7-4d3e-98ea-4d068e0776c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A6CF0E2-4DDE-4117-9500-63CF709C4B98}">
  <ds:schemaRefs>
    <ds:schemaRef ds:uri="81b978aa-f708-4b9a-bb08-4a0c5682ef61"/>
    <ds:schemaRef ds:uri="9f999e54-2bb7-4d3e-98ea-4d068e0776c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2</TotalTime>
  <Words>6369</Words>
  <Application>Microsoft Office PowerPoint</Application>
  <PresentationFormat>Widescreen</PresentationFormat>
  <Paragraphs>641</Paragraphs>
  <Slides>17</Slides>
  <Notes>17</Notes>
  <HiddenSlides>0</HiddenSlides>
  <MMClips>0</MMClips>
  <ScaleCrop>false</ScaleCrop>
  <HeadingPairs>
    <vt:vector size="4" baseType="variant">
      <vt:variant>
        <vt:lpstr>Theme</vt:lpstr>
      </vt:variant>
      <vt:variant>
        <vt:i4>4</vt:i4>
      </vt:variant>
      <vt:variant>
        <vt:lpstr>Slide Titles</vt:lpstr>
      </vt:variant>
      <vt:variant>
        <vt:i4>17</vt:i4>
      </vt:variant>
    </vt:vector>
  </HeadingPairs>
  <TitlesOfParts>
    <vt:vector size="21" baseType="lpstr">
      <vt:lpstr>1_Microsoft 365 Copilot Template</vt:lpstr>
      <vt:lpstr>Microsoft 365 PPT Template - 2018</vt:lpstr>
      <vt:lpstr>Office Theme</vt:lpstr>
      <vt:lpstr>2_Office Theme</vt:lpstr>
      <vt:lpstr>Getting Things Done with Copilot Cowork for HR Tasks</vt:lpstr>
      <vt:lpstr>Getting Things Done with Copilot Cowork for HR Tasks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Things Done with Copilot Cowork for HR Tasks</dc:title>
  <dc:creator>Christophe Ragage</dc:creator>
  <cp:lastModifiedBy>Christophe Ragage</cp:lastModifiedBy>
  <cp:revision>6</cp:revision>
  <dcterms:created xsi:type="dcterms:W3CDTF">2026-08-25T23:39:53Z</dcterms:created>
  <dcterms:modified xsi:type="dcterms:W3CDTF">2026-08-31T17:34:55Z</dcterms:modified>
  <dc:subject>Instructor deck</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0x010100198E4635F6FDE443B4932A463991D546</vt:lpwstr>
  </property>
  <property fmtid="{D5CDD505-2E9C-101B-9397-08002B2CF9AE}" pid="3" name="MediaServiceImageTags">
    <vt:lpwstr/>
  </property>
</Properties>
</file>