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D4349CC8-03BA-41FD-9CEB-FF14A641A896}">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4D9FECD9-38E7-4414-8376-6318CCE4DA62}">
          <p14:sldIdLst>
            <p14:sldId id="273"/>
            <p14:sldId id="274"/>
            <p14:sldId id="275"/>
            <p14:sldId id="276"/>
            <p14:sldId id="277"/>
            <p14:sldId id="278"/>
          </p14:sldIdLst>
        </p14:section>
        <p14:section name="Ex 2 · Deep Research" id="{51974318-17AF-42AC-9089-C4712D4FF98F}">
          <p14:sldIdLst>
            <p14:sldId id="279"/>
            <p14:sldId id="280"/>
            <p14:sldId id="281"/>
            <p14:sldId id="282"/>
          </p14:sldIdLst>
        </p14:section>
        <p14:section name="Ex 3 · Navigate websites" id="{7FFCDCA5-B8F9-4C26-A2BD-FCCCA3C2E1C5}">
          <p14:sldIdLst>
            <p14:sldId id="283"/>
            <p14:sldId id="284"/>
            <p14:sldId id="285"/>
            <p14:sldId id="286"/>
          </p14:sldIdLst>
        </p14:section>
        <p14:section name="Ex 4 · Custom skill" id="{CCDBE35A-0086-4C94-947A-339D65071B58}">
          <p14:sldIdLst>
            <p14:sldId id="287"/>
            <p14:sldId id="288"/>
            <p14:sldId id="289"/>
            <p14:sldId id="290"/>
          </p14:sldIdLst>
        </p14:section>
        <p14:section name="Ex 5 · Recruiting + reporting" id="{E7DC5FF0-5EC8-4927-84FC-75BBDEDAD7BE}">
          <p14:sldIdLst>
            <p14:sldId id="291"/>
            <p14:sldId id="292"/>
            <p14:sldId id="293"/>
            <p14:sldId id="294"/>
            <p14:sldId id="295"/>
          </p14:sldIdLst>
        </p14:section>
        <p14:section name="Ex 6 · Onboarding pack" id="{F4265CAF-D57E-4B8B-8D61-A320F39E996D}">
          <p14:sldIdLst>
            <p14:sldId id="296"/>
            <p14:sldId id="297"/>
            <p14:sldId id="298"/>
            <p14:sldId id="299"/>
          </p14:sldIdLst>
        </p14:section>
        <p14:section name="Ex 7 · Automate &amp; share" id="{5D56CB89-4A30-4930-AC8E-F7F51F14D193}">
          <p14:sldIdLst>
            <p14:sldId id="300"/>
            <p14:sldId id="301"/>
            <p14:sldId id="302"/>
            <p14:sldId id="303"/>
          </p14:sldIdLst>
        </p14:section>
        <p14:section name="Ex 8 · HR Policy Agent" id="{B5719757-A52C-443B-BAEA-8494F3EBAE6F}">
          <p14:sldIdLst>
            <p14:sldId id="304"/>
            <p14:sldId id="305"/>
            <p14:sldId id="306"/>
            <p14:sldId id="307"/>
          </p14:sldIdLst>
        </p14:section>
        <p14:section name="Close" id="{C04AB052-5E48-4EFE-8AD7-D3F8C58B1CE8}">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dashboard cost.' DO: in your Ex 1 task type /cost and send it; point to the three numbers: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The weekday schedule uses credits on every run, so pause it after class. Source: Microsoft Learn, 'Credit usage for Microsoft Copilot Cowork tasks'.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2c) is OPTIONAL: fast finishers run it. TIME CHECK: at 0:45,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3b is OPTIONAL: fast finishers run it; at 1:00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(15 min, 1:05–1:20).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1:20–1:30).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(1:20-1:30,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1:30-1:45). Sweep the room for blockers and check everyone's Exercise 4 skill saved: Exercise 7 shares it.</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1:45–1:55).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(1:45-1:55,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is the must-do (the deck takes longest); 6b and 6c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1:55 move on, even if only 6a is done.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Optional: schedule the kickoff ---</a:t>
            </a:r>
          </a:p>
          <a:p>
            <a:r>
              <a:t>Schedule a 30-minute onboarding kickoff for Sofia Alvarez’s first day, next Monday at 9:30 AM, add a Teams meeting link, and invite only me. Show it to me before you send it.</a:t>
            </a:r>
          </a:p>
          <a:p/>
          <a:p>
            <a:r>
              <a:t>--- Task 6c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1:55–2:10). Pause here: check the room is ready (anyone still finishing the last exercise?), then introduce the scenario card on the next slide.</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is quick; 7c is OPTIONAL, so demo it.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 SAY: 'This last exercise is NOT Cowork. We switch to Copilot Agent Builder: Microsoft 365 Copilot -&gt; Create agent.' Ask everyone to leave their Cowork task.</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1:30 break, 2:10 Ex 8; the optional sub-tasks (2c scorecard, 3b brief, 6b + 6c, 7c sharing) are for fast finishers, so demo them rather than wait. If still behind, cut in this order: 7a only, then Ex 8 as a demo. Never cut Ex 4.</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73.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+ 5 tailored questions</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Orientation deck (+ kickoff, announcement)</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 Daily Briefing (+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a:p>
            <a:pPr algn="l" marL="237744" indent="-237744">
              <a:lnSpc>
                <a:spcPct val="105000"/>
              </a:lnSpc>
              <a:spcAft>
                <a:spcPts val="900"/>
              </a:spcAft>
              <a:buFont typeface="+mj-lt"/>
              <a:buAutoNum type="arabicPeriod"/>
            </a:pPr>
            <a:r>
              <a:rPr sz="1500" b="0" i="0">
                <a:solidFill>
                  <a:srgbClr val="323139"/>
                </a:solidFill>
                <a:latin typeface="Segoe UI"/>
              </a:rPr>
              <a:t>Optional, if time allows: type </a:t>
            </a:r>
            <a:r>
              <a:rPr sz="1500" b="1" i="0">
                <a:solidFill>
                  <a:srgbClr val="323139"/>
                </a:solidFill>
                <a:latin typeface="Segoe UI"/>
              </a:rPr>
              <a:t>/cost</a:t>
            </a:r>
            <a:r>
              <a:rPr sz="1500" b="0" i="0">
                <a:solidFill>
                  <a:srgbClr val="323139"/>
                </a:solidFill>
                <a:latin typeface="Segoe UI"/>
              </a:rPr>
              <a:t> in the task to see what it cost (last slide of this exercise).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72768"/>
            <a:ext cx="6035040" cy="3566160"/>
          </a:xfrm>
          <a:prstGeom prst="rect">
            <a:avLst/>
          </a:prstGeom>
          <a:noFill/>
        </p:spPr>
        <p:txBody>
          <a:bodyPr wrap="square" anchor="t" lIns="0" rIns="0" tIns="0" bIns="0">
            <a:spAutoFit/>
          </a:bodyPr>
          <a:lstStyle/>
          <a:p>
            <a:pPr algn="l" marL="237744" indent="-237744">
              <a:lnSpc>
                <a:spcPct val="105000"/>
              </a:lnSpc>
              <a:spcAft>
                <a:spcPts val="1200"/>
              </a:spcAft>
              <a:buFont typeface="+mj-lt"/>
              <a:buAutoNum type="arabicPeriod"/>
            </a:pPr>
            <a:r>
              <a:rPr sz="1500" b="0" i="0">
                <a:solidFill>
                  <a:srgbClr val="323139"/>
                </a:solidFill>
                <a:latin typeface="Segoe UI"/>
              </a:rPr>
              <a:t>Stay in your </a:t>
            </a:r>
            <a:r>
              <a:rPr sz="1500" b="1" i="0">
                <a:solidFill>
                  <a:srgbClr val="323139"/>
                </a:solidFill>
                <a:latin typeface="Segoe UI"/>
              </a:rPr>
              <a:t>Executive Command Center</a:t>
            </a:r>
            <a:r>
              <a:rPr sz="1500" b="0" i="0">
                <a:solidFill>
                  <a:srgbClr val="323139"/>
                </a:solidFill>
                <a:latin typeface="Segoe UI"/>
              </a:rPr>
              <a:t> task.</a:t>
            </a:r>
          </a:p>
          <a:p>
            <a:pPr algn="l" marL="237744" indent="-237744">
              <a:lnSpc>
                <a:spcPct val="105000"/>
              </a:lnSpc>
              <a:spcAft>
                <a:spcPts val="1200"/>
              </a:spcAft>
              <a:buFont typeface="+mj-lt"/>
              <a:buAutoNum type="arabicPeriod"/>
            </a:pPr>
            <a:r>
              <a:rPr sz="1500" b="0" i="0">
                <a:solidFill>
                  <a:srgbClr val="323139"/>
                </a:solidFill>
                <a:latin typeface="Segoe UI"/>
              </a:rPr>
              <a:t>Type </a:t>
            </a:r>
            <a:r>
              <a:rPr sz="1500" b="1" i="0">
                <a:solidFill>
                  <a:srgbClr val="323139"/>
                </a:solidFill>
                <a:latin typeface="Segoe UI"/>
              </a:rPr>
              <a:t>/cost</a:t>
            </a:r>
            <a:r>
              <a:rPr sz="1500" b="0" i="0">
                <a:solidFill>
                  <a:srgbClr val="323139"/>
                </a:solidFill>
                <a:latin typeface="Segoe UI"/>
              </a:rPr>
              <a:t> and send it. It’s free: /cost doesn’t use any credits.</a:t>
            </a:r>
          </a:p>
          <a:p>
            <a:pPr algn="l" marL="237744" indent="-237744">
              <a:lnSpc>
                <a:spcPct val="105000"/>
              </a:lnSpc>
              <a:spcAft>
                <a:spcPts val="1200"/>
              </a:spcAft>
              <a:buFont typeface="+mj-lt"/>
              <a:buAutoNum type="arabicPeriod"/>
            </a:pPr>
            <a:r>
              <a:rPr sz="1500" b="0" i="0">
                <a:solidFill>
                  <a:srgbClr val="323139"/>
                </a:solidFill>
                <a:latin typeface="Segoe UI"/>
              </a:rPr>
              <a:t>Read the three numbers (right): this task, this month, and what’s left.</a:t>
            </a:r>
          </a:p>
          <a:p>
            <a:pPr algn="l" marL="237744" indent="-237744">
              <a:lnSpc>
                <a:spcPct val="105000"/>
              </a:lnSpc>
              <a:spcAft>
                <a:spcPts val="1200"/>
              </a:spcAft>
              <a:buFont typeface="+mj-lt"/>
              <a:buAutoNum type="arabicPeriod"/>
            </a:pPr>
            <a:r>
              <a:rPr sz="1500" b="0" i="0">
                <a:solidFill>
                  <a:srgbClr val="323139"/>
                </a:solidFill>
                <a:latin typeface="Segoe UI"/>
              </a:rPr>
              <a:t>Any time later: open a task from </a:t>
            </a:r>
            <a:r>
              <a:rPr sz="1500" b="1" i="0">
                <a:solidFill>
                  <a:srgbClr val="323139"/>
                </a:solidFill>
                <a:latin typeface="Segoe UI"/>
              </a:rPr>
              <a:t>My tasks</a:t>
            </a:r>
            <a:r>
              <a:rPr sz="1500" b="0" i="0">
                <a:solidFill>
                  <a:srgbClr val="323139"/>
                </a:solidFill>
                <a:latin typeface="Segoe UI"/>
              </a:rPr>
              <a:t> and type </a:t>
            </a:r>
            <a:r>
              <a:rPr sz="1500" b="1" i="0">
                <a:solidFill>
                  <a:srgbClr val="323139"/>
                </a:solidFill>
                <a:latin typeface="Segoe UI"/>
              </a:rPr>
              <a:t>/cost</a:t>
            </a:r>
            <a:r>
              <a:rPr sz="1500" b="0" i="0">
                <a:solidFill>
                  <a:srgbClr val="323139"/>
                </a:solidFill>
                <a:latin typeface="Segoe UI"/>
              </a:rPr>
              <a:t> to see what it used.</a:t>
            </a:r>
          </a:p>
        </p:txBody>
      </p:sp>
      <p:sp>
        <p:nvSpPr>
          <p:cNvPr id="55" name="Rounded Rectangle 54">
            <a:extLst>
              <a:ext uri="{C183D7F6-B498-43B3-948B-1728B52AA6E4}">
                <ns3:decorative xmlns:ns3="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Your weekday schedule uses credits on every run. </a:t>
            </a:r>
            <a:r>
              <a:rPr sz="1250" b="0" i="0">
                <a:solidFill>
                  <a:srgbClr val="FFFFFF"/>
                </a:solidFill>
                <a:latin typeface="Segoe Sans Display"/>
              </a:rPr>
              <a:t>Pause it after class: Automations → Manage schedules.</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/cost shows</a:t>
            </a:r>
          </a:p>
        </p:txBody>
      </p:sp>
      <p:sp>
        <p:nvSpPr>
          <p:cNvPr id="59" name="Rounded Rectangle 58">
            <a:extLst>
              <a:ext uri="{C183D7F6-B498-43B3-948B-1728B52AA6E4}">
                <ns5:decorative xmlns:ns5="http://schemas.microsoft.com/office/drawing/2017/decorative" val="1"/>
              </a:ext>
            </a:extLst>
          </p:cNvPr>
          <p:cNvSpPr/>
          <p:nvPr/>
        </p:nvSpPr>
        <p:spPr>
          <a:xfrm>
            <a:off x="7726679" y="169164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a:extLst>
              <a:ext uri="{C183D7F6-B498-43B3-948B-1728B52AA6E4}">
                <ns6:decorative xmlns:ns6="http://schemas.microsoft.com/office/drawing/2017/decorative" val="1"/>
              </a:ext>
            </a:extLst>
          </p:cNvPr>
          <p:cNvSpPr/>
          <p:nvPr/>
        </p:nvSpPr>
        <p:spPr>
          <a:xfrm>
            <a:off x="7726679" y="1801368"/>
            <a:ext cx="54864" cy="493776"/>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909559" y="1746504"/>
            <a:ext cx="3749040" cy="274320"/>
          </a:xfrm>
          <a:prstGeom prst="rect">
            <a:avLst/>
          </a:prstGeom>
          <a:noFill/>
        </p:spPr>
        <p:txBody>
          <a:bodyPr wrap="square" anchor="t" lIns="0" rIns="0" tIns="0" bIns="0">
            <a:spAutoFit/>
          </a:bodyPr>
          <a:lstStyle/>
          <a:p>
            <a:pPr algn="l">
              <a:spcAft>
                <a:spcPts val="400"/>
              </a:spcAft>
            </a:pPr>
            <a:r>
              <a:rPr sz="1300" b="1" i="0">
                <a:solidFill>
                  <a:srgbClr val="0F6CBD"/>
                </a:solidFill>
                <a:latin typeface="Segoe UI"/>
              </a:rPr>
              <a:t>This task</a:t>
            </a:r>
          </a:p>
        </p:txBody>
      </p:sp>
      <p:sp>
        <p:nvSpPr>
          <p:cNvPr id="62" name="TextBox 61"/>
          <p:cNvSpPr txBox="1"/>
          <p:nvPr/>
        </p:nvSpPr>
        <p:spPr>
          <a:xfrm>
            <a:off x="7909559" y="203911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Approximate credits used so far, all actions combined</a:t>
            </a:r>
          </a:p>
        </p:txBody>
      </p:sp>
      <p:sp>
        <p:nvSpPr>
          <p:cNvPr id="63" name="Rounded Rectangle 62">
            <a:extLst>
              <a:ext uri="{C183D7F6-B498-43B3-948B-1728B52AA6E4}">
                <ns7:decorative xmlns:ns7="http://schemas.microsoft.com/office/drawing/2017/decorative" val="1"/>
              </a:ext>
            </a:extLst>
          </p:cNvPr>
          <p:cNvSpPr/>
          <p:nvPr/>
        </p:nvSpPr>
        <p:spPr>
          <a:xfrm>
            <a:off x="7726679" y="251460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a:extLst>
              <a:ext uri="{C183D7F6-B498-43B3-948B-1728B52AA6E4}">
                <ns8:decorative xmlns:ns8="http://schemas.microsoft.com/office/drawing/2017/decorative" val="1"/>
              </a:ext>
            </a:extLst>
          </p:cNvPr>
          <p:cNvSpPr/>
          <p:nvPr/>
        </p:nvSpPr>
        <p:spPr>
          <a:xfrm>
            <a:off x="7726679" y="2624328"/>
            <a:ext cx="54864" cy="493776"/>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909559" y="2569464"/>
            <a:ext cx="3749040" cy="274320"/>
          </a:xfrm>
          <a:prstGeom prst="rect">
            <a:avLst/>
          </a:prstGeom>
          <a:noFill/>
        </p:spPr>
        <p:txBody>
          <a:bodyPr wrap="square" anchor="t" lIns="0" rIns="0" tIns="0" bIns="0">
            <a:spAutoFit/>
          </a:bodyPr>
          <a:lstStyle/>
          <a:p>
            <a:pPr algn="l">
              <a:spcAft>
                <a:spcPts val="400"/>
              </a:spcAft>
            </a:pPr>
            <a:r>
              <a:rPr sz="1300" b="1" i="0">
                <a:solidFill>
                  <a:srgbClr val="8064A2"/>
                </a:solidFill>
                <a:latin typeface="Segoe UI"/>
              </a:rPr>
              <a:t>This month</a:t>
            </a:r>
          </a:p>
        </p:txBody>
      </p:sp>
      <p:sp>
        <p:nvSpPr>
          <p:cNvPr id="66" name="TextBox 65"/>
          <p:cNvSpPr txBox="1"/>
          <p:nvPr/>
        </p:nvSpPr>
        <p:spPr>
          <a:xfrm>
            <a:off x="7909559" y="286207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Credits you’ve used in your monthly limit</a:t>
            </a:r>
          </a:p>
        </p:txBody>
      </p:sp>
      <p:sp>
        <p:nvSpPr>
          <p:cNvPr id="67" name="Rounded Rectangle 66">
            <a:extLst>
              <a:ext uri="{C183D7F6-B498-43B3-948B-1728B52AA6E4}">
                <ns9:decorative xmlns:ns9="http://schemas.microsoft.com/office/drawing/2017/decorative" val="1"/>
              </a:ext>
            </a:extLst>
          </p:cNvPr>
          <p:cNvSpPr/>
          <p:nvPr/>
        </p:nvSpPr>
        <p:spPr>
          <a:xfrm>
            <a:off x="7726679" y="333756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a:extLst>
              <a:ext uri="{C183D7F6-B498-43B3-948B-1728B52AA6E4}">
                <ns10:decorative xmlns:ns10="http://schemas.microsoft.com/office/drawing/2017/decorative" val="1"/>
              </a:ext>
            </a:extLst>
          </p:cNvPr>
          <p:cNvSpPr/>
          <p:nvPr/>
        </p:nvSpPr>
        <p:spPr>
          <a:xfrm>
            <a:off x="7726679" y="3447288"/>
            <a:ext cx="54864" cy="493776"/>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09559" y="3392424"/>
            <a:ext cx="3749040" cy="274320"/>
          </a:xfrm>
          <a:prstGeom prst="rect">
            <a:avLst/>
          </a:prstGeom>
          <a:noFill/>
        </p:spPr>
        <p:txBody>
          <a:bodyPr wrap="square" anchor="t" lIns="0" rIns="0" tIns="0" bIns="0">
            <a:spAutoFit/>
          </a:bodyPr>
          <a:lstStyle/>
          <a:p>
            <a:pPr algn="l">
              <a:spcAft>
                <a:spcPts val="400"/>
              </a:spcAft>
            </a:pPr>
            <a:r>
              <a:rPr sz="1300" b="1" i="0">
                <a:solidFill>
                  <a:srgbClr val="107C10"/>
                </a:solidFill>
                <a:latin typeface="Segoe UI"/>
              </a:rPr>
              <a:t>Remaining</a:t>
            </a:r>
          </a:p>
        </p:txBody>
      </p:sp>
      <p:sp>
        <p:nvSpPr>
          <p:cNvPr id="70" name="TextBox 69"/>
          <p:cNvSpPr txBox="1"/>
          <p:nvPr/>
        </p:nvSpPr>
        <p:spPr>
          <a:xfrm>
            <a:off x="7909559" y="368503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What’s left until the limit resets</a:t>
            </a:r>
          </a:p>
        </p:txBody>
      </p:sp>
      <p:sp>
        <p:nvSpPr>
          <p:cNvPr id="71" name="TextBox 70"/>
          <p:cNvSpPr txBox="1"/>
          <p:nvPr/>
        </p:nvSpPr>
        <p:spPr>
          <a:xfrm>
            <a:off x="7726679" y="4206240"/>
            <a:ext cx="4023360" cy="27432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Good to know</a:t>
            </a:r>
          </a:p>
        </p:txBody>
      </p:sp>
      <p:sp>
        <p:nvSpPr>
          <p:cNvPr id="72" name="TextBox 71"/>
          <p:cNvSpPr txBox="1"/>
          <p:nvPr/>
        </p:nvSpPr>
        <p:spPr>
          <a:xfrm>
            <a:off x="7726679" y="4526280"/>
            <a:ext cx="4023360" cy="146304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23139"/>
                </a:solidFill>
                <a:latin typeface="Segoe UI"/>
              </a:rPr>
              <a:t>An </a:t>
            </a:r>
            <a:r>
              <a:rPr sz="1100" b="1" i="0">
                <a:solidFill>
                  <a:srgbClr val="323139"/>
                </a:solidFill>
                <a:latin typeface="Segoe UI"/>
              </a:rPr>
              <a:t>estimate, not a bill</a:t>
            </a:r>
            <a:r>
              <a:rPr sz="1100" b="0" i="0">
                <a:solidFill>
                  <a:srgbClr val="323139"/>
                </a:solidFill>
                <a:latin typeface="Segoe UI"/>
              </a:rPr>
              <a:t>; may lag a few minutes</a:t>
            </a:r>
          </a:p>
          <a:p>
            <a:pPr algn="l" marL="182880" indent="-182880">
              <a:spcAft>
                <a:spcPts val="400"/>
              </a:spcAft>
              <a:buFont typeface="Arial"/>
              <a:buChar char="•"/>
            </a:pPr>
            <a:r>
              <a:rPr sz="1100" b="0" i="0">
                <a:solidFill>
                  <a:srgbClr val="323139"/>
                </a:solidFill>
                <a:latin typeface="Segoe UI"/>
              </a:rPr>
              <a:t>No preview: you see the cost only </a:t>
            </a:r>
            <a:r>
              <a:rPr sz="1100" b="1" i="0">
                <a:solidFill>
                  <a:srgbClr val="323139"/>
                </a:solidFill>
                <a:latin typeface="Segoe UI"/>
              </a:rPr>
              <a:t>after</a:t>
            </a:r>
            <a:r>
              <a:rPr sz="1100" b="0" i="0">
                <a:solidFill>
                  <a:srgbClr val="323139"/>
                </a:solidFill>
                <a:latin typeface="Segoe UI"/>
              </a:rPr>
              <a:t> a task runs</a:t>
            </a:r>
          </a:p>
          <a:p>
            <a:pPr algn="l" marL="182880" indent="-182880">
              <a:spcAft>
                <a:spcPts val="400"/>
              </a:spcAft>
              <a:buFont typeface="Arial"/>
              <a:buChar char="•"/>
            </a:pPr>
            <a:r>
              <a:rPr sz="1100" b="0" i="0">
                <a:solidFill>
                  <a:srgbClr val="323139"/>
                </a:solidFill>
                <a:latin typeface="Segoe UI"/>
              </a:rPr>
              <a:t>Limits are set by your org, reset monthly (00:00 UTC), and may be shared by a group</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1:20–1:30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1:45–1:55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6a is the must-do; 6b and 6c are optional</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0:decorative xmlns:ns1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