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theme/themeOverride47.xml" ContentType="application/vnd.openxmlformats-officedocument.themeOverride+xml"/>
  <Override PartName="/ppt/theme/themeOverride48.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 id="311" r:id="rId86"/>
    <p:sldId id="312"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E696D01D-F1FC-4237-AF5B-8B90E2649EE5}">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9514A834-1761-4376-82A5-2554B50E0B5A}">
          <p14:sldIdLst>
            <p14:sldId id="273"/>
            <p14:sldId id="274"/>
            <p14:sldId id="275"/>
            <p14:sldId id="276"/>
            <p14:sldId id="277"/>
          </p14:sldIdLst>
        </p14:section>
        <p14:section name="Ex 2 · Deep Research" id="{E20C29C5-05F4-4696-8099-D99EDEF1B434}">
          <p14:sldIdLst>
            <p14:sldId id="278"/>
            <p14:sldId id="279"/>
            <p14:sldId id="280"/>
            <p14:sldId id="281"/>
            <p14:sldId id="282"/>
          </p14:sldIdLst>
        </p14:section>
        <p14:section name="Ex 3 · Navigate websites" id="{69D871DE-119D-4846-9DC2-AFCA14EC0FC0}">
          <p14:sldIdLst>
            <p14:sldId id="283"/>
            <p14:sldId id="284"/>
            <p14:sldId id="285"/>
            <p14:sldId id="286"/>
          </p14:sldIdLst>
        </p14:section>
        <p14:section name="Ex 4 · Custom skill" id="{EC133C8C-5C8D-4767-8B31-CC0B5D95FA98}">
          <p14:sldIdLst>
            <p14:sldId id="287"/>
            <p14:sldId id="288"/>
            <p14:sldId id="289"/>
            <p14:sldId id="290"/>
          </p14:sldIdLst>
        </p14:section>
        <p14:section name="Ex 5 · Recruiting + reporting" id="{78B4D8A5-53DF-4E95-B70C-3477EBD50389}">
          <p14:sldIdLst>
            <p14:sldId id="291"/>
            <p14:sldId id="292"/>
            <p14:sldId id="293"/>
            <p14:sldId id="294"/>
            <p14:sldId id="295"/>
          </p14:sldIdLst>
        </p14:section>
        <p14:section name="Ex 6 · Onboarding pack" id="{527F2B16-6B21-438E-80AA-48224C38AD34}">
          <p14:sldIdLst>
            <p14:sldId id="296"/>
            <p14:sldId id="297"/>
            <p14:sldId id="298"/>
            <p14:sldId id="299"/>
          </p14:sldIdLst>
        </p14:section>
        <p14:section name="Ex 7 · Automate &amp; share" id="{031F383B-C8B9-4A23-952C-59EF03709FA7}">
          <p14:sldIdLst>
            <p14:sldId id="300"/>
            <p14:sldId id="301"/>
            <p14:sldId id="302"/>
            <p14:sldId id="303"/>
          </p14:sldIdLst>
        </p14:section>
        <p14:section name="Spotlight · HR plugins" id="{EF230D32-E124-406E-A0D7-D6BF9772516D}">
          <p14:sldIdLst>
            <p14:sldId id="304"/>
          </p14:sldIdLst>
        </p14:section>
        <p14:section name="Ex 8 · HR Policy Agent" id="{EE8FBED1-9F61-4201-B088-259B3534C87B}">
          <p14:sldIdLst>
            <p14:sldId id="305"/>
            <p14:sldId id="306"/>
            <p14:sldId id="307"/>
            <p14:sldId id="308"/>
          </p14:sldIdLst>
        </p14:section>
        <p14:section name="Close" id="{D8F0D160-F804-4C21-B4C8-080B892D790D}">
          <p14:sldIdLst>
            <p14:sldId id="309"/>
            <p14:sldId id="310"/>
            <p14:sldId id="311"/>
            <p14:sldId id="31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(0:00-0:10).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4 hours, two breaks.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two breaks.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0:00-0:10).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(0:10-0:20).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0:20-0:40).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0:20-0:40).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0:20-0:40). Whole room: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0:20-0:40, about 3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(25 min, 0:40–1:05).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(0:40-1:05, 25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(20 min, 1:05–1:25).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(1:05-1:25, 20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1:20, demo the scorecard follow-up on your screen if most are still researching. NEXT: break, then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Follow-up ---</a:t>
            </a:r>
          </a:p>
          <a:p>
            <a:r>
              <a:t>Turn this into an interviewer scorecard in Word AND Excel with the scoring scales filled 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Next: Cowork drives a web browser, then the centerpiece custom-skill build. Proctors: check Edge profiles and the Edge Cowork setting now.</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(25 min, 1:35–2:00). Pause here: check the room is ready (anyone still finishing the last exercise?), then introduce the scenario card on the next slide.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(1:35-2:00, 25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TIME CHECK: at 1:55 skip 3b and demo it.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(30 min, 2:00–2:30). Pause here: check the room is ready (anyone still finishing the last exercise?), then introduce the scenario card on the next slide.</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(2:00-2:30, 30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employee policy and benefits questions in a consistent, sourced format, grounded in our handbook and benefits documents.</a:t>
            </a:r>
          </a:p>
          <a:p/>
          <a:p>
            <a:r>
              <a:t>--- Instructions ---</a:t>
            </a:r>
          </a:p>
          <a:p>
            <a:r>
              <a:t>Use this skill when someone asks about company HR policy or benefits (PTO, remote/hybrid work, benefits enrollment, overtime, code of conduct, learning budget). Ground answers in employee-handbook-excerpt.docx and benefits-summary.docx in my OneDrive folder Documents/ai_hr_cowork_workshop; if the answer isn’t in them,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(15 min, 2:30–2:45). Pause here: check the room is ready (anyone still finishing the last exercise?), then introduce the scenario card on the next slide.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(2:30-2:45, 15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(10 min). Sweep the room for blockers. Check everyone's Exercise 4 skill saved — Exercise 7 shares it.</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(20 min, 2:55–3:15). Pause here: check the room is ready (anyone still finishing the last exercise?), then introduce the scenario card on the next slide.</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(2:55-3:15, 20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Schedule the kickoff ---</a:t>
            </a:r>
          </a:p>
          <a:p>
            <a:r>
              <a:t>Schedule a 30-minute onboarding kickoff for Sofia Alvarez’s first day, next Monday at 9:30 AM, add a Teams meeting link, and invite only me. Show it to me before you send it.</a:t>
            </a:r>
          </a:p>
          <a:p/>
          <a:p>
            <a:r>
              <a:t>--- Task 6c —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(15 min, 3:15–3:30). Pause here: check the room is ready (anyone still finishing the last exercise?), then introduce the scenario card on the next slide.</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(3:15-3:30, 15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the plugins spotlight.</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SPOTLIGHT — HR PLUGINS (3:30-3:35). TALK ONLY, no hands-on. Show Customize → Plugins: Installed (toggles), a plugin's detail page (its skills and connectors), Discover, and Upload plugin. A plugin bundles skills and connectors; connectors can be MCP servers, so Cowork can read and act in systems like payroll, ATS or your HRIS. Example (illustrative): with a payroll plugin such as Gusto, ticket T-2008 (Owen Wright's payroll question) could be answered from the real pay record, with Cowork asking approval before any change. Each user signs in to a connector once; admins can deploy plugins ('Managed by your organization') and activity is in Purview audit logs. Do NOT install plugins in the shared attendee tenant — demo from the facilitator tenant if you have one installed. SAP SUCCESSFACTORS: no SuccessFactors plugin in the Cowork catalog yet (checked Oct 1, 2026). Point to the Employee Self-Service agent with its SAP SuccessFactors extension pack (a Copilot agent, not a Cowork plugin), or a custom plugin with an MCP connector built by IT. Re-check the catalog before each delivery: learn.microsoft.com/microsoft-365/copilot/cowork/cowork-available-plugins. Details: reference/09-plugins.md.</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(20 min, 3:35–3:55). Pause here: check the room is ready (anyone still finishing the last exercise?), then introduce the scenario card on the next slide.</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(3:35-3:55, 20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employee questions about company policies and benefits — PTO, remote/hybrid work, benefits enrollment, overtime, and the code of conduct —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Suggested prompts: “How much PTO do I get?” · “When is open enrollment?” · “What are the anchor office days?”</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0:40 Ex 1, 1:25 break, 2:00 Ex 4, 2:45 break, 3:15 Ex 7, 3:35 Ex 8; cut in that order (shorter breaks, demo the Ex 3 scorecard, 6a + 6c only, 7a only, Ex 8 as a demo). Never cut Ex 4.</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(3:55-4:00).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participant/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archive/refs/heads/main.zip" TargetMode="External"/><Relationship Id="rId16" Type="http://schemas.openxmlformats.org/officeDocument/2006/relationships/hyperlink" Target="https://github.com/cragage_microsoft/ai_hr_cowork_workshop" TargetMode="External"/><Relationship Id="rId1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hyperlink" Target="https://learn.microsoft.com/en-us/microsoft-365/copilot/cowork/cowork-available-plugins" TargetMode="External"/><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6.png"/><Relationship Id="rId7" Type="http://schemas.openxmlformats.org/officeDocument/2006/relationships/image" Target="../media/image26.png"/><Relationship Id="rId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4.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4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4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two breaks.</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20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25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25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30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948A54"/>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Spotlight · HR plugins</a:t>
            </a:r>
          </a:p>
          <a:p>
            <a:pPr algn="l">
              <a:spcAft>
                <a:spcPts val="0"/>
              </a:spcAft>
            </a:pPr>
            <a:r>
              <a:rPr sz="1050" b="0" i="0">
                <a:solidFill>
                  <a:srgbClr val="616161"/>
                </a:solidFill>
                <a:latin typeface="Segoe UI"/>
              </a:rPr>
              <a:t>Customize → Plugins, talk only</a:t>
            </a:r>
          </a:p>
        </p:txBody>
      </p:sp>
      <p:sp>
        <p:nvSpPr>
          <p:cNvPr id="56" name="Rectangle 55">
            <a:extLst>
              <a:ext uri="{C183D7F6-B498-43B3-948B-1728B52AA6E4}">
                <ns26:decorative xmlns:ns26="http://schemas.microsoft.com/office/drawing/2017/decorative" val="1"/>
              </a:ext>
            </a:extLst>
          </p:cNvPr>
          <p:cNvSpPr/>
          <p:nvPr/>
        </p:nvSpPr>
        <p:spPr>
          <a:xfrm>
            <a:off x="617220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Rectangle 56">
            <a:extLst>
              <a:ext uri="{C183D7F6-B498-43B3-948B-1728B52AA6E4}">
                <ns27:decorative xmlns:ns27="http://schemas.microsoft.com/office/drawing/2017/decorative" val="1"/>
              </a:ext>
            </a:extLst>
          </p:cNvPr>
          <p:cNvSpPr/>
          <p:nvPr/>
        </p:nvSpPr>
        <p:spPr>
          <a:xfrm>
            <a:off x="6172200" y="5193792"/>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355080" y="5193792"/>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20 min</a:t>
            </a:r>
          </a:p>
        </p:txBody>
      </p:sp>
      <p:sp>
        <p:nvSpPr>
          <p:cNvPr id="59" name="TextBox 58"/>
          <p:cNvSpPr txBox="1"/>
          <p:nvPr/>
        </p:nvSpPr>
        <p:spPr>
          <a:xfrm>
            <a:off x="726948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60" name="Rectangle 59">
            <a:extLst>
              <a:ext uri="{C183D7F6-B498-43B3-948B-1728B52AA6E4}">
                <ns28:decorative xmlns:ns28="http://schemas.microsoft.com/office/drawing/2017/decorative" val="1"/>
              </a:ext>
            </a:extLst>
          </p:cNvPr>
          <p:cNvSpPr/>
          <p:nvPr/>
        </p:nvSpPr>
        <p:spPr>
          <a:xfrm>
            <a:off x="6172200" y="581558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ectangle 60">
            <a:extLst>
              <a:ext uri="{C183D7F6-B498-43B3-948B-1728B52AA6E4}">
                <ns29:decorative xmlns:ns29="http://schemas.microsoft.com/office/drawing/2017/decorative" val="1"/>
              </a:ext>
            </a:extLst>
          </p:cNvPr>
          <p:cNvSpPr/>
          <p:nvPr/>
        </p:nvSpPr>
        <p:spPr>
          <a:xfrm>
            <a:off x="6172200" y="581558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6355080" y="581558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63" name="TextBox 62"/>
          <p:cNvSpPr txBox="1"/>
          <p:nvPr/>
        </p:nvSpPr>
        <p:spPr>
          <a:xfrm>
            <a:off x="7269480" y="581558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at once: </a:t>
            </a:r>
            <a:r>
              <a:rPr sz="1500" b="0">
                <a:solidFill>
                  <a:srgbClr val="FFFFFF"/>
                </a:solidFill>
                <a:latin typeface="Segoe UI"/>
              </a:rPr>
              <a:t>download the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whole kit as a zip</a:t>
            </a:r>
            <a:r>
              <a:rPr sz="1500" b="0">
                <a:solidFill>
                  <a:srgbClr val="FFFFFF"/>
                </a:solidFill>
                <a:latin typeface="Segoe UI"/>
              </a:rPr>
              <a:t>, or browse it on </a:t>
            </a:r>
            <a:r>
              <a:rPr sz="1500" b="1" u="sng">
                <a:solidFill>
                  <a:srgbClr val="FFFFFF"/>
                </a:solidFill>
                <a:latin typeface="Segoe UI"/>
                <a:hlinkClick r:id="rId16">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0:40–1:05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Your own data,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3 · Navigate websites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25 min  ·  1:35–2:00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Word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30 min  ·  2:00–2:30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if the answer isn’t in them,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(30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2:30–2:45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10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2:55–3:15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30-min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Team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3:15–3:30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Spotlight · Extend Cowork with HR plugins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Talk only</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Customize → Plugins</a:t>
            </a:r>
          </a:p>
        </p:txBody>
      </p:sp>
      <p:pic>
        <p:nvPicPr>
          <p:cNvPr id="54" name="Picture Plugins" descr="Screenshot from Microsoft Learn of Copilot Cowork Customize, Plugins tab, listing installed plugins with on/off toggles, plus Discover and Upload plugin options."/>
          <p:cNvPicPr>
            <a:picLocks noChangeAspect="1"/>
          </p:cNvPicPr>
          <p:nvPr/>
        </p:nvPicPr>
        <p:blipFill>
          <a:blip r:embed="rId6"/>
          <a:stretch>
            <a:fillRect/>
          </a:stretch>
        </p:blipFill>
        <p:spPr>
          <a:xfrm>
            <a:off x="640080" y="1463040"/>
            <a:ext cx="6236208" cy="3275523"/>
          </a:xfrm>
          <a:prstGeom prst="rect">
            <a:avLst/>
          </a:prstGeom>
        </p:spPr>
      </p:pic>
      <p:sp>
        <p:nvSpPr>
          <p:cNvPr id="55" name="TextBox 54"/>
          <p:cNvSpPr txBox="1"/>
          <p:nvPr/>
        </p:nvSpPr>
        <p:spPr>
          <a:xfrm>
            <a:off x="640080" y="4784282"/>
            <a:ext cx="6236208" cy="274320"/>
          </a:xfrm>
          <a:prstGeom prst="rect">
            <a:avLst/>
          </a:prstGeom>
          <a:noFill/>
        </p:spPr>
        <p:txBody>
          <a:bodyPr wrap="square" anchor="t" lIns="0" rIns="0" tIns="0" bIns="0">
            <a:spAutoFit/>
          </a:bodyPr>
          <a:lstStyle/>
          <a:p>
            <a:pPr algn="l">
              <a:spcAft>
                <a:spcPts val="400"/>
              </a:spcAft>
            </a:pPr>
            <a:r>
              <a:rPr sz="900" b="0" i="1">
                <a:solidFill>
                  <a:srgbClr val="616161"/>
                </a:solidFill>
                <a:latin typeface="Segoe UI"/>
              </a:rPr>
              <a:t>Microsoft Learn screenshot (Dynamics 365 plugins shown). HR plugins appear in the same list.</a:t>
            </a:r>
          </a:p>
        </p:txBody>
      </p:sp>
      <p:sp>
        <p:nvSpPr>
          <p:cNvPr id="56" name="TextBox 55"/>
          <p:cNvSpPr txBox="1"/>
          <p:nvPr/>
        </p:nvSpPr>
        <p:spPr>
          <a:xfrm>
            <a:off x="640080" y="5012882"/>
            <a:ext cx="6236208" cy="256032"/>
          </a:xfrm>
          <a:prstGeom prst="rect">
            <a:avLst/>
          </a:prstGeom>
          <a:noFill/>
        </p:spPr>
        <p:txBody>
          <a:bodyPr wrap="square" anchor="t" lIns="0" rIns="0" tIns="0" bIns="0">
            <a:spAutoFit/>
          </a:bodyPr>
          <a:lstStyle/>
          <a:p>
            <a:pPr algn="l">
              <a:spcAft>
                <a:spcPts val="400"/>
              </a:spcAft>
            </a:pPr>
            <a:r>
              <a:rPr sz="900" b="0" i="0">
                <a:solidFill>
                  <a:srgbClr val="0F6CBD"/>
                </a:solidFill>
                <a:latin typeface="Segoe UI"/>
                <a:hlinkClick r:id="rId7"/>
              </a:rPr>
              <a:t>Full catalog: learn.microsoft.com/microsoft-365/copilot/cowork/cowork-available-plugins</a:t>
            </a:r>
          </a:p>
        </p:txBody>
      </p:sp>
      <p:sp>
        <p:nvSpPr>
          <p:cNvPr id="57" name="Rounded Rectangle 56">
            <a:extLst>
              <a:ext uri="{C183D7F6-B498-43B3-948B-1728B52AA6E4}">
                <ns3:decorative xmlns:ns3="http://schemas.microsoft.com/office/drawing/2017/decorative" val="1"/>
              </a:ext>
            </a:extLst>
          </p:cNvPr>
          <p:cNvSpPr/>
          <p:nvPr/>
        </p:nvSpPr>
        <p:spPr>
          <a:xfrm>
            <a:off x="685800" y="5303520"/>
            <a:ext cx="6144768" cy="86868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914400" y="5303520"/>
            <a:ext cx="5760720" cy="86868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A plugin = skills + connectors. </a:t>
            </a:r>
            <a:r>
              <a:rPr sz="1250" b="0" i="0">
                <a:solidFill>
                  <a:srgbClr val="FFFFFF"/>
                </a:solidFill>
                <a:latin typeface="Segoe Sans Display"/>
              </a:rPr>
              <a:t>Connectors can be MCP servers, so Cowork can read and act in your HR systems — still with your approval.</a:t>
            </a:r>
          </a:p>
        </p:txBody>
      </p:sp>
      <p:sp>
        <p:nvSpPr>
          <p:cNvPr id="59" name="Rounded Rectangle 58">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HR plugin examples</a:t>
            </a:r>
          </a:p>
        </p:txBody>
      </p:sp>
      <p:sp>
        <p:nvSpPr>
          <p:cNvPr id="61" name="TextBox 60"/>
          <p:cNvSpPr txBox="1"/>
          <p:nvPr/>
        </p:nvSpPr>
        <p:spPr>
          <a:xfrm>
            <a:off x="7772400" y="1645920"/>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Gusto</a:t>
            </a:r>
          </a:p>
        </p:txBody>
      </p:sp>
      <p:sp>
        <p:nvSpPr>
          <p:cNvPr id="62" name="TextBox 61"/>
          <p:cNvSpPr txBox="1"/>
          <p:nvPr/>
        </p:nvSpPr>
        <p:spPr>
          <a:xfrm>
            <a:off x="7772400" y="1892808"/>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Payroll, PTO and employee records</a:t>
            </a:r>
          </a:p>
        </p:txBody>
      </p:sp>
      <p:sp>
        <p:nvSpPr>
          <p:cNvPr id="63" name="TextBox 62"/>
          <p:cNvSpPr txBox="1"/>
          <p:nvPr/>
        </p:nvSpPr>
        <p:spPr>
          <a:xfrm>
            <a:off x="7772400" y="2267712"/>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ZipRecruiter · Dice.com</a:t>
            </a:r>
          </a:p>
        </p:txBody>
      </p:sp>
      <p:sp>
        <p:nvSpPr>
          <p:cNvPr id="64" name="TextBox 63"/>
          <p:cNvSpPr txBox="1"/>
          <p:nvPr/>
        </p:nvSpPr>
        <p:spPr>
          <a:xfrm>
            <a:off x="7772400" y="2514600"/>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Job posts and candidate pipelines</a:t>
            </a:r>
          </a:p>
        </p:txBody>
      </p:sp>
      <p:sp>
        <p:nvSpPr>
          <p:cNvPr id="65" name="TextBox 64"/>
          <p:cNvSpPr txBox="1"/>
          <p:nvPr/>
        </p:nvSpPr>
        <p:spPr>
          <a:xfrm>
            <a:off x="7772400" y="2889504"/>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Cronofy MCP</a:t>
            </a:r>
          </a:p>
        </p:txBody>
      </p:sp>
      <p:sp>
        <p:nvSpPr>
          <p:cNvPr id="66" name="TextBox 65"/>
          <p:cNvSpPr txBox="1"/>
          <p:nvPr/>
        </p:nvSpPr>
        <p:spPr>
          <a:xfrm>
            <a:off x="7772400" y="3136392"/>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Interview scheduling across calendars</a:t>
            </a:r>
          </a:p>
        </p:txBody>
      </p:sp>
      <p:sp>
        <p:nvSpPr>
          <p:cNvPr id="67" name="TextBox 66"/>
          <p:cNvSpPr txBox="1"/>
          <p:nvPr/>
        </p:nvSpPr>
        <p:spPr>
          <a:xfrm>
            <a:off x="7772400" y="3511296"/>
            <a:ext cx="3931920" cy="256032"/>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Articulate</a:t>
            </a:r>
          </a:p>
        </p:txBody>
      </p:sp>
      <p:sp>
        <p:nvSpPr>
          <p:cNvPr id="68" name="TextBox 67"/>
          <p:cNvSpPr txBox="1"/>
          <p:nvPr/>
        </p:nvSpPr>
        <p:spPr>
          <a:xfrm>
            <a:off x="7772400" y="3758184"/>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Learning and training content</a:t>
            </a:r>
          </a:p>
        </p:txBody>
      </p:sp>
      <p:sp>
        <p:nvSpPr>
          <p:cNvPr id="69" name="Rounded Rectangle 68">
            <a:extLst>
              <a:ext uri="{C183D7F6-B498-43B3-948B-1728B52AA6E4}">
                <ns5:decorative xmlns:ns5="http://schemas.microsoft.com/office/drawing/2017/decorative" val="1"/>
              </a:ext>
            </a:extLst>
          </p:cNvPr>
          <p:cNvSpPr/>
          <p:nvPr/>
        </p:nvSpPr>
        <p:spPr>
          <a:xfrm>
            <a:off x="7635240" y="4078224"/>
            <a:ext cx="4206240" cy="585216"/>
          </a:xfrm>
          <a:prstGeom prst="roundRect">
            <a:avLst>
              <a:gd name="adj" fmla="val 12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7772400" y="4133088"/>
            <a:ext cx="3931920" cy="256032"/>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 SAP SuccessFactors</a:t>
            </a:r>
          </a:p>
        </p:txBody>
      </p:sp>
      <p:sp>
        <p:nvSpPr>
          <p:cNvPr id="71" name="TextBox 70"/>
          <p:cNvSpPr txBox="1"/>
          <p:nvPr/>
        </p:nvSpPr>
        <p:spPr>
          <a:xfrm>
            <a:off x="7772400" y="4379976"/>
            <a:ext cx="3931920" cy="237744"/>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No catalog plugin yet: ESS agent, or a custom MCP plugin</a:t>
            </a:r>
          </a:p>
        </p:txBody>
      </p:sp>
      <p:sp>
        <p:nvSpPr>
          <p:cNvPr id="72" name="Rounded Rectangle 71">
            <a:extLst>
              <a:ext uri="{C183D7F6-B498-43B3-948B-1728B52AA6E4}">
                <ns6:decorative xmlns:ns6="http://schemas.microsoft.com/office/drawing/2017/decorative" val="1"/>
              </a:ext>
            </a:extLst>
          </p:cNvPr>
          <p:cNvSpPr/>
          <p:nvPr/>
        </p:nvSpPr>
        <p:spPr>
          <a:xfrm>
            <a:off x="7635240" y="4800600"/>
            <a:ext cx="4206240" cy="1508760"/>
          </a:xfrm>
          <a:prstGeom prst="roundRect">
            <a:avLst>
              <a:gd name="adj" fmla="val 6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7772400" y="487375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Why it matters</a:t>
            </a:r>
          </a:p>
        </p:txBody>
      </p:sp>
      <p:sp>
        <p:nvSpPr>
          <p:cNvPr id="74" name="TextBox 73"/>
          <p:cNvSpPr txBox="1"/>
          <p:nvPr/>
        </p:nvSpPr>
        <p:spPr>
          <a:xfrm>
            <a:off x="7772400" y="5166360"/>
            <a:ext cx="3977640" cy="1463040"/>
          </a:xfrm>
          <a:prstGeom prst="rect">
            <a:avLst/>
          </a:prstGeom>
          <a:noFill/>
        </p:spPr>
        <p:txBody>
          <a:bodyPr wrap="square" anchor="t" lIns="0" rIns="0" tIns="0" bIns="0">
            <a:spAutoFit/>
          </a:bodyPr>
          <a:lstStyle/>
          <a:p>
            <a:pPr algn="l" marL="182880" indent="-182880">
              <a:lnSpc>
                <a:spcPct val="100000"/>
              </a:lnSpc>
              <a:spcAft>
                <a:spcPts val="300"/>
              </a:spcAft>
              <a:buFont typeface="Arial"/>
              <a:buChar char="•"/>
            </a:pPr>
            <a:r>
              <a:rPr sz="1050" b="1" i="0">
                <a:solidFill>
                  <a:srgbClr val="323139"/>
                </a:solidFill>
                <a:latin typeface="Segoe UI"/>
              </a:rPr>
              <a:t>Fewer tabs</a:t>
            </a:r>
            <a:r>
              <a:rPr sz="1050" b="0" i="0">
                <a:solidFill>
                  <a:srgbClr val="323139"/>
                </a:solidFill>
                <a:latin typeface="Segoe UI"/>
              </a:rPr>
              <a:t> — HR data flows into the task</a:t>
            </a:r>
          </a:p>
          <a:p>
            <a:pPr algn="l" marL="182880" indent="-182880">
              <a:lnSpc>
                <a:spcPct val="100000"/>
              </a:lnSpc>
              <a:spcAft>
                <a:spcPts val="300"/>
              </a:spcAft>
              <a:buFont typeface="Arial"/>
              <a:buChar char="•"/>
            </a:pPr>
            <a:r>
              <a:rPr sz="1050" b="1" i="0">
                <a:solidFill>
                  <a:srgbClr val="323139"/>
                </a:solidFill>
                <a:latin typeface="Segoe UI"/>
              </a:rPr>
              <a:t>Governed</a:t>
            </a:r>
            <a:r>
              <a:rPr sz="1050" b="0" i="0">
                <a:solidFill>
                  <a:srgbClr val="323139"/>
                </a:solidFill>
                <a:latin typeface="Segoe UI"/>
              </a:rPr>
              <a:t> — admins deploy; activity in Purview audit</a:t>
            </a:r>
          </a:p>
          <a:p>
            <a:pPr algn="l" marL="182880" indent="-182880">
              <a:lnSpc>
                <a:spcPct val="100000"/>
              </a:lnSpc>
              <a:spcAft>
                <a:spcPts val="300"/>
              </a:spcAft>
              <a:buFont typeface="Arial"/>
              <a:buChar char="•"/>
            </a:pPr>
            <a:r>
              <a:rPr sz="1050" b="1" i="0">
                <a:solidFill>
                  <a:srgbClr val="323139"/>
                </a:solidFill>
                <a:latin typeface="Segoe UI"/>
              </a:rPr>
              <a:t>Your sign-in</a:t>
            </a:r>
            <a:r>
              <a:rPr sz="1050" b="0" i="0">
                <a:solidFill>
                  <a:srgbClr val="323139"/>
                </a:solidFill>
                <a:latin typeface="Segoe UI"/>
              </a:rPr>
              <a:t> — connectors use your own permissions</a:t>
            </a:r>
          </a:p>
          <a:p>
            <a:pPr algn="l" marL="182880" indent="-182880">
              <a:lnSpc>
                <a:spcPct val="100000"/>
              </a:lnSpc>
              <a:spcAft>
                <a:spcPts val="300"/>
              </a:spcAft>
              <a:buFont typeface="Arial"/>
              <a:buChar char="•"/>
            </a:pPr>
            <a:r>
              <a:rPr sz="1050" b="1" i="0">
                <a:solidFill>
                  <a:srgbClr val="323139"/>
                </a:solidFill>
                <a:latin typeface="Segoe UI"/>
              </a:rPr>
              <a:t>Per task</a:t>
            </a:r>
            <a:r>
              <a:rPr sz="1050" b="0" i="0">
                <a:solidFill>
                  <a:srgbClr val="323139"/>
                </a:solidFill>
                <a:latin typeface="Segoe UI"/>
              </a:rPr>
              <a:t> — toggle in Sources &amp; Skills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3:35–3:55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