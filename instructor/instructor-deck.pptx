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theme/themeOverride39.xml" ContentType="application/vnd.openxmlformats-officedocument.themeOverride+xml"/>
  <Override PartName="/ppt/theme/themeOverride40.xml" ContentType="application/vnd.openxmlformats-officedocument.themeOverride+xml"/>
  <Override PartName="/ppt/theme/themeOverride41.xml" ContentType="application/vnd.openxmlformats-officedocument.themeOverride+xml"/>
  <Override PartName="/ppt/theme/themeOverride42.xml" ContentType="application/vnd.openxmlformats-officedocument.themeOverride+xml"/>
  <Override PartName="/ppt/theme/themeOverride43.xml" ContentType="application/vnd.openxmlformats-officedocument.themeOverride+xml"/>
  <Override PartName="/ppt/theme/themeOverride44.xml" ContentType="application/vnd.openxmlformats-officedocument.themeOverride+xml"/>
  <Override PartName="/ppt/theme/themeOverride45.xml" ContentType="application/vnd.openxmlformats-officedocument.themeOverride+xml"/>
  <Override PartName="/ppt/theme/themeOverride46.xml" ContentType="application/vnd.openxmlformats-officedocument.themeOverride+xml"/>
  <Override PartName="/ppt/theme/themeOverride47.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0" r:id="rId85"/>
    <p:sldId id="311"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D4349CC8-03BA-41FD-9CEB-FF14A641A896}">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Ex 1 · Executive Command Center" id="{4D9FECD9-38E7-4414-8376-6318CCE4DA62}">
          <p14:sldIdLst>
            <p14:sldId id="273"/>
            <p14:sldId id="274"/>
            <p14:sldId id="275"/>
            <p14:sldId id="276"/>
            <p14:sldId id="277"/>
            <p14:sldId id="278"/>
          </p14:sldIdLst>
        </p14:section>
        <p14:section name="Ex 2 · Deep Research" id="{51974318-17AF-42AC-9089-C4712D4FF98F}">
          <p14:sldIdLst>
            <p14:sldId id="279"/>
            <p14:sldId id="280"/>
            <p14:sldId id="281"/>
            <p14:sldId id="282"/>
          </p14:sldIdLst>
        </p14:section>
        <p14:section name="Ex 3 · Navigate websites" id="{7FFCDCA5-B8F9-4C26-A2BD-FCCCA3C2E1C5}">
          <p14:sldIdLst>
            <p14:sldId id="283"/>
            <p14:sldId id="284"/>
            <p14:sldId id="285"/>
            <p14:sldId id="286"/>
          </p14:sldIdLst>
        </p14:section>
        <p14:section name="Ex 4 · Custom skill" id="{CCDBE35A-0086-4C94-947A-339D65071B58}">
          <p14:sldIdLst>
            <p14:sldId id="287"/>
            <p14:sldId id="288"/>
            <p14:sldId id="289"/>
            <p14:sldId id="290"/>
          </p14:sldIdLst>
        </p14:section>
        <p14:section name="Ex 5 · Recruiting + reporting" id="{E7DC5FF0-5EC8-4927-84FC-75BBDEDAD7BE}">
          <p14:sldIdLst>
            <p14:sldId id="291"/>
            <p14:sldId id="292"/>
            <p14:sldId id="293"/>
            <p14:sldId id="294"/>
            <p14:sldId id="295"/>
          </p14:sldIdLst>
        </p14:section>
        <p14:section name="Ex 6 · Onboarding pack" id="{F4265CAF-D57E-4B8B-8D61-A320F39E996D}">
          <p14:sldIdLst>
            <p14:sldId id="296"/>
            <p14:sldId id="297"/>
            <p14:sldId id="298"/>
            <p14:sldId id="299"/>
          </p14:sldIdLst>
        </p14:section>
        <p14:section name="Ex 7 · Automate &amp; share" id="{5D56CB89-4A30-4930-AC8E-F7F51F14D193}">
          <p14:sldIdLst>
            <p14:sldId id="300"/>
            <p14:sldId id="301"/>
            <p14:sldId id="302"/>
            <p14:sldId id="303"/>
          </p14:sldIdLst>
        </p14:section>
        <p14:section name="Ex 8 · HR Policy Agent" id="{B5719757-A52C-443B-BAEA-8494F3EBAE6F}">
          <p14:sldIdLst>
            <p14:sldId id="304"/>
            <p14:sldId id="305"/>
            <p14:sldId id="306"/>
            <p14:sldId id="307"/>
          </p14:sldIdLst>
        </p14:section>
        <p14:section name="Close" id="{C04AB052-5E48-4EFE-8AD7-D3F8C58B1CE8}">
          <p14:sldIdLst>
            <p14:sldId id="308"/>
            <p14:sldId id="309"/>
            <p14:sldId id="310"/>
            <p14:sldId id="311"/>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xml"/><Relationship Id="rId32" Type="http://schemas.openxmlformats.org/officeDocument/2006/relationships/slide" Target="slides/slide2.xml"/><Relationship Id="rId33" Type="http://schemas.openxmlformats.org/officeDocument/2006/relationships/slide" Target="slides/slide3.xml"/><Relationship Id="rId34" Type="http://schemas.openxmlformats.org/officeDocument/2006/relationships/slide" Target="slides/slide4.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7.xml"/><Relationship Id="rId38" Type="http://schemas.openxmlformats.org/officeDocument/2006/relationships/slide" Target="slides/slide8.xml"/><Relationship Id="rId39" Type="http://schemas.openxmlformats.org/officeDocument/2006/relationships/slide" Target="slides/slide9.xml"/><Relationship Id="rId40" Type="http://schemas.openxmlformats.org/officeDocument/2006/relationships/slide" Target="slides/slide10.xml"/><Relationship Id="rId41" Type="http://schemas.openxmlformats.org/officeDocument/2006/relationships/slide" Target="slides/slide11.xml"/><Relationship Id="rId42" Type="http://schemas.openxmlformats.org/officeDocument/2006/relationships/slide" Target="slides/slide12.xml"/><Relationship Id="rId43" Type="http://schemas.openxmlformats.org/officeDocument/2006/relationships/slide" Target="slides/slide13.xml"/><Relationship Id="rId44" Type="http://schemas.openxmlformats.org/officeDocument/2006/relationships/slide" Target="slides/slide14.xml"/><Relationship Id="rId45" Type="http://schemas.openxmlformats.org/officeDocument/2006/relationships/slide" Target="slides/slide15.xml"/><Relationship Id="rId46" Type="http://schemas.openxmlformats.org/officeDocument/2006/relationships/slide" Target="slides/slide16.xml"/><Relationship Id="rId47" Type="http://schemas.openxmlformats.org/officeDocument/2006/relationships/slide" Target="slides/slide17.xml"/><Relationship Id="rId48" Type="http://schemas.openxmlformats.org/officeDocument/2006/relationships/slide" Target="slides/slide18.xml"/><Relationship Id="rId49" Type="http://schemas.openxmlformats.org/officeDocument/2006/relationships/slide" Target="slides/slide19.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24.xml"/><Relationship Id="rId55" Type="http://schemas.openxmlformats.org/officeDocument/2006/relationships/slide" Target="slides/slide25.xml"/><Relationship Id="rId56" Type="http://schemas.openxmlformats.org/officeDocument/2006/relationships/slide" Target="slides/slide26.xml"/><Relationship Id="rId57" Type="http://schemas.openxmlformats.org/officeDocument/2006/relationships/slide" Target="slides/slide27.xml"/><Relationship Id="rId58" Type="http://schemas.openxmlformats.org/officeDocument/2006/relationships/slide" Target="slides/slide28.xml"/><Relationship Id="rId59" Type="http://schemas.openxmlformats.org/officeDocument/2006/relationships/slide" Target="slides/slide29.xml"/><Relationship Id="rId60" Type="http://schemas.openxmlformats.org/officeDocument/2006/relationships/slide" Target="slides/slide30.xml"/><Relationship Id="rId61" Type="http://schemas.openxmlformats.org/officeDocument/2006/relationships/slide" Target="slides/slide31.xml"/><Relationship Id="rId62" Type="http://schemas.openxmlformats.org/officeDocument/2006/relationships/slide" Target="slides/slide32.xml"/><Relationship Id="rId63" Type="http://schemas.openxmlformats.org/officeDocument/2006/relationships/slide" Target="slides/slide33.xml"/><Relationship Id="rId64" Type="http://schemas.openxmlformats.org/officeDocument/2006/relationships/slide" Target="slides/slide34.xml"/><Relationship Id="rId65" Type="http://schemas.openxmlformats.org/officeDocument/2006/relationships/slide" Target="slides/slide35.xml"/><Relationship Id="rId66" Type="http://schemas.openxmlformats.org/officeDocument/2006/relationships/slide" Target="slides/slide36.xml"/><Relationship Id="rId67" Type="http://schemas.openxmlformats.org/officeDocument/2006/relationships/slide" Target="slides/slide37.xml"/><Relationship Id="rId68" Type="http://schemas.openxmlformats.org/officeDocument/2006/relationships/slide" Target="slides/slide38.xml"/><Relationship Id="rId69" Type="http://schemas.openxmlformats.org/officeDocument/2006/relationships/slide" Target="slides/slide39.xml"/><Relationship Id="rId70" Type="http://schemas.openxmlformats.org/officeDocument/2006/relationships/slide" Target="slides/slide40.xml"/><Relationship Id="rId71" Type="http://schemas.openxmlformats.org/officeDocument/2006/relationships/slide" Target="slides/slide41.xml"/><Relationship Id="rId72" Type="http://schemas.openxmlformats.org/officeDocument/2006/relationships/slide" Target="slides/slide42.xml"/><Relationship Id="rId73" Type="http://schemas.openxmlformats.org/officeDocument/2006/relationships/slide" Target="slides/slide43.xml"/><Relationship Id="rId74" Type="http://schemas.openxmlformats.org/officeDocument/2006/relationships/slide" Target="slides/slide44.xml"/><Relationship Id="rId75" Type="http://schemas.openxmlformats.org/officeDocument/2006/relationships/slide" Target="slides/slide45.xml"/><Relationship Id="rId76" Type="http://schemas.openxmlformats.org/officeDocument/2006/relationships/slide" Target="slides/slide46.xml"/><Relationship Id="rId77" Type="http://schemas.openxmlformats.org/officeDocument/2006/relationships/slide" Target="slides/slide47.xml"/><Relationship Id="rId78" Type="http://schemas.openxmlformats.org/officeDocument/2006/relationships/slide" Target="slides/slide48.xml"/><Relationship Id="rId79" Type="http://schemas.openxmlformats.org/officeDocument/2006/relationships/slide" Target="slides/slide49.xml"/><Relationship Id="rId80" Type="http://schemas.openxmlformats.org/officeDocument/2006/relationships/slide" Target="slides/slide50.xml"/><Relationship Id="rId81" Type="http://schemas.openxmlformats.org/officeDocument/2006/relationships/slide" Target="slides/slide51.xml"/><Relationship Id="rId82" Type="http://schemas.openxmlformats.org/officeDocument/2006/relationships/slide" Target="slides/slide52.xml"/><Relationship Id="rId83" Type="http://schemas.openxmlformats.org/officeDocument/2006/relationships/slide" Target="slides/slide53.xml"/><Relationship Id="rId84" Type="http://schemas.openxmlformats.org/officeDocument/2006/relationships/slide" Target="slides/slide54.xml"/><Relationship Id="rId85" Type="http://schemas.openxmlformats.org/officeDocument/2006/relationships/slide" Target="slides/slide55.xml"/><Relationship Id="rId86"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2½ hours, one 15-minute break after Ex 5.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5.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0:00-0:05).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0:10-0:20).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their work account; anyone in a personal profile adds a work profile now (not InPrivate). Attendees use their OWN work accounts; YOU are on a SEPARATE demo tenant. DATA: Ex 1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0:10-0:20, about 1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1 runs on their own real data: results stay private, no screen sharing; all other exercises use the fictional Zava files, so no real employee data goes into them;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(15 min, 0:20–0:35). Pause here: check the room is ready (anyone still finishing the last exercise?), then introduce the scenario card on the next slide.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SLOW DOWN at step 3: the next slide walks the Output folder. CLEANUP: skill stays 'Only you'; pause or delete the weekday schedule after class. NEXT: Output folder slide, then Deep Research.</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dashboard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(15 min, 0:35–0:50). Pause here: check the room is ready (anyone still finishing the last exercise?), then introduce the scenario card on the next slide.</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2c) is OPTIONAL: fast finishers run it. TIME CHECK: at 0:45,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(15 min, 0:50–1:05). Pause here: check the room is ready (anyone still finishing the last exercise?), then introduce the scenario card on the next slide.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3b is OPTIONAL: fast finishers run it; at 1:00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3a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3b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(15 min, 1:05–1:20). Pause here: check the room is ready (anyone still finishing the last exercise?), then introduce the scenario card on the next slide.</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8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(10 min, 1:20–1:30). Pause here: check the room is ready (anyone still finishing the last exercise?), then introduce the scenario card on the next slide.</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(1:20-1:30, 10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a:p/>
          <a:p>
            <a:r>
              <a:t>PROMPT TO COPY AND PASTE (copy the text under each --- heading; each heading is a separate step):</a:t>
            </a:r>
          </a:p>
          <a:p>
            <a:r>
              <a:t>--- Task 5a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5b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1:30-1:45). Sweep the room for blockers and check everyone's Exercise 4 skill saved: Exercise 7 shares it.</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(10 min, 1:45–1:55). Pause here: check the room is ready (anyone still finishing the last exercise?), then introduce the scenario card on the next slide.</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(1:45-1:55, 10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is the must-do (the deck takes longest); 6b and 6c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1:55 move on, even if only 6a is done. NEXT: 'Now let's stop re-asking for the same work.'</a:t>
            </a:r>
          </a:p>
          <a:p/>
          <a:p>
            <a:r>
              <a:t>PROMPT TO COPY AND PASTE (copy the text under each --- heading; each heading is a separate step):</a:t>
            </a:r>
          </a:p>
          <a:p>
            <a:r>
              <a:t>--- Task 6a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6b — Optional: schedule the kickoff ---</a:t>
            </a:r>
          </a:p>
          <a:p>
            <a:r>
              <a:t>Schedule a 30-minute onboarding kickoff for Sofia Alvarez’s first day, next Monday at 9:30 AM, add a Teams meeting link, and invite only me. Show it to me before you send it.</a:t>
            </a:r>
          </a:p>
          <a:p/>
          <a:p>
            <a:r>
              <a:t>--- Task 6c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1:55–2:10). Pause here: check the room is ready (anyone still finishing the last exercise?), then introduce the scenario card on the next slide.</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(1:55-2:10,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is quick; 7c is OPTIONAL, so demo it. NEXT: Agent Builder, the non-Cowork finale.</a:t>
            </a:r>
          </a:p>
          <a:p/>
          <a:p>
            <a:r>
              <a:t>PROMPT TO COPY AND PASTE (copy the text under each --- heading; each heading is a separate step):</a:t>
            </a:r>
          </a:p>
          <a:p>
            <a:r>
              <a:t>--- Task 7a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7b — New task ---</a:t>
            </a:r>
          </a:p>
          <a:p>
            <a:r>
              <a:t>Give me a Daily Briefing focused on my HR tasks and meetings for today. List the most urgent items first.</a:t>
            </a:r>
          </a:p>
          <a:p/>
          <a:p>
            <a:r>
              <a:t>--- Task 7c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(15 min, 2:10–2:25). Pause here: check the room is ready (anyone still finishing the last exercise?), then introduce the scenario card on the next slide. SAY: 'This last exercise is NOT Cowork. We switch to Copilot Agent Builder: Microsoft 365 Copilot -&gt; Create agent.' Ask everyone to leave their Cowork task.</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(2:10-2:25, 15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wrap-up.</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1 (your demo account is seeded with seed-content.md, loaded through VS Code + the Work IQ MCP server). Attendees use their own work accounts; you're on a separate tenant. Never ask anyone to share their Ex 1 dashboard. Mirrors facilitator-guide.md, facilitator-answer-key.md, and readiness-checklist.md (timeline, cost planning, Plan B). Time checks: 0:20 Ex 1, 1:05 Ex 4, 1:30 break, 2:10 Ex 8; the optional sub-tasks (2c scorecard, 3b brief, 6b + 6c, 7c sharing) are for fast finishers, so demo them rather than wait. If still behind, cut in this order: 7a only, then Ex 8 as a demo. Never cut Ex 4.</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(2:25-2:30).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2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2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3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0.xml"/><Relationship Id="rId7" Type="http://schemas.openxmlformats.org/officeDocument/2006/relationships/image" Target="../media/image13.png"/><Relationship Id="rId8"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4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4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4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5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5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5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5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6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6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6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6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notesSlide" Target="../notesSlides/notesSlide6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notesSlide" Target="../notesSlides/notesSlide6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ragage/ai_hr_cowork_workshop/raw/main/participant/participant-workbook.docx" TargetMode="External"/><Relationship Id="rId7" Type="http://schemas.openxmlformats.org/officeDocument/2006/relationships/notesSlide" Target="../notesSlides/notesSlide6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blob/main/README.md" TargetMode="External"/><Relationship Id="rId4" Type="http://schemas.openxmlformats.org/officeDocument/2006/relationships/notesSlide" Target="../notesSlides/notesSlide7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2½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2½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+ 5 tailored questions</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Orientation deck (+ kickoff, announcement)</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 Daily Briefing (+ sharing)</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1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1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1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a:p>
            <a:pPr algn="l" marL="237744" indent="-237744">
              <a:lnSpc>
                <a:spcPct val="105000"/>
              </a:lnSpc>
              <a:spcAft>
                <a:spcPts val="900"/>
              </a:spcAft>
              <a:buFont typeface="+mj-lt"/>
              <a:buAutoNum type="arabicPeriod"/>
            </a:pPr>
            <a:r>
              <a:rPr sz="1500" b="0" i="0">
                <a:solidFill>
                  <a:srgbClr val="323139"/>
                </a:solidFill>
                <a:latin typeface="Segoe UI"/>
              </a:rPr>
              <a:t>Optional, if time allows: type </a:t>
            </a:r>
            <a:r>
              <a:rPr sz="1500" b="1" i="0">
                <a:solidFill>
                  <a:srgbClr val="323139"/>
                </a:solidFill>
                <a:latin typeface="Segoe UI"/>
              </a:rPr>
              <a:t>/cost</a:t>
            </a:r>
            <a:r>
              <a:rPr sz="1500" b="0" i="0">
                <a:solidFill>
                  <a:srgbClr val="323139"/>
                </a:solidFill>
                <a:latin typeface="Segoe UI"/>
              </a:rPr>
              <a:t> in the task to see what it cost (last slide of this exercise).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Executive Command Center</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Your weekday schedule uses credits on every run. </a:t>
            </a:r>
            <a:r>
              <a:rPr sz="1250" b="0" i="0">
                <a:solidFill>
                  <a:srgbClr val="FFFFFF"/>
                </a:solidFill>
                <a:latin typeface="Segoe Sans Display"/>
              </a:rPr>
              <a:t>Pause it after class: Automations → Manage schedules.</a:t>
            </a:r>
          </a:p>
        </p:txBody>
      </p:sp>
      <p:sp>
        <p:nvSpPr>
          <p:cNvPr id="59" name="Rounded Rectangle 58"/>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1:20–1:30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1:45–1:55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6a is the must-do; 6b and 6c are optional</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1:55–2:10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2:10–2:25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0:decorative xmlns:ns1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