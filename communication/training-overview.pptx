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4"/>
    <p:sldMasterId id="2147483695" r:id="rId5"/>
    <p:sldMasterId id="2147483710" r:id="rId6"/>
    <p:sldMasterId id="2147483725" r:id="rId7"/>
  </p:sldMasterIdLst>
  <p:notesMasterIdLst>
    <p:notesMasterId r:id="rId25"/>
  </p:notesMasterIdLst>
  <p:sldIdLst>
    <p:sldId id="256" r:id="rId31"/>
    <p:sldId id="257" r:id="rId32"/>
    <p:sldId id="258" r:id="rId33"/>
    <p:sldId id="259" r:id="rId34"/>
    <p:sldId id="260" r:id="rId35"/>
    <p:sldId id="261" r:id="rId36"/>
    <p:sldId id="262" r:id="rId37"/>
    <p:sldId id="263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FE843A77-DB17-4824-9975-7DE5168D0A5A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Workshop kit" id="{7259FDD3-EEB6-4936-9BB2-96A0650E3A36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F9C0429-A27D-191E-02F6-1A5EA1ADAF1C}" name="Rodrigo De la Garza" initials="" userId="S::rodela@microsoft.com::aea35d9c-2d89-4bc1-8b94-6f0d54120eda" providerId="AD"/>
  <p188:author id="{4392619F-7B75-E4F8-5D55-40619472227E}" name="Ellie Ferguson" initials="EF" userId="S::elferguson@microsoft.com::55c21014-b655-49ad-a317-db34b175183a" providerId="AD"/>
  <p188:author id="{7F558DBD-3EBD-5EEC-0EC6-1FE8EAD99B4B}" name="Traníssa Cremé Calella" initials="TC" userId="S::trcreme@microsoft.com::da230c5a-0394-4c9f-a6c7-bcd14a74aca4" providerId="AD"/>
  <p188:author id="{EA2BB1CC-CCBC-CFD1-E586-B3F5D4B2902B}" name="Gina Eisele" initials="" userId="S::ginah@microsoft.com::4b775c3a-ed81-4f52-b83b-472130d98b00" providerId="AD"/>
  <p188:author id="{9F6174CF-D48A-DD27-940C-47BFC88AAFD6}" name="Andrea Lum" initials="AL" userId="S::anlum@microsoft.com::89002afe-ac3a-4767-b9c9-147d574dba1b" providerId="AD"/>
  <p188:author id="{251871E8-1052-0574-57C0-60020D8857D0}" name="Saulo Machado" initials="SM" userId="S::samachad@microsoft.com::27113bbf-fdf8-43dc-8297-89297021024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63" d="100"/>
          <a:sy n="163" d="100"/>
        </p:scale>
        <p:origin x="240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microsoft.com/office/2018/10/relationships/authors" Target="authors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2369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t>TRAINING OVERVIEW. Use this short deck to introduce the workshop to HR leaders, managers, and people thinking about attending. The instructor deck (instructor/instructor-deck.pptx) is what's presented on the day.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t>ABOUT. Who it's for, the format, and the three tools. Attendees use their own work accounts: Exercise 1 builds a private dashboard from their own mail and calendar, and every other exercise uses fictional Zava sample files. Everything Cowork produces is a draft to review.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t>LEARNING OBJECTIVES. The six outcomes attendees leave with. They mirror the README and the participant workbook, and the workshop closes with a quick knowledge check against them.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t>AGENDA. Two and a half hours: framing and a UI tour with setup, then eight hands-on exercises with one 15-minute break. Exercise 4 (a custom skill) is the centerpiece; Exercise 8 builds a no-code agent in Agent Builder.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t>EXERCISES. Walk the eight scenarios: an executive command center, Deep Research, Cowork driving a browser, a custom skill, recruiting and reporting, an onboarding pack, automations, and a policy agent. Each one ends in a draft the attendee reviews.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t>BEFORE THE SESSION. Attendees need only a laptop with Edge and their own work account; nothing to provision. Hosts set up licenses, the Cowork spending policy, and browser access; the facilitator seeds only their own demo account. The readiness checklist has the timeline, cost planning, and Plan B.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t>DOWNLOAD LINKS. Everything participants and instructors need; the Zava sample data is one zip. The links point to the kit's private GitHub repo: give people access, or post the files in a shared Teams/SharePoint folder and share that link instead.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t>CLOSE. Invite questions. The paste-ready invitation emails in communication/ carry the same links.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0.jpeg"/><Relationship Id="rId3" Type="http://schemas.openxmlformats.org/officeDocument/2006/relationships/image" Target="../media/image11.png"/><Relationship Id="rId4" Type="http://schemas.openxmlformats.org/officeDocument/2006/relationships/image" Target="../media/image12.emf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Slide 2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25091A6-E739-2F7E-07AB-39433EF1C57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724" y="123128"/>
            <a:ext cx="2137349" cy="1223612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1871784"/>
            <a:ext cx="9144000" cy="1661993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lnSpc>
                <a:spcPct val="90000"/>
              </a:lnSpc>
              <a:defRPr sz="6000" spc="-50" baseline="0">
                <a:solidFill>
                  <a:schemeClr val="tx1"/>
                </a:solidFill>
                <a:latin typeface="+mj-lt"/>
                <a:cs typeface="Segoe Sans Display" pitchFamily="2" charset="0"/>
              </a:defRPr>
            </a:lvl1pPr>
          </a:lstStyle>
          <a:p>
            <a:r>
              <a:rPr lang="en-US"/>
              <a:t>Event name or </a:t>
            </a:r>
            <a:br>
              <a:rPr lang="en-US"/>
            </a:br>
            <a:r>
              <a:rPr lang="en-US"/>
              <a:t>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63402F-4347-87B8-3138-7514EE38E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54898"/>
          <a:stretch>
            <a:fillRect/>
          </a:stretch>
        </p:blipFill>
        <p:spPr>
          <a:xfrm>
            <a:off x="4052712" y="6302757"/>
            <a:ext cx="6046442" cy="55524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04D7A63-E9F0-5EBC-B7BB-E070AABDA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805914" y="0"/>
            <a:ext cx="5386086" cy="895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1737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29545" y="3029995"/>
            <a:ext cx="9401560" cy="1793104"/>
          </a:xfrm>
          <a:noFill/>
        </p:spPr>
        <p:txBody>
          <a:bodyPr lIns="0" tIns="0" rIns="0" bIns="182880" anchor="b" anchorCtr="0"/>
          <a:lstStyle>
            <a:lvl1pPr>
              <a:defRPr sz="5294" strike="noStrike" spc="-147" baseline="0">
                <a:solidFill>
                  <a:srgbClr val="000000"/>
                </a:solidFill>
              </a:defRPr>
            </a:lvl1pPr>
          </a:lstStyle>
          <a:p>
            <a:r>
              <a:rPr lang="en-US"/>
              <a:t>Microsoft 365</a:t>
            </a:r>
            <a:br>
              <a:rPr lang="en-US"/>
            </a:br>
            <a:r>
              <a:rPr lang="en-US"/>
              <a:t>title or event name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426427" y="4838790"/>
            <a:ext cx="9401560" cy="945435"/>
          </a:xfrm>
          <a:noFill/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68" spc="0" baseline="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/>
              <a:t>Author name</a:t>
            </a:r>
          </a:p>
          <a:p>
            <a:pPr lvl="0"/>
            <a:r>
              <a:rPr lang="en-US"/>
              <a:t>Date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F4A718E-6F7C-414B-B5B4-AA6809C768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9544" y="437139"/>
            <a:ext cx="896425" cy="190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60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A83EF54-F800-4521-AA68-2B27B0B561A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7318" y="2139702"/>
            <a:ext cx="11339774" cy="1223171"/>
          </a:xfr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1274"/>
              </a:spcAft>
              <a:buNone/>
              <a:defRPr sz="2549" b="0" i="0">
                <a:solidFill>
                  <a:srgbClr val="000000"/>
                </a:solidFill>
                <a:latin typeface="+mn-lt"/>
              </a:defRPr>
            </a:lvl1pPr>
            <a:lvl2pPr marL="224097" indent="0">
              <a:lnSpc>
                <a:spcPct val="90000"/>
              </a:lnSpc>
              <a:spcBef>
                <a:spcPts val="0"/>
              </a:spcBef>
              <a:spcAft>
                <a:spcPts val="1274"/>
              </a:spcAft>
              <a:buNone/>
              <a:defRPr sz="1961">
                <a:solidFill>
                  <a:srgbClr val="000000"/>
                </a:solidFill>
              </a:defRPr>
            </a:lvl2pPr>
            <a:lvl3pPr marL="448193" indent="0">
              <a:spcBef>
                <a:spcPts val="0"/>
              </a:spcBef>
              <a:spcAft>
                <a:spcPts val="1274"/>
              </a:spcAft>
              <a:buNone/>
              <a:defRPr sz="1961">
                <a:solidFill>
                  <a:srgbClr val="000000"/>
                </a:solidFill>
              </a:defRPr>
            </a:lvl3pPr>
            <a:lvl4pPr marL="672290" indent="0">
              <a:spcBef>
                <a:spcPts val="0"/>
              </a:spcBef>
              <a:spcAft>
                <a:spcPts val="1274"/>
              </a:spcAft>
              <a:buNone/>
              <a:defRPr sz="1961"/>
            </a:lvl4pPr>
            <a:lvl5pPr marL="896386" indent="0">
              <a:buNone/>
              <a:defRPr/>
            </a:lvl5pPr>
          </a:lstStyle>
          <a:p>
            <a:pPr lvl="0"/>
            <a:r>
              <a:rPr lang="en-US"/>
              <a:t>First level Segoe UI 26pt</a:t>
            </a:r>
          </a:p>
          <a:p>
            <a:pPr lvl="1"/>
            <a:r>
              <a:rPr lang="en-US"/>
              <a:t>Second level Segoe UI 20pt</a:t>
            </a:r>
          </a:p>
          <a:p>
            <a:pPr lvl="2"/>
            <a:r>
              <a:rPr lang="en-US"/>
              <a:t>Third level Segoe UI 20pt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AE6F3ED0-7F59-40C0-BDE3-5E0443999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6424" y="440495"/>
            <a:ext cx="11336039" cy="739343"/>
          </a:xfrm>
          <a:prstGeom prst="rect">
            <a:avLst/>
          </a:prstGeom>
        </p:spPr>
        <p:txBody>
          <a:bodyPr vert="horz" wrap="square" lIns="0" tIns="164592" rIns="0" bIns="0" rtlCol="0" anchor="t">
            <a:no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Heading Segoe UI </a:t>
            </a:r>
            <a:r>
              <a:rPr lang="en-US" err="1"/>
              <a:t>Semibold</a:t>
            </a:r>
            <a:r>
              <a:rPr lang="en-US"/>
              <a:t> 32pt</a:t>
            </a:r>
          </a:p>
        </p:txBody>
      </p:sp>
    </p:spTree>
    <p:extLst>
      <p:ext uri="{BB962C8B-B14F-4D97-AF65-F5344CB8AC3E}">
        <p14:creationId xmlns:p14="http://schemas.microsoft.com/office/powerpoint/2010/main" val="2172191069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slide (with bulle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A83EF54-F800-4521-AA68-2B27B0B561A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7319" y="2141394"/>
            <a:ext cx="11339774" cy="1223171"/>
          </a:xfrm>
        </p:spPr>
        <p:txBody>
          <a:bodyPr wrap="square" lIns="0" tIns="0" rIns="0" bIns="0">
            <a:spAutoFit/>
          </a:bodyPr>
          <a:lstStyle>
            <a:lvl1pPr marL="268916" indent="-268916">
              <a:lnSpc>
                <a:spcPct val="90000"/>
              </a:lnSpc>
              <a:spcBef>
                <a:spcPts val="0"/>
              </a:spcBef>
              <a:spcAft>
                <a:spcPts val="1274"/>
              </a:spcAft>
              <a:buClr>
                <a:srgbClr val="000000"/>
              </a:buClr>
              <a:buSzPct val="77000"/>
              <a:buFont typeface="Arial" panose="020B0604020202020204" pitchFamily="34" charset="0"/>
              <a:buChar char="•"/>
              <a:defRPr sz="2549" b="0" i="0">
                <a:solidFill>
                  <a:srgbClr val="000000"/>
                </a:solidFill>
                <a:latin typeface="+mn-lt"/>
              </a:defRPr>
            </a:lvl1pPr>
            <a:lvl2pPr marL="537832" indent="-224097">
              <a:lnSpc>
                <a:spcPct val="90000"/>
              </a:lnSpc>
              <a:spcBef>
                <a:spcPts val="0"/>
              </a:spcBef>
              <a:spcAft>
                <a:spcPts val="1274"/>
              </a:spcAft>
              <a:buClr>
                <a:srgbClr val="000000"/>
              </a:buClr>
              <a:buSzPct val="77000"/>
              <a:buFont typeface="Arial" panose="020B0604020202020204" pitchFamily="34" charset="0"/>
              <a:buChar char="•"/>
              <a:defRPr sz="1961">
                <a:solidFill>
                  <a:srgbClr val="000000"/>
                </a:solidFill>
              </a:defRPr>
            </a:lvl2pPr>
            <a:lvl3pPr marL="806748" indent="-224097">
              <a:spcBef>
                <a:spcPts val="0"/>
              </a:spcBef>
              <a:spcAft>
                <a:spcPts val="1274"/>
              </a:spcAft>
              <a:buClr>
                <a:srgbClr val="000000"/>
              </a:buClr>
              <a:buSzPct val="77000"/>
              <a:buFont typeface="Arial" panose="020B0604020202020204" pitchFamily="34" charset="0"/>
              <a:buChar char="•"/>
              <a:defRPr sz="1961">
                <a:solidFill>
                  <a:srgbClr val="000000"/>
                </a:solidFill>
              </a:defRPr>
            </a:lvl3pPr>
            <a:lvl4pPr marL="672290" indent="0">
              <a:spcBef>
                <a:spcPts val="0"/>
              </a:spcBef>
              <a:spcAft>
                <a:spcPts val="1274"/>
              </a:spcAft>
              <a:buNone/>
              <a:defRPr sz="1961"/>
            </a:lvl4pPr>
            <a:lvl5pPr marL="896386" indent="0">
              <a:buNone/>
              <a:defRPr/>
            </a:lvl5pPr>
          </a:lstStyle>
          <a:p>
            <a:pPr lvl="0"/>
            <a:r>
              <a:rPr lang="en-US"/>
              <a:t>First level Segoe UI 26pt</a:t>
            </a:r>
          </a:p>
          <a:p>
            <a:pPr lvl="1"/>
            <a:r>
              <a:rPr lang="en-US"/>
              <a:t>Second level Segoe UI 20pt</a:t>
            </a:r>
          </a:p>
          <a:p>
            <a:pPr lvl="2"/>
            <a:r>
              <a:rPr lang="en-US"/>
              <a:t>Third level Segoe UI 20pt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AE6F3ED0-7F59-40C0-BDE3-5E0443999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6424" y="440495"/>
            <a:ext cx="11336039" cy="758022"/>
          </a:xfrm>
          <a:prstGeom prst="rect">
            <a:avLst/>
          </a:prstGeom>
        </p:spPr>
        <p:txBody>
          <a:bodyPr vert="horz" wrap="square" lIns="0" tIns="164592" rIns="0" bIns="0" rtlCol="0" anchor="t">
            <a:no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Heading Segoe UI </a:t>
            </a:r>
            <a:r>
              <a:rPr lang="en-US" err="1"/>
              <a:t>Semibold</a:t>
            </a:r>
            <a:r>
              <a:rPr lang="en-US"/>
              <a:t> 32pt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94EA65-2CBF-4A04-9D22-169D8572F3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6423" y="1083831"/>
            <a:ext cx="11339774" cy="353070"/>
          </a:xfr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1274"/>
              </a:spcAft>
              <a:buNone/>
              <a:defRPr sz="2549" b="0" i="0">
                <a:solidFill>
                  <a:srgbClr val="000000"/>
                </a:solidFill>
                <a:latin typeface="+mn-lt"/>
              </a:defRPr>
            </a:lvl1pPr>
            <a:lvl2pPr marL="224097" indent="0">
              <a:lnSpc>
                <a:spcPct val="90000"/>
              </a:lnSpc>
              <a:spcBef>
                <a:spcPts val="0"/>
              </a:spcBef>
              <a:spcAft>
                <a:spcPts val="1274"/>
              </a:spcAft>
              <a:buNone/>
              <a:defRPr sz="1961">
                <a:solidFill>
                  <a:schemeClr val="tx2"/>
                </a:solidFill>
              </a:defRPr>
            </a:lvl2pPr>
            <a:lvl3pPr marL="448193" indent="0">
              <a:spcBef>
                <a:spcPts val="0"/>
              </a:spcBef>
              <a:spcAft>
                <a:spcPts val="1274"/>
              </a:spcAft>
              <a:buNone/>
              <a:defRPr sz="1961"/>
            </a:lvl3pPr>
            <a:lvl4pPr marL="672290" indent="0">
              <a:spcBef>
                <a:spcPts val="0"/>
              </a:spcBef>
              <a:spcAft>
                <a:spcPts val="1274"/>
              </a:spcAft>
              <a:buNone/>
              <a:defRPr sz="1961"/>
            </a:lvl4pPr>
            <a:lvl5pPr marL="896386" indent="0">
              <a:buNone/>
              <a:defRPr/>
            </a:lvl5pPr>
          </a:lstStyle>
          <a:p>
            <a:pPr lvl="0"/>
            <a:r>
              <a:rPr lang="en-US"/>
              <a:t>Subtitle Segoe UI 26pt</a:t>
            </a:r>
          </a:p>
        </p:txBody>
      </p:sp>
    </p:spTree>
    <p:extLst>
      <p:ext uri="{BB962C8B-B14F-4D97-AF65-F5344CB8AC3E}">
        <p14:creationId xmlns:p14="http://schemas.microsoft.com/office/powerpoint/2010/main" val="1493638809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03F3274D-8F90-4F75-B990-F6B7A291D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383" y="437538"/>
            <a:ext cx="11333080" cy="742300"/>
          </a:xfrm>
          <a:prstGeom prst="rect">
            <a:avLst/>
          </a:prstGeom>
        </p:spPr>
        <p:txBody>
          <a:bodyPr vert="horz" wrap="square" lIns="0" tIns="164592" rIns="0" bIns="0" rtlCol="0" anchor="t">
            <a:no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329896676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ic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nline Image Placeholder 2">
            <a:extLst>
              <a:ext uri="{FF2B5EF4-FFF2-40B4-BE49-F238E27FC236}">
                <a16:creationId xmlns:a16="http://schemas.microsoft.com/office/drawing/2014/main" id="{562D5679-B66F-A244-9E94-0FFE5F1B6168}"/>
              </a:ext>
            </a:extLst>
          </p:cNvPr>
          <p:cNvSpPr>
            <a:spLocks noGrp="1"/>
          </p:cNvSpPr>
          <p:nvPr>
            <p:ph type="clipArt" sz="quarter" idx="11" hasCustomPrompt="1"/>
          </p:nvPr>
        </p:nvSpPr>
        <p:spPr>
          <a:xfrm>
            <a:off x="5982391" y="2145841"/>
            <a:ext cx="5780073" cy="3756460"/>
          </a:xfrm>
        </p:spPr>
        <p:txBody>
          <a:bodyPr anchor="ctr">
            <a:noAutofit/>
          </a:bodyPr>
          <a:lstStyle>
            <a:lvl1pPr algn="ctr">
              <a:defRPr sz="1961">
                <a:latin typeface="+mj-lt"/>
              </a:defRPr>
            </a:lvl1pPr>
          </a:lstStyle>
          <a:p>
            <a:r>
              <a:rPr lang="en-US"/>
              <a:t>Drop photo here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26424" y="2145841"/>
            <a:ext cx="5138175" cy="2573509"/>
          </a:xfrm>
        </p:spPr>
        <p:txBody>
          <a:bodyPr wrap="square" lIns="0" tIns="0" rIns="0" bIns="0">
            <a:noAutofit/>
          </a:bodyPr>
          <a:lstStyle>
            <a:lvl1pPr marL="0" marR="0" indent="0" algn="l" defTabSz="91436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2549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549" b="0" i="0">
                <a:solidFill>
                  <a:srgbClr val="000000"/>
                </a:solidFill>
                <a:latin typeface="+mn-lt"/>
              </a:defRPr>
            </a:lvl1pPr>
            <a:lvl2pPr marL="224097" marR="0" indent="0" algn="l" defTabSz="914367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lvl="0"/>
            <a:r>
              <a:rPr lang="pt-BR"/>
              <a:t>Subhead Segoe UI 26pt</a:t>
            </a:r>
          </a:p>
          <a:p>
            <a:pPr lvl="0"/>
            <a:r>
              <a:rPr lang="pt-BR"/>
              <a:t>Subhead Segoe UI 26pt</a:t>
            </a:r>
          </a:p>
          <a:p>
            <a:pPr lvl="0"/>
            <a:r>
              <a:rPr lang="pt-BR"/>
              <a:t>Subhead Segoe UI 26pt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E60CBD1C-0AFE-4EB9-94D7-943981FE0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6424" y="440495"/>
            <a:ext cx="11336039" cy="739343"/>
          </a:xfrm>
          <a:prstGeom prst="rect">
            <a:avLst/>
          </a:prstGeom>
        </p:spPr>
        <p:txBody>
          <a:bodyPr vert="horz" wrap="square" lIns="0" tIns="164592" rIns="0" bIns="0" rtlCol="0" anchor="t">
            <a:no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Device layout</a:t>
            </a:r>
          </a:p>
        </p:txBody>
      </p:sp>
    </p:spTree>
    <p:extLst>
      <p:ext uri="{BB962C8B-B14F-4D97-AF65-F5344CB8AC3E}">
        <p14:creationId xmlns:p14="http://schemas.microsoft.com/office/powerpoint/2010/main" val="318052873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layout: three columns graphic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426425" y="1599723"/>
            <a:ext cx="3632388" cy="31289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353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7" hasCustomPrompt="1"/>
          </p:nvPr>
        </p:nvSpPr>
        <p:spPr>
          <a:xfrm>
            <a:off x="897219" y="1958468"/>
            <a:ext cx="2698612" cy="2411476"/>
          </a:xfrm>
        </p:spPr>
        <p:txBody>
          <a:bodyPr anchor="ctr">
            <a:noAutofit/>
          </a:bodyPr>
          <a:lstStyle>
            <a:lvl1pPr marL="0" indent="0" algn="ctr">
              <a:buNone/>
              <a:defRPr sz="196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6" name="Rectangle 5"/>
          <p:cNvSpPr/>
          <p:nvPr userDrawn="1"/>
        </p:nvSpPr>
        <p:spPr bwMode="auto">
          <a:xfrm>
            <a:off x="4281363" y="1599723"/>
            <a:ext cx="3623052" cy="31289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353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 bwMode="auto">
          <a:xfrm>
            <a:off x="8126965" y="1599723"/>
            <a:ext cx="3635499" cy="31289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353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Content Placeholder 15"/>
          <p:cNvSpPr>
            <a:spLocks noGrp="1"/>
          </p:cNvSpPr>
          <p:nvPr userDrawn="1">
            <p:ph sz="quarter" idx="18" hasCustomPrompt="1"/>
          </p:nvPr>
        </p:nvSpPr>
        <p:spPr>
          <a:xfrm>
            <a:off x="4746694" y="1958468"/>
            <a:ext cx="2698612" cy="2411476"/>
          </a:xfrm>
        </p:spPr>
        <p:txBody>
          <a:bodyPr anchor="ctr">
            <a:noAutofit/>
          </a:bodyPr>
          <a:lstStyle>
            <a:lvl1pPr marL="0" indent="0" algn="ctr">
              <a:buNone/>
              <a:defRPr sz="196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8" name="Content Placeholder 15"/>
          <p:cNvSpPr>
            <a:spLocks noGrp="1"/>
          </p:cNvSpPr>
          <p:nvPr userDrawn="1">
            <p:ph sz="quarter" idx="19" hasCustomPrompt="1"/>
          </p:nvPr>
        </p:nvSpPr>
        <p:spPr>
          <a:xfrm>
            <a:off x="8598490" y="1958468"/>
            <a:ext cx="2698612" cy="2411476"/>
          </a:xfrm>
        </p:spPr>
        <p:txBody>
          <a:bodyPr anchor="ctr">
            <a:noAutofit/>
          </a:bodyPr>
          <a:lstStyle>
            <a:lvl1pPr marL="0" indent="0" algn="ctr">
              <a:buNone/>
              <a:defRPr sz="196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FC74E6E5-9DAD-4A14-9C20-D9F9150874FE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426424" y="440495"/>
            <a:ext cx="11336039" cy="739343"/>
          </a:xfrm>
          <a:prstGeom prst="rect">
            <a:avLst/>
          </a:prstGeom>
        </p:spPr>
        <p:txBody>
          <a:bodyPr vert="horz" wrap="square" lIns="0" tIns="164592" rIns="0" bIns="0" rtlCol="0" anchor="t">
            <a:no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Graphic layout: three columns graphic and text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B052D15-67DF-4845-863F-FEC853640A9E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26425" y="4927922"/>
            <a:ext cx="3627659" cy="1307666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784"/>
              </a:spcAft>
              <a:buNone/>
              <a:defRPr sz="1568" b="1">
                <a:solidFill>
                  <a:schemeClr val="accent1"/>
                </a:solidFill>
                <a:latin typeface="+mj-lt"/>
              </a:defRPr>
            </a:lvl1pPr>
            <a:lvl2pPr marL="0" marR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84"/>
              </a:spcAft>
              <a:buClrTx/>
              <a:buSzPct val="90000"/>
              <a:buFont typeface="Arial" panose="020B0604020202020204" pitchFamily="34" charset="0"/>
              <a:buNone/>
              <a:tabLst/>
              <a:defRPr sz="1568">
                <a:solidFill>
                  <a:srgbClr val="000000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lvl="0"/>
            <a:r>
              <a:rPr lang="en-US"/>
              <a:t>Paragraph title Segoe UI </a:t>
            </a:r>
            <a:r>
              <a:rPr lang="en-US" err="1"/>
              <a:t>Semibold</a:t>
            </a:r>
            <a:r>
              <a:rPr lang="en-US"/>
              <a:t> 16</a:t>
            </a:r>
          </a:p>
          <a:p>
            <a:pPr lvl="1"/>
            <a:r>
              <a:rPr lang="en-US"/>
              <a:t>Body copy Segoe Regular 16.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</a:t>
            </a:r>
            <a:r>
              <a:rPr lang="en-US" err="1"/>
              <a:t>quam</a:t>
            </a:r>
            <a:r>
              <a:rPr lang="en-US"/>
              <a:t> id eat ape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sinc</a:t>
            </a:r>
            <a:r>
              <a:rPr lang="en-US"/>
              <a:t>, </a:t>
            </a:r>
            <a:r>
              <a:rPr lang="en-US" err="1"/>
              <a:t>omnimusdae</a:t>
            </a:r>
            <a:r>
              <a:rPr lang="en-US"/>
              <a:t>. </a:t>
            </a:r>
            <a:r>
              <a:rPr lang="en-US" err="1"/>
              <a:t>Boribus</a:t>
            </a:r>
            <a:r>
              <a:rPr lang="en-US"/>
              <a:t> </a:t>
            </a:r>
            <a:r>
              <a:rPr lang="en-US" err="1"/>
              <a:t>sinctius</a:t>
            </a:r>
            <a:r>
              <a:rPr lang="en-US"/>
              <a:t> </a:t>
            </a:r>
            <a:r>
              <a:rPr lang="en-US" err="1"/>
              <a:t>nimaxime</a:t>
            </a:r>
            <a:r>
              <a:rPr lang="en-US"/>
              <a:t> sit et </a:t>
            </a:r>
            <a:r>
              <a:rPr lang="en-US" err="1"/>
              <a:t>nonsequibus</a:t>
            </a:r>
            <a:r>
              <a:rPr lang="en-US"/>
              <a:t> </a:t>
            </a:r>
            <a:r>
              <a:rPr lang="en-US" err="1"/>
              <a:t>dollendis</a:t>
            </a:r>
            <a:r>
              <a:rPr lang="en-US"/>
              <a:t> as </a:t>
            </a:r>
            <a:r>
              <a:rPr lang="en-US" err="1"/>
              <a:t>autestiat</a:t>
            </a:r>
            <a:r>
              <a:rPr lang="en-US"/>
              <a:t>.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5ECD4C7-D870-4003-9FA8-85EBBED87940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4281362" y="4927922"/>
            <a:ext cx="3623051" cy="1307666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784"/>
              </a:spcAft>
              <a:buNone/>
              <a:defRPr sz="1568">
                <a:solidFill>
                  <a:schemeClr val="accent1"/>
                </a:solidFill>
                <a:latin typeface="+mj-lt"/>
              </a:defRPr>
            </a:lvl1pPr>
            <a:lvl2pPr marL="0" marR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84"/>
              </a:spcAft>
              <a:buClrTx/>
              <a:buSzPct val="90000"/>
              <a:buFont typeface="Arial" panose="020B0604020202020204" pitchFamily="34" charset="0"/>
              <a:buNone/>
              <a:tabLst/>
              <a:defRPr sz="1568">
                <a:solidFill>
                  <a:srgbClr val="000000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lvl="0"/>
            <a:r>
              <a:rPr lang="en-US"/>
              <a:t>Paragraph title Segoe UI </a:t>
            </a:r>
            <a:r>
              <a:rPr lang="en-US" err="1"/>
              <a:t>Semibold</a:t>
            </a:r>
            <a:r>
              <a:rPr lang="en-US"/>
              <a:t> 16</a:t>
            </a:r>
          </a:p>
          <a:p>
            <a:pPr lvl="1"/>
            <a:r>
              <a:rPr lang="en-US"/>
              <a:t>Body copy Segoe Regular 16.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</a:t>
            </a:r>
            <a:r>
              <a:rPr lang="en-US" err="1"/>
              <a:t>quam</a:t>
            </a:r>
            <a:r>
              <a:rPr lang="en-US"/>
              <a:t> id eat ape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sinc</a:t>
            </a:r>
            <a:r>
              <a:rPr lang="en-US"/>
              <a:t>, </a:t>
            </a:r>
            <a:r>
              <a:rPr lang="en-US" err="1"/>
              <a:t>omnimusdae</a:t>
            </a:r>
            <a:r>
              <a:rPr lang="en-US"/>
              <a:t>. </a:t>
            </a:r>
            <a:r>
              <a:rPr lang="en-US" err="1"/>
              <a:t>Boribus</a:t>
            </a:r>
            <a:r>
              <a:rPr lang="en-US"/>
              <a:t> </a:t>
            </a:r>
            <a:r>
              <a:rPr lang="en-US" err="1"/>
              <a:t>sinctius</a:t>
            </a:r>
            <a:r>
              <a:rPr lang="en-US"/>
              <a:t> </a:t>
            </a:r>
            <a:r>
              <a:rPr lang="en-US" err="1"/>
              <a:t>nimaxime</a:t>
            </a:r>
            <a:r>
              <a:rPr lang="en-US"/>
              <a:t> sit et </a:t>
            </a:r>
            <a:r>
              <a:rPr lang="en-US" err="1"/>
              <a:t>nonsequibus</a:t>
            </a:r>
            <a:r>
              <a:rPr lang="en-US"/>
              <a:t> </a:t>
            </a:r>
            <a:r>
              <a:rPr lang="en-US" err="1"/>
              <a:t>dollendis</a:t>
            </a:r>
            <a:r>
              <a:rPr lang="en-US"/>
              <a:t> as </a:t>
            </a:r>
            <a:r>
              <a:rPr lang="en-US" err="1"/>
              <a:t>autestiat</a:t>
            </a:r>
            <a:r>
              <a:rPr lang="en-US"/>
              <a:t>.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A9BECBA-B2CC-4EE6-B54E-9ADB03EB2595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8126963" y="4927922"/>
            <a:ext cx="3635502" cy="1307666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784"/>
              </a:spcAft>
              <a:buNone/>
              <a:defRPr sz="1568">
                <a:solidFill>
                  <a:schemeClr val="accent1"/>
                </a:solidFill>
                <a:latin typeface="+mj-lt"/>
              </a:defRPr>
            </a:lvl1pPr>
            <a:lvl2pPr marL="0" marR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84"/>
              </a:spcAft>
              <a:buClrTx/>
              <a:buSzPct val="90000"/>
              <a:buFont typeface="Arial" panose="020B0604020202020204" pitchFamily="34" charset="0"/>
              <a:buNone/>
              <a:tabLst/>
              <a:defRPr sz="1568">
                <a:solidFill>
                  <a:srgbClr val="000000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lvl="0"/>
            <a:r>
              <a:rPr lang="en-US"/>
              <a:t>Paragraph title Segoe UI bold 16</a:t>
            </a:r>
          </a:p>
          <a:p>
            <a:pPr lvl="1"/>
            <a:r>
              <a:rPr lang="en-US"/>
              <a:t>Body copy Segoe Regular 16.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</a:t>
            </a:r>
            <a:r>
              <a:rPr lang="en-US" err="1"/>
              <a:t>quam</a:t>
            </a:r>
            <a:r>
              <a:rPr lang="en-US"/>
              <a:t> id eat ape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sinc</a:t>
            </a:r>
            <a:r>
              <a:rPr lang="en-US"/>
              <a:t>, </a:t>
            </a:r>
            <a:r>
              <a:rPr lang="en-US" err="1"/>
              <a:t>omnimusdae</a:t>
            </a:r>
            <a:r>
              <a:rPr lang="en-US"/>
              <a:t>. </a:t>
            </a:r>
            <a:r>
              <a:rPr lang="en-US" err="1"/>
              <a:t>Boribus</a:t>
            </a:r>
            <a:r>
              <a:rPr lang="en-US"/>
              <a:t> </a:t>
            </a:r>
            <a:r>
              <a:rPr lang="en-US" err="1"/>
              <a:t>sinctius</a:t>
            </a:r>
            <a:r>
              <a:rPr lang="en-US"/>
              <a:t> </a:t>
            </a:r>
            <a:r>
              <a:rPr lang="en-US" err="1"/>
              <a:t>nimaxime</a:t>
            </a:r>
            <a:r>
              <a:rPr lang="en-US"/>
              <a:t> sit et </a:t>
            </a:r>
            <a:r>
              <a:rPr lang="en-US" err="1"/>
              <a:t>nonsequibus</a:t>
            </a:r>
            <a:r>
              <a:rPr lang="en-US"/>
              <a:t> </a:t>
            </a:r>
            <a:r>
              <a:rPr lang="en-US" err="1"/>
              <a:t>dollendis</a:t>
            </a:r>
            <a:r>
              <a:rPr lang="en-US"/>
              <a:t> as </a:t>
            </a:r>
            <a:r>
              <a:rPr lang="en-US" err="1"/>
              <a:t>autestiat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33357484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layout: four columns graphic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594C393-E06E-3A4C-A658-2526A14DA5A1}"/>
              </a:ext>
            </a:extLst>
          </p:cNvPr>
          <p:cNvSpPr/>
          <p:nvPr userDrawn="1"/>
        </p:nvSpPr>
        <p:spPr bwMode="auto">
          <a:xfrm>
            <a:off x="9109046" y="1590385"/>
            <a:ext cx="2653417" cy="3128965"/>
          </a:xfrm>
          <a:prstGeom prst="rect">
            <a:avLst/>
          </a:prstGeom>
          <a:solidFill>
            <a:schemeClr val="bg2"/>
          </a:solidFill>
          <a:ln>
            <a:noFill/>
            <a:headEnd type="none" w="med" len="med"/>
            <a:tailEnd type="none" w="med" len="med"/>
          </a:ln>
          <a:effectLst>
            <a:outerShdw blurRad="76200" algn="ctr" rotWithShape="0">
              <a:schemeClr val="bg2">
                <a:lumMod val="50000"/>
                <a:alpha val="8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353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011C51E-94BA-C44D-ABF4-E87C4124DAF0}"/>
              </a:ext>
            </a:extLst>
          </p:cNvPr>
          <p:cNvSpPr/>
          <p:nvPr userDrawn="1"/>
        </p:nvSpPr>
        <p:spPr bwMode="auto">
          <a:xfrm>
            <a:off x="6214840" y="1590385"/>
            <a:ext cx="2653417" cy="3128965"/>
          </a:xfrm>
          <a:prstGeom prst="rect">
            <a:avLst/>
          </a:prstGeom>
          <a:solidFill>
            <a:schemeClr val="bg2"/>
          </a:solidFill>
          <a:ln>
            <a:noFill/>
            <a:headEnd type="none" w="med" len="med"/>
            <a:tailEnd type="none" w="med" len="med"/>
          </a:ln>
          <a:effectLst>
            <a:outerShdw blurRad="76200" algn="ctr" rotWithShape="0">
              <a:schemeClr val="bg2">
                <a:lumMod val="50000"/>
                <a:alpha val="8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353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DDB665-2DD7-AE40-9862-C6E8E22E9215}"/>
              </a:ext>
            </a:extLst>
          </p:cNvPr>
          <p:cNvSpPr/>
          <p:nvPr userDrawn="1"/>
        </p:nvSpPr>
        <p:spPr bwMode="auto">
          <a:xfrm>
            <a:off x="3320633" y="1590385"/>
            <a:ext cx="2653417" cy="3128965"/>
          </a:xfrm>
          <a:prstGeom prst="rect">
            <a:avLst/>
          </a:prstGeom>
          <a:solidFill>
            <a:schemeClr val="bg2"/>
          </a:solidFill>
          <a:ln>
            <a:noFill/>
            <a:headEnd type="none" w="med" len="med"/>
            <a:tailEnd type="none" w="med" len="med"/>
          </a:ln>
          <a:effectLst>
            <a:outerShdw blurRad="76200" algn="ctr" rotWithShape="0">
              <a:schemeClr val="bg2">
                <a:lumMod val="50000"/>
                <a:alpha val="8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353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CD677DE-AA2C-984C-BAE1-54D5F0B518CE}"/>
              </a:ext>
            </a:extLst>
          </p:cNvPr>
          <p:cNvSpPr/>
          <p:nvPr userDrawn="1"/>
        </p:nvSpPr>
        <p:spPr bwMode="auto">
          <a:xfrm>
            <a:off x="426426" y="1590385"/>
            <a:ext cx="2653417" cy="3128965"/>
          </a:xfrm>
          <a:prstGeom prst="rect">
            <a:avLst/>
          </a:prstGeom>
          <a:solidFill>
            <a:schemeClr val="bg2"/>
          </a:solidFill>
          <a:ln>
            <a:noFill/>
            <a:headEnd type="none" w="med" len="med"/>
            <a:tailEnd type="none" w="med" len="med"/>
          </a:ln>
          <a:effectLst>
            <a:outerShdw blurRad="76200" algn="ctr" rotWithShape="0">
              <a:schemeClr val="bg2">
                <a:lumMod val="50000"/>
                <a:alpha val="8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353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47712A-15EB-884C-BF95-7C690BA778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6424" y="435824"/>
            <a:ext cx="11336039" cy="74401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Graphic layout: four columns graphic and text</a:t>
            </a:r>
          </a:p>
        </p:txBody>
      </p:sp>
      <p:sp>
        <p:nvSpPr>
          <p:cNvPr id="4" name="Content Placeholder 15">
            <a:extLst>
              <a:ext uri="{FF2B5EF4-FFF2-40B4-BE49-F238E27FC236}">
                <a16:creationId xmlns:a16="http://schemas.microsoft.com/office/drawing/2014/main" id="{F580A529-D3A8-5643-80BA-3E2BE1AA8D5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66751" y="2135537"/>
            <a:ext cx="1572767" cy="2038660"/>
          </a:xfrm>
        </p:spPr>
        <p:txBody>
          <a:bodyPr anchor="ctr">
            <a:noAutofit/>
          </a:bodyPr>
          <a:lstStyle>
            <a:lvl1pPr marL="0" indent="0" algn="ctr">
              <a:buNone/>
              <a:defRPr sz="196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7" name="Content Placeholder 15">
            <a:extLst>
              <a:ext uri="{FF2B5EF4-FFF2-40B4-BE49-F238E27FC236}">
                <a16:creationId xmlns:a16="http://schemas.microsoft.com/office/drawing/2014/main" id="{1F6D7A4B-5FFE-2741-8477-E0CAA019B07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849259" y="2135537"/>
            <a:ext cx="1596164" cy="2038660"/>
          </a:xfrm>
        </p:spPr>
        <p:txBody>
          <a:bodyPr anchor="ctr">
            <a:noAutofit/>
          </a:bodyPr>
          <a:lstStyle>
            <a:lvl1pPr marL="0" indent="0" algn="ctr">
              <a:buNone/>
              <a:defRPr sz="196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07CF99F6-2487-AC48-8A09-B34B72BD5FE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6426" y="4927922"/>
            <a:ext cx="2653417" cy="1307666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784"/>
              </a:spcAft>
              <a:buNone/>
              <a:defRPr sz="1568" b="1">
                <a:solidFill>
                  <a:schemeClr val="accent1"/>
                </a:solidFill>
                <a:latin typeface="+mj-lt"/>
              </a:defRPr>
            </a:lvl1pPr>
            <a:lvl2pPr marL="0" marR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84"/>
              </a:spcAft>
              <a:buClrTx/>
              <a:buSzPct val="90000"/>
              <a:buFont typeface="Arial" panose="020B0604020202020204" pitchFamily="34" charset="0"/>
              <a:buNone/>
              <a:tabLst/>
              <a:defRPr sz="1568">
                <a:solidFill>
                  <a:srgbClr val="000000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lvl="0"/>
            <a:r>
              <a:rPr lang="en-US"/>
              <a:t>Paragraph title Segoe UI </a:t>
            </a:r>
            <a:r>
              <a:rPr lang="en-US" err="1"/>
              <a:t>Semibold</a:t>
            </a:r>
            <a:r>
              <a:rPr lang="en-US"/>
              <a:t> 16</a:t>
            </a:r>
          </a:p>
          <a:p>
            <a:pPr lvl="1"/>
            <a:r>
              <a:rPr lang="en-US"/>
              <a:t>Body copy Segoe Regular 16.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quam id eat ape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sinc</a:t>
            </a:r>
            <a:r>
              <a:rPr lang="en-US"/>
              <a:t>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7F7B5F75-90C0-F44E-9322-8FF1108BD34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20633" y="4927922"/>
            <a:ext cx="2653417" cy="1307666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784"/>
              </a:spcAft>
              <a:buNone/>
              <a:defRPr sz="1568">
                <a:solidFill>
                  <a:schemeClr val="accent1"/>
                </a:solidFill>
                <a:latin typeface="+mj-lt"/>
              </a:defRPr>
            </a:lvl1pPr>
            <a:lvl2pPr marL="0" marR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84"/>
              </a:spcAft>
              <a:buClrTx/>
              <a:buSzPct val="90000"/>
              <a:buFont typeface="Arial" panose="020B0604020202020204" pitchFamily="34" charset="0"/>
              <a:buNone/>
              <a:tabLst/>
              <a:defRPr sz="1568">
                <a:solidFill>
                  <a:srgbClr val="000000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lvl="0"/>
            <a:r>
              <a:rPr lang="en-US"/>
              <a:t>Paragraph title Segoe UI </a:t>
            </a:r>
            <a:r>
              <a:rPr lang="en-US" err="1"/>
              <a:t>Semibold</a:t>
            </a:r>
            <a:r>
              <a:rPr lang="en-US"/>
              <a:t> 16</a:t>
            </a:r>
          </a:p>
          <a:p>
            <a:pPr lvl="1"/>
            <a:r>
              <a:rPr lang="en-US"/>
              <a:t>Body copy Segoe Regular 16.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quam id eat ape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sinc</a:t>
            </a:r>
            <a:r>
              <a:rPr lang="en-US"/>
              <a:t>.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6E444E9C-8096-FE42-BE2A-094180C611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14840" y="4927922"/>
            <a:ext cx="2653417" cy="1307666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784"/>
              </a:spcAft>
              <a:buNone/>
              <a:defRPr sz="1568">
                <a:solidFill>
                  <a:schemeClr val="accent1"/>
                </a:solidFill>
                <a:latin typeface="+mj-lt"/>
              </a:defRPr>
            </a:lvl1pPr>
            <a:lvl2pPr marL="0" marR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84"/>
              </a:spcAft>
              <a:buClrTx/>
              <a:buSzPct val="90000"/>
              <a:buFont typeface="Arial" panose="020B0604020202020204" pitchFamily="34" charset="0"/>
              <a:buNone/>
              <a:tabLst/>
              <a:defRPr sz="1568">
                <a:solidFill>
                  <a:srgbClr val="000000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lvl="0"/>
            <a:r>
              <a:rPr lang="en-US"/>
              <a:t>Paragraph title Segoe UI bold 16</a:t>
            </a:r>
          </a:p>
          <a:p>
            <a:pPr lvl="1"/>
            <a:r>
              <a:rPr lang="en-US"/>
              <a:t>Body copy Segoe Regular 16.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quam id eat ape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sinc</a:t>
            </a:r>
            <a:r>
              <a:rPr lang="en-US"/>
              <a:t>.</a:t>
            </a:r>
          </a:p>
        </p:txBody>
      </p:sp>
      <p:sp>
        <p:nvSpPr>
          <p:cNvPr id="13" name="Content Placeholder 15">
            <a:extLst>
              <a:ext uri="{FF2B5EF4-FFF2-40B4-BE49-F238E27FC236}">
                <a16:creationId xmlns:a16="http://schemas.microsoft.com/office/drawing/2014/main" id="{30602BFF-4B8C-D046-AD65-47970BC89DF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743466" y="2135537"/>
            <a:ext cx="1596164" cy="2038660"/>
          </a:xfrm>
        </p:spPr>
        <p:txBody>
          <a:bodyPr anchor="ctr">
            <a:noAutofit/>
          </a:bodyPr>
          <a:lstStyle>
            <a:lvl1pPr marL="0" indent="0" algn="ctr">
              <a:buNone/>
              <a:defRPr sz="196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88A8CB35-A244-544E-8BAE-53CB85074FB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9637672" y="2135537"/>
            <a:ext cx="1596164" cy="2038660"/>
          </a:xfrm>
        </p:spPr>
        <p:txBody>
          <a:bodyPr anchor="ctr">
            <a:noAutofit/>
          </a:bodyPr>
          <a:lstStyle>
            <a:lvl1pPr marL="0" indent="0" algn="ctr">
              <a:buNone/>
              <a:defRPr sz="196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D8D35D15-66F4-4840-BA72-4B7AB5A24EF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09046" y="4927922"/>
            <a:ext cx="2653417" cy="1307666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784"/>
              </a:spcAft>
              <a:buNone/>
              <a:defRPr sz="1568">
                <a:solidFill>
                  <a:schemeClr val="accent1"/>
                </a:solidFill>
                <a:latin typeface="+mj-lt"/>
              </a:defRPr>
            </a:lvl1pPr>
            <a:lvl2pPr marL="0" marR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84"/>
              </a:spcAft>
              <a:buClrTx/>
              <a:buSzPct val="90000"/>
              <a:buFont typeface="Arial" panose="020B0604020202020204" pitchFamily="34" charset="0"/>
              <a:buNone/>
              <a:tabLst/>
              <a:defRPr sz="1568">
                <a:solidFill>
                  <a:srgbClr val="000000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lvl="0"/>
            <a:r>
              <a:rPr lang="en-US"/>
              <a:t>Paragraph title Segoe UI bold 16</a:t>
            </a:r>
          </a:p>
          <a:p>
            <a:pPr lvl="1"/>
            <a:r>
              <a:rPr lang="en-US"/>
              <a:t>Body copy Segoe Regular 16.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quam id eat ape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sinc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4660619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35"/>
          <p:cNvSpPr>
            <a:spLocks noGrp="1"/>
          </p:cNvSpPr>
          <p:nvPr>
            <p:ph type="title" hasCustomPrompt="1"/>
          </p:nvPr>
        </p:nvSpPr>
        <p:spPr>
          <a:xfrm>
            <a:off x="426425" y="1184319"/>
            <a:ext cx="7477989" cy="3535032"/>
          </a:xfrm>
          <a:noFill/>
        </p:spPr>
        <p:txBody>
          <a:bodyPr vert="horz" wrap="square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en-US" sz="5294" spc="-147" dirty="0">
                <a:solidFill>
                  <a:srgbClr val="000000"/>
                </a:solidFill>
              </a:defRPr>
            </a:lvl1pPr>
          </a:lstStyle>
          <a:p>
            <a:pPr marL="0" lvl="0">
              <a:lnSpc>
                <a:spcPts val="5490"/>
              </a:lnSpc>
            </a:pPr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456947350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5">
            <a:extLst>
              <a:ext uri="{FF2B5EF4-FFF2-40B4-BE49-F238E27FC236}">
                <a16:creationId xmlns:a16="http://schemas.microsoft.com/office/drawing/2014/main" id="{51E9DCD3-357B-4AF7-BDD2-18E09F714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6425" y="1184319"/>
            <a:ext cx="7477989" cy="3535032"/>
          </a:xfrm>
          <a:noFill/>
        </p:spPr>
        <p:txBody>
          <a:bodyPr vert="horz" wrap="square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en-US" sz="5294" spc="-147" dirty="0">
                <a:solidFill>
                  <a:schemeClr val="tx2"/>
                </a:solidFill>
              </a:defRPr>
            </a:lvl1pPr>
          </a:lstStyle>
          <a:p>
            <a:pPr marL="0" lvl="0">
              <a:lnSpc>
                <a:spcPts val="5490"/>
              </a:lnSpc>
            </a:pPr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0449334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26425" y="1829711"/>
            <a:ext cx="7477989" cy="1473396"/>
          </a:xfrm>
          <a:noFill/>
        </p:spPr>
        <p:txBody>
          <a:bodyPr lIns="0" tIns="0" rIns="0" bIns="0" anchor="t" anchorCtr="0"/>
          <a:lstStyle>
            <a:lvl1pPr>
              <a:lnSpc>
                <a:spcPct val="100000"/>
              </a:lnSpc>
              <a:spcAft>
                <a:spcPts val="1274"/>
              </a:spcAft>
              <a:defRPr sz="2549" spc="-147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Thank you.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1688BD8D-D2E4-4DFC-B39C-D55D84362354}"/>
              </a:ext>
            </a:extLst>
          </p:cNvPr>
          <p:cNvSpPr txBox="1">
            <a:spLocks noChangeArrowheads="1"/>
          </p:cNvSpPr>
          <p:nvPr userDrawn="1"/>
        </p:nvSpPr>
        <p:spPr bwMode="blackWhite">
          <a:xfrm>
            <a:off x="428494" y="6318462"/>
            <a:ext cx="4482124" cy="10561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913924" eaLnBrk="0" hangingPunct="0"/>
            <a:r>
              <a:rPr lang="en-US" sz="686">
                <a:solidFill>
                  <a:schemeClr val="bg2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6BDE7C-8AED-4A87-A171-2EB14E4B98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8681" y="437140"/>
            <a:ext cx="896425" cy="191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9547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hoto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87B2D435-6763-4273-8B58-EEB8756175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6425" y="440495"/>
            <a:ext cx="5555966" cy="758022"/>
          </a:xfrm>
          <a:prstGeom prst="rect">
            <a:avLst/>
          </a:prstGeom>
        </p:spPr>
        <p:txBody>
          <a:bodyPr vert="horz" wrap="square" lIns="0" tIns="164592" rIns="0" bIns="0" rtlCol="0" anchor="t">
            <a:noAutofit/>
          </a:bodyPr>
          <a:lstStyle>
            <a:lvl1pPr>
              <a:defRPr/>
            </a:lvl1pPr>
          </a:lstStyle>
          <a:p>
            <a:r>
              <a:rPr lang="en-US"/>
              <a:t>Photo layout 1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1CE2F71-BF91-4E7B-BDE5-A747EFEFF8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6424" y="2145841"/>
            <a:ext cx="5555965" cy="2573509"/>
          </a:xfrm>
        </p:spPr>
        <p:txBody>
          <a:bodyPr wrap="square" lIns="0" tIns="0" rIns="0" bIns="0">
            <a:noAutofit/>
          </a:bodyPr>
          <a:lstStyle>
            <a:lvl1pPr marL="0" marR="0" indent="0" algn="l" defTabSz="91436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2549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549" b="0" i="0">
                <a:solidFill>
                  <a:srgbClr val="000000"/>
                </a:solidFill>
                <a:latin typeface="+mn-lt"/>
              </a:defRPr>
            </a:lvl1pPr>
            <a:lvl2pPr marL="224097" marR="0" indent="0" algn="l" defTabSz="914367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lvl="0"/>
            <a:r>
              <a:rPr lang="pt-BR"/>
              <a:t>Subhead Segoe UI 26pt</a:t>
            </a:r>
          </a:p>
          <a:p>
            <a:pPr lvl="0"/>
            <a:r>
              <a:rPr lang="pt-BR"/>
              <a:t>Subhead Segoe UI 26pt</a:t>
            </a:r>
          </a:p>
          <a:p>
            <a:pPr lvl="0"/>
            <a:r>
              <a:rPr lang="pt-BR"/>
              <a:t>Subhead Segoe UI 26pt</a:t>
            </a:r>
          </a:p>
        </p:txBody>
      </p:sp>
    </p:spTree>
    <p:extLst>
      <p:ext uri="{BB962C8B-B14F-4D97-AF65-F5344CB8AC3E}">
        <p14:creationId xmlns:p14="http://schemas.microsoft.com/office/powerpoint/2010/main" val="2893404912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Graphic layout: three columns graphic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FC74E6E5-9DAD-4A14-9C20-D9F9150874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6424" y="440496"/>
            <a:ext cx="11336039" cy="739343"/>
          </a:xfrm>
          <a:prstGeom prst="rect">
            <a:avLst/>
          </a:prstGeom>
        </p:spPr>
        <p:txBody>
          <a:bodyPr vert="horz" wrap="square" lIns="0" tIns="164592" rIns="0" bIns="0" rtlCol="0" anchor="t">
            <a:no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Graphic layout: three columns graphic and text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B052D15-67DF-4845-863F-FEC853640A9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6426" y="4927922"/>
            <a:ext cx="3627659" cy="1307666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784"/>
              </a:spcAft>
              <a:buNone/>
              <a:defRPr sz="1567" b="1">
                <a:solidFill>
                  <a:schemeClr val="accent1"/>
                </a:solidFill>
                <a:latin typeface="+mj-lt"/>
              </a:defRPr>
            </a:lvl1pPr>
            <a:lvl2pPr marL="0" marR="0" indent="0" algn="l" defTabSz="9141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84"/>
              </a:spcAft>
              <a:buClrTx/>
              <a:buSzPct val="90000"/>
              <a:buFont typeface="Arial" panose="020B0604020202020204" pitchFamily="34" charset="0"/>
              <a:buNone/>
              <a:tabLst/>
              <a:defRPr sz="1567">
                <a:solidFill>
                  <a:srgbClr val="000000"/>
                </a:solidFill>
              </a:defRPr>
            </a:lvl2pPr>
            <a:lvl3pPr marL="448107" indent="0">
              <a:buNone/>
              <a:defRPr/>
            </a:lvl3pPr>
            <a:lvl4pPr marL="672161" indent="0">
              <a:buNone/>
              <a:defRPr/>
            </a:lvl4pPr>
            <a:lvl5pPr marL="896214" indent="0">
              <a:buNone/>
              <a:defRPr/>
            </a:lvl5pPr>
          </a:lstStyle>
          <a:p>
            <a:pPr lvl="0"/>
            <a:r>
              <a:rPr lang="en-US"/>
              <a:t>Paragraph title Segoe UI </a:t>
            </a:r>
            <a:r>
              <a:rPr lang="en-US" err="1"/>
              <a:t>Semibold</a:t>
            </a:r>
            <a:r>
              <a:rPr lang="en-US"/>
              <a:t> 16</a:t>
            </a:r>
          </a:p>
          <a:p>
            <a:pPr lvl="1"/>
            <a:r>
              <a:rPr lang="en-US"/>
              <a:t>Body copy Segoe Regular 16.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</a:t>
            </a:r>
            <a:r>
              <a:rPr lang="en-US" err="1"/>
              <a:t>quam</a:t>
            </a:r>
            <a:r>
              <a:rPr lang="en-US"/>
              <a:t> id eat ape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sinc</a:t>
            </a:r>
            <a:r>
              <a:rPr lang="en-US"/>
              <a:t>, </a:t>
            </a:r>
            <a:r>
              <a:rPr lang="en-US" err="1"/>
              <a:t>omnimusdae</a:t>
            </a:r>
            <a:r>
              <a:rPr lang="en-US"/>
              <a:t>. </a:t>
            </a:r>
            <a:r>
              <a:rPr lang="en-US" err="1"/>
              <a:t>Boribus</a:t>
            </a:r>
            <a:r>
              <a:rPr lang="en-US"/>
              <a:t> </a:t>
            </a:r>
            <a:r>
              <a:rPr lang="en-US" err="1"/>
              <a:t>sinctius</a:t>
            </a:r>
            <a:r>
              <a:rPr lang="en-US"/>
              <a:t> </a:t>
            </a:r>
            <a:r>
              <a:rPr lang="en-US" err="1"/>
              <a:t>nimaxime</a:t>
            </a:r>
            <a:r>
              <a:rPr lang="en-US"/>
              <a:t> sit et </a:t>
            </a:r>
            <a:r>
              <a:rPr lang="en-US" err="1"/>
              <a:t>nonsequibus</a:t>
            </a:r>
            <a:r>
              <a:rPr lang="en-US"/>
              <a:t> </a:t>
            </a:r>
            <a:r>
              <a:rPr lang="en-US" err="1"/>
              <a:t>dollendis</a:t>
            </a:r>
            <a:r>
              <a:rPr lang="en-US"/>
              <a:t> as </a:t>
            </a:r>
            <a:r>
              <a:rPr lang="en-US" err="1"/>
              <a:t>autestiat</a:t>
            </a:r>
            <a:r>
              <a:rPr lang="en-US"/>
              <a:t>.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5ECD4C7-D870-4003-9FA8-85EBBED8794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81363" y="4927922"/>
            <a:ext cx="3623051" cy="1307666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784"/>
              </a:spcAft>
              <a:buNone/>
              <a:defRPr sz="1567">
                <a:solidFill>
                  <a:schemeClr val="accent1"/>
                </a:solidFill>
                <a:latin typeface="+mj-lt"/>
              </a:defRPr>
            </a:lvl1pPr>
            <a:lvl2pPr marL="0" marR="0" indent="0" algn="l" defTabSz="9141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84"/>
              </a:spcAft>
              <a:buClrTx/>
              <a:buSzPct val="90000"/>
              <a:buFont typeface="Arial" panose="020B0604020202020204" pitchFamily="34" charset="0"/>
              <a:buNone/>
              <a:tabLst/>
              <a:defRPr sz="1567">
                <a:solidFill>
                  <a:srgbClr val="000000"/>
                </a:solidFill>
              </a:defRPr>
            </a:lvl2pPr>
            <a:lvl3pPr marL="448107" indent="0">
              <a:buNone/>
              <a:defRPr/>
            </a:lvl3pPr>
            <a:lvl4pPr marL="672161" indent="0">
              <a:buNone/>
              <a:defRPr/>
            </a:lvl4pPr>
            <a:lvl5pPr marL="896214" indent="0">
              <a:buNone/>
              <a:defRPr/>
            </a:lvl5pPr>
          </a:lstStyle>
          <a:p>
            <a:pPr lvl="0"/>
            <a:r>
              <a:rPr lang="en-US"/>
              <a:t>Paragraph title Segoe UI </a:t>
            </a:r>
            <a:r>
              <a:rPr lang="en-US" err="1"/>
              <a:t>Semibold</a:t>
            </a:r>
            <a:r>
              <a:rPr lang="en-US"/>
              <a:t> 16</a:t>
            </a:r>
          </a:p>
          <a:p>
            <a:pPr lvl="1"/>
            <a:r>
              <a:rPr lang="en-US"/>
              <a:t>Body copy Segoe Regular 16.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</a:t>
            </a:r>
            <a:r>
              <a:rPr lang="en-US" err="1"/>
              <a:t>quam</a:t>
            </a:r>
            <a:r>
              <a:rPr lang="en-US"/>
              <a:t> id eat ape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sinc</a:t>
            </a:r>
            <a:r>
              <a:rPr lang="en-US"/>
              <a:t>, </a:t>
            </a:r>
            <a:r>
              <a:rPr lang="en-US" err="1"/>
              <a:t>omnimusdae</a:t>
            </a:r>
            <a:r>
              <a:rPr lang="en-US"/>
              <a:t>. </a:t>
            </a:r>
            <a:r>
              <a:rPr lang="en-US" err="1"/>
              <a:t>Boribus</a:t>
            </a:r>
            <a:r>
              <a:rPr lang="en-US"/>
              <a:t> </a:t>
            </a:r>
            <a:r>
              <a:rPr lang="en-US" err="1"/>
              <a:t>sinctius</a:t>
            </a:r>
            <a:r>
              <a:rPr lang="en-US"/>
              <a:t> </a:t>
            </a:r>
            <a:r>
              <a:rPr lang="en-US" err="1"/>
              <a:t>nimaxime</a:t>
            </a:r>
            <a:r>
              <a:rPr lang="en-US"/>
              <a:t> sit et </a:t>
            </a:r>
            <a:r>
              <a:rPr lang="en-US" err="1"/>
              <a:t>nonsequibus</a:t>
            </a:r>
            <a:r>
              <a:rPr lang="en-US"/>
              <a:t> </a:t>
            </a:r>
            <a:r>
              <a:rPr lang="en-US" err="1"/>
              <a:t>dollendis</a:t>
            </a:r>
            <a:r>
              <a:rPr lang="en-US"/>
              <a:t> as </a:t>
            </a:r>
            <a:r>
              <a:rPr lang="en-US" err="1"/>
              <a:t>autestiat</a:t>
            </a:r>
            <a:r>
              <a:rPr lang="en-US"/>
              <a:t>.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A9BECBA-B2CC-4EE6-B54E-9ADB03EB25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26964" y="4927922"/>
            <a:ext cx="3635502" cy="1307666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784"/>
              </a:spcAft>
              <a:buNone/>
              <a:defRPr sz="1567">
                <a:solidFill>
                  <a:schemeClr val="accent1"/>
                </a:solidFill>
                <a:latin typeface="+mj-lt"/>
              </a:defRPr>
            </a:lvl1pPr>
            <a:lvl2pPr marL="0" marR="0" indent="0" algn="l" defTabSz="9141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84"/>
              </a:spcAft>
              <a:buClrTx/>
              <a:buSzPct val="90000"/>
              <a:buFont typeface="Arial" panose="020B0604020202020204" pitchFamily="34" charset="0"/>
              <a:buNone/>
              <a:tabLst/>
              <a:defRPr sz="1567">
                <a:solidFill>
                  <a:srgbClr val="000000"/>
                </a:solidFill>
              </a:defRPr>
            </a:lvl2pPr>
            <a:lvl3pPr marL="448107" indent="0">
              <a:buNone/>
              <a:defRPr/>
            </a:lvl3pPr>
            <a:lvl4pPr marL="672161" indent="0">
              <a:buNone/>
              <a:defRPr/>
            </a:lvl4pPr>
            <a:lvl5pPr marL="896214" indent="0">
              <a:buNone/>
              <a:defRPr/>
            </a:lvl5pPr>
          </a:lstStyle>
          <a:p>
            <a:pPr lvl="0"/>
            <a:r>
              <a:rPr lang="en-US"/>
              <a:t>Paragraph title Segoe UI bold 16</a:t>
            </a:r>
          </a:p>
          <a:p>
            <a:pPr lvl="1"/>
            <a:r>
              <a:rPr lang="en-US"/>
              <a:t>Body copy Segoe Regular 16.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</a:t>
            </a:r>
            <a:r>
              <a:rPr lang="en-US" err="1"/>
              <a:t>quam</a:t>
            </a:r>
            <a:r>
              <a:rPr lang="en-US"/>
              <a:t> id eat ape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sinc</a:t>
            </a:r>
            <a:r>
              <a:rPr lang="en-US"/>
              <a:t>, </a:t>
            </a:r>
            <a:r>
              <a:rPr lang="en-US" err="1"/>
              <a:t>omnimusdae</a:t>
            </a:r>
            <a:r>
              <a:rPr lang="en-US"/>
              <a:t>. </a:t>
            </a:r>
            <a:r>
              <a:rPr lang="en-US" err="1"/>
              <a:t>Boribus</a:t>
            </a:r>
            <a:r>
              <a:rPr lang="en-US"/>
              <a:t> </a:t>
            </a:r>
            <a:r>
              <a:rPr lang="en-US" err="1"/>
              <a:t>sinctius</a:t>
            </a:r>
            <a:r>
              <a:rPr lang="en-US"/>
              <a:t> </a:t>
            </a:r>
            <a:r>
              <a:rPr lang="en-US" err="1"/>
              <a:t>nimaxime</a:t>
            </a:r>
            <a:r>
              <a:rPr lang="en-US"/>
              <a:t> sit et </a:t>
            </a:r>
            <a:r>
              <a:rPr lang="en-US" err="1"/>
              <a:t>nonsequibus</a:t>
            </a:r>
            <a:r>
              <a:rPr lang="en-US"/>
              <a:t> </a:t>
            </a:r>
            <a:r>
              <a:rPr lang="en-US" err="1"/>
              <a:t>dollendis</a:t>
            </a:r>
            <a:r>
              <a:rPr lang="en-US"/>
              <a:t> as </a:t>
            </a:r>
            <a:r>
              <a:rPr lang="en-US" err="1"/>
              <a:t>autestiat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10497291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D53EF-379E-4348-B193-51A225E179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836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title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26846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7490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4778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2965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6576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1807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3524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4210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735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3443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17675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6498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19976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CAPS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7415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5">
    <p:bg>
      <p:bgPr>
        <a:blipFill dpi="0" rotWithShape="1">
          <a:blip r:embed="rId2">
            <a:lum/>
          </a:blip>
          <a:srcRect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6B15DBD-1404-5599-4352-54E4640D8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433965"/>
          </a:xfrm>
        </p:spPr>
        <p:txBody>
          <a:bodyPr tIns="64008"/>
          <a:lstStyle>
            <a:lvl1pPr>
              <a:defRPr sz="2400" spc="0">
                <a:latin typeface="+mj-lt"/>
                <a:cs typeface="Segoe Sans Display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2999271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60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83F7F-0DB8-8B3B-2954-2F0C861E43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F23798-84E0-BEB9-EC26-6B37938620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0D27A-2053-3DFE-7F63-F99B4924A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A38D1-E4C1-4454-A3E5-8863343597FA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F26B13-B831-B8EE-AC6B-9B7729AE6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1F3F4-09E2-7863-4A71-46C748016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02B53-CE29-4347-9E10-38A305D69B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1932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58325-30DE-69C9-C5BD-67432748B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77FE2-66B5-9756-ECBF-A3A6B6F495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FBBEE-CA65-6A1C-26DD-EE261F6EE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A38D1-E4C1-4454-A3E5-8863343597FA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98D99-983C-F767-3F27-8AB82FA14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9B5A91-C2AC-D096-8181-361FD684C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02B53-CE29-4347-9E10-38A305D69B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80868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39E56-F6B2-AFF5-FA74-C99188B9D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A3F7AE-AE52-E158-7E0C-CBD1EF30AD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603DF-86EF-D2E6-6815-D9B4FB721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A38D1-E4C1-4454-A3E5-8863343597FA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9B420-AC93-B384-833E-340FBDD17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3BDFCF-1F8E-BAB1-C0F7-81E0AF307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02B53-CE29-4347-9E10-38A305D69B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933344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E9386-EB90-8F42-58CB-89C25DE0C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9FF21-9752-2A75-B7C2-4781DC7BF0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8E3C9F-CDEF-2A8E-11D3-54DEA2C16D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AF8134-405F-1753-CE3F-1163613A3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A38D1-E4C1-4454-A3E5-8863343597FA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7B73D1-8E85-24BC-EC55-BD8A3E28B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B3356E-E9AF-F73B-E5D4-A0241E328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02B53-CE29-4347-9E10-38A305D69B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14566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E4540-12F7-9375-E094-919DA28B1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D37A30-F8CF-297D-0C32-88022A9B7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E4BC01-7377-21BD-3E75-1204FD7930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BB7E55-B9B7-22B0-A551-F083C08761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AD1C14-9398-44F6-F829-98D0EC1290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06F97B-8550-39CA-6A61-334320B17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A38D1-E4C1-4454-A3E5-8863343597FA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364604-73A7-2DAA-B996-A7D74B0A6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C584F3-D525-2CF8-32D7-A0D38AE96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02B53-CE29-4347-9E10-38A305D69B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825581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46C89-30AD-742A-7180-44851BB72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2F95FE-2C22-EE36-6BF9-142931AB3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A38D1-E4C1-4454-A3E5-8863343597FA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71BE0-1547-31CA-DBA1-9FBD891A9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C69C37-BF2D-A12D-7766-0807EA1E7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02B53-CE29-4347-9E10-38A305D69B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219679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9B760D-5683-5450-DCD1-CA7588565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A38D1-E4C1-4454-A3E5-8863343597FA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603E05-7C0C-5DEC-864D-EEDF54A4C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D635D1-4E5C-770A-8E69-9C1A8C22D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02B53-CE29-4347-9E10-38A305D69B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563312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E5E89-FA38-C43C-6680-96F2E90F9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2B43-0C86-B8E2-D5E7-C4A3A6079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9342B2-62BF-00B0-C91A-A4AD04749F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3C82C0-269D-BDD6-A195-EFA385B63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A38D1-E4C1-4454-A3E5-8863343597FA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6634ED-F26B-A070-840C-7B25BE81F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6C1788-BBC9-CD18-D8E7-5C29FEF77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02B53-CE29-4347-9E10-38A305D69B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43700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42256-97D7-3CA5-80F0-A777CAF46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127417-FA15-B546-BA2E-14A980D9E4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5D67E7-00FE-0F60-40E4-FC8B7E7D6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8EE07F-64EA-B637-E1EA-6A7F579CD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A38D1-E4C1-4454-A3E5-8863343597FA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2CA20-8BC7-35B4-97DE-7BB7418FA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446FA0-C9C6-A9A8-B440-9E0BABDDA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02B53-CE29-4347-9E10-38A305D69B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770273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5DE91-78F7-2CF0-C028-64D07E5AA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5C6A2D-E550-FFBF-5417-637DFFEFE4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F1B573-9B72-48EF-D88F-2C88D99D0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A38D1-E4C1-4454-A3E5-8863343597FA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CFA20-646E-8A9B-9F67-BF4B7AF95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D7B14-757B-4AC5-CD27-9BFB0ADD2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02B53-CE29-4347-9E10-38A305D69B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560635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EA5E3A-68F6-6C7B-3155-274394DD3A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1CD13C-C895-B68A-DFA7-AE7431A6A2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440CB-0380-70CB-CE23-CBAA6C519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A38D1-E4C1-4454-A3E5-8863343597FA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3C08E-8C62-EC8B-405C-79BA3B6E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903D5-1E0E-75D2-3EF1-0C96BC70D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02B53-CE29-4347-9E10-38A305D69B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763817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CB8D68C-3D8E-5E53-1142-AF659F2727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3333" r="3333"/>
          <a:stretch/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pic>
        <p:nvPicPr>
          <p:cNvPr id="2" name="MS logo white - EMF" descr="Microsoft logo white text version">
            <a:extLst>
              <a:ext uri="{FF2B5EF4-FFF2-40B4-BE49-F238E27FC236}">
                <a16:creationId xmlns:a16="http://schemas.microsoft.com/office/drawing/2014/main" id="{1840CBD0-0BEB-DC8F-CEF1-C001B453866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307976" y="6339128"/>
            <a:ext cx="933451" cy="199917"/>
          </a:xfrm>
          <a:prstGeom prst="rect">
            <a:avLst/>
          </a:prstGeom>
        </p:spPr>
      </p:pic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F41303C3-84B6-E6CF-238B-40E4DFF4515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5780" y="1697492"/>
            <a:ext cx="3434755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rgbClr val="7030A0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27D2F62B-95C1-501A-9EAF-373FABE011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5780" y="596605"/>
            <a:ext cx="8242300" cy="64633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4200" b="0" spc="0" baseline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16201456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85734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jpeg"/><Relationship Id="rId4" Type="http://schemas.openxmlformats.org/officeDocument/2006/relationships/image" Target="../media/image2.sv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5.xml"/><Relationship Id="rId15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5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29.xml"/><Relationship Id="rId15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3.xml"/><Relationship Id="rId5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6.xml"/><Relationship Id="rId8" Type="http://schemas.openxmlformats.org/officeDocument/2006/relationships/slideLayout" Target="../slideLayouts/slideLayout37.xml"/><Relationship Id="rId9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2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White"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Sans Display" pitchFamily="2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397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Sans Display" pitchFamily="2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Sans Display" pitchFamily="2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0">
          <p15:clr>
            <a:srgbClr val="C35EA4"/>
          </p15:clr>
        </p15:guide>
        <p15:guide id="17" pos="7320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8" pos="192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88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6424" y="435824"/>
            <a:ext cx="11336039" cy="744014"/>
          </a:xfrm>
          <a:prstGeom prst="rect">
            <a:avLst/>
          </a:prstGeom>
        </p:spPr>
        <p:txBody>
          <a:bodyPr vert="horz" wrap="square" lIns="0" tIns="164592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37319" y="1866615"/>
            <a:ext cx="11336039" cy="12764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91752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</p:sldLayoutIdLst>
  <p:transition>
    <p:fade/>
  </p:transition>
  <p:txStyles>
    <p:titleStyle>
      <a:lvl1pPr algn="l" defTabSz="914367" rtl="0" eaLnBrk="1" latinLnBrk="0" hangingPunct="1">
        <a:lnSpc>
          <a:spcPct val="90000"/>
        </a:lnSpc>
        <a:spcBef>
          <a:spcPct val="0"/>
        </a:spcBef>
        <a:buNone/>
        <a:defRPr lang="en-US" sz="3137" b="0" kern="1200" cap="none" spc="-147" baseline="0" dirty="0">
          <a:ln w="3175">
            <a:noFill/>
          </a:ln>
          <a:solidFill>
            <a:srgbClr val="000000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914367" rtl="0" eaLnBrk="1" fontAlgn="auto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2549" kern="1200" spc="0" baseline="0">
          <a:solidFill>
            <a:srgbClr val="000000"/>
          </a:solidFill>
          <a:latin typeface="+mn-lt"/>
          <a:ea typeface="+mn-ea"/>
          <a:cs typeface="+mn-cs"/>
        </a:defRPr>
      </a:lvl1pPr>
      <a:lvl2pPr marL="224097" marR="0" indent="0" algn="l" defTabSz="914367" rtl="0" eaLnBrk="1" fontAlgn="auto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961" kern="1200" spc="0" baseline="0">
          <a:solidFill>
            <a:srgbClr val="000000"/>
          </a:solidFill>
          <a:latin typeface="+mn-lt"/>
          <a:ea typeface="+mn-ea"/>
          <a:cs typeface="+mn-cs"/>
        </a:defRPr>
      </a:lvl2pPr>
      <a:lvl3pPr marL="448193" marR="0" indent="0" algn="l" defTabSz="914367" rtl="0" eaLnBrk="1" fontAlgn="auto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568" kern="1200" spc="0" baseline="0">
          <a:solidFill>
            <a:srgbClr val="000000"/>
          </a:solidFill>
          <a:latin typeface="+mn-lt"/>
          <a:ea typeface="+mn-ea"/>
          <a:cs typeface="+mn-cs"/>
        </a:defRPr>
      </a:lvl3pPr>
      <a:lvl4pPr marL="672290" marR="0" indent="0" algn="l" defTabSz="914367" rtl="0" eaLnBrk="1" fontAlgn="auto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568" kern="1200" spc="0" baseline="0">
          <a:solidFill>
            <a:srgbClr val="000000"/>
          </a:solidFill>
          <a:latin typeface="+mn-lt"/>
          <a:ea typeface="+mn-ea"/>
          <a:cs typeface="+mn-cs"/>
        </a:defRPr>
      </a:lvl4pPr>
      <a:lvl5pPr marL="896386" marR="0" indent="0" algn="l" defTabSz="914367" rtl="0" eaLnBrk="1" fontAlgn="auto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568" kern="1200" spc="0" baseline="0">
          <a:solidFill>
            <a:srgbClr val="000000"/>
          </a:solidFill>
          <a:latin typeface="+mn-lt"/>
          <a:ea typeface="+mn-ea"/>
          <a:cs typeface="+mn-cs"/>
        </a:defRPr>
      </a:lvl5pPr>
      <a:lvl6pPr marL="2514509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6pPr>
      <a:lvl7pPr marL="2971693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7pPr>
      <a:lvl8pPr marL="3428877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8pPr>
      <a:lvl9pPr marL="3886061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57183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914367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71550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4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8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743101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4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657469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373">
          <p15:clr>
            <a:srgbClr val="C35EA4"/>
          </p15:clr>
        </p15:guide>
        <p15:guide id="4" pos="1517">
          <p15:clr>
            <a:srgbClr val="C35EA4"/>
          </p15:clr>
        </p15:guide>
        <p15:guide id="5" pos="2608">
          <p15:clr>
            <a:srgbClr val="C35EA4"/>
          </p15:clr>
        </p15:guide>
        <p15:guide id="6" pos="2751">
          <p15:clr>
            <a:srgbClr val="C35EA4"/>
          </p15:clr>
        </p15:guide>
        <p15:guide id="7" pos="3844">
          <p15:clr>
            <a:srgbClr val="C35EA4"/>
          </p15:clr>
        </p15:guide>
        <p15:guide id="8" pos="3989">
          <p15:clr>
            <a:srgbClr val="C35EA4"/>
          </p15:clr>
        </p15:guide>
        <p15:guide id="9" pos="5079">
          <p15:clr>
            <a:srgbClr val="C35EA4"/>
          </p15:clr>
        </p15:guide>
        <p15:guide id="10" pos="5222">
          <p15:clr>
            <a:srgbClr val="C35EA4"/>
          </p15:clr>
        </p15:guide>
        <p15:guide id="11" pos="6317">
          <p15:clr>
            <a:srgbClr val="C35EA4"/>
          </p15:clr>
        </p15:guide>
        <p15:guide id="12" pos="6460">
          <p15:clr>
            <a:srgbClr val="C35EA4"/>
          </p15:clr>
        </p15:guide>
        <p15:guide id="16" pos="274">
          <p15:clr>
            <a:srgbClr val="F26B43"/>
          </p15:clr>
        </p15:guide>
        <p15:guide id="17" pos="7558">
          <p15:clr>
            <a:srgbClr val="F26B43"/>
          </p15:clr>
        </p15:guide>
        <p15:guide id="18" orient="horz" pos="758">
          <p15:clr>
            <a:srgbClr val="5ACBF0"/>
          </p15:clr>
        </p15:guide>
        <p15:guide id="19" orient="horz" pos="1372">
          <p15:clr>
            <a:srgbClr val="5ACBF0"/>
          </p15:clr>
        </p15:guide>
        <p15:guide id="20" orient="horz" pos="612">
          <p15:clr>
            <a:srgbClr val="5ACBF0"/>
          </p15:clr>
        </p15:guide>
        <p15:guide id="21" orient="horz" pos="1515">
          <p15:clr>
            <a:srgbClr val="5ACBF0"/>
          </p15:clr>
        </p15:guide>
        <p15:guide id="22" orient="horz" pos="2127">
          <p15:clr>
            <a:srgbClr val="5ACBF0"/>
          </p15:clr>
        </p15:guide>
        <p15:guide id="23" orient="horz" pos="2275">
          <p15:clr>
            <a:srgbClr val="5ACBF0"/>
          </p15:clr>
        </p15:guide>
        <p15:guide id="25" orient="horz" pos="280">
          <p15:clr>
            <a:srgbClr val="F26B43"/>
          </p15:clr>
        </p15:guide>
        <p15:guide id="26" orient="horz" pos="4127">
          <p15:clr>
            <a:srgbClr val="F26B43"/>
          </p15:clr>
        </p15:guide>
        <p15:guide id="27" orient="horz" pos="2889">
          <p15:clr>
            <a:srgbClr val="5ACBF0"/>
          </p15:clr>
        </p15:guide>
        <p15:guide id="28" orient="horz" pos="3032">
          <p15:clr>
            <a:srgbClr val="5ACBF0"/>
          </p15:clr>
        </p15:guide>
        <p15:guide id="29" orient="horz" pos="3648">
          <p15:clr>
            <a:srgbClr val="5ACBF0"/>
          </p15:clr>
        </p15:guide>
        <p15:guide id="30" orient="horz" pos="3792">
          <p15:clr>
            <a:srgbClr val="5ACBF0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20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D1397F-3D96-B4C8-79ED-E1DCF018F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C59E5-016C-9074-8D95-7F5F52C31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A8D74-8E97-FA6C-A820-5D962D5D9A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BA38D1-E4C1-4454-A3E5-8863343597FA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EAB47-7AC5-ECE0-6A03-555754A406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F72F6-A9CC-C4DE-9F56-6C716BEA7C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402B53-CE29-4347-9E10-38A305D69B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3118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hyperlink" Target="https://github.com/cragage_microsoft/ai_hr_cowork_workshop/raw/main/participant/participant-workbook.docx" TargetMode="External"/><Relationship Id="rId3" Type="http://schemas.openxmlformats.org/officeDocument/2006/relationships/hyperlink" Target="https://github.com/cragage_microsoft/ai_hr_cowork_workshop/raw/main/sample-knowledge/zava-sample-knowledge.zip" TargetMode="External"/><Relationship Id="rId4" Type="http://schemas.openxmlformats.org/officeDocument/2006/relationships/hyperlink" Target="https://github.com/cragage_microsoft/ai_hr_cowork_workshop/raw/main/participant/quick-reference-card.docx" TargetMode="External"/><Relationship Id="rId5" Type="http://schemas.openxmlformats.org/officeDocument/2006/relationships/hyperlink" Target="https://github.com/cragage_microsoft/ai_hr_cowork_workshop/raw/main/reference/04-prompt-library.docx" TargetMode="External"/><Relationship Id="rId6" Type="http://schemas.openxmlformats.org/officeDocument/2006/relationships/hyperlink" Target="https://github.com/cragage_microsoft/ai_hr_cowork_workshop/raw/main/reference/06-responsible-use.docx" TargetMode="External"/><Relationship Id="rId7" Type="http://schemas.openxmlformats.org/officeDocument/2006/relationships/hyperlink" Target="https://github.com/cragage_microsoft/ai_hr_cowork_workshop/raw/main/participant/after-the-workshop.docx" TargetMode="External"/><Relationship Id="rId8" Type="http://schemas.openxmlformats.org/officeDocument/2006/relationships/hyperlink" Target="https://github.com/cragage_microsoft/ai_hr_cowork_workshop/raw/main/instructor/instructor-deck.pptx" TargetMode="External"/><Relationship Id="rId9" Type="http://schemas.openxmlformats.org/officeDocument/2006/relationships/hyperlink" Target="https://github.com/cragage_microsoft/ai_hr_cowork_workshop/raw/main/instructor/facilitator-guide.docx" TargetMode="External"/><Relationship Id="rId10" Type="http://schemas.openxmlformats.org/officeDocument/2006/relationships/hyperlink" Target="https://github.com/cragage_microsoft/ai_hr_cowork_workshop/raw/main/instructor/facilitator-answer-key.docx" TargetMode="External"/><Relationship Id="rId11" Type="http://schemas.openxmlformats.org/officeDocument/2006/relationships/hyperlink" Target="https://github.com/cragage_microsoft/ai_hr_cowork_workshop/raw/main/instructor/readiness-checklist.docx" TargetMode="External"/><Relationship Id="rId12" Type="http://schemas.openxmlformats.org/officeDocument/2006/relationships/hyperlink" Target="https://github.com/cragage_microsoft/ai_hr_cowork_workshop/raw/main/instructor/seed-content.docx" TargetMode="External"/><Relationship Id="rId13" Type="http://schemas.openxmlformats.org/officeDocument/2006/relationships/hyperlink" Target="https://github.com/cragage_microsoft/ai_hr_cowork_workshop/tree/main/communication" TargetMode="External"/><Relationship Id="rId14" Type="http://schemas.openxmlformats.org/officeDocument/2006/relationships/image" Target="../media/image28.png"/><Relationship Id="rId15" Type="http://schemas.openxmlformats.org/officeDocument/2006/relationships/hyperlink" Target="https://github.com/cragage_microsoft/ai_hr_cowork_workshop" TargetMode="External"/><Relationship Id="rId16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6CA73066-62EB-02EC-D037-EC294C24A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A38DABC-8A4C-0F68-E7D3-3975110991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4200" y="2148840"/>
            <a:ext cx="9144000" cy="1371600"/>
          </a:xfr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0" kern="1200" cap="none" spc="-50" baseline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pPr lvl="0"/>
            <a:r>
              <a:rPr lang="en-US" noProof="0" sz="4000"/>
              <a:t>Getting Things Done with Copilot Cowork</a:t>
            </a:r>
            <a:br>
              <a:rPr lang="en-US" noProof="0" sz="4000"/>
            </a:br>
            <a:r>
              <a:rPr lang="en-US" noProof="0" sz="4000"/>
              <a:t>for HR Tasks</a:t>
            </a:r>
            <a:endParaRPr lang="en-US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591BFA-242A-4A0F-746F-DC462B5301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/>
              <a:t>Training overview · a 2½-hour, hands-on workshop for HR teams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45F3F4-9BE0-AC31-C0BF-36DF98724E37}"/>
              </a:ext>
            </a:extLst>
          </p:cNvPr>
          <p:cNvSpPr txBox="1"/>
          <p:nvPr/>
        </p:nvSpPr>
        <p:spPr>
          <a:xfrm>
            <a:off x="584200" y="6293077"/>
            <a:ext cx="68119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323139"/>
                </a:solidFill>
                <a:effectLst/>
                <a:uLnTx/>
                <a:uFillTx/>
                <a:latin typeface="Segoe Sans Display Semilight"/>
                <a:ea typeface="+mn-ea"/>
                <a:cs typeface="+mn-cs"/>
              </a:rPr>
              <a:t>©2026</a:t>
            </a:r>
            <a:r>
              <a:rPr kumimoji="0" lang="en-US" sz="800" b="0" i="0" u="none" strike="noStrike" kern="1200" cap="none" spc="40" normalizeH="0" baseline="0" noProof="0">
                <a:ln>
                  <a:noFill/>
                </a:ln>
                <a:solidFill>
                  <a:srgbClr val="323139"/>
                </a:solidFill>
                <a:effectLst/>
                <a:uLnTx/>
                <a:uFillTx/>
                <a:latin typeface="Segoe Sans Display Semilight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323139"/>
                </a:solidFill>
                <a:effectLst/>
                <a:uLnTx/>
                <a:uFillTx/>
                <a:latin typeface="Segoe Sans Display Semilight"/>
                <a:ea typeface="+mn-ea"/>
                <a:cs typeface="+mn-cs"/>
              </a:rPr>
              <a:t>Microsoft</a:t>
            </a:r>
            <a:r>
              <a:rPr kumimoji="0" lang="en-US" sz="800" b="0" i="0" u="none" strike="noStrike" kern="1200" cap="none" spc="40" normalizeH="0" baseline="0" noProof="0">
                <a:ln>
                  <a:noFill/>
                </a:ln>
                <a:solidFill>
                  <a:srgbClr val="323139"/>
                </a:solidFill>
                <a:effectLst/>
                <a:uLnTx/>
                <a:uFillTx/>
                <a:latin typeface="Segoe Sans Display Semilight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323139"/>
                </a:solidFill>
                <a:effectLst/>
                <a:uLnTx/>
                <a:uFillTx/>
                <a:latin typeface="Segoe Sans Display Semilight"/>
                <a:ea typeface="+mn-ea"/>
                <a:cs typeface="+mn-cs"/>
              </a:rPr>
              <a:t>Corporation.</a:t>
            </a:r>
            <a:r>
              <a:rPr kumimoji="0" lang="en-US" sz="800" b="0" i="0" u="none" strike="noStrike" kern="1200" cap="none" spc="40" normalizeH="0" baseline="0" noProof="0">
                <a:ln>
                  <a:noFill/>
                </a:ln>
                <a:solidFill>
                  <a:srgbClr val="323139"/>
                </a:solidFill>
                <a:effectLst/>
                <a:uLnTx/>
                <a:uFillTx/>
                <a:latin typeface="Segoe Sans Display Semilight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323139"/>
                </a:solidFill>
                <a:effectLst/>
                <a:uLnTx/>
                <a:uFillTx/>
                <a:latin typeface="Segoe Sans Display Semilight"/>
                <a:ea typeface="+mn-ea"/>
                <a:cs typeface="+mn-cs"/>
              </a:rPr>
              <a:t>All</a:t>
            </a:r>
            <a:r>
              <a:rPr kumimoji="0" lang="en-US" sz="800" b="0" i="0" u="none" strike="noStrike" kern="1200" cap="none" spc="35" normalizeH="0" baseline="0" noProof="0">
                <a:ln>
                  <a:noFill/>
                </a:ln>
                <a:solidFill>
                  <a:srgbClr val="323139"/>
                </a:solidFill>
                <a:effectLst/>
                <a:uLnTx/>
                <a:uFillTx/>
                <a:latin typeface="Segoe Sans Display Semilight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323139"/>
                </a:solidFill>
                <a:effectLst/>
                <a:uLnTx/>
                <a:uFillTx/>
                <a:latin typeface="Segoe Sans Display Semilight"/>
                <a:ea typeface="+mn-ea"/>
                <a:cs typeface="+mn-cs"/>
              </a:rPr>
              <a:t>rights</a:t>
            </a:r>
            <a:r>
              <a:rPr kumimoji="0" lang="en-US" sz="800" b="0" i="0" u="none" strike="noStrike" kern="1200" cap="none" spc="40" normalizeH="0" baseline="0" noProof="0">
                <a:ln>
                  <a:noFill/>
                </a:ln>
                <a:solidFill>
                  <a:srgbClr val="323139"/>
                </a:solidFill>
                <a:effectLst/>
                <a:uLnTx/>
                <a:uFillTx/>
                <a:latin typeface="Segoe Sans Display Semilight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323139"/>
                </a:solidFill>
                <a:effectLst/>
                <a:uLnTx/>
                <a:uFillTx/>
                <a:latin typeface="Segoe Sans Display Semilight"/>
                <a:ea typeface="+mn-ea"/>
                <a:cs typeface="+mn-cs"/>
              </a:rPr>
              <a:t>reserved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 Semilight"/>
                <a:ea typeface="+mn-ea"/>
                <a:cs typeface="+mn-cs"/>
              </a:rPr>
              <a:t>.</a:t>
            </a:r>
            <a:r>
              <a:rPr kumimoji="0" lang="en-US" sz="800" b="0" i="0" u="none" strike="noStrike" kern="1200" cap="none" spc="4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 Semilight"/>
                <a:ea typeface="+mn-ea"/>
                <a:cs typeface="+mn-cs"/>
              </a:rPr>
              <a:t> 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23139"/>
              </a:solidFill>
              <a:effectLst/>
              <a:uLnTx/>
              <a:uFillTx/>
              <a:latin typeface="Segoe Sans Display Semi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1237129"/>
      </p:ext>
    </p:extLst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1690EC29-5E32-79B5-E29E-1E389EB1B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224B80-F0A8-232A-607E-25709F49219E}"/>
              </a:ext>
            </a:extLst>
          </p:cNvPr>
          <p:cNvSpPr txBox="1"/>
          <p:nvPr/>
        </p:nvSpPr>
        <p:spPr>
          <a:xfrm>
            <a:off x="502920" y="347472"/>
            <a:ext cx="1115568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About the training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2FDF1E-C1D0-BD11-A7D1-CD7E8CECE583}"/>
              </a:ext>
            </a:extLst>
          </p:cNvPr>
          <p:cNvSpPr txBox="1"/>
          <p:nvPr/>
        </p:nvSpPr>
        <p:spPr>
          <a:xfrm>
            <a:off x="502920" y="932688"/>
            <a:ext cx="110642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61616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Hands-on practice with Microsoft Copilot Cowork on everyday HR work. No code required.</a:t>
            </a:r>
          </a:p>
        </p:txBody>
      </p:sp>
      <p:sp>
        <p:nvSpPr>
          <p:cNvPr id="4" name="Rectangle 3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361188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1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>
            <a:extLst>
              <a:ext uri="{C183D7F6-B498-43B3-948B-1728B52AA6E4}">
                <ns1:decorative xmlns:ns1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3611880" cy="41148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9224" y="1645920"/>
            <a:ext cx="3319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F6CBD"/>
                </a:solidFill>
                <a:latin typeface="Segoe UI"/>
              </a:rPr>
              <a:t>WHO IT’S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" y="2084832"/>
            <a:ext cx="3319272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880" indent="-182880">
              <a:spcAft>
                <a:spcPts val="500"/>
              </a:spcAft>
              <a:buFont typeface="Arial"/>
              <a:buChar char="•"/>
            </a:pPr>
            <a:r>
              <a:rPr sz="1500" b="0" i="0">
                <a:solidFill>
                  <a:srgbClr val="242424"/>
                </a:solidFill>
                <a:latin typeface="Segoe UI"/>
              </a:rPr>
              <a:t>HR practitioners doing day-to-day operations</a:t>
            </a:r>
          </a:p>
          <a:p>
            <a:pPr algn="l" marL="182880" indent="-182880">
              <a:spcAft>
                <a:spcPts val="500"/>
              </a:spcAft>
              <a:buFont typeface="Arial"/>
              <a:buChar char="•"/>
            </a:pPr>
            <a:r>
              <a:rPr sz="1500" b="0" i="0">
                <a:solidFill>
                  <a:srgbClr val="242424"/>
                </a:solidFill>
                <a:latin typeface="Segoe UI"/>
              </a:rPr>
              <a:t>No-code and beginner-friendly</a:t>
            </a:r>
          </a:p>
          <a:p>
            <a:pPr algn="l" marL="182880" indent="-182880">
              <a:spcAft>
                <a:spcPts val="500"/>
              </a:spcAft>
              <a:buFont typeface="Arial"/>
              <a:buChar char="•"/>
            </a:pPr>
            <a:r>
              <a:rPr sz="1500" b="0" i="0">
                <a:solidFill>
                  <a:srgbClr val="242424"/>
                </a:solidFill>
                <a:latin typeface="Segoe UI"/>
              </a:rPr>
              <a:t>About </a:t>
            </a:r>
            <a:r>
              <a:rPr sz="1500" b="1" i="0">
                <a:solidFill>
                  <a:srgbClr val="242424"/>
                </a:solidFill>
                <a:latin typeface="Segoe UI"/>
              </a:rPr>
              <a:t>25 attendees</a:t>
            </a:r>
            <a:r>
              <a:rPr sz="1500" b="0" i="0">
                <a:solidFill>
                  <a:srgbClr val="242424"/>
                </a:solidFill>
                <a:latin typeface="Segoe UI"/>
              </a:rPr>
              <a:t> per session</a:t>
            </a:r>
          </a:p>
        </p:txBody>
      </p:sp>
      <p:sp>
        <p:nvSpPr>
          <p:cNvPr id="8" name="Rectangle 7">
            <a:extLst>
              <a:ext uri="{C183D7F6-B498-43B3-948B-1728B52AA6E4}">
                <ns2:decorative xmlns:ns2="http://schemas.microsoft.com/office/drawing/2017/decorative" val="1"/>
              </a:ext>
            </a:extLst>
          </p:cNvPr>
          <p:cNvSpPr/>
          <p:nvPr/>
        </p:nvSpPr>
        <p:spPr>
          <a:xfrm>
            <a:off x="4288536" y="1463040"/>
            <a:ext cx="361188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1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>
            <a:extLst>
              <a:ext uri="{C183D7F6-B498-43B3-948B-1728B52AA6E4}">
                <ns3:decorative xmlns:ns3="http://schemas.microsoft.com/office/drawing/2017/decorative" val="1"/>
              </a:ext>
            </a:extLst>
          </p:cNvPr>
          <p:cNvSpPr/>
          <p:nvPr/>
        </p:nvSpPr>
        <p:spPr>
          <a:xfrm>
            <a:off x="4288536" y="1463040"/>
            <a:ext cx="3611880" cy="41148"/>
          </a:xfrm>
          <a:prstGeom prst="rect">
            <a:avLst/>
          </a:prstGeom>
          <a:solidFill>
            <a:srgbClr val="80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434840" y="1645920"/>
            <a:ext cx="3319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8064A2"/>
                </a:solidFill>
                <a:latin typeface="Segoe UI"/>
              </a:rPr>
              <a:t>FORMAT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084832"/>
            <a:ext cx="3319272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880" indent="-182880">
              <a:spcAft>
                <a:spcPts val="500"/>
              </a:spcAft>
              <a:buFont typeface="Arial"/>
              <a:buChar char="•"/>
            </a:pPr>
            <a:r>
              <a:rPr sz="1500" b="1" i="0">
                <a:solidFill>
                  <a:srgbClr val="242424"/>
                </a:solidFill>
                <a:latin typeface="Segoe UI"/>
              </a:rPr>
              <a:t>2½ hours</a:t>
            </a:r>
            <a:r>
              <a:rPr sz="1500" b="0" i="0">
                <a:solidFill>
                  <a:srgbClr val="242424"/>
                </a:solidFill>
                <a:latin typeface="Segoe UI"/>
              </a:rPr>
              <a:t>, instructor-led and hands-on</a:t>
            </a:r>
          </a:p>
          <a:p>
            <a:pPr algn="l" marL="182880" indent="-182880">
              <a:spcAft>
                <a:spcPts val="500"/>
              </a:spcAft>
              <a:buFont typeface="Arial"/>
              <a:buChar char="•"/>
            </a:pPr>
            <a:r>
              <a:rPr sz="1500" b="1" i="0">
                <a:solidFill>
                  <a:srgbClr val="242424"/>
                </a:solidFill>
                <a:latin typeface="Segoe UI"/>
              </a:rPr>
              <a:t>Eight</a:t>
            </a:r>
            <a:r>
              <a:rPr sz="1500" b="0" i="0">
                <a:solidFill>
                  <a:srgbClr val="242424"/>
                </a:solidFill>
                <a:latin typeface="Segoe UI"/>
              </a:rPr>
              <a:t> scenario-based exercises, one 15-minute break</a:t>
            </a:r>
          </a:p>
          <a:p>
            <a:pPr algn="l" marL="182880" indent="-182880">
              <a:spcAft>
                <a:spcPts val="500"/>
              </a:spcAft>
              <a:buFont typeface="Arial"/>
              <a:buChar char="•"/>
            </a:pPr>
            <a:r>
              <a:rPr sz="1500" b="0" i="0">
                <a:solidFill>
                  <a:srgbClr val="242424"/>
                </a:solidFill>
                <a:latin typeface="Segoe UI"/>
              </a:rPr>
              <a:t>Your </a:t>
            </a:r>
            <a:r>
              <a:rPr sz="1500" b="1" i="0">
                <a:solidFill>
                  <a:srgbClr val="242424"/>
                </a:solidFill>
                <a:latin typeface="Segoe UI"/>
              </a:rPr>
              <a:t>own work account</a:t>
            </a:r>
            <a:r>
              <a:rPr sz="1500" b="0" i="0">
                <a:solidFill>
                  <a:srgbClr val="242424"/>
                </a:solidFill>
                <a:latin typeface="Segoe UI"/>
              </a:rPr>
              <a:t>: your real calendar and mail for Ex 1, fictional Zava files for the rest</a:t>
            </a:r>
          </a:p>
        </p:txBody>
      </p:sp>
      <p:sp>
        <p:nvSpPr>
          <p:cNvPr id="12" name="Rectangle 11">
            <a:extLst>
              <a:ext uri="{C183D7F6-B498-43B3-948B-1728B52AA6E4}">
                <ns4:decorative xmlns:ns4="http://schemas.microsoft.com/office/drawing/2017/decorative" val="1"/>
              </a:ext>
            </a:extLst>
          </p:cNvPr>
          <p:cNvSpPr/>
          <p:nvPr/>
        </p:nvSpPr>
        <p:spPr>
          <a:xfrm>
            <a:off x="8074152" y="1463040"/>
            <a:ext cx="361188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1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>
            <a:extLst>
              <a:ext uri="{C183D7F6-B498-43B3-948B-1728B52AA6E4}">
                <ns5:decorative xmlns:ns5="http://schemas.microsoft.com/office/drawing/2017/decorative" val="1"/>
              </a:ext>
            </a:extLst>
          </p:cNvPr>
          <p:cNvSpPr/>
          <p:nvPr/>
        </p:nvSpPr>
        <p:spPr>
          <a:xfrm>
            <a:off x="8074152" y="1463040"/>
            <a:ext cx="3611880" cy="41148"/>
          </a:xfrm>
          <a:prstGeom prst="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20456" y="1645920"/>
            <a:ext cx="3319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07C10"/>
                </a:solidFill>
                <a:latin typeface="Segoe UI"/>
              </a:rPr>
              <a:t>THREE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0456" y="2084832"/>
            <a:ext cx="3319272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880" indent="-182880">
              <a:spcAft>
                <a:spcPts val="500"/>
              </a:spcAft>
              <a:buFont typeface="Arial"/>
              <a:buChar char="•"/>
            </a:pPr>
            <a:r>
              <a:rPr sz="1500" b="1" i="0">
                <a:solidFill>
                  <a:srgbClr val="242424"/>
                </a:solidFill>
                <a:latin typeface="Segoe UI"/>
              </a:rPr>
              <a:t>Copilot Chat</a:t>
            </a:r>
            <a:r>
              <a:rPr sz="1500" b="0" i="0">
                <a:solidFill>
                  <a:srgbClr val="242424"/>
                </a:solidFill>
                <a:latin typeface="Segoe UI"/>
              </a:rPr>
              <a:t> for quick answers</a:t>
            </a:r>
          </a:p>
          <a:p>
            <a:pPr algn="l" marL="182880" indent="-182880">
              <a:spcAft>
                <a:spcPts val="500"/>
              </a:spcAft>
              <a:buFont typeface="Arial"/>
              <a:buChar char="•"/>
            </a:pPr>
            <a:r>
              <a:rPr sz="1500" b="1" i="0">
                <a:solidFill>
                  <a:srgbClr val="242424"/>
                </a:solidFill>
                <a:latin typeface="Segoe UI"/>
              </a:rPr>
              <a:t>Cowork</a:t>
            </a:r>
            <a:r>
              <a:rPr sz="1500" b="0" i="0">
                <a:solidFill>
                  <a:srgbClr val="242424"/>
                </a:solidFill>
                <a:latin typeface="Segoe UI"/>
              </a:rPr>
              <a:t> for multi-step work that ends in a deliverable</a:t>
            </a:r>
          </a:p>
          <a:p>
            <a:pPr algn="l" marL="182880" indent="-182880">
              <a:spcAft>
                <a:spcPts val="500"/>
              </a:spcAft>
              <a:buFont typeface="Arial"/>
              <a:buChar char="•"/>
            </a:pPr>
            <a:r>
              <a:rPr sz="1500" b="1" i="0">
                <a:solidFill>
                  <a:srgbClr val="242424"/>
                </a:solidFill>
                <a:latin typeface="Segoe UI"/>
              </a:rPr>
              <a:t>Agent Builder</a:t>
            </a:r>
            <a:r>
              <a:rPr sz="1500" b="0" i="0">
                <a:solidFill>
                  <a:srgbClr val="242424"/>
                </a:solidFill>
                <a:latin typeface="Segoe UI"/>
              </a:rPr>
              <a:t> for a reusable helper others can use</a:t>
            </a:r>
          </a:p>
        </p:txBody>
      </p:sp>
      <p:sp>
        <p:nvSpPr>
          <p:cNvPr id="16" name="Rounded Rectangle 15">
            <a:extLst>
              <a:ext uri="{C183D7F6-B498-43B3-948B-1728B52AA6E4}">
                <ns6:decorative xmlns:ns6="http://schemas.microsoft.com/office/drawing/2017/decorative" val="1"/>
              </a:ext>
            </a:extLst>
          </p:cNvPr>
          <p:cNvSpPr/>
          <p:nvPr/>
        </p:nvSpPr>
        <p:spPr>
          <a:xfrm>
            <a:off x="502920" y="4800600"/>
            <a:ext cx="11183112" cy="1371600"/>
          </a:xfrm>
          <a:prstGeom prst="roundRect">
            <a:avLst>
              <a:gd name="adj" fmla="val 12000"/>
            </a:avLst>
          </a:prstGeom>
          <a:solidFill>
            <a:srgbClr val="341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" y="4800600"/>
            <a:ext cx="10634472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One habit all day: draft → review → approve.</a:t>
            </a:r>
            <a:r>
              <a:rPr sz="1600" b="0" i="0">
                <a:solidFill>
                  <a:srgbClr val="FFFFFF"/>
                </a:solidFill>
                <a:latin typeface="Segoe UI"/>
              </a:rPr>
              <a:t> Cowork pauses before it sends or shares anything, so HR stays accountable for every output.</a:t>
            </a:r>
          </a:p>
        </p:txBody>
      </p:sp>
    </p:spTree>
    <p:extLst>
      <p:ext uri="{BB962C8B-B14F-4D97-AF65-F5344CB8AC3E}">
        <p14:creationId xmlns:p14="http://schemas.microsoft.com/office/powerpoint/2010/main" val="418314712"/>
      </p:ext>
    </p:extLst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1690EC29-5E32-79B5-E29E-1E389EB1B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224B80-F0A8-232A-607E-25709F49219E}"/>
              </a:ext>
            </a:extLst>
          </p:cNvPr>
          <p:cNvSpPr txBox="1"/>
          <p:nvPr/>
        </p:nvSpPr>
        <p:spPr>
          <a:xfrm>
            <a:off x="502920" y="347472"/>
            <a:ext cx="1115568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What you’ll be able to do by the end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2FDF1E-C1D0-BD11-A7D1-CD7E8CECE583}"/>
              </a:ext>
            </a:extLst>
          </p:cNvPr>
          <p:cNvSpPr txBox="1"/>
          <p:nvPr/>
        </p:nvSpPr>
        <p:spPr>
          <a:xfrm>
            <a:off x="502920" y="932688"/>
            <a:ext cx="110642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61616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Six learning objectives — we’ll check them at wrap-up.</a:t>
            </a:r>
          </a:p>
        </p:txBody>
      </p:sp>
      <p:sp>
        <p:nvSpPr>
          <p:cNvPr id="4" name="Rectangle 3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5513832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1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>
            <a:extLst>
              <a:ext uri="{C183D7F6-B498-43B3-948B-1728B52AA6E4}">
                <ns1:decorative xmlns:ns1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54864" cy="141732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64008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0F6CBD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554480"/>
            <a:ext cx="43434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42424"/>
                </a:solidFill>
                <a:latin typeface="Segoe UI"/>
              </a:rPr>
              <a:t>Choose the right tool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16161"/>
                </a:solidFill>
                <a:latin typeface="Segoe UI"/>
              </a:rPr>
              <a:t>Copilot Chat, </a:t>
            </a:r>
            <a:r>
              <a:rPr sz="1300" b="1" i="0">
                <a:solidFill>
                  <a:srgbClr val="616161"/>
                </a:solidFill>
                <a:latin typeface="Segoe UI"/>
              </a:rPr>
              <a:t>Cowork</a:t>
            </a:r>
            <a:r>
              <a:rPr sz="1300" b="0" i="0">
                <a:solidFill>
                  <a:srgbClr val="616161"/>
                </a:solidFill>
                <a:latin typeface="Segoe UI"/>
              </a:rPr>
              <a:t>, or </a:t>
            </a:r>
            <a:r>
              <a:rPr sz="1300" b="1" i="0">
                <a:solidFill>
                  <a:srgbClr val="616161"/>
                </a:solidFill>
                <a:latin typeface="Segoe UI"/>
              </a:rPr>
              <a:t>Agent Builder</a:t>
            </a:r>
            <a:r>
              <a:rPr sz="1300" b="0" i="0">
                <a:solidFill>
                  <a:srgbClr val="616161"/>
                </a:solidFill>
                <a:latin typeface="Segoe UI"/>
              </a:rPr>
              <a:t> — for the task in front of you.</a:t>
            </a:r>
          </a:p>
        </p:txBody>
      </p:sp>
      <p:sp>
        <p:nvSpPr>
          <p:cNvPr id="8" name="Rectangle 7">
            <a:extLst>
              <a:ext uri="{C183D7F6-B498-43B3-948B-1728B52AA6E4}">
                <ns2:decorative xmlns:ns2="http://schemas.microsoft.com/office/drawing/2017/decorative" val="1"/>
              </a:ext>
            </a:extLst>
          </p:cNvPr>
          <p:cNvSpPr/>
          <p:nvPr/>
        </p:nvSpPr>
        <p:spPr>
          <a:xfrm>
            <a:off x="6172200" y="1463040"/>
            <a:ext cx="5513832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1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>
            <a:extLst>
              <a:ext uri="{C183D7F6-B498-43B3-948B-1728B52AA6E4}">
                <ns3:decorative xmlns:ns3="http://schemas.microsoft.com/office/drawing/2017/decorative" val="1"/>
              </a:ext>
            </a:extLst>
          </p:cNvPr>
          <p:cNvSpPr/>
          <p:nvPr/>
        </p:nvSpPr>
        <p:spPr>
          <a:xfrm>
            <a:off x="6172200" y="1463040"/>
            <a:ext cx="54864" cy="1417320"/>
          </a:xfrm>
          <a:prstGeom prst="rect">
            <a:avLst/>
          </a:prstGeom>
          <a:solidFill>
            <a:srgbClr val="80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46520" y="1463040"/>
            <a:ext cx="64008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8064A2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554480"/>
            <a:ext cx="43434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42424"/>
                </a:solidFill>
                <a:latin typeface="Segoe UI"/>
              </a:rPr>
              <a:t>Delegate safely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16161"/>
                </a:solidFill>
                <a:latin typeface="Segoe UI"/>
              </a:rPr>
              <a:t>Describe an outcome; approve Cowork’s actions </a:t>
            </a:r>
            <a:r>
              <a:rPr sz="1300" b="1" i="0">
                <a:solidFill>
                  <a:srgbClr val="616161"/>
                </a:solidFill>
                <a:latin typeface="Segoe UI"/>
              </a:rPr>
              <a:t>one at a time</a:t>
            </a:r>
            <a:r>
              <a:rPr sz="1300" b="0" i="0">
                <a:solidFill>
                  <a:srgbClr val="616161"/>
                </a:solidFill>
                <a:latin typeface="Segoe UI"/>
              </a:rPr>
              <a:t>.</a:t>
            </a:r>
          </a:p>
        </p:txBody>
      </p:sp>
      <p:sp>
        <p:nvSpPr>
          <p:cNvPr id="12" name="Rectangle 11">
            <a:extLst>
              <a:ext uri="{C183D7F6-B498-43B3-948B-1728B52AA6E4}">
                <ns4:decorative xmlns:ns4="http://schemas.microsoft.com/office/drawing/2017/decorative" val="1"/>
              </a:ext>
            </a:extLst>
          </p:cNvPr>
          <p:cNvSpPr/>
          <p:nvPr/>
        </p:nvSpPr>
        <p:spPr>
          <a:xfrm>
            <a:off x="502920" y="3063240"/>
            <a:ext cx="5513832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1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>
            <a:extLst>
              <a:ext uri="{C183D7F6-B498-43B3-948B-1728B52AA6E4}">
                <ns5:decorative xmlns:ns5="http://schemas.microsoft.com/office/drawing/2017/decorative" val="1"/>
              </a:ext>
            </a:extLst>
          </p:cNvPr>
          <p:cNvSpPr/>
          <p:nvPr/>
        </p:nvSpPr>
        <p:spPr>
          <a:xfrm>
            <a:off x="502920" y="3063240"/>
            <a:ext cx="54864" cy="1417320"/>
          </a:xfrm>
          <a:prstGeom prst="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7240" y="3063240"/>
            <a:ext cx="64008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07C10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154680"/>
            <a:ext cx="43434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42424"/>
                </a:solidFill>
                <a:latin typeface="Segoe UI"/>
              </a:rPr>
              <a:t>Ground in real content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16161"/>
                </a:solidFill>
                <a:latin typeface="Segoe UI"/>
              </a:rPr>
              <a:t>Attach files, research and browse the web </a:t>
            </a:r>
            <a:r>
              <a:rPr sz="1300" b="1" i="0">
                <a:solidFill>
                  <a:srgbClr val="616161"/>
                </a:solidFill>
                <a:latin typeface="Segoe UI"/>
              </a:rPr>
              <a:t>with citations</a:t>
            </a:r>
            <a:r>
              <a:rPr sz="1300" b="0" i="0">
                <a:solidFill>
                  <a:srgbClr val="616161"/>
                </a:solidFill>
                <a:latin typeface="Segoe UI"/>
              </a:rPr>
              <a:t>, and check the result.</a:t>
            </a:r>
          </a:p>
        </p:txBody>
      </p:sp>
      <p:sp>
        <p:nvSpPr>
          <p:cNvPr id="16" name="Rectangle 15">
            <a:extLst>
              <a:ext uri="{C183D7F6-B498-43B3-948B-1728B52AA6E4}">
                <ns6:decorative xmlns:ns6="http://schemas.microsoft.com/office/drawing/2017/decorative" val="1"/>
              </a:ext>
            </a:extLst>
          </p:cNvPr>
          <p:cNvSpPr/>
          <p:nvPr/>
        </p:nvSpPr>
        <p:spPr>
          <a:xfrm>
            <a:off x="6172200" y="3063240"/>
            <a:ext cx="5513832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1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>
            <a:extLst>
              <a:ext uri="{C183D7F6-B498-43B3-948B-1728B52AA6E4}">
                <ns7:decorative xmlns:ns7="http://schemas.microsoft.com/office/drawing/2017/decorative" val="1"/>
              </a:ext>
            </a:extLst>
          </p:cNvPr>
          <p:cNvSpPr/>
          <p:nvPr/>
        </p:nvSpPr>
        <p:spPr>
          <a:xfrm>
            <a:off x="6172200" y="3063240"/>
            <a:ext cx="54864" cy="141732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46520" y="3063240"/>
            <a:ext cx="64008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C0504D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3154680"/>
            <a:ext cx="43434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42424"/>
                </a:solidFill>
                <a:latin typeface="Segoe UI"/>
              </a:rPr>
              <a:t>Package repeatable work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16161"/>
                </a:solidFill>
                <a:latin typeface="Segoe UI"/>
              </a:rPr>
              <a:t>Build a </a:t>
            </a:r>
            <a:r>
              <a:rPr sz="1300" b="1" i="0">
                <a:solidFill>
                  <a:srgbClr val="616161"/>
                </a:solidFill>
                <a:latin typeface="Segoe UI"/>
              </a:rPr>
              <a:t>custom skill</a:t>
            </a:r>
            <a:r>
              <a:rPr sz="1300" b="0" i="0">
                <a:solidFill>
                  <a:srgbClr val="616161"/>
                </a:solidFill>
                <a:latin typeface="Segoe UI"/>
              </a:rPr>
              <a:t>; schedule recurring work with </a:t>
            </a:r>
            <a:r>
              <a:rPr sz="1300" b="1" i="0">
                <a:solidFill>
                  <a:srgbClr val="616161"/>
                </a:solidFill>
                <a:latin typeface="Segoe UI"/>
              </a:rPr>
              <a:t>Automations</a:t>
            </a:r>
            <a:r>
              <a:rPr sz="1300" b="0" i="0">
                <a:solidFill>
                  <a:srgbClr val="616161"/>
                </a:solidFill>
                <a:latin typeface="Segoe UI"/>
              </a:rPr>
              <a:t>.</a:t>
            </a:r>
          </a:p>
        </p:txBody>
      </p:sp>
      <p:sp>
        <p:nvSpPr>
          <p:cNvPr id="20" name="Rectangle 19">
            <a:extLst>
              <a:ext uri="{C183D7F6-B498-43B3-948B-1728B52AA6E4}">
                <ns8:decorative xmlns:ns8="http://schemas.microsoft.com/office/drawing/2017/decorative" val="1"/>
              </a:ext>
            </a:extLst>
          </p:cNvPr>
          <p:cNvSpPr/>
          <p:nvPr/>
        </p:nvSpPr>
        <p:spPr>
          <a:xfrm>
            <a:off x="502920" y="4663440"/>
            <a:ext cx="5513832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1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>
            <a:extLst>
              <a:ext uri="{C183D7F6-B498-43B3-948B-1728B52AA6E4}">
                <ns9:decorative xmlns:ns9="http://schemas.microsoft.com/office/drawing/2017/decorative" val="1"/>
              </a:ext>
            </a:extLst>
          </p:cNvPr>
          <p:cNvSpPr/>
          <p:nvPr/>
        </p:nvSpPr>
        <p:spPr>
          <a:xfrm>
            <a:off x="502920" y="4663440"/>
            <a:ext cx="54864" cy="1417320"/>
          </a:xfrm>
          <a:prstGeom prst="rect">
            <a:avLst/>
          </a:prstGeom>
          <a:solidFill>
            <a:srgbClr val="94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7240" y="4663440"/>
            <a:ext cx="64008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948A54"/>
                </a:solidFill>
                <a:latin typeface="Segoe U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754879"/>
            <a:ext cx="43434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42424"/>
                </a:solidFill>
                <a:latin typeface="Segoe UI"/>
              </a:rPr>
              <a:t>Build a no-code agent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16161"/>
                </a:solidFill>
                <a:latin typeface="Segoe UI"/>
              </a:rPr>
              <a:t>Answers from HR documents; </a:t>
            </a:r>
            <a:r>
              <a:rPr sz="1300" b="1" i="0">
                <a:solidFill>
                  <a:srgbClr val="616161"/>
                </a:solidFill>
                <a:latin typeface="Segoe UI"/>
              </a:rPr>
              <a:t>declines</a:t>
            </a:r>
            <a:r>
              <a:rPr sz="1300" b="0" i="0">
                <a:solidFill>
                  <a:srgbClr val="616161"/>
                </a:solidFill>
                <a:latin typeface="Segoe UI"/>
              </a:rPr>
              <a:t> what it shouldn’t answer.</a:t>
            </a:r>
          </a:p>
        </p:txBody>
      </p:sp>
      <p:sp>
        <p:nvSpPr>
          <p:cNvPr id="24" name="Rectangle 23">
            <a:extLst>
              <a:ext uri="{C183D7F6-B498-43B3-948B-1728B52AA6E4}">
                <ns10:decorative xmlns:ns10="http://schemas.microsoft.com/office/drawing/2017/decorative" val="1"/>
              </a:ext>
            </a:extLst>
          </p:cNvPr>
          <p:cNvSpPr/>
          <p:nvPr/>
        </p:nvSpPr>
        <p:spPr>
          <a:xfrm>
            <a:off x="6172200" y="4663440"/>
            <a:ext cx="5513832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1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>
            <a:extLst>
              <a:ext uri="{C183D7F6-B498-43B3-948B-1728B52AA6E4}">
                <ns11:decorative xmlns:ns11="http://schemas.microsoft.com/office/drawing/2017/decorative" val="1"/>
              </a:ext>
            </a:extLst>
          </p:cNvPr>
          <p:cNvSpPr/>
          <p:nvPr/>
        </p:nvSpPr>
        <p:spPr>
          <a:xfrm>
            <a:off x="6172200" y="4663440"/>
            <a:ext cx="54864" cy="141732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46520" y="4663440"/>
            <a:ext cx="64008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0F6CBD"/>
                </a:solidFill>
                <a:latin typeface="Segoe U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4754879"/>
            <a:ext cx="43434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42424"/>
                </a:solidFill>
                <a:latin typeface="Segoe UI"/>
              </a:rPr>
              <a:t>Apply HR guardrails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16161"/>
                </a:solidFill>
                <a:latin typeface="Segoe UI"/>
              </a:rPr>
              <a:t>Keep real data private, </a:t>
            </a:r>
            <a:r>
              <a:rPr sz="1300" b="1" i="0">
                <a:solidFill>
                  <a:srgbClr val="616161"/>
                </a:solidFill>
                <a:latin typeface="Segoe UI"/>
              </a:rPr>
              <a:t>cite and confirm</a:t>
            </a:r>
            <a:r>
              <a:rPr sz="1300" b="0" i="0">
                <a:solidFill>
                  <a:srgbClr val="616161"/>
                </a:solidFill>
                <a:latin typeface="Segoe UI"/>
              </a:rPr>
              <a:t>, people decisions stay with people.</a:t>
            </a:r>
          </a:p>
        </p:txBody>
      </p:sp>
    </p:spTree>
    <p:extLst>
      <p:ext uri="{BB962C8B-B14F-4D97-AF65-F5344CB8AC3E}">
        <p14:creationId xmlns:p14="http://schemas.microsoft.com/office/powerpoint/2010/main" val="418314712"/>
      </p:ext>
    </p:extLst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1690EC29-5E32-79B5-E29E-1E389EB1B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224B80-F0A8-232A-607E-25709F49219E}"/>
              </a:ext>
            </a:extLst>
          </p:cNvPr>
          <p:cNvSpPr txBox="1"/>
          <p:nvPr/>
        </p:nvSpPr>
        <p:spPr>
          <a:xfrm>
            <a:off x="502920" y="347472"/>
            <a:ext cx="1115568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Agenda — 2½ hours, hands-on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2FDF1E-C1D0-BD11-A7D1-CD7E8CECE583}"/>
              </a:ext>
            </a:extLst>
          </p:cNvPr>
          <p:cNvSpPr txBox="1"/>
          <p:nvPr/>
        </p:nvSpPr>
        <p:spPr>
          <a:xfrm>
            <a:off x="502920" y="932688"/>
            <a:ext cx="110642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61616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Framing and a UI tour, then eight scenario-based exercises with one break.</a:t>
            </a:r>
          </a:p>
        </p:txBody>
      </p:sp>
      <p:sp>
        <p:nvSpPr>
          <p:cNvPr id="4" name="Rectangle 3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5486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1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>
            <a:extLst>
              <a:ext uri="{C183D7F6-B498-43B3-948B-1728B52AA6E4}">
                <ns1:decorative xmlns:ns1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54864" cy="5486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822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F6CBD"/>
                </a:solidFill>
                <a:latin typeface="Segoe UI"/>
              </a:rPr>
              <a:t>5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463040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42424"/>
                </a:solidFill>
                <a:latin typeface="Segoe UI"/>
              </a:rPr>
              <a:t>Welcome &amp; context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16161"/>
                </a:solidFill>
                <a:latin typeface="Segoe UI"/>
              </a:rPr>
              <a:t>What Cowork is, HR value, the approval model</a:t>
            </a:r>
          </a:p>
        </p:txBody>
      </p:sp>
      <p:sp>
        <p:nvSpPr>
          <p:cNvPr id="8" name="Rectangle 7">
            <a:extLst>
              <a:ext uri="{C183D7F6-B498-43B3-948B-1728B52AA6E4}">
                <ns2:decorative xmlns:ns2="http://schemas.microsoft.com/office/drawing/2017/decorative" val="1"/>
              </a:ext>
            </a:extLst>
          </p:cNvPr>
          <p:cNvSpPr/>
          <p:nvPr/>
        </p:nvSpPr>
        <p:spPr>
          <a:xfrm>
            <a:off x="502920" y="2084832"/>
            <a:ext cx="5486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1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>
            <a:extLst>
              <a:ext uri="{C183D7F6-B498-43B3-948B-1728B52AA6E4}">
                <ns3:decorative xmlns:ns3="http://schemas.microsoft.com/office/drawing/2017/decorative" val="1"/>
              </a:ext>
            </a:extLst>
          </p:cNvPr>
          <p:cNvSpPr/>
          <p:nvPr/>
        </p:nvSpPr>
        <p:spPr>
          <a:xfrm>
            <a:off x="502920" y="2084832"/>
            <a:ext cx="54864" cy="5486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2084832"/>
            <a:ext cx="822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F6CBD"/>
                </a:solidFill>
                <a:latin typeface="Segoe UI"/>
              </a:rPr>
              <a:t>5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084832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42424"/>
                </a:solidFill>
                <a:latin typeface="Segoe UI"/>
              </a:rPr>
              <a:t>Copilot vs. Cowork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16161"/>
                </a:solidFill>
                <a:latin typeface="Segoe UI"/>
              </a:rPr>
              <a:t>The difference and when to use which</a:t>
            </a:r>
          </a:p>
        </p:txBody>
      </p:sp>
      <p:sp>
        <p:nvSpPr>
          <p:cNvPr id="12" name="Rectangle 11">
            <a:extLst>
              <a:ext uri="{C183D7F6-B498-43B3-948B-1728B52AA6E4}">
                <ns4:decorative xmlns:ns4="http://schemas.microsoft.com/office/drawing/2017/decorative" val="1"/>
              </a:ext>
            </a:extLst>
          </p:cNvPr>
          <p:cNvSpPr/>
          <p:nvPr/>
        </p:nvSpPr>
        <p:spPr>
          <a:xfrm>
            <a:off x="502920" y="2706624"/>
            <a:ext cx="5486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1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>
            <a:extLst>
              <a:ext uri="{C183D7F6-B498-43B3-948B-1728B52AA6E4}">
                <ns5:decorative xmlns:ns5="http://schemas.microsoft.com/office/drawing/2017/decorative" val="1"/>
              </a:ext>
            </a:extLst>
          </p:cNvPr>
          <p:cNvSpPr/>
          <p:nvPr/>
        </p:nvSpPr>
        <p:spPr>
          <a:xfrm>
            <a:off x="502920" y="2706624"/>
            <a:ext cx="54864" cy="5486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85800" y="2706624"/>
            <a:ext cx="822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F6CBD"/>
                </a:solidFill>
                <a:latin typeface="Segoe UI"/>
              </a:rPr>
              <a:t>10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706624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42424"/>
                </a:solidFill>
                <a:latin typeface="Segoe UI"/>
              </a:rPr>
              <a:t>Cowork UI walkthrough + setup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16161"/>
                </a:solidFill>
                <a:latin typeface="Segoe UI"/>
              </a:rPr>
              <a:t>New task · My tasks · Automations · Customize</a:t>
            </a:r>
          </a:p>
        </p:txBody>
      </p:sp>
      <p:sp>
        <p:nvSpPr>
          <p:cNvPr id="16" name="Rectangle 15">
            <a:extLst>
              <a:ext uri="{C183D7F6-B498-43B3-948B-1728B52AA6E4}">
                <ns6:decorative xmlns:ns6="http://schemas.microsoft.com/office/drawing/2017/decorative" val="1"/>
              </a:ext>
            </a:extLst>
          </p:cNvPr>
          <p:cNvSpPr/>
          <p:nvPr/>
        </p:nvSpPr>
        <p:spPr>
          <a:xfrm>
            <a:off x="502920" y="3328416"/>
            <a:ext cx="5486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1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>
            <a:extLst>
              <a:ext uri="{C183D7F6-B498-43B3-948B-1728B52AA6E4}">
                <ns7:decorative xmlns:ns7="http://schemas.microsoft.com/office/drawing/2017/decorative" val="1"/>
              </a:ext>
            </a:extLst>
          </p:cNvPr>
          <p:cNvSpPr/>
          <p:nvPr/>
        </p:nvSpPr>
        <p:spPr>
          <a:xfrm>
            <a:off x="502920" y="3328416"/>
            <a:ext cx="54864" cy="548640"/>
          </a:xfrm>
          <a:prstGeom prst="rect">
            <a:avLst/>
          </a:prstGeom>
          <a:solidFill>
            <a:srgbClr val="80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5800" y="3328416"/>
            <a:ext cx="822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8064A2"/>
                </a:solidFill>
                <a:latin typeface="Segoe UI"/>
              </a:rPr>
              <a:t>15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328416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42424"/>
                </a:solidFill>
                <a:latin typeface="Segoe UI"/>
              </a:rPr>
              <a:t>Ex 1 · Executive Command Center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16161"/>
                </a:solidFill>
                <a:latin typeface="Segoe UI"/>
              </a:rPr>
              <a:t>Interactive HTML dashboard · approvals one at a time</a:t>
            </a:r>
          </a:p>
        </p:txBody>
      </p:sp>
      <p:sp>
        <p:nvSpPr>
          <p:cNvPr id="20" name="Rectangle 19">
            <a:extLst>
              <a:ext uri="{C183D7F6-B498-43B3-948B-1728B52AA6E4}">
                <ns8:decorative xmlns:ns8="http://schemas.microsoft.com/office/drawing/2017/decorative" val="1"/>
              </a:ext>
            </a:extLst>
          </p:cNvPr>
          <p:cNvSpPr/>
          <p:nvPr/>
        </p:nvSpPr>
        <p:spPr>
          <a:xfrm>
            <a:off x="502920" y="3950208"/>
            <a:ext cx="5486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1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>
            <a:extLst>
              <a:ext uri="{C183D7F6-B498-43B3-948B-1728B52AA6E4}">
                <ns9:decorative xmlns:ns9="http://schemas.microsoft.com/office/drawing/2017/decorative" val="1"/>
              </a:ext>
            </a:extLst>
          </p:cNvPr>
          <p:cNvSpPr/>
          <p:nvPr/>
        </p:nvSpPr>
        <p:spPr>
          <a:xfrm>
            <a:off x="502920" y="3950208"/>
            <a:ext cx="54864" cy="548640"/>
          </a:xfrm>
          <a:prstGeom prst="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5800" y="3950208"/>
            <a:ext cx="822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07C10"/>
                </a:solidFill>
                <a:latin typeface="Segoe UI"/>
              </a:rPr>
              <a:t>15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3950208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42424"/>
                </a:solidFill>
                <a:latin typeface="Segoe UI"/>
              </a:rPr>
              <a:t>Ex 2 · Deep Research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16161"/>
                </a:solidFill>
                <a:latin typeface="Segoe UI"/>
              </a:rPr>
              <a:t>Cited briefing + 5 tailored questions</a:t>
            </a:r>
          </a:p>
        </p:txBody>
      </p:sp>
      <p:sp>
        <p:nvSpPr>
          <p:cNvPr id="24" name="Rectangle 23">
            <a:extLst>
              <a:ext uri="{C183D7F6-B498-43B3-948B-1728B52AA6E4}">
                <ns10:decorative xmlns:ns10="http://schemas.microsoft.com/office/drawing/2017/decorative" val="1"/>
              </a:ext>
            </a:extLst>
          </p:cNvPr>
          <p:cNvSpPr/>
          <p:nvPr/>
        </p:nvSpPr>
        <p:spPr>
          <a:xfrm>
            <a:off x="502920" y="4572000"/>
            <a:ext cx="5486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1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>
            <a:extLst>
              <a:ext uri="{C183D7F6-B498-43B3-948B-1728B52AA6E4}">
                <ns11:decorative xmlns:ns11="http://schemas.microsoft.com/office/drawing/2017/decorative" val="1"/>
              </a:ext>
            </a:extLst>
          </p:cNvPr>
          <p:cNvSpPr/>
          <p:nvPr/>
        </p:nvSpPr>
        <p:spPr>
          <a:xfrm>
            <a:off x="502920" y="4572000"/>
            <a:ext cx="54864" cy="548640"/>
          </a:xfrm>
          <a:prstGeom prst="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5800" y="4572000"/>
            <a:ext cx="822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07C10"/>
                </a:solidFill>
                <a:latin typeface="Segoe UI"/>
              </a:rPr>
              <a:t>15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4572000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42424"/>
                </a:solidFill>
                <a:latin typeface="Segoe UI"/>
              </a:rPr>
              <a:t>Ex 3 · Navigate websites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16161"/>
                </a:solidFill>
                <a:latin typeface="Segoe UI"/>
              </a:rPr>
              <a:t>Cowork drives Edge: dol.gov + lni.wa.gov</a:t>
            </a:r>
          </a:p>
        </p:txBody>
      </p:sp>
      <p:sp>
        <p:nvSpPr>
          <p:cNvPr id="28" name="Rectangle 27">
            <a:extLst>
              <a:ext uri="{C183D7F6-B498-43B3-948B-1728B52AA6E4}">
                <ns12:decorative xmlns:ns12="http://schemas.microsoft.com/office/drawing/2017/decorative" val="1"/>
              </a:ext>
            </a:extLst>
          </p:cNvPr>
          <p:cNvSpPr/>
          <p:nvPr/>
        </p:nvSpPr>
        <p:spPr>
          <a:xfrm>
            <a:off x="502920" y="5193792"/>
            <a:ext cx="5486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1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>
            <a:extLst>
              <a:ext uri="{C183D7F6-B498-43B3-948B-1728B52AA6E4}">
                <ns13:decorative xmlns:ns13="http://schemas.microsoft.com/office/drawing/2017/decorative" val="1"/>
              </a:ext>
            </a:extLst>
          </p:cNvPr>
          <p:cNvSpPr/>
          <p:nvPr/>
        </p:nvSpPr>
        <p:spPr>
          <a:xfrm>
            <a:off x="502920" y="5193792"/>
            <a:ext cx="54864" cy="548640"/>
          </a:xfrm>
          <a:prstGeom prst="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85800" y="5193792"/>
            <a:ext cx="822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07C10"/>
                </a:solidFill>
                <a:latin typeface="Segoe UI"/>
              </a:rPr>
              <a:t>20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5193792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42424"/>
                </a:solidFill>
                <a:latin typeface="Segoe UI"/>
              </a:rPr>
              <a:t>Ex 4 · Build a custom skill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16161"/>
                </a:solidFill>
                <a:latin typeface="Segoe UI"/>
              </a:rPr>
              <a:t>Centerpiece: HR Policy Answer</a:t>
            </a:r>
          </a:p>
        </p:txBody>
      </p:sp>
      <p:sp>
        <p:nvSpPr>
          <p:cNvPr id="32" name="Rectangle 31">
            <a:extLst>
              <a:ext uri="{C183D7F6-B498-43B3-948B-1728B52AA6E4}">
                <ns14:decorative xmlns:ns14="http://schemas.microsoft.com/office/drawing/2017/decorative" val="1"/>
              </a:ext>
            </a:extLst>
          </p:cNvPr>
          <p:cNvSpPr/>
          <p:nvPr/>
        </p:nvSpPr>
        <p:spPr>
          <a:xfrm>
            <a:off x="6172200" y="1463040"/>
            <a:ext cx="5486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1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>
            <a:extLst>
              <a:ext uri="{C183D7F6-B498-43B3-948B-1728B52AA6E4}">
                <ns15:decorative xmlns:ns15="http://schemas.microsoft.com/office/drawing/2017/decorative" val="1"/>
              </a:ext>
            </a:extLst>
          </p:cNvPr>
          <p:cNvSpPr/>
          <p:nvPr/>
        </p:nvSpPr>
        <p:spPr>
          <a:xfrm>
            <a:off x="6172200" y="1463040"/>
            <a:ext cx="54864" cy="548640"/>
          </a:xfrm>
          <a:prstGeom prst="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355080" y="1463040"/>
            <a:ext cx="822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07C10"/>
                </a:solidFill>
                <a:latin typeface="Segoe UI"/>
              </a:rPr>
              <a:t>10 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1463040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42424"/>
                </a:solidFill>
                <a:latin typeface="Segoe UI"/>
              </a:rPr>
              <a:t>Ex 5 · Recruiting + reporting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16161"/>
                </a:solidFill>
                <a:latin typeface="Segoe UI"/>
              </a:rPr>
              <a:t>Inclusive job posting + ticket summary</a:t>
            </a:r>
          </a:p>
        </p:txBody>
      </p:sp>
      <p:sp>
        <p:nvSpPr>
          <p:cNvPr id="36" name="Rectangle 35">
            <a:extLst>
              <a:ext uri="{C183D7F6-B498-43B3-948B-1728B52AA6E4}">
                <ns16:decorative xmlns:ns16="http://schemas.microsoft.com/office/drawing/2017/decorative" val="1"/>
              </a:ext>
            </a:extLst>
          </p:cNvPr>
          <p:cNvSpPr/>
          <p:nvPr/>
        </p:nvSpPr>
        <p:spPr>
          <a:xfrm>
            <a:off x="6172200" y="2084832"/>
            <a:ext cx="5486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1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>
            <a:extLst>
              <a:ext uri="{C183D7F6-B498-43B3-948B-1728B52AA6E4}">
                <ns17:decorative xmlns:ns17="http://schemas.microsoft.com/office/drawing/2017/decorative" val="1"/>
              </a:ext>
            </a:extLst>
          </p:cNvPr>
          <p:cNvSpPr/>
          <p:nvPr/>
        </p:nvSpPr>
        <p:spPr>
          <a:xfrm>
            <a:off x="6172200" y="2084832"/>
            <a:ext cx="54864" cy="548640"/>
          </a:xfrm>
          <a:prstGeom prst="rect">
            <a:avLst/>
          </a:prstGeom>
          <a:solidFill>
            <a:srgbClr val="8A88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355080" y="2084832"/>
            <a:ext cx="822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8A8886"/>
                </a:solidFill>
                <a:latin typeface="Segoe UI"/>
              </a:rPr>
              <a:t>15 min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9480" y="2084832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42424"/>
                </a:solidFill>
                <a:latin typeface="Segoe UI"/>
              </a:rPr>
              <a:t>Break</a:t>
            </a:r>
          </a:p>
        </p:txBody>
      </p:sp>
      <p:sp>
        <p:nvSpPr>
          <p:cNvPr id="40" name="Rectangle 39">
            <a:extLst>
              <a:ext uri="{C183D7F6-B498-43B3-948B-1728B52AA6E4}">
                <ns18:decorative xmlns:ns18="http://schemas.microsoft.com/office/drawing/2017/decorative" val="1"/>
              </a:ext>
            </a:extLst>
          </p:cNvPr>
          <p:cNvSpPr/>
          <p:nvPr/>
        </p:nvSpPr>
        <p:spPr>
          <a:xfrm>
            <a:off x="6172200" y="2706624"/>
            <a:ext cx="5486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1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>
            <a:extLst>
              <a:ext uri="{C183D7F6-B498-43B3-948B-1728B52AA6E4}">
                <ns19:decorative xmlns:ns19="http://schemas.microsoft.com/office/drawing/2017/decorative" val="1"/>
              </a:ext>
            </a:extLst>
          </p:cNvPr>
          <p:cNvSpPr/>
          <p:nvPr/>
        </p:nvSpPr>
        <p:spPr>
          <a:xfrm>
            <a:off x="6172200" y="2706624"/>
            <a:ext cx="54864" cy="548640"/>
          </a:xfrm>
          <a:prstGeom prst="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355080" y="2706624"/>
            <a:ext cx="822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07C10"/>
                </a:solidFill>
                <a:latin typeface="Segoe UI"/>
              </a:rPr>
              <a:t>10 min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9480" y="2706624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42424"/>
                </a:solidFill>
                <a:latin typeface="Segoe UI"/>
              </a:rPr>
              <a:t>Ex 6 · Onboarding pack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16161"/>
                </a:solidFill>
                <a:latin typeface="Segoe UI"/>
              </a:rPr>
              <a:t>Orientation deck (+ kickoff, announcement)</a:t>
            </a:r>
          </a:p>
        </p:txBody>
      </p:sp>
      <p:sp>
        <p:nvSpPr>
          <p:cNvPr id="44" name="Rectangle 43">
            <a:extLst>
              <a:ext uri="{C183D7F6-B498-43B3-948B-1728B52AA6E4}">
                <ns20:decorative xmlns:ns20="http://schemas.microsoft.com/office/drawing/2017/decorative" val="1"/>
              </a:ext>
            </a:extLst>
          </p:cNvPr>
          <p:cNvSpPr/>
          <p:nvPr/>
        </p:nvSpPr>
        <p:spPr>
          <a:xfrm>
            <a:off x="6172200" y="3328416"/>
            <a:ext cx="5486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1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>
            <a:extLst>
              <a:ext uri="{C183D7F6-B498-43B3-948B-1728B52AA6E4}">
                <ns21:decorative xmlns:ns21="http://schemas.microsoft.com/office/drawing/2017/decorative" val="1"/>
              </a:ext>
            </a:extLst>
          </p:cNvPr>
          <p:cNvSpPr/>
          <p:nvPr/>
        </p:nvSpPr>
        <p:spPr>
          <a:xfrm>
            <a:off x="6172200" y="3328416"/>
            <a:ext cx="54864" cy="548640"/>
          </a:xfrm>
          <a:prstGeom prst="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355080" y="3328416"/>
            <a:ext cx="822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07C10"/>
                </a:solidFill>
                <a:latin typeface="Segoe UI"/>
              </a:rPr>
              <a:t>10 min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69480" y="3328416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42424"/>
                </a:solidFill>
                <a:latin typeface="Segoe UI"/>
              </a:rPr>
              <a:t>Ex 7 · Automate &amp; share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16161"/>
                </a:solidFill>
                <a:latin typeface="Segoe UI"/>
              </a:rPr>
              <a:t>Automations + Daily Briefing (+ sharing)</a:t>
            </a:r>
          </a:p>
        </p:txBody>
      </p:sp>
      <p:sp>
        <p:nvSpPr>
          <p:cNvPr id="48" name="Rectangle 47">
            <a:extLst>
              <a:ext uri="{C183D7F6-B498-43B3-948B-1728B52AA6E4}">
                <ns22:decorative xmlns:ns22="http://schemas.microsoft.com/office/drawing/2017/decorative" val="1"/>
              </a:ext>
            </a:extLst>
          </p:cNvPr>
          <p:cNvSpPr/>
          <p:nvPr/>
        </p:nvSpPr>
        <p:spPr>
          <a:xfrm>
            <a:off x="6172200" y="3950208"/>
            <a:ext cx="5486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1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>
            <a:extLst>
              <a:ext uri="{C183D7F6-B498-43B3-948B-1728B52AA6E4}">
                <ns23:decorative xmlns:ns23="http://schemas.microsoft.com/office/drawing/2017/decorative" val="1"/>
              </a:ext>
            </a:extLst>
          </p:cNvPr>
          <p:cNvSpPr/>
          <p:nvPr/>
        </p:nvSpPr>
        <p:spPr>
          <a:xfrm>
            <a:off x="6172200" y="3950208"/>
            <a:ext cx="54864" cy="54864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355080" y="3950208"/>
            <a:ext cx="822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0504D"/>
                </a:solidFill>
                <a:latin typeface="Segoe UI"/>
              </a:rPr>
              <a:t>15 min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69480" y="3950208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42424"/>
                </a:solidFill>
                <a:latin typeface="Segoe UI"/>
              </a:rPr>
              <a:t>Ex 8 · Agent Builder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16161"/>
                </a:solidFill>
                <a:latin typeface="Segoe UI"/>
              </a:rPr>
              <a:t>Non-Cowork: build an HR Policy Agent</a:t>
            </a:r>
          </a:p>
        </p:txBody>
      </p:sp>
      <p:sp>
        <p:nvSpPr>
          <p:cNvPr id="52" name="Rectangle 51">
            <a:extLst>
              <a:ext uri="{C183D7F6-B498-43B3-948B-1728B52AA6E4}">
                <ns24:decorative xmlns:ns24="http://schemas.microsoft.com/office/drawing/2017/decorative" val="1"/>
              </a:ext>
            </a:extLst>
          </p:cNvPr>
          <p:cNvSpPr/>
          <p:nvPr/>
        </p:nvSpPr>
        <p:spPr>
          <a:xfrm>
            <a:off x="6172200" y="4572000"/>
            <a:ext cx="5486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1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>
            <a:extLst>
              <a:ext uri="{C183D7F6-B498-43B3-948B-1728B52AA6E4}">
                <ns25:decorative xmlns:ns25="http://schemas.microsoft.com/office/drawing/2017/decorative" val="1"/>
              </a:ext>
            </a:extLst>
          </p:cNvPr>
          <p:cNvSpPr/>
          <p:nvPr/>
        </p:nvSpPr>
        <p:spPr>
          <a:xfrm>
            <a:off x="6172200" y="4572000"/>
            <a:ext cx="54864" cy="5486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355080" y="4572000"/>
            <a:ext cx="822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F6CBD"/>
                </a:solidFill>
                <a:latin typeface="Segoe UI"/>
              </a:rPr>
              <a:t>5 min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69480" y="4572000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42424"/>
                </a:solidFill>
                <a:latin typeface="Segoe UI"/>
              </a:rPr>
              <a:t>Wrap-up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16161"/>
                </a:solidFill>
                <a:latin typeface="Segoe UI"/>
              </a:rPr>
              <a:t>Three tools and next steps</a:t>
            </a:r>
          </a:p>
        </p:txBody>
      </p:sp>
    </p:spTree>
    <p:extLst>
      <p:ext uri="{BB962C8B-B14F-4D97-AF65-F5344CB8AC3E}">
        <p14:creationId xmlns:p14="http://schemas.microsoft.com/office/powerpoint/2010/main" val="418314712"/>
      </p:ext>
    </p:extLst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1690EC29-5E32-79B5-E29E-1E389EB1B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224B80-F0A8-232A-607E-25709F49219E}"/>
              </a:ext>
            </a:extLst>
          </p:cNvPr>
          <p:cNvSpPr txBox="1"/>
          <p:nvPr/>
        </p:nvSpPr>
        <p:spPr>
          <a:xfrm>
            <a:off x="502920" y="347472"/>
            <a:ext cx="1115568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Eight hands-on exercises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2FDF1E-C1D0-BD11-A7D1-CD7E8CECE583}"/>
              </a:ext>
            </a:extLst>
          </p:cNvPr>
          <p:cNvSpPr txBox="1"/>
          <p:nvPr/>
        </p:nvSpPr>
        <p:spPr>
          <a:xfrm>
            <a:off x="502920" y="932688"/>
            <a:ext cx="110642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61616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Each one starts from a real HR scenario and ends in a finished draft.</a:t>
            </a:r>
          </a:p>
        </p:txBody>
      </p:sp>
      <p:sp>
        <p:nvSpPr>
          <p:cNvPr id="4" name="Rectangle 3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2679192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1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>
            <a:extLst>
              <a:ext uri="{C183D7F6-B498-43B3-948B-1728B52AA6E4}">
                <ns1:decorative xmlns:ns1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2679192" cy="41148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Exercise 1" descr="Illustration of a bar chart, for the executive command center dashbo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2" y="1627632"/>
            <a:ext cx="530352" cy="5303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9224" y="1609344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F6CBD"/>
                </a:solidFill>
                <a:latin typeface="Segoe UI"/>
              </a:rPr>
              <a:t>EXERCISE 1 · 15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1883664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400" b="1" i="0">
                <a:solidFill>
                  <a:srgbClr val="242424"/>
                </a:solidFill>
                <a:latin typeface="Segoe UI"/>
              </a:rPr>
              <a:t>Executive Command Center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423160"/>
            <a:ext cx="239572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616161"/>
                </a:solidFill>
                <a:latin typeface="Segoe UI"/>
              </a:rPr>
              <a:t>Turn your calendar, communications, and priority work into a daily executive view of decisions, risks, and actions requiring attention.</a:t>
            </a:r>
          </a:p>
        </p:txBody>
      </p:sp>
      <p:sp>
        <p:nvSpPr>
          <p:cNvPr id="10" name="Rectangle 9">
            <a:extLst>
              <a:ext uri="{C183D7F6-B498-43B3-948B-1728B52AA6E4}">
                <ns2:decorative xmlns:ns2="http://schemas.microsoft.com/office/drawing/2017/decorative" val="1"/>
              </a:ext>
            </a:extLst>
          </p:cNvPr>
          <p:cNvSpPr/>
          <p:nvPr/>
        </p:nvSpPr>
        <p:spPr>
          <a:xfrm>
            <a:off x="3337560" y="1463040"/>
            <a:ext cx="2679192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1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>
            <a:extLst>
              <a:ext uri="{C183D7F6-B498-43B3-948B-1728B52AA6E4}">
                <ns3:decorative xmlns:ns3="http://schemas.microsoft.com/office/drawing/2017/decorative" val="1"/>
              </a:ext>
            </a:extLst>
          </p:cNvPr>
          <p:cNvSpPr/>
          <p:nvPr/>
        </p:nvSpPr>
        <p:spPr>
          <a:xfrm>
            <a:off x="3337560" y="1463040"/>
            <a:ext cx="2679192" cy="41148"/>
          </a:xfrm>
          <a:prstGeom prst="rect">
            <a:avLst/>
          </a:prstGeom>
          <a:solidFill>
            <a:srgbClr val="80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Exercise 2" descr="Illustration of a magnifying glass, for Deep Researc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952" y="1627632"/>
            <a:ext cx="530352" cy="5303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83864" y="1609344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8064A2"/>
                </a:solidFill>
                <a:latin typeface="Segoe UI"/>
              </a:rPr>
              <a:t>EXERCISE 2 · 15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3864" y="1883664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400" b="1" i="0">
                <a:solidFill>
                  <a:srgbClr val="242424"/>
                </a:solidFill>
                <a:latin typeface="Segoe UI"/>
              </a:rPr>
              <a:t>Deep Research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3864" y="2423160"/>
            <a:ext cx="239572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616161"/>
                </a:solidFill>
                <a:latin typeface="Segoe UI"/>
              </a:rPr>
              <a:t>Get an evidence-based view of structured behavioral interviewing and turn it into questions for a real open role.</a:t>
            </a:r>
          </a:p>
        </p:txBody>
      </p:sp>
      <p:sp>
        <p:nvSpPr>
          <p:cNvPr id="16" name="Rectangle 15">
            <a:extLst>
              <a:ext uri="{C183D7F6-B498-43B3-948B-1728B52AA6E4}">
                <ns4:decorative xmlns:ns4="http://schemas.microsoft.com/office/drawing/2017/decorative" val="1"/>
              </a:ext>
            </a:extLst>
          </p:cNvPr>
          <p:cNvSpPr/>
          <p:nvPr/>
        </p:nvSpPr>
        <p:spPr>
          <a:xfrm>
            <a:off x="6172200" y="1463040"/>
            <a:ext cx="2679192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1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>
            <a:extLst>
              <a:ext uri="{C183D7F6-B498-43B3-948B-1728B52AA6E4}">
                <ns5:decorative xmlns:ns5="http://schemas.microsoft.com/office/drawing/2017/decorative" val="1"/>
              </a:ext>
            </a:extLst>
          </p:cNvPr>
          <p:cNvSpPr/>
          <p:nvPr/>
        </p:nvSpPr>
        <p:spPr>
          <a:xfrm>
            <a:off x="6172200" y="1463040"/>
            <a:ext cx="2679192" cy="41148"/>
          </a:xfrm>
          <a:prstGeom prst="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Exercise 3" descr="Illustration of a globe, for navigating websites with Cowork's brows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5592" y="1627632"/>
            <a:ext cx="530352" cy="53035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18504" y="1609344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07C10"/>
                </a:solidFill>
                <a:latin typeface="Segoe UI"/>
              </a:rPr>
              <a:t>EXERCISE 3 · 15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4" y="1883664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400" b="1" i="0">
                <a:solidFill>
                  <a:srgbClr val="242424"/>
                </a:solidFill>
                <a:latin typeface="Segoe UI"/>
              </a:rPr>
              <a:t>Browser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4" y="2423160"/>
            <a:ext cx="239572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616161"/>
                </a:solidFill>
                <a:latin typeface="Segoe UI"/>
              </a:rPr>
              <a:t>Have Cowork drive a real web browser for you — search a site, click through, move to a second site — and bring back a sourced comparison.</a:t>
            </a:r>
          </a:p>
        </p:txBody>
      </p:sp>
      <p:sp>
        <p:nvSpPr>
          <p:cNvPr id="22" name="Rectangle 21">
            <a:extLst>
              <a:ext uri="{C183D7F6-B498-43B3-948B-1728B52AA6E4}">
                <ns6:decorative xmlns:ns6="http://schemas.microsoft.com/office/drawing/2017/decorative" val="1"/>
              </a:ext>
            </a:extLst>
          </p:cNvPr>
          <p:cNvSpPr/>
          <p:nvPr/>
        </p:nvSpPr>
        <p:spPr>
          <a:xfrm>
            <a:off x="9006840" y="1463040"/>
            <a:ext cx="2679192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1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>
            <a:extLst>
              <a:ext uri="{C183D7F6-B498-43B3-948B-1728B52AA6E4}">
                <ns7:decorative xmlns:ns7="http://schemas.microsoft.com/office/drawing/2017/decorative" val="1"/>
              </a:ext>
            </a:extLst>
          </p:cNvPr>
          <p:cNvSpPr/>
          <p:nvPr/>
        </p:nvSpPr>
        <p:spPr>
          <a:xfrm>
            <a:off x="9006840" y="1463040"/>
            <a:ext cx="2679192" cy="41148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Exercise 4" descr="Illustration of a hammer and wrench, for building a custom skil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0232" y="1627632"/>
            <a:ext cx="530352" cy="53035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153144" y="1609344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C0504D"/>
                </a:solidFill>
                <a:latin typeface="Segoe UI"/>
              </a:rPr>
              <a:t>EXERCISE 4 · 20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883664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400" b="1" i="0">
                <a:solidFill>
                  <a:srgbClr val="242424"/>
                </a:solidFill>
                <a:latin typeface="Segoe UI"/>
              </a:rPr>
              <a:t>Custom Skill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53144" y="2423160"/>
            <a:ext cx="239572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616161"/>
                </a:solidFill>
                <a:latin typeface="Segoe UI"/>
              </a:rPr>
              <a:t>Teach Cowork to answer policy and benefits questions the same clear, sourced way — every time.</a:t>
            </a:r>
          </a:p>
        </p:txBody>
      </p:sp>
      <p:sp>
        <p:nvSpPr>
          <p:cNvPr id="28" name="Rectangle 27">
            <a:extLst>
              <a:ext uri="{C183D7F6-B498-43B3-948B-1728B52AA6E4}">
                <ns8:decorative xmlns:ns8="http://schemas.microsoft.com/office/drawing/2017/decorative" val="1"/>
              </a:ext>
            </a:extLst>
          </p:cNvPr>
          <p:cNvSpPr/>
          <p:nvPr/>
        </p:nvSpPr>
        <p:spPr>
          <a:xfrm>
            <a:off x="502920" y="3840480"/>
            <a:ext cx="2679192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1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>
            <a:extLst>
              <a:ext uri="{C183D7F6-B498-43B3-948B-1728B52AA6E4}">
                <ns9:decorative xmlns:ns9="http://schemas.microsoft.com/office/drawing/2017/decorative" val="1"/>
              </a:ext>
            </a:extLst>
          </p:cNvPr>
          <p:cNvSpPr/>
          <p:nvPr/>
        </p:nvSpPr>
        <p:spPr>
          <a:xfrm>
            <a:off x="502920" y="3840480"/>
            <a:ext cx="2679192" cy="41148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0" name="Picture Exercise 5" descr="Illustration of a clipboard, for recruiting and report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6312" y="4005072"/>
            <a:ext cx="530352" cy="53035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49224" y="3986784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F6CBD"/>
                </a:solidFill>
                <a:latin typeface="Segoe UI"/>
              </a:rPr>
              <a:t>EXERCISE 5 · 10 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" y="4261104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400" b="1" i="0">
                <a:solidFill>
                  <a:srgbClr val="242424"/>
                </a:solidFill>
                <a:latin typeface="Segoe UI"/>
              </a:rPr>
              <a:t>Recruiting + Reporting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4800600"/>
            <a:ext cx="239572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616161"/>
                </a:solidFill>
                <a:latin typeface="Segoe UI"/>
              </a:rPr>
              <a:t>Attract the right candidates for an open role and get on top of the HR service queue in minutes.</a:t>
            </a:r>
          </a:p>
        </p:txBody>
      </p:sp>
      <p:sp>
        <p:nvSpPr>
          <p:cNvPr id="34" name="Rectangle 33">
            <a:extLst>
              <a:ext uri="{C183D7F6-B498-43B3-948B-1728B52AA6E4}">
                <ns10:decorative xmlns:ns10="http://schemas.microsoft.com/office/drawing/2017/decorative" val="1"/>
              </a:ext>
            </a:extLst>
          </p:cNvPr>
          <p:cNvSpPr/>
          <p:nvPr/>
        </p:nvSpPr>
        <p:spPr>
          <a:xfrm>
            <a:off x="3337560" y="3840480"/>
            <a:ext cx="2679192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1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>
            <a:extLst>
              <a:ext uri="{C183D7F6-B498-43B3-948B-1728B52AA6E4}">
                <ns11:decorative xmlns:ns11="http://schemas.microsoft.com/office/drawing/2017/decorative" val="1"/>
              </a:ext>
            </a:extLst>
          </p:cNvPr>
          <p:cNvSpPr/>
          <p:nvPr/>
        </p:nvSpPr>
        <p:spPr>
          <a:xfrm>
            <a:off x="3337560" y="3840480"/>
            <a:ext cx="2679192" cy="41148"/>
          </a:xfrm>
          <a:prstGeom prst="rect">
            <a:avLst/>
          </a:prstGeom>
          <a:solidFill>
            <a:srgbClr val="80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6" name="Picture Exercise 6" descr="Illustration of a party popper, for welcoming a new hir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0952" y="4005072"/>
            <a:ext cx="530352" cy="53035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3483864" y="3986784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8064A2"/>
                </a:solidFill>
                <a:latin typeface="Segoe UI"/>
              </a:rPr>
              <a:t>EXERCISE 6 · 10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83864" y="4261104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400" b="1" i="0">
                <a:solidFill>
                  <a:srgbClr val="242424"/>
                </a:solidFill>
                <a:latin typeface="Segoe UI"/>
              </a:rPr>
              <a:t>Onboarding Pack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83864" y="4800600"/>
            <a:ext cx="239572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616161"/>
                </a:solidFill>
                <a:latin typeface="Segoe UI"/>
              </a:rPr>
              <a:t>Give a new hire a polished first-day experience without assembling it by hand.</a:t>
            </a:r>
          </a:p>
        </p:txBody>
      </p:sp>
      <p:sp>
        <p:nvSpPr>
          <p:cNvPr id="40" name="Rectangle 39">
            <a:extLst>
              <a:ext uri="{C183D7F6-B498-43B3-948B-1728B52AA6E4}">
                <ns12:decorative xmlns:ns12="http://schemas.microsoft.com/office/drawing/2017/decorative" val="1"/>
              </a:ext>
            </a:extLst>
          </p:cNvPr>
          <p:cNvSpPr/>
          <p:nvPr/>
        </p:nvSpPr>
        <p:spPr>
          <a:xfrm>
            <a:off x="6172200" y="3840480"/>
            <a:ext cx="2679192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1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>
            <a:extLst>
              <a:ext uri="{C183D7F6-B498-43B3-948B-1728B52AA6E4}">
                <ns13:decorative xmlns:ns13="http://schemas.microsoft.com/office/drawing/2017/decorative" val="1"/>
              </a:ext>
            </a:extLst>
          </p:cNvPr>
          <p:cNvSpPr/>
          <p:nvPr/>
        </p:nvSpPr>
        <p:spPr>
          <a:xfrm>
            <a:off x="6172200" y="3840480"/>
            <a:ext cx="2679192" cy="41148"/>
          </a:xfrm>
          <a:prstGeom prst="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2" name="Picture Exercise 7" descr="Illustration of an alarm clock, for scheduled automation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5592" y="4005072"/>
            <a:ext cx="530352" cy="53035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318504" y="3986784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07C10"/>
                </a:solidFill>
                <a:latin typeface="Segoe UI"/>
              </a:rPr>
              <a:t>EXERCISE 7 · 10 MIN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18504" y="4261104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400" b="1" i="0">
                <a:solidFill>
                  <a:srgbClr val="242424"/>
                </a:solidFill>
                <a:latin typeface="Segoe UI"/>
              </a:rPr>
              <a:t>Automate &amp; Share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18504" y="4800600"/>
            <a:ext cx="239572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616161"/>
                </a:solidFill>
                <a:latin typeface="Segoe UI"/>
              </a:rPr>
              <a:t>Stop re-asking for the same work — put it on a schedule and share what you built.</a:t>
            </a:r>
          </a:p>
        </p:txBody>
      </p:sp>
      <p:sp>
        <p:nvSpPr>
          <p:cNvPr id="46" name="Rectangle 45">
            <a:extLst>
              <a:ext uri="{C183D7F6-B498-43B3-948B-1728B52AA6E4}">
                <ns14:decorative xmlns:ns14="http://schemas.microsoft.com/office/drawing/2017/decorative" val="1"/>
              </a:ext>
            </a:extLst>
          </p:cNvPr>
          <p:cNvSpPr/>
          <p:nvPr/>
        </p:nvSpPr>
        <p:spPr>
          <a:xfrm>
            <a:off x="9006840" y="3840480"/>
            <a:ext cx="2679192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1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>
            <a:extLst>
              <a:ext uri="{C183D7F6-B498-43B3-948B-1728B52AA6E4}">
                <ns15:decorative xmlns:ns15="http://schemas.microsoft.com/office/drawing/2017/decorative" val="1"/>
              </a:ext>
            </a:extLst>
          </p:cNvPr>
          <p:cNvSpPr/>
          <p:nvPr/>
        </p:nvSpPr>
        <p:spPr>
          <a:xfrm>
            <a:off x="9006840" y="3840480"/>
            <a:ext cx="2679192" cy="41148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8" name="Picture Exercise 8" descr="Illustration of a robot, for the HR Policy Agent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00232" y="4005072"/>
            <a:ext cx="530352" cy="530352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153144" y="3986784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C0504D"/>
                </a:solidFill>
                <a:latin typeface="Segoe UI"/>
              </a:rPr>
              <a:t>EXERCISE 8 · 15 MIN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53144" y="4261104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400" b="1" i="0">
                <a:solidFill>
                  <a:srgbClr val="242424"/>
                </a:solidFill>
                <a:latin typeface="Segoe UI"/>
              </a:rPr>
              <a:t>HR Policy Agent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53144" y="4800600"/>
            <a:ext cx="239572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616161"/>
                </a:solidFill>
                <a:latin typeface="Segoe UI"/>
              </a:rPr>
              <a:t>Stand up a reusable Q&amp;A agent employees can chat with to get sourced policy answers.</a:t>
            </a:r>
          </a:p>
        </p:txBody>
      </p:sp>
    </p:spTree>
    <p:extLst>
      <p:ext uri="{BB962C8B-B14F-4D97-AF65-F5344CB8AC3E}">
        <p14:creationId xmlns:p14="http://schemas.microsoft.com/office/powerpoint/2010/main" val="418314712"/>
      </p:ext>
    </p:extLst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1690EC29-5E32-79B5-E29E-1E389EB1B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224B80-F0A8-232A-607E-25709F49219E}"/>
              </a:ext>
            </a:extLst>
          </p:cNvPr>
          <p:cNvSpPr txBox="1"/>
          <p:nvPr/>
        </p:nvSpPr>
        <p:spPr>
          <a:xfrm>
            <a:off x="502920" y="347472"/>
            <a:ext cx="1115568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Before the session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2FDF1E-C1D0-BD11-A7D1-CD7E8CECE583}"/>
              </a:ext>
            </a:extLst>
          </p:cNvPr>
          <p:cNvSpPr txBox="1"/>
          <p:nvPr/>
        </p:nvSpPr>
        <p:spPr>
          <a:xfrm>
            <a:off x="502920" y="932688"/>
            <a:ext cx="110642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61616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What attendees bring, and what the host sets up in advance.</a:t>
            </a:r>
          </a:p>
        </p:txBody>
      </p:sp>
      <p:sp>
        <p:nvSpPr>
          <p:cNvPr id="4" name="Rectangle 3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5468112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1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>
            <a:extLst>
              <a:ext uri="{C183D7F6-B498-43B3-948B-1728B52AA6E4}">
                <ns1:decorative xmlns:ns1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5468112" cy="41148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9224" y="1645920"/>
            <a:ext cx="51755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F6CBD"/>
                </a:solidFill>
                <a:latin typeface="Segoe UI"/>
              </a:rPr>
              <a:t>FOR ATTENDEES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" y="2084832"/>
            <a:ext cx="5175504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880" indent="-182880">
              <a:spcAft>
                <a:spcPts val="500"/>
              </a:spcAft>
              <a:buFont typeface="Arial"/>
              <a:buChar char="•"/>
            </a:pPr>
            <a:r>
              <a:rPr sz="1500" b="0" i="0">
                <a:solidFill>
                  <a:srgbClr val="242424"/>
                </a:solidFill>
                <a:latin typeface="Segoe UI"/>
              </a:rPr>
              <a:t>A </a:t>
            </a:r>
            <a:r>
              <a:rPr sz="1500" b="1" i="0">
                <a:solidFill>
                  <a:srgbClr val="242424"/>
                </a:solidFill>
                <a:latin typeface="Segoe UI"/>
              </a:rPr>
              <a:t>laptop or desktop</a:t>
            </a:r>
            <a:r>
              <a:rPr sz="1500" b="0" i="0">
                <a:solidFill>
                  <a:srgbClr val="242424"/>
                </a:solidFill>
                <a:latin typeface="Segoe UI"/>
              </a:rPr>
              <a:t> (not a phone) with </a:t>
            </a:r>
            <a:r>
              <a:rPr sz="1500" b="1" i="0">
                <a:solidFill>
                  <a:srgbClr val="242424"/>
                </a:solidFill>
                <a:latin typeface="Segoe UI"/>
              </a:rPr>
              <a:t>Microsoft Edge</a:t>
            </a:r>
            <a:r>
              <a:rPr sz="1500" b="0" i="0">
                <a:solidFill>
                  <a:srgbClr val="242424"/>
                </a:solidFill>
                <a:latin typeface="Segoe UI"/>
              </a:rPr>
              <a:t> 152 or later</a:t>
            </a:r>
          </a:p>
          <a:p>
            <a:pPr algn="l" marL="182880" indent="-182880">
              <a:spcAft>
                <a:spcPts val="500"/>
              </a:spcAft>
              <a:buFont typeface="Arial"/>
              <a:buChar char="•"/>
            </a:pPr>
            <a:r>
              <a:rPr sz="1500" b="0" i="0">
                <a:solidFill>
                  <a:srgbClr val="242424"/>
                </a:solidFill>
                <a:latin typeface="Segoe UI"/>
              </a:rPr>
              <a:t>Your </a:t>
            </a:r>
            <a:r>
              <a:rPr sz="1500" b="1" i="0">
                <a:solidFill>
                  <a:srgbClr val="242424"/>
                </a:solidFill>
                <a:latin typeface="Segoe UI"/>
              </a:rPr>
              <a:t>own work account</a:t>
            </a:r>
            <a:r>
              <a:rPr sz="1500" b="0" i="0">
                <a:solidFill>
                  <a:srgbClr val="242424"/>
                </a:solidFill>
                <a:latin typeface="Segoe UI"/>
              </a:rPr>
              <a:t> (Microsoft 365 Copilot licensed)</a:t>
            </a:r>
          </a:p>
          <a:p>
            <a:pPr algn="l" marL="182880" indent="-182880">
              <a:spcAft>
                <a:spcPts val="500"/>
              </a:spcAft>
              <a:buFont typeface="Arial"/>
              <a:buChar char="•"/>
            </a:pPr>
            <a:r>
              <a:rPr sz="1500" b="0" i="0">
                <a:solidFill>
                  <a:srgbClr val="242424"/>
                </a:solidFill>
                <a:latin typeface="Segoe UI"/>
              </a:rPr>
              <a:t>No prep needed; optional five-minute pre-read: </a:t>
            </a:r>
            <a:r>
              <a:rPr sz="1500" b="1" i="0">
                <a:solidFill>
                  <a:srgbClr val="242424"/>
                </a:solidFill>
                <a:latin typeface="Segoe UI"/>
              </a:rPr>
              <a:t>Copilot vs. Cowork</a:t>
            </a:r>
          </a:p>
          <a:p>
            <a:pPr algn="l" marL="182880" indent="-182880">
              <a:spcAft>
                <a:spcPts val="500"/>
              </a:spcAft>
              <a:buFont typeface="Arial"/>
              <a:buChar char="•"/>
            </a:pPr>
            <a:r>
              <a:rPr sz="1500" b="0" i="0">
                <a:solidFill>
                  <a:srgbClr val="242424"/>
                </a:solidFill>
                <a:latin typeface="Segoe UI"/>
              </a:rPr>
              <a:t>Real data stays private; exercise files are fictional</a:t>
            </a:r>
          </a:p>
        </p:txBody>
      </p:sp>
      <p:sp>
        <p:nvSpPr>
          <p:cNvPr id="8" name="Rectangle 7">
            <a:extLst>
              <a:ext uri="{C183D7F6-B498-43B3-948B-1728B52AA6E4}">
                <ns2:decorative xmlns:ns2="http://schemas.microsoft.com/office/drawing/2017/decorative" val="1"/>
              </a:ext>
            </a:extLst>
          </p:cNvPr>
          <p:cNvSpPr/>
          <p:nvPr/>
        </p:nvSpPr>
        <p:spPr>
          <a:xfrm>
            <a:off x="6217920" y="1463040"/>
            <a:ext cx="5468112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1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>
            <a:extLst>
              <a:ext uri="{C183D7F6-B498-43B3-948B-1728B52AA6E4}">
                <ns3:decorative xmlns:ns3="http://schemas.microsoft.com/office/drawing/2017/decorative" val="1"/>
              </a:ext>
            </a:extLst>
          </p:cNvPr>
          <p:cNvSpPr/>
          <p:nvPr/>
        </p:nvSpPr>
        <p:spPr>
          <a:xfrm>
            <a:off x="6217920" y="1463040"/>
            <a:ext cx="5468112" cy="41148"/>
          </a:xfrm>
          <a:prstGeom prst="rect">
            <a:avLst/>
          </a:prstGeom>
          <a:solidFill>
            <a:srgbClr val="80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364224" y="1645920"/>
            <a:ext cx="51755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8064A2"/>
                </a:solidFill>
                <a:latin typeface="Segoe UI"/>
              </a:rPr>
              <a:t>FOR HOSTS (START 3 WEEKS OUT)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2084832"/>
            <a:ext cx="5175504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880" indent="-182880">
              <a:spcAft>
                <a:spcPts val="500"/>
              </a:spcAft>
              <a:buFont typeface="Arial"/>
              <a:buChar char="•"/>
            </a:pPr>
            <a:r>
              <a:rPr sz="1500" b="1" i="0">
                <a:solidFill>
                  <a:srgbClr val="242424"/>
                </a:solidFill>
                <a:latin typeface="Segoe UI"/>
              </a:rPr>
              <a:t>Microsoft 365 Copilot</a:t>
            </a:r>
            <a:r>
              <a:rPr sz="1500" b="0" i="0">
                <a:solidFill>
                  <a:srgbClr val="242424"/>
                </a:solidFill>
                <a:latin typeface="Segoe UI"/>
              </a:rPr>
              <a:t> licenses and usage-based billing</a:t>
            </a:r>
          </a:p>
          <a:p>
            <a:pPr algn="l" marL="182880" indent="-182880">
              <a:spcAft>
                <a:spcPts val="500"/>
              </a:spcAft>
              <a:buFont typeface="Arial"/>
              <a:buChar char="•"/>
            </a:pPr>
            <a:r>
              <a:rPr sz="1500" b="0" i="0">
                <a:solidFill>
                  <a:srgbClr val="242424"/>
                </a:solidFill>
                <a:latin typeface="Segoe UI"/>
              </a:rPr>
              <a:t>A </a:t>
            </a:r>
            <a:r>
              <a:rPr sz="1500" b="1" i="0">
                <a:solidFill>
                  <a:srgbClr val="242424"/>
                </a:solidFill>
                <a:latin typeface="Segoe UI"/>
              </a:rPr>
              <a:t>Cowork spending policy</a:t>
            </a:r>
            <a:r>
              <a:rPr sz="1500" b="0" i="0">
                <a:solidFill>
                  <a:srgbClr val="242424"/>
                </a:solidFill>
                <a:latin typeface="Segoe UI"/>
              </a:rPr>
              <a:t> (grants access) with </a:t>
            </a:r>
            <a:r>
              <a:rPr sz="1500" b="1" i="0">
                <a:solidFill>
                  <a:srgbClr val="242424"/>
                </a:solidFill>
                <a:latin typeface="Segoe UI"/>
              </a:rPr>
              <a:t>Cowork Browsing</a:t>
            </a:r>
            <a:r>
              <a:rPr sz="1500" b="0" i="0">
                <a:solidFill>
                  <a:srgbClr val="242424"/>
                </a:solidFill>
                <a:latin typeface="Segoe UI"/>
              </a:rPr>
              <a:t> allowed</a:t>
            </a:r>
          </a:p>
          <a:p>
            <a:pPr algn="l" marL="182880" indent="-182880">
              <a:spcAft>
                <a:spcPts val="500"/>
              </a:spcAft>
              <a:buFont typeface="Arial"/>
              <a:buChar char="•"/>
            </a:pPr>
            <a:r>
              <a:rPr sz="1500" b="0" i="0">
                <a:solidFill>
                  <a:srgbClr val="242424"/>
                </a:solidFill>
                <a:latin typeface="Segoe UI"/>
              </a:rPr>
              <a:t>Attendees in the workshop group, plus 1–2 spare accounts</a:t>
            </a:r>
          </a:p>
          <a:p>
            <a:pPr algn="l" marL="182880" indent="-182880">
              <a:spcAft>
                <a:spcPts val="500"/>
              </a:spcAft>
              <a:buFont typeface="Arial"/>
              <a:buChar char="•"/>
            </a:pPr>
            <a:r>
              <a:rPr sz="1500" b="0" i="0">
                <a:solidFill>
                  <a:srgbClr val="242424"/>
                </a:solidFill>
                <a:latin typeface="Segoe UI"/>
              </a:rPr>
              <a:t>Follow the </a:t>
            </a:r>
            <a:r>
              <a:rPr sz="1500" b="1" i="0">
                <a:solidFill>
                  <a:srgbClr val="242424"/>
                </a:solidFill>
                <a:latin typeface="Segoe UI"/>
              </a:rPr>
              <a:t>readiness checklist</a:t>
            </a:r>
            <a:r>
              <a:rPr sz="1500" b="0" i="0">
                <a:solidFill>
                  <a:srgbClr val="242424"/>
                </a:solidFill>
                <a:latin typeface="Segoe UI"/>
              </a:rPr>
              <a:t> for the full timeline and Plan B</a:t>
            </a:r>
          </a:p>
        </p:txBody>
      </p:sp>
      <p:sp>
        <p:nvSpPr>
          <p:cNvPr id="12" name="Rounded Rectangle 11">
            <a:extLst>
              <a:ext uri="{C183D7F6-B498-43B3-948B-1728B52AA6E4}">
                <ns4:decorative xmlns:ns4="http://schemas.microsoft.com/office/drawing/2017/decorative" val="1"/>
              </a:ext>
            </a:extLst>
          </p:cNvPr>
          <p:cNvSpPr/>
          <p:nvPr/>
        </p:nvSpPr>
        <p:spPr>
          <a:xfrm>
            <a:off x="502920" y="4846320"/>
            <a:ext cx="11183112" cy="1325880"/>
          </a:xfrm>
          <a:prstGeom prst="roundRect">
            <a:avLst>
              <a:gd name="adj" fmla="val 12000"/>
            </a:avLst>
          </a:prstGeom>
          <a:solidFill>
            <a:srgbClr val="F3E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77240" y="4846320"/>
            <a:ext cx="10634472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 i="0">
                <a:solidFill>
                  <a:srgbClr val="323139"/>
                </a:solidFill>
                <a:latin typeface="Segoe UI"/>
              </a:rPr>
              <a:t>Instructors:</a:t>
            </a:r>
            <a:r>
              <a:rPr sz="1500" b="0" i="0">
                <a:solidFill>
                  <a:srgbClr val="323139"/>
                </a:solidFill>
                <a:latin typeface="Segoe UI"/>
              </a:rPr>
              <a:t> start with the readiness checklist and the facilitator guide, then do a full dry run against the answer key. The instructor deck’s speaker notes carry the run sheet.</a:t>
            </a:r>
          </a:p>
        </p:txBody>
      </p:sp>
    </p:spTree>
    <p:extLst>
      <p:ext uri="{BB962C8B-B14F-4D97-AF65-F5344CB8AC3E}">
        <p14:creationId xmlns:p14="http://schemas.microsoft.com/office/powerpoint/2010/main" val="418314712"/>
      </p:ext>
    </p:extLst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1690EC29-5E32-79B5-E29E-1E389EB1B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224B80-F0A8-232A-607E-25709F49219E}"/>
              </a:ext>
            </a:extLst>
          </p:cNvPr>
          <p:cNvSpPr txBox="1"/>
          <p:nvPr/>
        </p:nvSpPr>
        <p:spPr>
          <a:xfrm>
            <a:off x="502920" y="347472"/>
            <a:ext cx="1115568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Workshop kit — download links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2FDF1E-C1D0-BD11-A7D1-CD7E8CECE583}"/>
              </a:ext>
            </a:extLst>
          </p:cNvPr>
          <p:cNvSpPr txBox="1"/>
          <p:nvPr/>
        </p:nvSpPr>
        <p:spPr>
          <a:xfrm>
            <a:off x="502920" y="932688"/>
            <a:ext cx="110642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61616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Everything participants and instructors need. Select a link to download it.</a:t>
            </a:r>
          </a:p>
        </p:txBody>
      </p:sp>
      <p:sp>
        <p:nvSpPr>
          <p:cNvPr id="4" name="Rectangle 3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5468112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1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>
            <a:extLst>
              <a:ext uri="{C183D7F6-B498-43B3-948B-1728B52AA6E4}">
                <ns1:decorative xmlns:ns1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5468112" cy="41148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9224" y="1645920"/>
            <a:ext cx="51755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F6CBD"/>
                </a:solidFill>
                <a:latin typeface="Segoe UI"/>
              </a:rPr>
              <a:t>FOR PARTICIPANTS</a:t>
            </a:r>
          </a:p>
        </p:txBody>
      </p:sp>
      <p:sp>
        <p:nvSpPr>
          <p:cNvPr id="7" name="TextBox 6">
            <a:extLst>
              <a:ext uri="{C183D7F6-B498-43B3-948B-1728B52AA6E4}">
                <ns2:decorative xmlns:ns2="http://schemas.microsoft.com/office/drawing/2017/decorative" val="1"/>
              </a:ext>
            </a:extLst>
          </p:cNvPr>
          <p:cNvSpPr txBox="1"/>
          <p:nvPr/>
        </p:nvSpPr>
        <p:spPr>
          <a:xfrm>
            <a:off x="649224" y="2084832"/>
            <a:ext cx="5175504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512064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600" b="1" u="sng">
                <a:solidFill>
                  <a:srgbClr val="0F6CBD"/>
                </a:solidFill>
                <a:latin typeface="Segoe U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Participant workbook</a:t>
            </a:r>
            <a:r>
              <a:rPr sz="1400">
                <a:solidFill>
                  <a:srgbClr val="616161"/>
                </a:solidFill>
                <a:latin typeface="Segoe UI"/>
              </a:rPr>
              <a:t>  ·  setup + all 8 exercises</a:t>
            </a:r>
          </a:p>
          <a:p>
            <a:pPr>
              <a:spcAft>
                <a:spcPts val="1100"/>
              </a:spcAft>
            </a:pPr>
            <a:r>
              <a:rPr sz="1600" b="1" u="sng">
                <a:solidFill>
                  <a:srgbClr val="0F6CBD"/>
                </a:solidFill>
                <a:latin typeface="Segoe U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Sample data (zip)</a:t>
            </a:r>
            <a:r>
              <a:rPr sz="1400">
                <a:solidFill>
                  <a:srgbClr val="616161"/>
                </a:solidFill>
                <a:latin typeface="Segoe UI"/>
              </a:rPr>
              <a:t>  ·  the six Zava files</a:t>
            </a:r>
          </a:p>
          <a:p>
            <a:pPr>
              <a:spcAft>
                <a:spcPts val="1100"/>
              </a:spcAft>
            </a:pPr>
            <a:r>
              <a:rPr sz="1600" b="1" u="sng">
                <a:solidFill>
                  <a:srgbClr val="0F6CBD"/>
                </a:solidFill>
                <a:latin typeface="Segoe U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Quick-reference card</a:t>
            </a:r>
            <a:r>
              <a:rPr sz="1400">
                <a:solidFill>
                  <a:srgbClr val="616161"/>
                </a:solidFill>
                <a:latin typeface="Segoe UI"/>
              </a:rPr>
              <a:t>  ·  one-page handout</a:t>
            </a:r>
          </a:p>
          <a:p>
            <a:pPr>
              <a:spcAft>
                <a:spcPts val="1100"/>
              </a:spcAft>
            </a:pPr>
            <a:r>
              <a:rPr sz="1600" b="1" u="sng">
                <a:solidFill>
                  <a:srgbClr val="0F6CBD"/>
                </a:solidFill>
                <a:latin typeface="Segoe U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Prompt library</a:t>
            </a:r>
            <a:r>
              <a:rPr sz="1400">
                <a:solidFill>
                  <a:srgbClr val="616161"/>
                </a:solidFill>
                <a:latin typeface="Segoe UI"/>
              </a:rPr>
              <a:t>  ·  copy-paste HR prompts</a:t>
            </a:r>
          </a:p>
          <a:p>
            <a:pPr>
              <a:spcAft>
                <a:spcPts val="1100"/>
              </a:spcAft>
            </a:pPr>
            <a:r>
              <a:rPr sz="1600" b="1" u="sng">
                <a:solidFill>
                  <a:srgbClr val="0F6CBD"/>
                </a:solidFill>
                <a:latin typeface="Segoe U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Responsible use</a:t>
            </a:r>
            <a:r>
              <a:rPr sz="1400">
                <a:solidFill>
                  <a:srgbClr val="616161"/>
                </a:solidFill>
                <a:latin typeface="Segoe UI"/>
              </a:rPr>
              <a:t>  ·  data-handling rules</a:t>
            </a:r>
          </a:p>
          <a:p>
            <a:pPr>
              <a:spcAft>
                <a:spcPts val="1100"/>
              </a:spcAft>
            </a:pPr>
            <a:r>
              <a:rPr sz="1600" b="1" u="sng">
                <a:solidFill>
                  <a:srgbClr val="0F6CBD"/>
                </a:solidFill>
                <a:latin typeface="Segoe UI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After the workshop</a:t>
            </a:r>
            <a:r>
              <a:rPr sz="1400">
                <a:solidFill>
                  <a:srgbClr val="616161"/>
                </a:solidFill>
                <a:latin typeface="Segoe UI"/>
              </a:rPr>
              <a:t>  ·  30-day adoption plan</a:t>
            </a:r>
          </a:p>
        </p:txBody>
      </p:sp>
      <p:sp>
        <p:nvSpPr>
          <p:cNvPr id="9" name="Rectangle 8">
            <a:extLst>
              <a:ext uri="{C183D7F6-B498-43B3-948B-1728B52AA6E4}">
                <ns3:decorative xmlns:ns3="http://schemas.microsoft.com/office/drawing/2017/decorative" val="1"/>
              </a:ext>
            </a:extLst>
          </p:cNvPr>
          <p:cNvSpPr/>
          <p:nvPr/>
        </p:nvSpPr>
        <p:spPr>
          <a:xfrm>
            <a:off x="6217920" y="1463040"/>
            <a:ext cx="5468112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1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>
            <a:extLst>
              <a:ext uri="{C183D7F6-B498-43B3-948B-1728B52AA6E4}">
                <ns4:decorative xmlns:ns4="http://schemas.microsoft.com/office/drawing/2017/decorative" val="1"/>
              </a:ext>
            </a:extLst>
          </p:cNvPr>
          <p:cNvSpPr/>
          <p:nvPr/>
        </p:nvSpPr>
        <p:spPr>
          <a:xfrm>
            <a:off x="6217920" y="1463040"/>
            <a:ext cx="5468112" cy="41148"/>
          </a:xfrm>
          <a:prstGeom prst="rect">
            <a:avLst/>
          </a:prstGeom>
          <a:solidFill>
            <a:srgbClr val="80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364224" y="1645920"/>
            <a:ext cx="51755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8064A2"/>
                </a:solidFill>
                <a:latin typeface="Segoe UI"/>
              </a:rPr>
              <a:t>FOR INSTRUCTORS</a:t>
            </a:r>
          </a:p>
        </p:txBody>
      </p:sp>
      <p:sp>
        <p:nvSpPr>
          <p:cNvPr id="12" name="TextBox 11">
            <a:extLst>
              <a:ext uri="{C183D7F6-B498-43B3-948B-1728B52AA6E4}">
                <ns5:decorative xmlns:ns5="http://schemas.microsoft.com/office/drawing/2017/decorative" val="1"/>
              </a:ext>
            </a:extLst>
          </p:cNvPr>
          <p:cNvSpPr txBox="1"/>
          <p:nvPr/>
        </p:nvSpPr>
        <p:spPr>
          <a:xfrm>
            <a:off x="6364224" y="2084832"/>
            <a:ext cx="5175504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0" y="2103120"/>
            <a:ext cx="512064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600" b="1" u="sng">
                <a:solidFill>
                  <a:srgbClr val="8064A2"/>
                </a:solidFill>
                <a:latin typeface="Segoe UI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Instructor deck</a:t>
            </a:r>
            <a:r>
              <a:rPr sz="1400">
                <a:solidFill>
                  <a:srgbClr val="616161"/>
                </a:solidFill>
                <a:latin typeface="Segoe UI"/>
              </a:rPr>
              <a:t>  ·  slides + speaker notes</a:t>
            </a:r>
          </a:p>
          <a:p>
            <a:pPr>
              <a:spcAft>
                <a:spcPts val="1100"/>
              </a:spcAft>
            </a:pPr>
            <a:r>
              <a:rPr sz="1600" b="1" u="sng">
                <a:solidFill>
                  <a:srgbClr val="8064A2"/>
                </a:solidFill>
                <a:latin typeface="Segoe UI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Facilitator guide</a:t>
            </a:r>
            <a:r>
              <a:rPr sz="1400">
                <a:solidFill>
                  <a:srgbClr val="616161"/>
                </a:solidFill>
                <a:latin typeface="Segoe UI"/>
              </a:rPr>
              <a:t>  ·  run sheet + triage</a:t>
            </a:r>
          </a:p>
          <a:p>
            <a:pPr>
              <a:spcAft>
                <a:spcPts val="1100"/>
              </a:spcAft>
            </a:pPr>
            <a:r>
              <a:rPr sz="1600" b="1" u="sng">
                <a:solidFill>
                  <a:srgbClr val="8064A2"/>
                </a:solidFill>
                <a:latin typeface="Segoe UI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Answer key</a:t>
            </a:r>
            <a:r>
              <a:rPr sz="1400">
                <a:solidFill>
                  <a:srgbClr val="616161"/>
                </a:solidFill>
                <a:latin typeface="Segoe UI"/>
              </a:rPr>
              <a:t>  ·  expected results</a:t>
            </a:r>
          </a:p>
          <a:p>
            <a:pPr>
              <a:spcAft>
                <a:spcPts val="1100"/>
              </a:spcAft>
            </a:pPr>
            <a:r>
              <a:rPr sz="1600" b="1" u="sng">
                <a:solidFill>
                  <a:srgbClr val="8064A2"/>
                </a:solidFill>
                <a:latin typeface="Segoe UI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Readiness checklist</a:t>
            </a:r>
            <a:r>
              <a:rPr sz="1400">
                <a:solidFill>
                  <a:srgbClr val="616161"/>
                </a:solidFill>
                <a:latin typeface="Segoe UI"/>
              </a:rPr>
              <a:t>  ·  prep timeline + Plan B</a:t>
            </a:r>
          </a:p>
          <a:p>
            <a:pPr>
              <a:spcAft>
                <a:spcPts val="1100"/>
              </a:spcAft>
            </a:pPr>
            <a:r>
              <a:rPr sz="1600" b="1" u="sng">
                <a:solidFill>
                  <a:srgbClr val="8064A2"/>
                </a:solidFill>
                <a:latin typeface="Segoe UI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seed content</a:t>
            </a:r>
            <a:r>
              <a:rPr sz="1400">
                <a:solidFill>
                  <a:srgbClr val="616161"/>
                </a:solidFill>
                <a:latin typeface="Segoe UI"/>
              </a:rPr>
              <a:t>  ·  your Ex 1 demo data + how to load it</a:t>
            </a:r>
          </a:p>
          <a:p>
            <a:pPr>
              <a:spcAft>
                <a:spcPts val="1100"/>
              </a:spcAft>
            </a:pPr>
            <a:r>
              <a:rPr sz="1600" b="1" u="sng">
                <a:solidFill>
                  <a:srgbClr val="8064A2"/>
                </a:solidFill>
                <a:latin typeface="Segoe UI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Communication kit</a:t>
            </a:r>
            <a:r>
              <a:rPr sz="1400">
                <a:solidFill>
                  <a:srgbClr val="616161"/>
                </a:solidFill>
                <a:latin typeface="Segoe UI"/>
              </a:rPr>
              <a:t>  ·  overview deck + emails</a:t>
            </a:r>
          </a:p>
        </p:txBody>
      </p:sp>
      <p:sp>
        <p:nvSpPr>
          <p:cNvPr id="14" name="Rounded Rectangle 13">
            <a:extLst>
              <a:ext uri="{C183D7F6-B498-43B3-948B-1728B52AA6E4}">
                <ns6:decorative xmlns:ns6="http://schemas.microsoft.com/office/drawing/2017/decorative" val="1"/>
              </a:ext>
            </a:extLst>
          </p:cNvPr>
          <p:cNvSpPr/>
          <p:nvPr/>
        </p:nvSpPr>
        <p:spPr>
          <a:xfrm>
            <a:off x="502920" y="4572000"/>
            <a:ext cx="11183112" cy="1691640"/>
          </a:xfrm>
          <a:prstGeom prst="roundRect">
            <a:avLst>
              <a:gd name="adj" fmla="val 10000"/>
            </a:avLst>
          </a:prstGeom>
          <a:solidFill>
            <a:srgbClr val="341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DownloadHint" descr="Tip: on a GitHub file page, select the Download icon (Download raw file) at the top right of the file.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3952" y="4663440"/>
            <a:ext cx="5082139" cy="15087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4572000"/>
            <a:ext cx="5440680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Segoe UI"/>
              </a:rPr>
              <a:t>Everything else: </a:t>
            </a:r>
            <a:r>
              <a:rPr sz="1500" b="0">
                <a:solidFill>
                  <a:srgbClr val="FFFFFF"/>
                </a:solidFill>
                <a:latin typeface="Segoe UI"/>
              </a:rPr>
              <a:t>browse the kit on </a:t>
            </a:r>
            <a:r>
              <a:rPr sz="1500" b="1" u="sng">
                <a:solidFill>
                  <a:srgbClr val="FFFFFF"/>
                </a:solidFill>
                <a:latin typeface="Segoe UI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sz="1500" b="0">
                <a:solidFill>
                  <a:srgbClr val="FFFFFF"/>
                </a:solidFill>
                <a:latin typeface="Segoe UI"/>
              </a:rPr>
              <a:t>. Link opens on GitHub? Select the </a:t>
            </a:r>
            <a:r>
              <a:rPr sz="1500" b="1">
                <a:solidFill>
                  <a:srgbClr val="FFFFFF"/>
                </a:solidFill>
                <a:latin typeface="Segoe UI"/>
              </a:rPr>
              <a:t>Download</a:t>
            </a:r>
            <a:r>
              <a:rPr sz="1500" b="0">
                <a:solidFill>
                  <a:srgbClr val="FFFFFF"/>
                </a:solidFill>
                <a:latin typeface="Segoe UI"/>
              </a:rPr>
              <a:t> icon at the top right of the file. No access? Use the shared Teams/SharePoint folder.</a:t>
            </a:r>
          </a:p>
        </p:txBody>
      </p:sp>
    </p:spTree>
    <p:extLst>
      <p:ext uri="{BB962C8B-B14F-4D97-AF65-F5344CB8AC3E}">
        <p14:creationId xmlns:p14="http://schemas.microsoft.com/office/powerpoint/2010/main" val="418314712"/>
      </p:ext>
    </p:extLst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6CA73066-62EB-02EC-D037-EC294C24A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A38DABC-8A4C-0F68-E7D3-3975110991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4200" y="2918224"/>
            <a:ext cx="9144000" cy="615553"/>
          </a:xfr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0" kern="1200" cap="none" spc="-50" baseline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pPr lvl="0"/>
            <a:r>
              <a:rPr lang="en-US" noProof="0"/>
              <a:t>Ready to join?</a:t>
            </a:r>
            <a:endParaRPr lang="en-US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591BFA-242A-4A0F-746F-DC462B5301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/>
              <a:t>Ask your workshop host for the next session date.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45F3F4-9BE0-AC31-C0BF-36DF98724E37}"/>
              </a:ext>
            </a:extLst>
          </p:cNvPr>
          <p:cNvSpPr txBox="1"/>
          <p:nvPr/>
        </p:nvSpPr>
        <p:spPr>
          <a:xfrm>
            <a:off x="584200" y="6293077"/>
            <a:ext cx="68119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323139"/>
                </a:solidFill>
                <a:effectLst/>
                <a:uLnTx/>
                <a:uFillTx/>
                <a:latin typeface="Segoe Sans Display Semilight"/>
                <a:ea typeface="+mn-ea"/>
                <a:cs typeface="+mn-cs"/>
              </a:rPr>
              <a:t>©2026</a:t>
            </a:r>
            <a:r>
              <a:rPr kumimoji="0" lang="en-US" sz="800" b="0" i="0" u="none" strike="noStrike" kern="1200" cap="none" spc="40" normalizeH="0" baseline="0" noProof="0">
                <a:ln>
                  <a:noFill/>
                </a:ln>
                <a:solidFill>
                  <a:srgbClr val="323139"/>
                </a:solidFill>
                <a:effectLst/>
                <a:uLnTx/>
                <a:uFillTx/>
                <a:latin typeface="Segoe Sans Display Semilight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323139"/>
                </a:solidFill>
                <a:effectLst/>
                <a:uLnTx/>
                <a:uFillTx/>
                <a:latin typeface="Segoe Sans Display Semilight"/>
                <a:ea typeface="+mn-ea"/>
                <a:cs typeface="+mn-cs"/>
              </a:rPr>
              <a:t>Microsoft</a:t>
            </a:r>
            <a:r>
              <a:rPr kumimoji="0" lang="en-US" sz="800" b="0" i="0" u="none" strike="noStrike" kern="1200" cap="none" spc="40" normalizeH="0" baseline="0" noProof="0">
                <a:ln>
                  <a:noFill/>
                </a:ln>
                <a:solidFill>
                  <a:srgbClr val="323139"/>
                </a:solidFill>
                <a:effectLst/>
                <a:uLnTx/>
                <a:uFillTx/>
                <a:latin typeface="Segoe Sans Display Semilight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323139"/>
                </a:solidFill>
                <a:effectLst/>
                <a:uLnTx/>
                <a:uFillTx/>
                <a:latin typeface="Segoe Sans Display Semilight"/>
                <a:ea typeface="+mn-ea"/>
                <a:cs typeface="+mn-cs"/>
              </a:rPr>
              <a:t>Corporation.</a:t>
            </a:r>
            <a:r>
              <a:rPr kumimoji="0" lang="en-US" sz="800" b="0" i="0" u="none" strike="noStrike" kern="1200" cap="none" spc="40" normalizeH="0" baseline="0" noProof="0">
                <a:ln>
                  <a:noFill/>
                </a:ln>
                <a:solidFill>
                  <a:srgbClr val="323139"/>
                </a:solidFill>
                <a:effectLst/>
                <a:uLnTx/>
                <a:uFillTx/>
                <a:latin typeface="Segoe Sans Display Semilight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323139"/>
                </a:solidFill>
                <a:effectLst/>
                <a:uLnTx/>
                <a:uFillTx/>
                <a:latin typeface="Segoe Sans Display Semilight"/>
                <a:ea typeface="+mn-ea"/>
                <a:cs typeface="+mn-cs"/>
              </a:rPr>
              <a:t>All</a:t>
            </a:r>
            <a:r>
              <a:rPr kumimoji="0" lang="en-US" sz="800" b="0" i="0" u="none" strike="noStrike" kern="1200" cap="none" spc="35" normalizeH="0" baseline="0" noProof="0">
                <a:ln>
                  <a:noFill/>
                </a:ln>
                <a:solidFill>
                  <a:srgbClr val="323139"/>
                </a:solidFill>
                <a:effectLst/>
                <a:uLnTx/>
                <a:uFillTx/>
                <a:latin typeface="Segoe Sans Display Semilight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323139"/>
                </a:solidFill>
                <a:effectLst/>
                <a:uLnTx/>
                <a:uFillTx/>
                <a:latin typeface="Segoe Sans Display Semilight"/>
                <a:ea typeface="+mn-ea"/>
                <a:cs typeface="+mn-cs"/>
              </a:rPr>
              <a:t>rights</a:t>
            </a:r>
            <a:r>
              <a:rPr kumimoji="0" lang="en-US" sz="800" b="0" i="0" u="none" strike="noStrike" kern="1200" cap="none" spc="40" normalizeH="0" baseline="0" noProof="0">
                <a:ln>
                  <a:noFill/>
                </a:ln>
                <a:solidFill>
                  <a:srgbClr val="323139"/>
                </a:solidFill>
                <a:effectLst/>
                <a:uLnTx/>
                <a:uFillTx/>
                <a:latin typeface="Segoe Sans Display Semilight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323139"/>
                </a:solidFill>
                <a:effectLst/>
                <a:uLnTx/>
                <a:uFillTx/>
                <a:latin typeface="Segoe Sans Display Semilight"/>
                <a:ea typeface="+mn-ea"/>
                <a:cs typeface="+mn-cs"/>
              </a:rPr>
              <a:t>reserved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 Semilight"/>
                <a:ea typeface="+mn-ea"/>
                <a:cs typeface="+mn-cs"/>
              </a:rPr>
              <a:t>.</a:t>
            </a:r>
            <a:r>
              <a:rPr kumimoji="0" lang="en-US" sz="800" b="0" i="0" u="none" strike="noStrike" kern="1200" cap="none" spc="4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 Semilight"/>
                <a:ea typeface="+mn-ea"/>
                <a:cs typeface="+mn-cs"/>
              </a:rPr>
              <a:t> 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23139"/>
              </a:solidFill>
              <a:effectLst/>
              <a:uLnTx/>
              <a:uFillTx/>
              <a:latin typeface="Segoe Sans Display Semi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1237129"/>
      </p:ext>
    </p:extLst>
  </p:cSld>
  <p:clrMapOvr>
    <a:masterClrMapping/>
  </p:clrMapOvr>
</p:sld>
</file>

<file path=ppt/theme/theme1.xml><?xml version="1.0" encoding="utf-8"?>
<a:theme xmlns:a="http://schemas.openxmlformats.org/drawingml/2006/main" name="1_Microsoft 365 Copilot Template">
  <a:themeElements>
    <a:clrScheme name="MSFT Copilot 2026">
      <a:dk1>
        <a:srgbClr val="323139"/>
      </a:dk1>
      <a:lt1>
        <a:srgbClr val="FFFFFF"/>
      </a:lt1>
      <a:dk2>
        <a:srgbClr val="000000"/>
      </a:dk2>
      <a:lt2>
        <a:srgbClr val="EEF1F4"/>
      </a:lt2>
      <a:accent1>
        <a:srgbClr val="0097F4"/>
      </a:accent1>
      <a:accent2>
        <a:srgbClr val="CB85FF"/>
      </a:accent2>
      <a:accent3>
        <a:srgbClr val="FFA200"/>
      </a:accent3>
      <a:accent4>
        <a:srgbClr val="9BC72A"/>
      </a:accent4>
      <a:accent5>
        <a:srgbClr val="FF32A3"/>
      </a:accent5>
      <a:accent6>
        <a:srgbClr val="FFCE20"/>
      </a:accent6>
      <a:hlink>
        <a:srgbClr val="0097F4"/>
      </a:hlink>
      <a:folHlink>
        <a:srgbClr val="CB85FF"/>
      </a:folHlink>
    </a:clrScheme>
    <a:fontScheme name="Custom 5">
      <a:majorFont>
        <a:latin typeface="Segoe Sans Display"/>
        <a:ea typeface=""/>
        <a:cs typeface=""/>
      </a:majorFont>
      <a:minorFont>
        <a:latin typeface="Segoe Sans Display Semilight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>
            <a:solidFill>
              <a:schemeClr val="bg1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Microsoft365-Copilot-PowerPoint-template-2605" id="{E02A0F4E-1562-C14F-AE4C-1C40487469A5}" vid="{E5BCED4C-CF40-0F44-997B-4F080B9A7D8E}"/>
    </a:ext>
  </a:extLst>
</a:theme>
</file>

<file path=ppt/theme/theme2.xml><?xml version="1.0" encoding="utf-8"?>
<a:theme xmlns:a="http://schemas.openxmlformats.org/drawingml/2006/main" name="Microsoft 365 PPT Template - 2018">
  <a:themeElements>
    <a:clrScheme name="Teams">
      <a:dk1>
        <a:srgbClr val="252423"/>
      </a:dk1>
      <a:lt1>
        <a:sysClr val="window" lastClr="FFFFFF"/>
      </a:lt1>
      <a:dk2>
        <a:srgbClr val="6264A7"/>
      </a:dk2>
      <a:lt2>
        <a:srgbClr val="F3F2F1"/>
      </a:lt2>
      <a:accent1>
        <a:srgbClr val="C50E2E"/>
      </a:accent1>
      <a:accent2>
        <a:srgbClr val="9FA4FE"/>
      </a:accent2>
      <a:accent3>
        <a:srgbClr val="ED1B3E"/>
      </a:accent3>
      <a:accent4>
        <a:srgbClr val="605E5C"/>
      </a:accent4>
      <a:accent5>
        <a:srgbClr val="BEBBB8"/>
      </a:accent5>
      <a:accent6>
        <a:srgbClr val="E1DFDD"/>
      </a:accent6>
      <a:hlink>
        <a:srgbClr val="6264A7"/>
      </a:hlink>
      <a:folHlink>
        <a:srgbClr val="C8C6C4"/>
      </a:folHlink>
    </a:clrScheme>
    <a:fontScheme name="Custom 25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 365 PPT Template 2018_2" id="{01A7FB2A-7862-441E-89D5-C3EE05893CAC}" vid="{DEC62A46-47F5-4825-899D-4E8B117FF74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98E4635F6FDE443B4932A463991D546" ma:contentTypeVersion="17" ma:contentTypeDescription="Create a new document." ma:contentTypeScope="" ma:versionID="ef844624fa06aabf90fef7c3ded28024">
  <xsd:schema xmlns:xsd="http://www.w3.org/2001/XMLSchema" xmlns:xs="http://www.w3.org/2001/XMLSchema" xmlns:p="http://schemas.microsoft.com/office/2006/metadata/properties" xmlns:ns1="http://schemas.microsoft.com/sharepoint/v3" xmlns:ns2="9f999e54-2bb7-4d3e-98ea-4d068e0776c8" xmlns:ns3="81b978aa-f708-4b9a-bb08-4a0c5682ef61" targetNamespace="http://schemas.microsoft.com/office/2006/metadata/properties" ma:root="true" ma:fieldsID="9cd3b0adde458e7029fd082f3b426eb3" ns1:_="" ns2:_="" ns3:_="">
    <xsd:import namespace="http://schemas.microsoft.com/sharepoint/v3"/>
    <xsd:import namespace="9f999e54-2bb7-4d3e-98ea-4d068e0776c8"/>
    <xsd:import namespace="81b978aa-f708-4b9a-bb08-4a0c5682ef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999e54-2bb7-4d3e-98ea-4d068e0776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23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24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b978aa-f708-4b9a-bb08-4a0c5682ef61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c3d9b0ef-f47e-49c2-ab2e-e36ac6c1e459}" ma:internalName="TaxCatchAll" ma:showField="CatchAllData" ma:web="81b978aa-f708-4b9a-bb08-4a0c5682ef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9f999e54-2bb7-4d3e-98ea-4d068e0776c8">
      <Terms xmlns="http://schemas.microsoft.com/office/infopath/2007/PartnerControls"/>
    </lcf76f155ced4ddcb4097134ff3c332f>
    <TaxCatchAll xmlns="81b978aa-f708-4b9a-bb08-4a0c5682ef61" xsi:nil="true"/>
  </documentManagement>
</p:properties>
</file>

<file path=customXml/itemProps1.xml><?xml version="1.0" encoding="utf-8"?>
<ds:datastoreItem xmlns:ds="http://schemas.openxmlformats.org/officeDocument/2006/customXml" ds:itemID="{BF73BFBE-D3CC-4153-B031-607EFF219B7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C79634C-EAD0-4B2D-9B13-32801D372DC0}">
  <ds:schemaRefs>
    <ds:schemaRef ds:uri="81b978aa-f708-4b9a-bb08-4a0c5682ef61"/>
    <ds:schemaRef ds:uri="9f999e54-2bb7-4d3e-98ea-4d068e0776c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A6CF0E2-4DDE-4117-9500-63CF709C4B98}">
  <ds:schemaRefs>
    <ds:schemaRef ds:uri="81b978aa-f708-4b9a-bb08-4a0c5682ef61"/>
    <ds:schemaRef ds:uri="9f999e54-2bb7-4d3e-98ea-4d068e0776c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6369</Words>
  <Application>Microsoft Office PowerPoint</Application>
  <PresentationFormat>Widescreen</PresentationFormat>
  <Paragraphs>641</Paragraphs>
  <Slides>17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1_Microsoft 365 Copilot Template</vt:lpstr>
      <vt:lpstr>Microsoft 365 PPT Template - 2018</vt:lpstr>
      <vt:lpstr>Office Theme</vt:lpstr>
      <vt:lpstr>2_Office Theme</vt:lpstr>
      <vt:lpstr>Getting Things Done with Copilot Cowork for HR Tasks</vt:lpstr>
      <vt:lpstr>Getting Things Done with Copilot Cowork for HR Tasks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Getting Things Done with Copilot Cowork for HR Tasks</dc:title>
  <dc:creator>Christophe Ragage</dc:creator>
  <cp:lastModifiedBy>Christophe Ragage</cp:lastModifiedBy>
  <cp:revision>6</cp:revision>
  <dcterms:created xsi:type="dcterms:W3CDTF">2026-08-25T23:39:53Z</dcterms:created>
  <dcterms:modified xsi:type="dcterms:W3CDTF">2026-08-31T17:34:55Z</dcterms:modified>
  <dc:subject>Training overview</dc:subject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0x010100198E4635F6FDE443B4932A463991D546</vt:lpwstr>
  </property>
  <property fmtid="{D5CDD505-2E9C-101B-9397-08002B2CF9AE}" pid="3" name="MediaServiceImageTags">
    <vt:lpwstr/>
  </property>
</Properties>
</file>